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7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30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白榆社团资料交流日是一个虚构教案，还没有创建地图、实验或 Run，所以先把它当成一份纸面设计来读。</a:t>
            </a:r>
          </a:p>
          <a:p>
            <a:r>
              <a:rPr lang="zh-CN" dirty="0"/>
              <a:t>场地是 17 列 11 行的作者网格，World 叫白榆校园，Sector 叫社团活动中心，两者都覆盖整张图。最外一圈边框是阻挡，内部有一道竖墙落在 x 等于 8 这一列，基线在上面留了一个口子，坐标是 8,3，下面还有一个口子，坐标是 8,8。</a:t>
            </a:r>
          </a:p>
          <a:p>
            <a:r>
              <a:rPr lang="zh-CN" dirty="0"/>
              <a:t>这次做对照只改一件事：把 8,3 从可走改成阻挡，8,8 原样不动。「临时」指的是本次采用关闭布局，碰撞在封存之前就确定好了，Run 的过程中不会再动态改变。</a:t>
            </a:r>
          </a:p>
          <a:p>
            <a:r>
              <a:rPr lang="zh-CN" dirty="0"/>
              <a:t>正因为只动这一处，后面才有资格说，两组之间的差别可以归到这一个格子上。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这一节要回答的问题可以压成一句话：目标和信息都不变，只关掉一条通路，集合是否还可达，每个人多走多少。</a:t>
            </a:r>
          </a:p>
          <a:p>
            <a:r>
              <a:rPr lang="zh-CN" dirty="0"/>
              <a:t>六个知识块沿这条线排开。先看场地本身，说明唯一被改动的就是上面那个缺口；再讲这次干预在作者操作上怎么被隔离出来，保证两套布局只差一格。</a:t>
            </a:r>
          </a:p>
          <a:p>
            <a:r>
              <a:rPr lang="zh-CN" dirty="0"/>
              <a:t>接着是两组共用的条件式行为。可达就移动；已经进入集合区就做一次准备动作；确实不可达就保存原因并咨询；参数被拒就按具体错误修正，不猜地址、不扩大视野。</a:t>
            </a:r>
          </a:p>
          <a:p>
            <a:r>
              <a:rPr lang="zh-CN" dirty="0"/>
              <a:t>最后落到怎么按提交事实判定到达，以及四个指标的口径和五层失败归因。全篇要把「动作被接受」和「人真的到了」这两件事分开。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先把场地本身说清楚，后面的对照才站得住。</a:t>
            </a:r>
          </a:p>
          <a:p>
            <a:r>
              <a:rPr lang="zh-CN" dirty="0"/>
              <a:t>这是一张 17 列 11 行的作者网格，坐标从 0 开始数。最外一圈边框是阻挡，内部有一道竖墙落在 x 等于 8 这一列，除了两个口子以外都是实心的。上面那个口子在 y 等于 3，下面那个在 y 等于 8，基线布局里两个都是通的。</a:t>
            </a:r>
          </a:p>
          <a:p>
            <a:r>
              <a:rPr lang="zh-CN" dirty="0"/>
              <a:t>两处缺口虽然在同一道墙上，位置的意义并不一样：上面的口子紧贴北部和中部几个人的行进方向，下面的口子更靠近南侧。</a:t>
            </a:r>
          </a:p>
          <a:p>
            <a:r>
              <a:rPr lang="zh-CN" dirty="0"/>
              <a:t>这个位置差正是后面解释「为什么关闭对三个人的影响不一样」的起点。南区的人物在基线里本来就可能走下面这个口子，封掉上面那一个，对他们几乎没有额外负担。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两套布局并排看，差别只有一处。左边是基线，墙上两个口子都开；右边只把上面的口子改成阻挡，下面的口子原样保留。</a:t>
            </a:r>
          </a:p>
          <a:p>
            <a:r>
              <a:rPr lang="zh-CN" dirty="0"/>
              <a:t>橙色折线想表达的是：下口可能提供绕行方向，但它不是某个人已经走过的路径，也不代表精确路长。</a:t>
            </a:r>
          </a:p>
          <a:p>
            <a:r>
              <a:rPr lang="zh-CN" dirty="0"/>
              <a:t>纸面上可以从 7,3 沿着 x 等于 7 这一列往南走到 7,8，再经 8,8、9,8 折向北进入集合区，全程不穿墙，也不穿过公告对象。</a:t>
            </a:r>
          </a:p>
          <a:p>
            <a:r>
              <a:rPr lang="zh-CN" dirty="0"/>
              <a:t>还有一点要先记住：南区的人物在基线里原本就可能走下面这个口子，所以关闭上面的缺口，不一定同样影响三个人。解释结果的时候，要把三个人的起点、路线和结果分别列出来看。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场地上有五个语义区域。三个等候区自北向南各占四列三行；连接区占 x 从 5 到 8 的九行，是四人共同的起始侧；集合区占 x 从 9 到 15 的九行，是演练的目标区。</a:t>
            </a:r>
          </a:p>
          <a:p>
            <a:r>
              <a:rPr lang="zh-CN" dirty="0"/>
              <a:t>另有一个公告对象 B 放在连接区 6,5，占格阻挡，走不过去。</a:t>
            </a:r>
          </a:p>
          <a:p>
            <a:r>
              <a:rPr lang="zh-CN" dirty="0"/>
              <a:t>人物方面，程夏从北等候区出发，沈禾从中等候区，杜衡从南等候区，引导员叶青从连接区开始。三名集合者预先知道集合区的真实地址，但没有教师的完整碰撞表，其余地址要靠已知空间和感知取得。</a:t>
            </a:r>
          </a:p>
          <a:p>
            <a:r>
              <a:rPr lang="zh-CN" dirty="0"/>
              <a:t>两组公告用同一段文字，只说按当前导航结果前往集合区，有问题可以咨询现场引导员，不透露组别信息。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纸面上可以先自己走一遍：从 7,3 沿着 x 等于 7 这一列往南走到 7,8，再经 8,8 和 9,8 折向北，全程不穿墙，也不穿过公告对象。</a:t>
            </a:r>
          </a:p>
          <a:p>
            <a:r>
              <a:rPr lang="zh-CN" dirty="0"/>
              <a:t>原作者做过一次四邻接检查：开放布局有 127 个可走格，关闭布局是 126 个，少掉的那一格就是被改动的缺口。各组内部全连通，每个可走格恰好属于一个 Arena，墙和门洞也归到对应的语义区域里。</a:t>
            </a:r>
          </a:p>
          <a:p>
            <a:r>
              <a:rPr lang="zh-CN" dirty="0"/>
              <a:t>这里要特别强调边界：这些数字说明的是纸面自洽，不是系统寻路的验收结果。</a:t>
            </a:r>
          </a:p>
          <a:p>
            <a:r>
              <a:rPr lang="zh-CN" dirty="0"/>
              <a:t>真正运行时，仍然要去看内嵌地图和真实的 MOVE 返回。预检只能帮你确认布局本身没画错，它替代不了运行事实。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接下来要讲的是这次干预在作者操作上怎么做才干净。</a:t>
            </a:r>
          </a:p>
          <a:p>
            <a:r>
              <a:rPr lang="zh-CN" dirty="0"/>
              <a:t>核心原则只有一条：两套布局必须只差一个格子。做法是先做一份开放布局，把它当作基线；然后复制成一份独立草稿，只在这份草稿里把 8,3 改成阻挡。</a:t>
            </a:r>
          </a:p>
          <a:p>
            <a:r>
              <a:rPr lang="zh-CN" dirty="0"/>
              <a:t>两份布局分别封存，封存的时刻碰撞就已经确定，运行中不会再改动。这样一来，任何结果差异都可以追到那个格子上，而不是被「谁在什么时候改了地图」污染。</a:t>
            </a:r>
          </a:p>
          <a:p>
            <a:r>
              <a:rPr lang="zh-CN" dirty="0"/>
              <a:t>换句话说，干预要能被隔离出来，对照才成立。如果两套布局之间还差着别的东西，后面所有的解释都会失效，再漂亮的数据也救不回来。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这一步的关键，是把改动限制在一个格子里，同时保证其他一切都不动。</a:t>
            </a:r>
          </a:p>
          <a:p>
            <a:r>
              <a:rPr lang="zh-CN" dirty="0"/>
              <a:t>我会先做一份开放布局，两处缺口都开，把它当成基线。然后复制成一份完全独立的草稿，两组使用同一套抽象背景，地面标记只显示通口，不承诺开闭状态。</a:t>
            </a:r>
          </a:p>
          <a:p>
            <a:r>
              <a:rPr lang="zh-CN" dirty="0"/>
              <a:t>接着在草稿里用 Ctrl 编辑目标格，把 8,3 从可走改成阻挡，别的都不碰。存盘、离开、重新打开，核对三件事：上口封住了、下口还开着、邻格没有被误涂。</a:t>
            </a:r>
          </a:p>
          <a:p>
            <a:r>
              <a:rPr lang="zh-CN" dirty="0"/>
              <a:t>最后用路径检查核对东西连接。但心里要清楚，预检不替代运行时对内嵌地图和真实 MOVE 的检查。人物出生坐标一律经空间选择器保存，两组的实际坐标必须一致，不能改文件绕过界面。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做单因素对照，最容易出问题的地方不是干预本身，而是那些没被写下来的其他条件。</a:t>
            </a:r>
          </a:p>
          <a:p>
            <a:r>
              <a:rPr lang="zh-CN" dirty="0"/>
              <a:t>这项演练里，参与者固定为三名集合者、一名引导员和一个公告对象；时间是 2026 年 10 月 22 日下午两点到两点半，时区上海，一分钟一步，一共 31 步。</a:t>
            </a:r>
          </a:p>
          <a:p>
            <a:r>
              <a:rPr lang="zh-CN" dirty="0"/>
              <a:t>模型、采样方式、Skill、人物设定、注意力设置、视野、实际出生位置和审计设置都要保持一致。唯一的差别写在一行里：上缺口从可走改成阻挡，下缺口不变。</a:t>
            </a:r>
          </a:p>
          <a:p>
            <a:r>
              <a:rPr lang="zh-CN" dirty="0"/>
              <a:t>我建议把这几行单独存成一份干预差异表。固定项写得越具体，越容易发现两组之间混进了不该有的变化；动手之前，也要先在地图的通路界面确认当前打开的是对照副本。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预算和样本这块有两句话必须记住。</a:t>
            </a:r>
          </a:p>
          <a:p>
            <a:r>
              <a:rPr lang="zh-CN" dirty="0"/>
              <a:t>第一句是每组用相同预算先跑一个 Run，再按预先登记的计划决定要不要重复。计划写在前面，不是看到结果之后再补。</a:t>
            </a:r>
          </a:p>
          <a:p>
            <a:r>
              <a:rPr lang="zh-CN" dirty="0"/>
              <a:t>第二句是三名集合者在同一个世界里活动，他们互相可见、可能互相影响，所以不是三个独立实验。</a:t>
            </a:r>
          </a:p>
          <a:p>
            <a:r>
              <a:rPr lang="zh-CN" dirty="0"/>
              <a:t>还有一个数字容易读错：完整 31 步乘以 5 名参与者，得到 155 个参与者轮次。这个 155 不等于 155 次模型请求，它是包含引导员、公告对象、失败请求和物理重试在内的全部成本。</a:t>
            </a:r>
          </a:p>
          <a:p>
            <a:r>
              <a:rPr lang="zh-CN" dirty="0"/>
              <a:t>所以算成本、算分母的时候，口径要写清楚，否则后面所有比率都会对不上。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行为这一侧，两组用的是同一套设置。</a:t>
            </a:r>
          </a:p>
          <a:p>
            <a:r>
              <a:rPr lang="zh-CN" dirty="0"/>
              <a:t>我把它写成一段条件式的判断：先读当前坐标、地址和有效进度，再用真实已知的地址去查询路线。</a:t>
            </a:r>
          </a:p>
          <a:p>
            <a:r>
              <a:rPr lang="zh-CN" dirty="0"/>
              <a:t>如果返回可达而且还需要移动，就保留完整目标提交 MOVE；如果已经进入集合区，就记录待核对的到达信息，并在当前位置做一次集合准备动作；如果目标合法但确实不可达，就保存原因，再去咨询实际可交互的公告对象或者看得见的引导员；参数被拒绝的时候，按具体错误修正，不猜地址，也不扩大视野去突破上限。</a:t>
            </a:r>
          </a:p>
          <a:p>
            <a:r>
              <a:rPr lang="zh-CN" dirty="0"/>
              <a:t>两组共享这一套判断，所以后面出现的任何行为差异，都只能来自那一个被改动的碰撞格。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这一套条件式行为有四个出口，它们之间没有先后顺序，而是按当前事实各走一条。</a:t>
            </a:r>
          </a:p>
          <a:p>
            <a:r>
              <a:rPr lang="zh-CN" dirty="0"/>
              <a:t>第一条，路线返回可达而且确实还需要移动，那就保留同一个完整目标提交 MOVE。第二条，已经进入集合区了，就记录待核对的到达信息，并在当前位置做一次集合准备动作。</a:t>
            </a:r>
          </a:p>
          <a:p>
            <a:r>
              <a:rPr lang="zh-CN" dirty="0"/>
              <a:t>第三条，目标本身合法但确实不可达，那就先把原因保存下来，再去咨询实际可交互的公告对象，或者看得见的引导员。第四条，参数被拒绝，就按具体错误去修正，绝不猜地址，也不靠扩大视野去突破上限。</a:t>
            </a:r>
          </a:p>
          <a:p>
            <a:r>
              <a:rPr lang="zh-CN" dirty="0"/>
              <a:t>每一轮成功选出一个世界动作之后就结束。下一轮重新以实际位置判断进度，而不是拿上一轮的坐标继续推算。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引导员和公告对象这两个角色，边界要划清楚，否则很容易变成作者在暗中帮忙。</a:t>
            </a:r>
          </a:p>
          <a:p>
            <a:r>
              <a:rPr lang="zh-CN" dirty="0"/>
              <a:t>引导员只帮助他当前感知到的人。他要向对方说明自己已知的目标，并且做一次真实的查询，而不是凭印象指路。如果他自己也不知道通路，就请对方重新查。他不能穿墙，也不能替人移动。</a:t>
            </a:r>
          </a:p>
          <a:p>
            <a:r>
              <a:rPr lang="zh-CN" dirty="0"/>
              <a:t>公告对象按真实的请求 ID 回复，目标在下一轮才会接收到这条信息。「恢复通行」这类文字不会改变碰撞状态，改写几个字并不能把封住的缺口打开。</a:t>
            </a:r>
          </a:p>
          <a:p>
            <a:r>
              <a:rPr lang="zh-CN" dirty="0"/>
              <a:t>两组公告用的是同一段文字，不透露任何组别信息。这样设计之后，角色能拿到什么，完全取决于他自己有没有去发起一次真实的查询。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导航这一环有一个很容易做错的地方：明明路线是可达的，却让角色先失败一次、或者先空等一轮，再去走。</a:t>
            </a:r>
          </a:p>
          <a:p>
            <a:r>
              <a:rPr lang="zh-CN" dirty="0"/>
              <a:t>这项演练的正确行为是，导航直接返回下口的可达路线时，可以在同一个 Step 里就选择 MOVE，不需要额外制造一次失败或等待。</a:t>
            </a:r>
          </a:p>
          <a:p>
            <a:r>
              <a:rPr lang="zh-CN" dirty="0"/>
              <a:t>还有两个细节。一分钟的默认移动预算一般是四格，但实际能走多远还受路径长度限制，不是想走多远就走多远。中途进入下一轮的时候，要用实际位置重新查询同一个完整目标，因为返回里的 next_coord 只是下一步的坐标，不是整个目标。</a:t>
            </a:r>
          </a:p>
          <a:p>
            <a:r>
              <a:rPr lang="zh-CN" dirty="0"/>
              <a:t>完整的剩余路径，得由教师去看提交事实，不能假设 Agent 的上下文里已经暴露了整条路径。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接下来是这一节最容易被含糊过去的部分：一个人到底有没有走到。</a:t>
            </a:r>
          </a:p>
          <a:p>
            <a:r>
              <a:rPr lang="zh-CN" dirty="0"/>
              <a:t>我要把两件事分开。第一件是动作被接受，也就是系统接受了这次 MOVE 的选择；第二件是世界里真的发生了位移，实际坐标提交出来之后，人确实进入了集合区的语义范围。</a:t>
            </a:r>
          </a:p>
          <a:p>
            <a:r>
              <a:rPr lang="zh-CN" dirty="0"/>
              <a:t>这两件事不一样。动作被接受，只能说明这一步的选择是合法的；只有实际坐标提交进 StepResult，它才成为可以回放的运行事实。</a:t>
            </a:r>
          </a:p>
          <a:p>
            <a:r>
              <a:rPr lang="zh-CN" dirty="0"/>
              <a:t>所以后面讨论到达率的时候，判据始终是提交出来的坐标，而不是某一步返回里的 accepted 字段。分不清这两件事，评价就会整个跑偏。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从起点 0 数到实际终点 3，一共是四个路径点、三条移动边。这个差一的关系最容易出错：把点数直接当成格数，就会多算一格。</a:t>
            </a:r>
          </a:p>
          <a:p>
            <a:r>
              <a:rPr lang="zh-CN" dirty="0"/>
              <a:t>灰色标出的点 4 和点 5 还只是计划，不能拿它们宣布抵达；它们不进入实际路程，也不能当作已经走过的边。</a:t>
            </a:r>
          </a:p>
          <a:p>
            <a:r>
              <a:rPr lang="zh-CN" dirty="0"/>
              <a:t>所以读的时候，先看青绿色的边有几条，那才是实际发生的位移。灰色段只表示后面的计划，不计入路程。</a:t>
            </a:r>
          </a:p>
          <a:p>
            <a:r>
              <a:rPr lang="zh-CN" dirty="0"/>
              <a:t>另外，判到达率的时候还要多做一步：把已经提交的终点坐标放回集合区的语义范围里去判断，看它落不落得进去。人站在某个具体点上并不重要，重要的是那个坐标属于集合区。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判断一个人到没到，要沿着一条证据链往下走。</a:t>
            </a:r>
          </a:p>
          <a:p>
            <a:r>
              <a:rPr lang="zh-CN" dirty="0"/>
              <a:t>第一段是导航的输入和返回结果：他带着什么地址去查，系统返回了什么路线。第二段是 MOVE 的选择：他有没有真的选择朝这个目标移动。第三段是执行路径：实际发生了哪些位移边。第四段是提交出来的实际坐标和地址。</a:t>
            </a:r>
          </a:p>
          <a:p>
            <a:r>
              <a:rPr lang="zh-CN" dirty="0"/>
              <a:t>这条链上最容易弄混的是 accepted。它只表示这一次动作选择被接受了，并不代表人已经走到了。世界把提交写进 StepResult 之后，它才成为可以回放的事实。</a:t>
            </a:r>
          </a:p>
          <a:p>
            <a:r>
              <a:rPr lang="zh-CN" dirty="0"/>
              <a:t>评分的时候用的就是这条链的最后一段，而不是中间某个返回字段。把这一点分清，很多看起来矛盾的结果立刻就解释得通了。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到达的定义要写得没有歧义。</a:t>
            </a:r>
          </a:p>
          <a:p>
            <a:r>
              <a:rPr lang="zh-CN" dirty="0"/>
              <a:t>我采用的判据是：已经提交的实际坐标进入集合区的语义范围，就算到达；每个人只记第一次，不要求他站在某个指定的点上。</a:t>
            </a:r>
          </a:p>
          <a:p>
            <a:r>
              <a:rPr lang="zh-CN" dirty="0"/>
              <a:t>准备动作是补充信息，不是到达率的必要条件。有人在集合区做了一次准备，有人直接停下，都不影响到达的判定。</a:t>
            </a:r>
          </a:p>
          <a:p>
            <a:r>
              <a:rPr lang="zh-CN" dirty="0"/>
              <a:t>还有一点在解释结果时特别重要：南区的人物在基线里原本就可能走下面那个口子，所以关掉上面的缺口，对三个人的影响并不一样。</a:t>
            </a:r>
          </a:p>
          <a:p>
            <a:r>
              <a:rPr lang="zh-CN" dirty="0"/>
              <a:t>给结论的时候，要把三个人的起点、路线和结果分别列出来，不能只报一个总数，否则别人看不出这个差异到底是从哪里来的。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这一部分讲的是怎么把观察变成可以比较的数字。</a:t>
            </a:r>
          </a:p>
          <a:p>
            <a:r>
              <a:rPr lang="zh-CN" dirty="0"/>
              <a:t>我一共定四个指标。集合到达率，是窗口内首次进入集合区的人数除以三，引导员不进分母。人均移动负担，是三个人在窗口内全部已执行路径的边数除以三，单位是格每人。</a:t>
            </a:r>
          </a:p>
          <a:p>
            <a:r>
              <a:rPr lang="zh-CN" dirty="0"/>
              <a:t>路线执行启动时延，是从第一次拿到目标可达路线，到第一次真的朝这个目标移动之间隔了多少虚拟分钟，可以是零。无效请求率，是地址、目标证据或权限不合法的导航和 MOVE 拒绝数，除以全部导航和 MOVE 请求数。</a:t>
            </a:r>
          </a:p>
          <a:p>
            <a:r>
              <a:rPr lang="zh-CN" dirty="0"/>
              <a:t>四个口径写清楚之后，数字才有意义；口径不写，别人没法复核，也没法跟别的案例比较。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这三根柱子来自一次人工评分，不是 Run 的实测结果。</a:t>
            </a:r>
          </a:p>
          <a:p>
            <a:r>
              <a:rPr lang="zh-CN" dirty="0"/>
              <a:t>参与者 1 走了 12 格，参与者 2 走了 18 格，两个人都到达了；参与者 3 只走了 9 格，中途停下，没有到达。</a:t>
            </a:r>
          </a:p>
          <a:p>
            <a:r>
              <a:rPr lang="zh-CN" dirty="0"/>
              <a:t>判断谁效率高的时候，要先看到达状态，再看走了多少格。那根最短的柱子并不表示效率最高，它表示这个人还没走到。</a:t>
            </a:r>
          </a:p>
          <a:p>
            <a:r>
              <a:rPr lang="zh-CN" dirty="0"/>
              <a:t>三根柱子加起来是 39 格，全部计入移动成本，因为不管到没到，路都是走掉的；但到达分子里只有标着「已到达」的两个人。</a:t>
            </a:r>
          </a:p>
          <a:p>
            <a:r>
              <a:rPr lang="zh-CN" dirty="0"/>
              <a:t>两个公式的分母都是同样三个人。所以结果是：到达率 2 除以 3，大约 66.7%；人均移动负担 39 除以 3，等于 13 格每人。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四个指标的口径我一条一条写清楚。</a:t>
            </a:r>
          </a:p>
          <a:p>
            <a:r>
              <a:rPr lang="zh-CN" dirty="0"/>
              <a:t>集合到达率，是窗口内首次进入集合区的人数除以三。引导员不进分母，他不是集合者。</a:t>
            </a:r>
          </a:p>
          <a:p>
            <a:r>
              <a:rPr lang="zh-CN" dirty="0"/>
              <a:t>人均移动负担，是三个人在窗口内全部已执行路径的边数除以三，单位是格每人。数组里含起点，但不多计一格；重复查询不产生位移，也不计入。</a:t>
            </a:r>
          </a:p>
          <a:p>
            <a:r>
              <a:rPr lang="zh-CN" dirty="0"/>
              <a:t>路线执行启动时延，是从第一次获得目标可达路线，到第一次实际朝这个目标 MOVE 之间的虚拟分钟数，可以是零。可达查询在同一个 Step 就执行的，时延记零；没有执行的，不补时间。</a:t>
            </a:r>
          </a:p>
          <a:p>
            <a:r>
              <a:rPr lang="zh-CN" dirty="0"/>
              <a:t>无效请求率，是地址、目标证据或权限不合法的导航和 MOVE 拒绝数，除以全部导航和 MOVE 请求数。合法目标确实不可达要另列，不进无效的分子。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把数字算一遍。</a:t>
            </a:r>
          </a:p>
          <a:p>
            <a:r>
              <a:rPr lang="zh-CN" dirty="0"/>
              <a:t>三个人分别走了 12 格、18 格和 9 格，前两个人进入集合区，第三个人中途停下。到达率是 2 除以 3，大约是 66.7%；人均移动负担是 39 除以 3，等于 13 格每人。两个公式的分母都是同样三个人。</a:t>
            </a:r>
          </a:p>
          <a:p>
            <a:r>
              <a:rPr lang="zh-CN" dirty="0"/>
              <a:t>请求这边，一共发生 20 次导航或 MOVE 请求，其中 2 次地址不合法，1 次是合法目标但确实不可达。</a:t>
            </a:r>
          </a:p>
          <a:p>
            <a:r>
              <a:rPr lang="zh-CN" dirty="0"/>
              <a:t>无效请求率是 2 除以 20，等于 10%。那 1 次不可达要单独报出来，不能塞进无效请求的分子里，因为参数本身没有问题，是环境里的通路确实不存在。</a:t>
            </a:r>
          </a:p>
          <a:p>
            <a:r>
              <a:rPr lang="zh-CN" dirty="0"/>
              <a:t>零请求的分母不适用；窗口截止还没到达的人，保留最后状态和原因。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最后一部分讲失败怎么归因。不是所有异常都等于 bug。</a:t>
            </a:r>
          </a:p>
          <a:p>
            <a:r>
              <a:rPr lang="zh-CN" dirty="0"/>
              <a:t>我把可能出现的现象分成五层：根本没有替代通路；路存在但角色反复询问；缺少目标知识、被系统正确拒绝；已经执行的路径穿过了阻挡格；还有已经开始 MOVE 但没有到达。</a:t>
            </a:r>
          </a:p>
          <a:p>
            <a:r>
              <a:rPr lang="zh-CN" dirty="0"/>
              <a:t>每一层对应的处理方式都不一样。有的属于装配不满足题目，要留证，但绝对不能改 Run 的碰撞来冒充原来那份对照；有的属于行为分析；有的属于合同边界，系统做得对，不该报错。</a:t>
            </a:r>
          </a:p>
          <a:p>
            <a:r>
              <a:rPr lang="zh-CN" dirty="0"/>
              <a:t>先把现象分到正确的层，再决定接下来查什么、记录什么。分层做对了，后面的处理才不会互相干扰。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五种现象，对应五种处理方式。</a:t>
            </a:r>
          </a:p>
          <a:p>
            <a:r>
              <a:rPr lang="zh-CN" dirty="0"/>
              <a:t>根本没有替代通路，属于装配不满足题目。这时候要留证据，但绝对不能改 Run 的碰撞去冒充原来那份对照，那会把整组数据变成假的。</a:t>
            </a:r>
          </a:p>
          <a:p>
            <a:r>
              <a:rPr lang="zh-CN" dirty="0"/>
              <a:t>路存在而角色反复询问，要去看他的行为和调用预算，这属于行为层面的分析。缺少目标知识、被系统正确拒绝，这是合同边界，系统做得对，不该自动报成 bug。</a:t>
            </a:r>
          </a:p>
          <a:p>
            <a:r>
              <a:rPr lang="zh-CN" dirty="0"/>
              <a:t>已经执行的路径穿过了阻挡格，要核对事实，按项目规则停止验收并报告。开始了 MOVE 但没有到达，要去查实际路程、剩余路径和观察窗口，这和「从未启动」是两回事。</a:t>
            </a:r>
          </a:p>
          <a:p>
            <a:r>
              <a:rPr lang="zh-CN" dirty="0"/>
              <a:t>另外，两组全到达也是有效结果，可以用路程解释代价，但不能事后换指标。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最后留一个练习：解释「关闭之后，导航直接返回可达路线」为什么是正确的行为。</a:t>
            </a:r>
          </a:p>
          <a:p>
            <a:r>
              <a:rPr lang="zh-CN" dirty="0"/>
              <a:t>答案的关键在于，环境里确实存在一条绕行路线，而且角色的目标没有变化。这时候返回可达并直接开始移动，是符合事实的选择；如果硬要让它先失败一次，反而往系统里塞了一个现实中不存在的障碍。</a:t>
            </a:r>
          </a:p>
          <a:p>
            <a:r>
              <a:rPr lang="zh-CN" dirty="0"/>
              <a:t>如果你要研究「提前通知」会不会改变结果，那应该另外建一份同样的关闭图，只改通知策略，别把两个因素混在一组里。</a:t>
            </a:r>
          </a:p>
          <a:p>
            <a:r>
              <a:rPr lang="zh-CN" dirty="0"/>
              <a:t>如果你把目标改成确实不可达，那就是另一个问题，正确拒绝要作为预期结果写进计划，而不是当成错误来修。把问题定义清楚，后面的判分才站得住。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把这一节压缩成三句话。</a:t>
            </a:r>
          </a:p>
          <a:p>
            <a:r>
              <a:rPr lang="zh-CN" dirty="0"/>
              <a:t>第一句：干预要能被隔离。两套布局之间只允许差那一个碰撞格，其他条件全部写下来，否则结果无法归因。</a:t>
            </a:r>
          </a:p>
          <a:p>
            <a:r>
              <a:rPr lang="zh-CN" dirty="0"/>
              <a:t>第二句：到达按提交事实判。动作被接受只说明选择合法，只有实际坐标提交进集合区，那个人才算走到了。准备动作是补充，不是必要条件。</a:t>
            </a:r>
          </a:p>
          <a:p>
            <a:r>
              <a:rPr lang="zh-CN" dirty="0"/>
              <a:t>第三句：失败先分层，再处理。没有替代通路、反复询问、被正确拒绝、路径穿阻挡、启动未到达，是五件不同的事，处理方法也不一样。</a:t>
            </a:r>
          </a:p>
          <a:p>
            <a:r>
              <a:rPr lang="zh-CN" dirty="0"/>
              <a:t>把这三句话记住，你就可以拿同一套方法去设计自己的空间对照实验了。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白榆社团资料交流日是一个虚构教案，还没有创建地图、实验或 Run，所以先把它当成一份纸面设计来读。&#10;场地是 17 列 11 行的作者网格，World 叫白榆校园，Sector 叫社团活动中心，两者都覆盖整张图。最外一圈边框是阻挡，内部有一道竖墙落在 x 等于 8 这一列，基线在上面留了一个口子，坐标是 8,3，下面还有一个口子，坐标是 8,8。&#10;这次做对照只改一件事：把 8,3 从可走改成阻挡，8,8 原样不动。「临时」指的是本次采用关闭布局，碰撞在封存之前就确定好了，Run 的过程中不会再动态改变。&#10;正因为只动这一处，后面才有资格说，两组之间的差别可以归到这一个格子上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7 场地临时关闭演练&lt;/Text&gt;&#10;    &lt;/Box&gt;&#10;&#10;    &lt;Box style={{ height: 540, flexDirection: 'row', alignItems: 'center', gap: 40 }}&gt;&#10;&#10;        &lt;Box style={{ width: 420, height: 400, background: '#F4F7FA', borderRadius: 12, padding: 20, flexDirection: 'column', justifyContent: 'center', alignItems: 'center', gap: 16 }}&gt;&#10;            &lt;Box style={{ flexDirection: 'row', gap: 10, height: 300 }}&gt;&#10;                &lt;Box style={{ width: 96, height: 300, background: '#EDF4FC', borderRadius: 8, justifyContent: 'center', alignItems: 'center' }}&gt;&#10;                    &lt;Text style={{ fontSize: 15, fontWeight: 'bold', color: '#276FBF' }}&gt;连接区&lt;/Text&gt;&#10;                &lt;/Box&gt;&#10;                &lt;Box style={{ width: 88, flexDirection: 'column' }}&gt;&#10;                    &lt;Box style={{ width: 88, height: 58, background: '#B5C7D8', justifyContent: 'center', alignItems: 'center' }}&gt;&#10;                        &lt;Text style={{ fontSize: 14, color: '#FFFFFF' }}&gt;墙&lt;/Text&gt;&#10;                    &lt;/Box&gt;&#10;                    &lt;Box style={{ width: 88, height: 52, background: '#CB6B28', justifyContent: 'center', alignItems: 'center' }}&gt;&#10;                        &lt;Text style={{ fontSize: 16, fontWeight: 'bold', color: '#FFFFFF' }}&gt;封&lt;/Text&gt;&#10;                    &lt;/Box&gt;&#10;                    &lt;Box style={{ width: 88, height: 82, background: '#B5C7D8', justifyContent: 'center', alignItems: 'center' }}&gt;&#10;                        &lt;Text style={{ fontSize: 14, color: '#FFFFFF' }}&gt;墙&lt;/Text&gt;&#10;                    &lt;/Box&gt;&#10;                    &lt;Box style={{ width: 88, height: 52, background: '#ECF7F2', justifyContent: 'center', alignItems: 'center' }}&gt;&#10;                        &lt;Text style={{ fontSize: 16, fontWeight: 'bold', color: '#26816B' }}&gt;通&lt;/Text&gt;&#10;                    &lt;/Box&gt;&#10;                    &lt;Box style={{ width: 88, height: 56, background: '#B5C7D8', justifyContent: 'center', alignItems: 'center' }}&gt;&#10;                        &lt;Text style={{ fontSize: 14, color: '#FFFFFF' }}&gt;墙&lt;/Text&gt;&#10;                    &lt;/Box&gt;&#10;                &lt;/Box&gt;&#10;                &lt;Box style={{ width: 86, height: 300, background: '#ECF7F2', borderRadius: 8, justifyContent: 'center', alignItems: 'center' }}&gt;&#10;                    &lt;Text style={{ fontSize: 15, fontWeight: 'bold', color: '#26816B' }}&gt;集合区&lt;/Text&gt;&#10;                &lt;/Box&gt;&#10;            &lt;/Box&gt;&#10;            &lt;Box style={{ flexDirection: 'row', alignItems: 'center', gap: 10, height: 30 }}&gt;&#10;                &lt;Box style={{ width: 84, height: 30, background: '#CB6B28', borderRadius: 8, justifyContent: 'center', alignItems: 'center' }}&gt;&#10;                    &lt;Text style={{ fontSize: 15, fontWeight: 'bold', color: '#FFFFFF' }}&gt;示意&lt;/Text&gt;&#10;                &lt;/Box&gt;&#10;                &lt;Text style={{ fontSize: 14, color: '#546779' }}&gt;上口封闭　下口可走&lt;/Text&gt;&#10;            &lt;/Box&gt;&#10;        &lt;/Box&gt;&#10;&#10;        &lt;Box style={{ width: 692, flexDirection: 'column', justifyContent: 'center', gap: 16 }}&gt;&#10;            &lt;Text style={{ fontSize: 15, color: '#276FBF' }}&gt;4.7.1 — 4.7.6　草稿布局与人工判分&lt;/Text&gt;&#10;            &lt;Text style={{ fontSize: 52, fontWeight: 'bold', color: '#20344B', lineHeight: 1.2 }}&gt;只封一个缺口，{'\n'}目标还剩下几条路&lt;/Text&gt;&#10;            &lt;Box style={{ width: 72, height: 4, background: '#276FBF' }} /&gt;&#10;            &lt;Text style={{ fontSize: 17, color: '#546779', lineHeight: 1.7, width: 692 }}&gt;常用通路关闭，目标仍可能可达；导航可以直接返回绕行路线，不必先撞墙。目标和信息相同，只关一处缺口，怎样影响集合与移动负担？&lt;/Text&gt;&#10;            &lt;Box style={{ flexDirection: 'row', gap: 12, marginTop: 4 }}&gt;&#10;                &lt;Box style={{ width: 150, height: 42, background: '#EDF4FC', borderRadius: 8, justifyContent: 'center', alignItems: 'center' }}&gt;&#10;                    &lt;Text style={{ fontSize: 15, color: '#276FBF' }}&gt;只改一格&lt;/Text&gt;&#10;                &lt;/Box&gt;&#10;                &lt;Box style={{ width: 150, height: 42, background: '#ECF7F2', borderRadius: 8, justifyContent: 'center', alignItems: 'center' }}&gt;&#10;                    &lt;Text style={{ fontSize: 15, color: '#26816B' }}&gt;两种可走条件&lt;/Text&gt;&#10;                &lt;/Box&gt;&#10;                &lt;Box style={{ width: 150, height: 42, background: '#FFF4E6', borderRadius: 8, justifyContent: 'center', alignItems: 'center' }}&gt;&#10;                    &lt;Text style={{ fontSize: 15, color: '#CB6B28' }}&gt;人工判分&lt;/Text&gt;&#10;                &lt;/Box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1809750"/>
            <a:ext cx="4000500" cy="381000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1228725" y="2066925"/>
            <a:ext cx="914400" cy="28575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476375" y="34099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连接区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2238375" y="2066925"/>
            <a:ext cx="838200" cy="5524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590800" y="22669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238375" y="2619375"/>
            <a:ext cx="8382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581275" y="27717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封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238375" y="3114675"/>
            <a:ext cx="838200" cy="781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590800" y="34290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238375" y="3895725"/>
            <a:ext cx="838200" cy="4953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81275" y="40481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通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2238375" y="4391025"/>
            <a:ext cx="838200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590800" y="45815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171825" y="2066925"/>
            <a:ext cx="819150" cy="2857500"/>
          </a:xfrm>
          <a:prstGeom prst="roundRect">
            <a:avLst>
              <a:gd name="adj" fmla="val 93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371850" y="34099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集合区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1562100" y="5076825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819275" y="51339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457450" y="51435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上口封闭　下口可走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991100" y="2038350"/>
            <a:ext cx="659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4.7.1 — 4.7.6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草稿布局与人工判分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991100" y="2362200"/>
            <a:ext cx="65913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只封一个缺口，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目标还剩下几条路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991100" y="39433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991100" y="4133850"/>
            <a:ext cx="6591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常用通路关闭，目标仍可能可达；导航可以直接返回绕行路线，不必先撞墙。目标和信息相同，只关一处缺口，怎样影响集合与移动负担？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991100" y="49911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419725" y="51054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只改一格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534150" y="49911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819900" y="51054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两种可走条件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8077200" y="49911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505825" y="51054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人工判分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8" name="" descr="&lt;Slide notes={`这一节要回答的问题可以压成一句话：目标和信息都不变，只关掉一条通路，集合是否还可达，每个人多走多少。&#10;六个知识块沿这条线排开。先看场地本身，说明唯一被改动的就是上面那个缺口；再讲这次干预在作者操作上怎么被隔离出来，保证两套布局只差一格。&#10;接着是两组共用的条件式行为。可达就移动；已经进入集合区就做一次准备动作；确实不可达就保存原因并咨询；参数被拒就按具体错误修正，不猜地址、不扩大视野。&#10;最后落到怎么按提交事实判定到达，以及四个指标的口径和五层失败归因。全篇要把「动作被接受」和「人真的到了」这两件事分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地图　4.7.1 — 4.7.6&lt;/Text&gt;&#10;            &lt;Text style={{ fontSize: 34, fontWeight: 'bold', color: '#20344B' }}&gt;本节要看清的六件事&lt;/Text&gt;&#10;        &lt;/Box&gt;&#10;    &lt;/Box&gt;&#10;&#10;    &lt;Box style={{ height: 540, flexDirection: 'row', justifyContent: 'center', gap: 32 }}&gt;&#10;&#10;        &lt;Box style={{ width: 360, flexDirection: 'column', justifyContent: 'center', gap: 18 }}&gt;&#10;            &lt;Text style={{ fontSize: 16, fontWeight: 'bold', color: '#20344B' }}&gt;一条主线&lt;/Text&gt;&#10;            &lt;Box style={{ width: 72, height: 4, background: '#276FBF' }} /&gt;&#10;            &lt;Text style={{ fontSize: 17, color: '#546779', lineHeight: 1.75, width: 360 }}&gt;目标和信息都不变，只封掉一个缺口，观察集合是否仍可达、每个人多走多少。&lt;/Text&gt;&#10;            &lt;Box style={{ width: 360, background: '#EDF4FC', borderRadius: 10, padding: '14px 18px', flexDirection: 'column', gap: 6 }}&gt;&#10;                &lt;Text style={{ fontSize: 16, fontWeight: 'bold', color: '#276FBF' }}&gt;两层对照&lt;/Text&gt;&#10;                &lt;Text style={{ fontSize: 14, color: '#546779', lineHeight: 1.5 }}&gt;开放布局 与 关闭上缺口{'\n'}同一套条件式行为，只有一处碰撞格不同&lt;/Text&gt;&#10;            &lt;/Box&gt;&#10;            &lt;Box style={{ width: 360, background: '#FFF4E6', borderRadius: 10, padding: '14px 18px', flexDirection: 'column', gap: 6 }}&gt;&#10;                &lt;Text style={{ fontSize: 16, fontWeight: 'bold', color: '#CB6B28' }}&gt;两条纪律&lt;/Text&gt;&#10;                &lt;Text style={{ fontSize: 14, color: '#546779', lineHeight: 1.5 }}&gt;按提交事实判到达{'\n'}失败先分层归因，不自动报错&lt;/Text&gt;&#10;            &lt;/Box&gt;&#10;        &lt;/Box&gt;&#10;&#10;        &lt;Box style={{ width: 760, flexDirection: 'column', justifyContent: 'center', gap: 12 }}&gt;&#10;&#10;            &lt;Box style={{ flexDirection: 'row', gap: 20 }}&gt;&#10;                &lt;Box style={{ width: 370, height: 150, background: '#F4F7FA', borderRadius: 10, padding: '14px 16px', flexDirection: 'column', gap: 8 }}&gt;&#10;                    &lt;Box style={{ flexDirection: 'row', alignItems: 'center', gap: 10 }}&gt;&#10;                        &lt;Box style={{ width: 30, height: 26, background: '#276FBF', borderRadius: 6, justifyContent: 'center', alignItems: 'center' }}&gt;&#10;                            &lt;Text style={{ fontSize: 15, fontWeight: 'bold', color: '#FFFFFF' }}&gt;①&lt;/Text&gt;&#10;                        &lt;/Box&gt;&#10;                        &lt;Text style={{ fontSize: 18, fontWeight: 'bold', color: '#20344B' }}&gt;用地图说明唯一干预&lt;/Text&gt;&#10;                    &lt;/Box&gt;&#10;                    &lt;Text style={{ fontSize: 15, color: '#546779', lineHeight: 1.5, width: 338 }}&gt;只把 (8,3) 改成阻挡，下口 (8,8) 不动。先把两套平面并排看清，再谈差别。&lt;/Text&gt;&#10;                &lt;/Box&gt;&#10;                &lt;Box style={{ width: 370, height: 150, background: '#F4F7FA', borderRadius: 10, padding: '14px 16px', flexDirection: 'column', gap: 8 }}&gt;&#10;                    &lt;Box style={{ flexDirection: 'row', alignItems: 'center', gap: 10 }}&gt;&#10;                        &lt;Box style={{ width: 30, height: 26, background: '#276FBF', borderRadius: 6, justifyContent: 'center', alignItems: 'center' }}&gt;&#10;                            &lt;Text style={{ fontSize: 15, fontWeight: 'bold', color: '#FFFFFF' }}&gt;②&lt;/Text&gt;&#10;                        &lt;/Box&gt;&#10;                        &lt;Text style={{ fontSize: 18, fontWeight: 'bold', color: '#20344B' }}&gt;只动一个碰撞格&lt;/Text&gt;&#10;                    &lt;/Box&gt;&#10;                    &lt;Text style={{ fontSize: 15, color: '#546779', lineHeight: 1.5, width: 338 }}&gt;开放草稿复制成独立副本，Ctrl 编辑目标格，保存离开重开，核对邻格没误涂。&lt;/Text&gt;&#10;                &lt;/Box&gt;&#10;            &lt;/Box&gt;&#10;&#10;            &lt;Box style={{ flexDirection: 'row', gap: 20 }}&gt;&#10;                &lt;Box style={{ width: 370, height: 150, background: '#F4F7FA', borderRadius: 10, padding: '14px 16px', flexDirection: 'column', gap: 8 }}&gt;&#10;                    &lt;Box style={{ flexDirection: 'row', alignItems: 'center', gap: 10 }}&gt;&#10;                        &lt;Box style={{ width: 30, height: 26, background: '#276FBF', borderRadius: 6, justifyContent: 'center', alignItems: 'center' }}&gt;&#10;                            &lt;Text style={{ fontSize: 15, fontWeight: 'bold', color: '#FFFFFF' }}&gt;③&lt;/Text&gt;&#10;                        &lt;/Box&gt;&#10;                        &lt;Text style={{ fontSize: 18, fontWeight: 'bold', color: '#20344B' }}&gt;两组同一条件式&lt;/Text&gt;&#10;                    &lt;/Box&gt;&#10;                    &lt;Text style={{ fontSize: 15, color: '#546779', lineHeight: 1.5, width: 338 }}&gt;同一个目标，四条判断分支。可达就直接走，不制造一次虚构失败或等待。&lt;/Text&gt;&#10;                &lt;/Box&gt;&#10;                &lt;Box style={{ width: 370, height: 150, background: '#F4F7FA', borderRadius: 10, padding: '14px 16px', flexDirection: 'column', gap: 8 }}&gt;&#10;                    &lt;Box style={{ flexDirection: 'row', alignItems: 'center', gap: 10 }}&gt;&#10;                        &lt;Box style={{ width: 30, height: 26, background: '#276FBF', borderRadius: 6, justifyContent: 'center', alignItems: 'center' }}&gt;&#10;                            &lt;Text style={{ fontSize: 15, fontWeight: 'bold', color: '#FFFFFF' }}&gt;④&lt;/Text&gt;&#10;                        &lt;/Box&gt;&#10;                        &lt;Text style={{ fontSize: 18, fontWeight: 'bold', color: '#20344B' }}&gt;实际移动与真实到达&lt;/Text&gt;&#10;                    &lt;/Box&gt;&#10;                    &lt;Text style={{ fontSize: 15, color: '#546779', lineHeight: 1.5, width: 338 }}&gt;四个路径点、三条移动边；把点数当格数会多计一格。accepted 不是到达。&lt;/Text&gt;&#10;                &lt;/Box&gt;&#10;            &lt;/Box&gt;&#10;&#10;            &lt;Box style={{ flexDirection: 'row', gap: 20 }}&gt;&#10;                &lt;Box style={{ width: 370, height: 150, background: '#F4F7FA', borderRadius: 10, padding: '14px 16px', flexDirection: 'column', gap: 8 }}&gt;&#10;                    &lt;Box style={{ flexDirection: 'row', alignItems: 'center', gap: 10 }}&gt;&#10;                        &lt;Box style={{ width: 30, height: 26, background: '#276FBF', borderRadius: 6, justifyContent: 'center', alignItems: 'center' }}&gt;&#10;                            &lt;Text style={{ fontSize: 15, fontWeight: 'bold', color: '#FFFFFF' }}&gt;⑤&lt;/Text&gt;&#10;                        &lt;/Box&gt;&#10;                        &lt;Text style={{ fontSize: 18, fontWeight: 'bold', color: '#20344B' }}&gt;指标与人工判分&lt;/Text&gt;&#10;                    &lt;/Box&gt;&#10;                    &lt;Text style={{ fontSize: 15, color: '#546779', lineHeight: 1.5, width: 338 }}&gt;到达率、移动负担、启动时延、无效请求率四项口径，以及一次三人演算。&lt;/Text&gt;&#10;                &lt;/Box&gt;&#10;                &lt;Box style={{ width: 370, height: 150, background: '#F4F7FA', borderRadius: 10, padding: '14px 16px', flexDirection: 'column', gap: 8 }}&gt;&#10;                    &lt;Box style={{ flexDirection: 'row', alignItems: 'center', gap: 10 }}&gt;&#10;                        &lt;Box style={{ width: 30, height: 26, background: '#276FBF', borderRadius: 6, justifyContent: 'center', alignItems: 'center' }}&gt;&#10;                            &lt;Text style={{ fontSize: 15, fontWeight: 'bold', color: '#FFFFFF' }}&gt;⑥&lt;/Text&gt;&#10;                        &lt;/Box&gt;&#10;                        &lt;Text style={{ fontSize: 18, fontWeight: 'bold', color: '#20344B' }}&gt;失败分层与练习&lt;/Text&gt;&#10;                    &lt;/Box&gt;&#10;                    &lt;Text style={{ fontSize: 15, color: '#546779', lineHeight: 1.5, width: 338 }}&gt;五种现象分别对应哪种原因，哪些属于合同边界，不能一律当成 bug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本节地图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4.7.1 — 4.7.6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一条主线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09600" y="22764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2486025"/>
            <a:ext cx="3429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目标和信息都不变，只封掉一个缺口，观察集合是否仍可达、每个人多走多少。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3343275"/>
            <a:ext cx="3429000" cy="1000125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两层对照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781050" y="3724275"/>
            <a:ext cx="30861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开放布局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关闭上缺口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同一套条件式行为，只有一处碰撞格不同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4514850"/>
            <a:ext cx="3429000" cy="1000125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81050" y="464820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两条纪律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81050" y="4895850"/>
            <a:ext cx="30861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按提交事实判到达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失败先分层归因，不自动报错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343400" y="1457325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4495800" y="1590675"/>
            <a:ext cx="2857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572000" y="16287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876800" y="16097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用地图说明唯一干预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495800" y="1914525"/>
            <a:ext cx="3219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只把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(8,3)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改成阻挡，下口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(8,8)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不动。先把两套平面并排看清，再谈差别。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8058150" y="1457325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8210550" y="1590675"/>
            <a:ext cx="2857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286750" y="16287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591550" y="16097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只动一个碰撞格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210550" y="1914525"/>
            <a:ext cx="3219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开放草稿复制成独立副本，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Ctrl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编辑目标格，保存离开重开，核对邻格没误涂。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4343400" y="3000375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4495800" y="3133725"/>
            <a:ext cx="2857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572000" y="31718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876800" y="31527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两组同一条件式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495800" y="3457575"/>
            <a:ext cx="3219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同一个目标，四条判断分支。可达就直接走，不制造一次虚构失败或等待。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8058150" y="3000375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8210550" y="3133725"/>
            <a:ext cx="2857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286750" y="31718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591550" y="315277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实际移动与真实到达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210550" y="3457575"/>
            <a:ext cx="3219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四个路径点、三条移动边；把点数当格数会多计一格。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accepted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不是到达。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4343400" y="4543425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4495800" y="4676775"/>
            <a:ext cx="2857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572000" y="4714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876800" y="46958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指标与人工判分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495800" y="5000625"/>
            <a:ext cx="3219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到达率、移动负担、启动时延、无效请求率四项口径，以及一次三人演算。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8058150" y="4543425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8210550" y="4676775"/>
            <a:ext cx="2857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286750" y="4714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591550" y="46958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失败分层与练习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210550" y="5000625"/>
            <a:ext cx="3219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五种现象分别对应哪种原因，哪些属于合同边界，不能一律当成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04" name="" descr="&lt;Slide notes={`先把场地本身说清楚，后面的对照才站得住。&#10;这是一张 17 列 11 行的作者网格，坐标从 0 开始数。最外一圈边框是阻挡，内部有一道竖墙落在 x 等于 8 这一列，除了两个口子以外都是实心的。上面那个口子在 y 等于 3，下面那个在 y 等于 8，基线布局里两个都是通的。&#10;两处缺口虽然在同一道墙上，位置的意义并不一样：上面的口子紧贴北部和中部几个人的行进方向，下面的口子更靠近南侧。&#10;这个位置差正是后面解释「为什么关闭对三个人的影响不一样」的起点。南区的人物在基线里本来就可能走下面这个口子，封掉上面那一个，对他们几乎没有额外负担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　4.7.1 用地图说明唯一干预&lt;/Text&gt;&#10;&#10;        &lt;Text style={{ fontSize: 56, fontWeight: 'bold', color: '#20344B', lineHeight: 1.15 }}&gt;先把场地画出来&lt;/Text&gt;&#10;&#10;        &lt;Box style={{ width: 72, height: 4, background: '#276FBF' }} /&gt;&#10;&#10;        &lt;Text style={{ fontSize: 18, color: '#546779', lineHeight: 1.7, width: 900 }}&gt;17 列 11 行的作者网格，一道竖墙在 x = 8，基线上口与下口都开。&lt;/Text&gt;&#10;&#10;        &lt;Box style={{ flexDirection: 'row', alignItems: 'center', marginTop: 10 }}&gt;&#10;            &lt;Box style={{ width: 200, height: 56, background: '#B5C7D8', justifyContent: 'center', alignItems: 'center' }}&gt;&#10;                &lt;Text style={{ fontSize: 15, color: '#FFFFFF' }}&gt;墙段&lt;/Text&gt;&#10;            &lt;/Box&gt;&#10;            &lt;Box style={{ width: 220, height: 56, background: '#ECF7F2', justifyContent: 'center', alignItems: 'center' }}&gt;&#10;                &lt;Text style={{ fontSize: 16, color: '#26816B' }}&gt;通口 (8,3)&lt;/Text&gt;&#10;            &lt;/Box&gt;&#10;            &lt;Box style={{ width: 200, height: 56, background: '#B5C7D8', justifyContent: 'center', alignItems: 'center' }}&gt;&#10;                &lt;Text style={{ fontSize: 15, color: '#FFFFFF' }}&gt;墙段&lt;/Text&gt;&#10;            &lt;/Box&gt;&#10;            &lt;Box style={{ width: 220, height: 56, background: '#ECF7F2', justifyContent: 'center', alignItems: 'center' }}&gt;&#10;                &lt;Text style={{ fontSize: 16, color: '#26816B' }}&gt;通口 (8,8)&lt;/Text&gt;&#10;            &lt;/Box&gt;&#10;            &lt;Box style={{ width: 200, height: 56, background: '#B5C7D8', justifyContent: 'center', alignItems: 'center' }}&gt;&#10;                &lt;Text style={{ fontSize: 15, color: '#FFFFFF' }}&gt;墙段&lt;/Text&gt;&#10;            &lt;/Box&gt;&#10;        &lt;/Box&gt;&#10;&#10;        &lt;Box style={{ flexDirection: 'row', alignItems: 'center', gap: 14, marginTop: 4 }}&gt;&#10;            &lt;Box style={{ width: 84, height: 30, background: '#CB6B28', borderRadius: 8, justifyContent: 'center', alignItems: 'center' }}&gt;&#10;                &lt;Text style={{ fontSize: 15, fontWeight: 'bold', color: '#FFFFFF' }}&gt;示意&lt;/Text&gt;&#10;            &lt;/Box&gt;&#10;            &lt;Text style={{ fontSize: 14, color: '#546779' }}&gt;坐标从 0 开始，外边框阻挡；两处缺口都在同一道竖墙上&lt;/Text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609600" y="15906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4.7.1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用地图说明唯一干预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先把场地画出来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09600" y="29241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列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行的作者网格，一道竖墙在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x = 8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，基线上口与下口都开。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3829050"/>
            <a:ext cx="1905000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419225" y="40100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墙段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2514600" y="3829050"/>
            <a:ext cx="2095500" cy="5334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3228975" y="4000500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通口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(8,3)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4610100" y="3829050"/>
            <a:ext cx="1905000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5419725" y="40100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墙段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515100" y="3829050"/>
            <a:ext cx="2095500" cy="5334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229475" y="4000500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通口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(8,8)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8610600" y="3829050"/>
            <a:ext cx="1905000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420225" y="40100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墙段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09600" y="4610100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66775" y="46672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543050" y="4676775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坐标从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开始，外边框阻挡；两处缺口都在同一道竖墙上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25" name="" descr="&lt;Slide notes={`两套布局并排看，差别只有一处。左边是基线，墙上两个口子都开；右边只把上面的口子改成阻挡，下面的口子原样保留。&#10;橙色折线想表达的是：下口可能提供绕行方向，但它不是某个人已经走过的路径，也不代表精确路长。&#10;纸面上可以从 7,3 沿着 x 等于 7 这一列往南走到 7,8，再经 8,8、9,8 折向北进入集合区，全程不穿墙，也不穿过公告对象。&#10;还有一点要先记住：南区的人物在基线里原本就可能走下面这个口子，所以关闭上面的缺口，不一定同样影响三个人。解释结果的时候，要把三个人的起点、路线和结果分别列出来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1　用地图说明唯一干预&lt;/Text&gt;&#10;            &lt;Text style={{ fontSize: 34, fontWeight: 'bold', color: '#20344B' }}&gt;只封上口，下口照旧&lt;/Text&gt;&#10;        &lt;/Box&gt;&#10;    &lt;/Box&gt;&#10;&#10;    &lt;Box style={{ height: 540, flexDirection: 'column', justifyContent: 'center', gap: 16 }}&gt;&#10;&#10;        &lt;Box style={{ width: 1152, height: 396, background: '#F4F7FA', borderRadius: 12, padding: '16px 20px', flexDirection: 'row', gap: 20 }}&gt;&#10;&#10;            &lt;Box style={{ width: 546, flexDirection: 'column', gap: 10 }}&gt;&#10;                &lt;Box style={{ height: 34, flexDirection: 'row', alignItems: 'center', gap: 10 }}&gt;&#10;                    &lt;Box style={{ width: 84, height: 30, background: '#CB6B28', borderRadius: 8, justifyContent: 'center', alignItems: 'center' }}&gt;&#10;                        &lt;Text style={{ fontSize: 15, fontWeight: 'bold', color: '#FFFFFF' }}&gt;示意&lt;/Text&gt;&#10;                    &lt;/Box&gt;&#10;                    &lt;Text style={{ fontSize: 18, fontWeight: 'bold', color: '#276FBF' }}&gt;开放布局（基线）&lt;/Text&gt;&#10;                &lt;/Box&gt;&#10;                &lt;Box style={{ height: 300, flexDirection: 'row', gap: 12 }}&gt;&#10;                    &lt;Box style={{ width: 96, flexDirection: 'column', gap: 18 }}&gt;&#10;                        &lt;Box style={{ width: 96, height: 88, background: '#F7F3E8', borderRadius: 8, flexDirection: 'column', justifyContent: 'center', alignItems: 'center', gap: 4 }}&gt;&#10;                            &lt;Text style={{ fontSize: 14, fontWeight: 'bold', color: '#20344B' }}&gt;北等候区&lt;/Text&gt;&#10;                            &lt;Text style={{ fontSize: 12, color: '#546779' }}&gt;y 1–3&lt;/Text&gt;&#10;                        &lt;/Box&gt;&#10;                        &lt;Box style={{ width: 96, height: 88, background: '#F7F3E8', borderRadius: 8, flexDirection: 'column', justifyContent: 'center', alignItems: 'center', gap: 4 }}&gt;&#10;                            &lt;Text style={{ fontSize: 14, fontWeight: 'bold', color: '#20344B' }}&gt;中等候区&lt;/Text&gt;&#10;                            &lt;Text style={{ fontSize: 12, color: '#546779' }}&gt;y 4–6&lt;/Text&gt;&#10;                        &lt;/Box&gt;&#10;                        &lt;Box style={{ width: 96, height: 88, background: '#F7F3E8', borderRadius: 8, flexDirection: 'column', justifyContent: 'center', alignItems: 'center', gap: 4 }}&gt;&#10;                            &lt;Text style={{ fontSize: 14, fontWeight: 'bold', color: '#20344B' }}&gt;南等候区&lt;/Text&gt;&#10;                            &lt;Text style={{ fontSize: 12, color: '#546779' }}&gt;y 7–9&lt;/Text&gt;&#10;                        &lt;/Box&gt;&#10;                    &lt;/Box&gt;&#10;                    &lt;Box style={{ width: 132, flexDirection: 'column', gap: 12 }}&gt;&#10;                        &lt;Box style={{ width: 132, height: 240, background: '#EDF4FC', borderRadius: 8, flexDirection: 'column', justifyContent: 'center', alignItems: 'center', gap: 6 }}&gt;&#10;                            &lt;Text style={{ fontSize: 16, fontWeight: 'bold', color: '#276FBF' }}&gt;连接区&lt;/Text&gt;&#10;                            &lt;Text style={{ fontSize: 12, color: '#546779' }}&gt;x 5–8&lt;/Text&gt;&#10;                            &lt;Text style={{ fontSize: 12, color: '#546779' }}&gt;四人起点侧&lt;/Text&gt;&#10;                        &lt;/Box&gt;&#10;                        &lt;Box style={{ width: 132, height: 48, background: '#FFF4E6', borderRadius: 8, flexDirection: 'column', justifyContent: 'center', alignItems: 'center', gap: 2 }}&gt;&#10;                            &lt;Text style={{ fontSize: 12, fontWeight: 'bold', color: '#CB6B28' }}&gt;公告对象 B&lt;/Text&gt;&#10;                            &lt;Text style={{ fontSize: 11, color: '#546779' }}&gt;(6,5) 占格阻挡&lt;/Text&gt;&#10;                        &lt;/Box&gt;&#10;                    &lt;/Box&gt;&#10;                    &lt;Box style={{ width: 92, flexDirection: 'column' }}&gt;&#10;                        &lt;Box style={{ width: 92, height: 58, background: '#B5C7D8', justifyContent: 'center', alignItems: 'center' }}&gt;&#10;                            &lt;Text style={{ fontSize: 14, color: '#FFFFFF' }}&gt;墙&lt;/Text&gt;&#10;                        &lt;/Box&gt;&#10;                        &lt;Box style={{ width: 92, height: 52, background: '#ECF7F2', justifyContent: 'center', alignItems: 'center' }}&gt;&#10;                            &lt;Text style={{ fontSize: 15, fontWeight: 'bold', color: '#26816B' }}&gt;通 (8,3)&lt;/Text&gt;&#10;                        &lt;/Box&gt;&#10;                        &lt;Box style={{ width: 92, height: 86, background: '#B5C7D8', justifyContent: 'center', alignItems: 'center' }}&gt;&#10;                            &lt;Text style={{ fontSize: 14, color: '#FFFFFF' }}&gt;墙 x = 8&lt;/Text&gt;&#10;                        &lt;/Box&gt;&#10;                        &lt;Box style={{ width: 92, height: 52, background: '#ECF7F2', justifyContent: 'center', alignItems: 'center' }}&gt;&#10;                            &lt;Text style={{ fontSize: 15, fontWeight: 'bold', color: '#26816B' }}&gt;通 (8,8)&lt;/Text&gt;&#10;                        &lt;/Box&gt;&#10;                        &lt;Box style={{ width: 92, height: 52, background: '#B5C7D8', justifyContent: 'center', alignItems: 'center' }}&gt;&#10;                            &lt;Text style={{ fontSize: 14, color: '#FFFFFF' }}&gt;墙&lt;/Text&gt;&#10;                        &lt;/Box&gt;&#10;                    &lt;/Box&gt;&#10;                    &lt;Box style={{ width: 148, height: 300, background: '#ECF7F2', borderRadius: 8, flexDirection: 'column', justifyContent: 'center', alignItems: 'center', gap: 6 }}&gt;&#10;                        &lt;Text style={{ fontSize: 18, fontWeight: 'bold', color: '#26816B' }}&gt;集合区&lt;/Text&gt;&#10;                        &lt;Text style={{ fontSize: 13, color: '#546779' }}&gt;x 9–15&lt;/Text&gt;&#10;                        &lt;Text style={{ fontSize: 13, color: '#546779' }}&gt;三人共同目标&lt;/Text&gt;&#10;                    &lt;/Box&gt;&#10;                &lt;/Box&gt;&#10;            &lt;/Box&gt;&#10;&#10;            &lt;Box style={{ width: 546, flexDirection: 'column', gap: 10 }}&gt;&#10;                &lt;Box style={{ height: 34, flexDirection: 'row', alignItems: 'center', gap: 10 }}&gt;&#10;                    &lt;Box style={{ width: 84, height: 30, background: '#CB6B28', borderRadius: 8, justifyContent: 'center', alignItems: 'center' }}&gt;&#10;                        &lt;Text style={{ fontSize: 15, fontWeight: 'bold', color: '#FFFFFF' }}&gt;示意&lt;/Text&gt;&#10;                    &lt;/Box&gt;&#10;                    &lt;Text style={{ fontSize: 18, fontWeight: 'bold', color: '#CB6B28' }}&gt;关闭布局：只封 (8,3)&lt;/Text&gt;&#10;                &lt;/Box&gt;&#10;                &lt;Box style={{ height: 300, flexDirection: 'row', gap: 12 }}&gt;&#10;                    &lt;Box style={{ width: 96, flexDirection: 'column', gap: 18 }}&gt;&#10;                        &lt;Box style={{ width: 96, height: 88, background: '#F7F3E8', borderRadius: 8, flexDirection: 'column', justifyContent: 'center', alignItems: 'center', gap: 4 }}&gt;&#10;                            &lt;Text style={{ fontSize: 14, fontWeight: 'bold', color: '#20344B' }}&gt;北等候区&lt;/Text&gt;&#10;                            &lt;Text style={{ fontSize: 12, color: '#546779' }}&gt;y 1–3&lt;/Text&gt;&#10;                        &lt;/Box&gt;&#10;                        &lt;Box style={{ width: 96, height: 88, background: '#F7F3E8', borderRadius: 8, flexDirection: 'column', justifyContent: 'center', alignItems: 'center', gap: 4 }}&gt;&#10;                            &lt;Text style={{ fontSize: 14, fontWeight: 'bold', color: '#20344B' }}&gt;中等候区&lt;/Text&gt;&#10;                            &lt;Text style={{ fontSize: 12, color: '#546779' }}&gt;y 4–6&lt;/Text&gt;&#10;                        &lt;/Box&gt;&#10;                        &lt;Box style={{ width: 96, height: 88, background: '#F7F3E8', borderRadius: 8, flexDirection: 'column', justifyContent: 'center', alignItems: 'center', gap: 4 }}&gt;&#10;                            &lt;Text style={{ fontSize: 14, fontWeight: 'bold', color: '#20344B' }}&gt;南等候区&lt;/Text&gt;&#10;                            &lt;Text style={{ fontSize: 12, color: '#546779' }}&gt;y 7–9&lt;/Text&gt;&#10;                        &lt;/Box&gt;&#10;                    &lt;/Box&gt;&#10;                    &lt;Box style={{ width: 132, flexDirection: 'column', gap: 12 }}&gt;&#10;                        &lt;Box style={{ width: 132, height: 240, background: '#EDF4FC', borderRadius: 8, flexDirection: 'column', justifyContent: 'center', alignItems: 'center', gap: 6 }}&gt;&#10;                            &lt;Text style={{ fontSize: 16, fontWeight: 'bold', color: '#276FBF' }}&gt;连接区&lt;/Text&gt;&#10;                            &lt;Text style={{ fontSize: 12, color: '#546779' }}&gt;x 5–8&lt;/Text&gt;&#10;                            &lt;Text style={{ fontSize: 12, color: '#546779' }}&gt;四人起点侧&lt;/Text&gt;&#10;                        &lt;/Box&gt;&#10;                        &lt;Box style={{ width: 132, height: 48, background: '#FFF4E6', borderRadius: 8, flexDirection: 'column', justifyContent: 'center', alignItems: 'center', gap: 2 }}&gt;&#10;                            &lt;Text style={{ fontSize: 12, fontWeight: 'bold', color: '#CB6B28' }}&gt;公告对象 B&lt;/Text&gt;&#10;                            &lt;Text style={{ fontSize: 11, color: '#546779' }}&gt;(6,5) 占格阻挡&lt;/Text&gt;&#10;                        &lt;/Box&gt;&#10;                    &lt;/Box&gt;&#10;                    &lt;Box style={{ width: 92, flexDirection: 'column' }}&gt;&#10;                        &lt;Box style={{ width: 92, height: 58, background: '#B5C7D8', justifyContent: 'center', alignItems: 'center' }}&gt;&#10;                            &lt;Text style={{ fontSize: 14, color: '#FFFFFF' }}&gt;墙&lt;/Text&gt;&#10;                        &lt;/Box&gt;&#10;                        &lt;Box style={{ width: 92, height: 52, background: '#CB6B28', justifyContent: 'center', alignItems: 'center' }}&gt;&#10;                            &lt;Text style={{ fontSize: 15, fontWeight: 'bold', color: '#FFFFFF' }}&gt;封 (8,3)&lt;/Text&gt;&#10;                        &lt;/Box&gt;&#10;                        &lt;Box style={{ width: 92, height: 86, background: '#B5C7D8', justifyContent: 'center', alignItems: 'center' }}&gt;&#10;                            &lt;Text style={{ fontSize: 14, color: '#FFFFFF' }}&gt;墙 x = 8&lt;/Text&gt;&#10;                        &lt;/Box&gt;&#10;                        &lt;Box style={{ width: 92, height: 52, background: '#ECF7F2', justifyContent: 'center', alignItems: 'center' }}&gt;&#10;                            &lt;Text style={{ fontSize: 15, fontWeight: 'bold', color: '#26816B' }}&gt;通 (8,8)&lt;/Text&gt;&#10;                        &lt;/Box&gt;&#10;                        &lt;Box style={{ width: 92, height: 52, background: '#B5C7D8', justifyContent: 'center', alignItems: 'center' }}&gt;&#10;                            &lt;Text style={{ fontSize: 14, color: '#FFFFFF' }}&gt;墙&lt;/Text&gt;&#10;                        &lt;/Box&gt;&#10;                    &lt;/Box&gt;&#10;                    &lt;Box style={{ width: 148, height: 300, background: '#ECF7F2', borderRadius: 8, flexDirection: 'column', justifyContent: 'center', alignItems: 'center', gap: 6 }}&gt;&#10;                        &lt;Text style={{ fontSize: 18, fontWeight: 'bold', color: '#26816B' }}&gt;集合区&lt;/Text&gt;&#10;                        &lt;Text style={{ fontSize: 13, color: '#546779' }}&gt;x 9–15&lt;/Text&gt;&#10;                        &lt;Text style={{ fontSize: 13, color: '#546779' }}&gt;三人共同目标&lt;/Text&gt;&#10;                    &lt;/Box&gt;&#10;                &lt;/Box&gt;&#10;            &lt;/Box&gt;&#10;&#10;        &lt;/Box&gt;&#10;&#10;        &lt;Box style={{ width: 1152, height: 88, background: '#EDF4FC', borderRadius: 10, padding: '0 22px', flexDirection: 'row', alignItems: 'center', gap: 16 }}&gt;&#10;            &lt;Box style={{ width: 124 }}&gt;&#10;                &lt;Text style={{ fontSize: 14, fontWeight: 'bold', color: '#276FBF', lineHeight: 1.4 }}&gt;绕行方向{'\n'}（示意）&lt;/Text&gt;&#10;            &lt;/Box&gt;&#10;            &lt;Box style={{ width: 196, height: 50, background: '#FFFFFF', borderRadius: 8, justifyContent: 'center', alignItems: 'center' }}&gt;&#10;                &lt;Text style={{ fontSize: 16, color: '#276FBF' }}&gt;西侧 (7,3)&lt;/Text&gt;&#10;            &lt;/Box&gt;&#10;            &lt;Box style={{ width: 44, height: 50, justifyContent: 'center', alignItems: 'center' }}&gt;&#10;                &lt;Text style={{ fontSize: 26, color: '#276FBF' }}&gt;›&lt;/Text&gt;&#10;            &lt;/Box&gt;&#10;            &lt;Box style={{ width: 196, height: 50, background: '#FFFFFF', borderRadius: 8, justifyContent: 'center', alignItems: 'center' }}&gt;&#10;                &lt;Text style={{ fontSize: 16, color: '#276FBF' }}&gt;沿 x = 7 南行&lt;/Text&gt;&#10;            &lt;/Box&gt;&#10;            &lt;Box style={{ width: 44, height: 50, justifyContent: 'center', alignItems: 'center' }}&gt;&#10;                &lt;Text style={{ fontSize: 26, color: '#26816B' }}&gt;›&lt;/Text&gt;&#10;            &lt;/Box&gt;&#10;            &lt;Box style={{ width: 196, height: 50, background: '#FFFFFF', borderRadius: 8, justifyContent: 'center', alignItems: 'center' }}&gt;&#10;                &lt;Text style={{ fontSize: 16, color: '#26816B' }}&gt;下口 (8,8)&lt;/Text&gt;&#10;            &lt;/Box&gt;&#10;            &lt;Box style={{ width: 44, height: 50, justifyContent: 'center', alignItems: 'center' }}&gt;&#10;                &lt;Text style={{ fontSize: 26, color: '#26816B' }}&gt;›&lt;/Text&gt;&#10;            &lt;/Box&gt;&#10;            &lt;Box style={{ width: 196, height: 50, background: '#ECF7F2', borderRadius: 8, justifyContent: 'center', alignItems: 'center' }}&gt;&#10;                &lt;Text style={{ fontSize: 16, color: '#26816B' }}&gt;折向北进集合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用地图说明唯一干预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只封上口，下口照旧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09600" y="1333500"/>
            <a:ext cx="10972800" cy="377190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800100" y="1504950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057275" y="15621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695450" y="1543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开放布局（基线）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800100" y="1905000"/>
            <a:ext cx="9144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90600" y="21526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北等候区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114425" y="235267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y 1–3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800100" y="2914650"/>
            <a:ext cx="9144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990600" y="3162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中等候区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114425" y="33623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y 4–6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800100" y="3924300"/>
            <a:ext cx="9144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990600" y="4171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南等候区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114425" y="437197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y 7–9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1828800" y="1905000"/>
            <a:ext cx="1257300" cy="2286000"/>
          </a:xfrm>
          <a:prstGeom prst="roundRect">
            <a:avLst>
              <a:gd name="adj" fmla="val 606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2228850" y="27527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连接区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2314575" y="300037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x 5–8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2171700" y="32004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四人起点侧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1828800" y="4305300"/>
            <a:ext cx="12573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2171700" y="43910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B6B28"/>
                </a:solidFill>
                <a:latin typeface="Microsoft YaHei"/>
                <a:ea typeface="Microsoft YaHei"/>
              </a:rPr>
              <a:t>公告对象</a:t>
            </a:r>
            <a:r>
              <a:rPr lang="en-US" sz="9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2124075" y="4552950"/>
            <a:ext cx="676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 xml:space="preserve">(6,5) </a:t>
            </a:r>
            <a:r>
              <a:rPr lang="zh-CN" sz="825">
                <a:solidFill>
                  <a:srgbClr val="546779"/>
                </a:solidFill>
                <a:latin typeface="Microsoft YaHei"/>
                <a:ea typeface="Microsoft YaHei"/>
              </a:rPr>
              <a:t>占格阻挡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3200400" y="1905000"/>
            <a:ext cx="876300" cy="5524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3571875" y="21050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3200400" y="2457450"/>
            <a:ext cx="876300" cy="4953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3381375" y="26193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通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(8,3)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3200400" y="2952750"/>
            <a:ext cx="876300" cy="8191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3390900" y="3286125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x = 8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3200400" y="3771900"/>
            <a:ext cx="876300" cy="4953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3381375" y="393382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通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(8,8)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3200400" y="4267200"/>
            <a:ext cx="876300" cy="4953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571875" y="44386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4191000" y="1905000"/>
            <a:ext cx="1409700" cy="2857500"/>
          </a:xfrm>
          <a:prstGeom prst="roundRect">
            <a:avLst>
              <a:gd name="adj" fmla="val 54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4638675" y="30194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集合区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4705350" y="32861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x 9–15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4524375" y="34956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三人共同目标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191250" y="1504950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448425" y="15621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086600" y="1543050"/>
            <a:ext cx="1647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关闭布局：只封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(8,3)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191250" y="1905000"/>
            <a:ext cx="9144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6381750" y="21526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北等候区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505575" y="235267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y 1–3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191250" y="2914650"/>
            <a:ext cx="9144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381750" y="3162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中等候区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505575" y="33623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y 4–6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191250" y="3924300"/>
            <a:ext cx="9144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381750" y="4171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南等候区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505575" y="437197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y 7–9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7219950" y="1905000"/>
            <a:ext cx="1257300" cy="2286000"/>
          </a:xfrm>
          <a:prstGeom prst="roundRect">
            <a:avLst>
              <a:gd name="adj" fmla="val 606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620000" y="27527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连接区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705725" y="300037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x 5–8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562850" y="32004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四人起点侧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7219950" y="4305300"/>
            <a:ext cx="12573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562850" y="43910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B6B28"/>
                </a:solidFill>
                <a:latin typeface="Microsoft YaHei"/>
                <a:ea typeface="Microsoft YaHei"/>
              </a:rPr>
              <a:t>公告对象</a:t>
            </a:r>
            <a:r>
              <a:rPr lang="en-US" sz="9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7515225" y="4552950"/>
            <a:ext cx="676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 xml:space="preserve">(6,5) </a:t>
            </a:r>
            <a:r>
              <a:rPr lang="zh-CN" sz="825">
                <a:solidFill>
                  <a:srgbClr val="546779"/>
                </a:solidFill>
                <a:latin typeface="Microsoft YaHei"/>
                <a:ea typeface="Microsoft YaHei"/>
              </a:rPr>
              <a:t>占格阻挡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8591550" y="1905000"/>
            <a:ext cx="876300" cy="5524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963025" y="21050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8591550" y="2457450"/>
            <a:ext cx="8763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772525" y="261937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封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(8,3)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8591550" y="2952750"/>
            <a:ext cx="876300" cy="8191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782050" y="3286125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x = 8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8591550" y="3771900"/>
            <a:ext cx="876300" cy="4953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772525" y="393382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通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(8,8)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8591550" y="4267200"/>
            <a:ext cx="876300" cy="4953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963025" y="44386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墙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9582150" y="1905000"/>
            <a:ext cx="1409700" cy="2857500"/>
          </a:xfrm>
          <a:prstGeom prst="roundRect">
            <a:avLst>
              <a:gd name="adj" fmla="val 54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0029825" y="30194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集合区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10096500" y="328612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x 9–15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9915525" y="34956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三人共同目标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609600" y="52578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19150" y="5448300"/>
            <a:ext cx="11811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绕行方向</a:t>
            </a:r>
            <a:endParaRPr/>
          </a:p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（示意）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2105025" y="5438775"/>
            <a:ext cx="18669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2705100" y="5581650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西侧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(7,3)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4210050" y="5524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4600575" y="5438775"/>
            <a:ext cx="18669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5076825" y="5581650"/>
            <a:ext cx="923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沿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x = 7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南行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705600" y="5524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7086600" y="5438775"/>
            <a:ext cx="18669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686675" y="5581650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下口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(8,8)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9201150" y="5524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9582150" y="5438775"/>
            <a:ext cx="1866900" cy="476250"/>
          </a:xfrm>
          <a:prstGeom prst="roundRect">
            <a:avLst>
              <a:gd name="adj" fmla="val 1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9982200" y="55816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折向北进集合区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12" name="" descr="&lt;Slide notes={`场地上有五个语义区域。三个等候区自北向南各占四列三行；连接区占 x 从 5 到 8 的九行，是四人共同的起始侧；集合区占 x 从 9 到 15 的九行，是演练的目标区。&#10;另有一个公告对象 B 放在连接区 6,5，占格阻挡，走不过去。&#10;人物方面，程夏从北等候区出发，沈禾从中等候区，杜衡从南等候区，引导员叶青从连接区开始。三名集合者预先知道集合区的真实地址，但没有教师的完整碰撞表，其余地址要靠已知空间和感知取得。&#10;两组公告用同一段文字，只说按当前导航结果前往集合区，有问题可以咨询现场引导员，不透露组别信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1　五个 Arena 与四个起点&lt;/Text&gt;&#10;            &lt;Text style={{ fontSize: 34, fontWeight: 'bold', color: '#20344B' }}&gt;场地对象与谁从这里出发&lt;/Text&gt;&#10;        &lt;/Box&gt;&#10;    &lt;/Box&gt;&#10;&#10;    &lt;Box style={{ height: 540, flexDirection: 'row', justifyContent: 'center', gap: 28 }}&gt;&#10;&#10;        &lt;Box style={{ width: 700, background: '#F4F7FA', borderRadius: 10, padding: '14px 20px', flexDirection: 'column', justifyContent: 'center', gap: 8 }}&gt;&#10;&#10;            &lt;Box style={{ flexDirection: 'row', alignItems: 'center', gap: 14, height: 26 }}&gt;&#10;                &lt;Box style={{ width: 4 }} /&gt;&#10;                &lt;Box style={{ width: 130 }}&gt;&lt;Text style={{ fontSize: 15, fontWeight: 'bold', color: '#546779' }}&gt;Arena 或对象&lt;/Text&gt;&lt;/Box&gt;&#10;                &lt;Box style={{ width: 200 }}&gt;&lt;Text style={{ fontSize: 15, fontWeight: 'bold', color: '#546779' }}&gt;[x,y,width,height]&lt;/Text&gt;&lt;/Box&gt;&#10;                &lt;Box style={{ flex: 1 }}&gt;&lt;Text style={{ fontSize: 15, fontWeight: 'bold', color: '#546779' }}&gt;谁从这里出发&lt;/Text&gt;&lt;/Box&gt;&#10;            &lt;/Box&gt;&#10;&#10;            &lt;Box style={{ height: 84, background: '#FFFFFF', borderRadius: 8, flexDirection: 'row', alignItems: 'center', gap: 14, padding: '0 14px' }}&gt;&#10;                &lt;Box style={{ width: 4, height: 34, background: '#B5C7D8' }} /&gt;&#10;                &lt;Box style={{ width: 130 }}&gt;&lt;Text style={{ fontSize: 16, fontWeight: 'bold', color: '#20344B' }}&gt;北等候区&lt;/Text&gt;&lt;/Box&gt;&#10;                &lt;Box style={{ width: 200 }}&gt;&lt;Text style={{ fontSize: 16, color: '#276FBF' }}&gt;[1,1,4,3]&lt;/Text&gt;&lt;/Box&gt;&#10;                &lt;Box style={{ flex: 1 }}&gt;&lt;Text style={{ fontSize: 15, color: '#546779' }}&gt;程夏从北侧出发&lt;/Text&gt;&lt;/Box&gt;&#10;            &lt;/Box&gt;&#10;&#10;            &lt;Box style={{ height: 84, background: '#FFFFFF', borderRadius: 8, flexDirection: 'row', alignItems: 'center', gap: 14, padding: '0 14px' }}&gt;&#10;                &lt;Box style={{ width: 4, height: 34, background: '#B5C7D8' }} /&gt;&#10;                &lt;Box style={{ width: 130 }}&gt;&lt;Text style={{ fontSize: 16, fontWeight: 'bold', color: '#20344B' }}&gt;中等候区&lt;/Text&gt;&lt;/Box&gt;&#10;                &lt;Box style={{ width: 200 }}&gt;&lt;Text style={{ fontSize: 16, color: '#276FBF' }}&gt;[1,4,4,3]&lt;/Text&gt;&lt;/Box&gt;&#10;                &lt;Box style={{ flex: 1 }}&gt;&lt;Text style={{ fontSize: 15, color: '#546779' }}&gt;沈禾从中部出发&lt;/Text&gt;&lt;/Box&gt;&#10;            &lt;/Box&gt;&#10;&#10;            &lt;Box style={{ height: 84, background: '#FFFFFF', borderRadius: 8, flexDirection: 'row', alignItems: 'center', gap: 14, padding: '0 14px' }}&gt;&#10;                &lt;Box style={{ width: 4, height: 34, background: '#B5C7D8' }} /&gt;&#10;                &lt;Box style={{ width: 130 }}&gt;&lt;Text style={{ fontSize: 16, fontWeight: 'bold', color: '#20344B' }}&gt;南等候区&lt;/Text&gt;&lt;/Box&gt;&#10;                &lt;Box style={{ width: 200 }}&gt;&lt;Text style={{ fontSize: 16, color: '#276FBF' }}&gt;[1,7,4,3]&lt;/Text&gt;&lt;/Box&gt;&#10;                &lt;Box style={{ flex: 1 }}&gt;&lt;Text style={{ fontSize: 15, color: '#CB6B28' }}&gt;杜衡从南侧出发&lt;/Text&gt;&lt;/Box&gt;&#10;            &lt;/Box&gt;&#10;&#10;            &lt;Box style={{ height: 84, background: '#FFFFFF', borderRadius: 8, flexDirection: 'row', alignItems: 'center', gap: 14, padding: '0 14px' }}&gt;&#10;                &lt;Box style={{ width: 4, height: 34, background: '#276FBF' }} /&gt;&#10;                &lt;Box style={{ width: 130 }}&gt;&lt;Text style={{ fontSize: 16, fontWeight: 'bold', color: '#20344B' }}&gt;连接区&lt;/Text&gt;&lt;/Box&gt;&#10;                &lt;Box style={{ width: 200 }}&gt;&lt;Text style={{ fontSize: 16, color: '#276FBF' }}&gt;[5,1,4,9]&lt;/Text&gt;&lt;/Box&gt;&#10;                &lt;Box style={{ flex: 1 }}&gt;&lt;Text style={{ fontSize: 15, color: '#546779' }}&gt;引导员叶青起点&lt;/Text&gt;&lt;/Box&gt;&#10;            &lt;/Box&gt;&#10;&#10;            &lt;Box style={{ height: 84, background: '#FFFFFF', borderRadius: 8, flexDirection: 'row', alignItems: 'center', gap: 14, padding: '0 14px' }}&gt;&#10;                &lt;Box style={{ width: 4, height: 34, background: '#26816B' }} /&gt;&#10;                &lt;Box style={{ width: 130 }}&gt;&lt;Text style={{ fontSize: 16, fontWeight: 'bold', color: '#20344B' }}&gt;集合区&lt;/Text&gt;&lt;/Box&gt;&#10;                &lt;Box style={{ width: 200 }}&gt;&lt;Text style={{ fontSize: 16, color: '#276FBF' }}&gt;[9,1,7,9]&lt;/Text&gt;&lt;/Box&gt;&#10;                &lt;Box style={{ flex: 1 }}&gt;&lt;Text style={{ fontSize: 15, color: '#26816B' }}&gt;三人共同进入的目标&lt;/Text&gt;&lt;/Box&gt;&#10;            &lt;/Box&gt;&#10;&#10;        &lt;/Box&gt;&#10;&#10;        &lt;Box style={{ width: 424, flexDirection: 'column', justifyContent: 'center', gap: 14 }}&gt;&#10;&#10;            &lt;Box style={{ width: 424, height: 176, background: '#FFF4E6', borderRadius: 10, padding: '14px 18px', flexDirection: 'column', gap: 6 }}&gt;&#10;                &lt;Text style={{ fontSize: 16, fontWeight: 'bold', color: '#CB6B28' }}&gt;公告对象 B　占格阻挡&lt;/Text&gt;&#10;                &lt;Text style={{ fontSize: 14, color: '#546779', lineHeight: 1.5 }}&gt;位于连接区 (6,5)，占一格且挡住通行。&lt;/Text&gt;&#10;                &lt;Text style={{ fontSize: 14, color: '#546779', lineHeight: 1.5 }}&gt;两组公告同文：「请依据当前导航结果前往集合区；如有具体问题，可咨询现场引导员。」不透露额外组别信息。&lt;/Text&gt;&#10;            &lt;/Box&gt;&#10;&#10;            &lt;Box style={{ width: 424, height: 176, background: '#EDF4FC', borderRadius: 10, padding: '14px 18px', flexDirection: 'column', gap: 6 }}&gt;&#10;                &lt;Text style={{ fontSize: 16, fontWeight: 'bold', color: '#276FBF' }}&gt;三个起点，一张目标地址&lt;/Text&gt;&#10;                &lt;Text style={{ fontSize: 14, color: '#546779', lineHeight: 1.5 }}&gt;三人有真实集合区地址，没有教师的完整碰撞表；其他地址依已知空间与感知取得。&lt;/Text&gt;&#10;                &lt;Text style={{ fontSize: 14, color: '#546779', lineHeight: 1.5 }}&gt;引导员叶青从连接区开始，不替任何人移动。&lt;/Text&gt;&#10;            &lt;/Box&gt;&#10;&#10;            &lt;Box style={{ width: 424, height: 120, background: '#ECF7F2', borderRadius: 10, padding: '14px 18px', flexDirection: 'column', gap: 6 }}&gt;&#10;                &lt;Text style={{ fontSize: 16, fontWeight: 'bold', color: '#26816B' }}&gt;墙与门洞归语义区域&lt;/Text&gt;&#10;                &lt;Text style={{ fontSize: 14, color: '#546779', lineHeight: 1.5 }}&gt;整图只有 World 与 Sector 两层，均覆盖全图；坐标从 0 开始，外边框阻挡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与四个起点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场地对象与谁从这里出发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09600" y="1143000"/>
            <a:ext cx="6667500" cy="5143500"/>
          </a:xfrm>
          <a:prstGeom prst="roundRect">
            <a:avLst>
              <a:gd name="adj" fmla="val 18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971550" y="143827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Arena 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或对象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2343150" y="14382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>[x,y,width,height]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4381500" y="1438275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谁从这里出发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800100" y="1724025"/>
            <a:ext cx="6286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933450" y="1962150"/>
            <a:ext cx="38100" cy="3238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1104900" y="20288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北等候区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2476500" y="202882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[1,1,4,3]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4514850" y="203835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程夏从北侧出发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800100" y="2600325"/>
            <a:ext cx="6286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7" name=""/>
          <p:cNvSpPr/>
          <p:nvPr/>
        </p:nvSpPr>
        <p:spPr>
          <a:xfrm rot="0" flipH="0" flipV="0">
            <a:off x="933450" y="2838450"/>
            <a:ext cx="38100" cy="3238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104900" y="29051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中等候区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2476500" y="290512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[1,4,4,3]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4514850" y="291465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沈禾从中部出发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800100" y="3476625"/>
            <a:ext cx="6286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2" name=""/>
          <p:cNvSpPr/>
          <p:nvPr/>
        </p:nvSpPr>
        <p:spPr>
          <a:xfrm rot="0" flipH="0" flipV="0">
            <a:off x="933450" y="3714750"/>
            <a:ext cx="38100" cy="3238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104900" y="37814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南等候区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2476500" y="378142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[1,7,4,3]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4514850" y="379095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杜衡从南侧出发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800100" y="4352925"/>
            <a:ext cx="6286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7" name=""/>
          <p:cNvSpPr/>
          <p:nvPr/>
        </p:nvSpPr>
        <p:spPr>
          <a:xfrm rot="0" flipH="0" flipV="0">
            <a:off x="933450" y="4591050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104900" y="46577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连接区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2476500" y="465772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[5,1,4,9]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4514850" y="466725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引导员叶青起点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800100" y="5229225"/>
            <a:ext cx="62865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2" name=""/>
          <p:cNvSpPr/>
          <p:nvPr/>
        </p:nvSpPr>
        <p:spPr>
          <a:xfrm rot="0" flipH="0" flipV="0">
            <a:off x="933450" y="5467350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1104900" y="55340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集合区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2476500" y="553402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[9,1,7,9]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4514850" y="554355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三人共同进入的目标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7543800" y="1333500"/>
            <a:ext cx="4038600" cy="1676400"/>
          </a:xfrm>
          <a:prstGeom prst="roundRect">
            <a:avLst>
              <a:gd name="adj" fmla="val 56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715250" y="146685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公告对象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　占格阻挡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715250" y="1714500"/>
            <a:ext cx="3695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位于连接区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(6,5)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，占一格且挡住通行。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715250" y="2019300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两组公告同文：「请依据当前导航结果前往集合区；如有具体问题，可咨询现场引导员。」不透露额外组别信息。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7543800" y="3143250"/>
            <a:ext cx="4038600" cy="1676400"/>
          </a:xfrm>
          <a:prstGeom prst="roundRect">
            <a:avLst>
              <a:gd name="adj" fmla="val 56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715250" y="327660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三个起点，一张目标地址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715250" y="3524250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三人有真实集合区地址，没有教师的完整碰撞表；其他地址依已知空间与感知取得。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715250" y="4067175"/>
            <a:ext cx="3695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引导员叶青从连接区开始，不替任何人移动。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7543800" y="4953000"/>
            <a:ext cx="40386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715250" y="508635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墙与门洞归语义区域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7715250" y="5334000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整图只有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Sector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两层，均覆盖全图；坐标从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开始，外边框阻挡。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759" name="" descr="&lt;Slide notes={`纸面上可以先自己走一遍：从 7,3 沿着 x 等于 7 这一列往南走到 7,8，再经 8,8 和 9,8 折向北，全程不穿墙，也不穿过公告对象。&#10;原作者做过一次四邻接检查：开放布局有 127 个可走格，关闭布局是 126 个，少掉的那一格就是被改动的缺口。各组内部全连通，每个可走格恰好属于一个 Arena，墙和门洞也归到对应的语义区域里。&#10;这里要特别强调边界：这些数字说明的是纸面自洽，不是系统寻路的验收结果。&#10;真正运行时，仍然要去看内嵌地图和真实的 MOVE 返回。预检只能帮你确认布局本身没画错，它替代不了运行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1　可走格与它的适用边界&lt;/Text&gt;&#10;            &lt;Text style={{ fontSize: 34, fontWeight: 'bold', color: '#20344B' }}&gt;纸面自洽，不等于系统验收&lt;/Text&gt;&#10;        &lt;/Box&gt;&#10;    &lt;/Box&gt;&#10;&#10;    &lt;Box style={{ height: 540, flexDirection: 'row', justifyContent: 'center', gap: 28 }}&gt;&#10;&#10;        &lt;Box style={{ width: 424, flexDirection: 'column', justifyContent: 'center', gap: 10 }}&gt;&#10;            &lt;Box style={{ flexDirection: 'row', alignItems: 'center', gap: 10, height: 26 }}&gt;&#10;                &lt;Text style={{ fontSize: 16, fontWeight: 'bold', color: '#20344B' }}&gt;纸面推演路线&lt;/Text&gt;&#10;                &lt;Box style={{ width: 84, height: 26, background: '#CB6B28', borderRadius: 8, justifyContent: 'center', alignItems: 'center' }}&gt;&#10;                    &lt;Text style={{ fontSize: 14, fontWeight: 'bold', color: '#FFFFFF' }}&gt;示意&lt;/Text&gt;&#10;                &lt;/Box&gt;&#10;            &lt;/Box&gt;&#10;            &lt;Box style={{ width: 424, height: 92, background: '#EDF4FC', borderRadius: 10, padding: '0 18px', flexDirection: 'column', justifyContent: 'center', gap: 2 }}&gt;&#10;                &lt;Text style={{ fontSize: 17, fontWeight: 'bold', color: '#276FBF' }}&gt;起点 (7,3)&lt;/Text&gt;&#10;                &lt;Text style={{ fontSize: 14, color: '#546779' }}&gt;位于连接区西侧，紧邻上口内侧&lt;/Text&gt;&#10;            &lt;/Box&gt;&#10;            &lt;Box style={{ width: 424, height: 36, justifyContent: 'center', alignItems: 'center' }}&gt;&#10;                &lt;Text style={{ fontSize: 24, color: '#276FBF' }}&gt;↓&lt;/Text&gt;&#10;            &lt;/Box&gt;&#10;            &lt;Box style={{ width: 424, height: 92, background: '#EDF4FC', borderRadius: 10, padding: '0 18px', flexDirection: 'column', justifyContent: 'center', gap: 2 }}&gt;&#10;                &lt;Text style={{ fontSize: 17, fontWeight: 'bold', color: '#276FBF' }}&gt;沿 x = 7 南行至 (7,8)&lt;/Text&gt;&#10;                &lt;Text style={{ fontSize: 14, color: '#546779' }}&gt;走到下口内侧，不穿墙也不穿公告&lt;/Text&gt;&#10;            &lt;/Box&gt;&#10;            &lt;Box style={{ width: 424, height: 36, justifyContent: 'center', alignItems: 'center' }}&gt;&#10;                &lt;Text style={{ fontSize: 24, color: '#26816B' }}&gt;↓&lt;/Text&gt;&#10;            &lt;/Box&gt;&#10;            &lt;Box style={{ width: 424, height: 92, background: '#ECF7F2', borderRadius: 10, padding: '0 18px', flexDirection: 'column', justifyContent: 'center', gap: 2 }}&gt;&#10;                &lt;Text style={{ fontSize: 17, fontWeight: 'bold', color: '#26816B' }}&gt;经 (8,8)、(9,8) 折向北&lt;/Text&gt;&#10;                &lt;Text style={{ fontSize: 14, color: '#546779' }}&gt;进入集合区，路线在纸面上成立&lt;/Text&gt;&#10;            &lt;/Box&gt;&#10;        &lt;/Box&gt;&#10;&#10;        &lt;Box style={{ width: 700, flexDirection: 'column', justifyContent: 'center', gap: 12 }}&gt;&#10;            &lt;Text style={{ fontSize: 16, fontWeight: 'bold', color: '#20344B' }}&gt;四邻接检查说明了什么&lt;/Text&gt;&#10;            &lt;Box style={{ width: 700, height: 128, background: '#FFF4E6', borderRadius: 10, padding: '14px 18px', flexDirection: 'row', alignItems: 'center', gap: 18 }}&gt;&#10;                &lt;Box style={{ width: 4, height: 76, background: '#CB6B28' }} /&gt;&#10;                &lt;Box style={{ flex: 1, flexDirection: 'column', gap: 4 }}&gt;&#10;                    &lt;Text style={{ fontSize: 17, fontWeight: 'bold', color: '#CB6B28' }}&gt;127 格 与 126 格&lt;/Text&gt;&#10;                    &lt;Text style={{ fontSize: 15, color: '#546779', lineHeight: 1.5 }}&gt;开放布局 127 个可走格，关闭布局 126 格，差的那一格就是被改动的缺口。&lt;/Text&gt;&#10;                &lt;/Box&gt;&#10;            &lt;/Box&gt;&#10;            &lt;Box style={{ width: 700, height: 128, background: '#F4F7FA', borderRadius: 10, padding: '14px 18px', flexDirection: 'row', alignItems: 'center', gap: 18 }}&gt;&#10;                &lt;Box style={{ width: 4, height: 76, background: '#276FBF' }} /&gt;&#10;                &lt;Box style={{ flex: 1, flexDirection: 'column', gap: 4 }}&gt;&#10;                    &lt;Text style={{ fontSize: 17, fontWeight: 'bold', color: '#276FBF' }}&gt;这是纸面自洽&lt;/Text&gt;&#10;                    &lt;Text style={{ fontSize: 15, color: '#546779', lineHeight: 1.5 }}&gt;各组全连通，每个可走格恰好属于一个 Arena；墙与门洞也归对应的语义区域。&lt;/Text&gt;&#10;                &lt;/Box&gt;&#10;            &lt;/Box&gt;&#10;            &lt;Box style={{ width: 700, height: 128, background: '#FFF4E6', borderRadius: 10, padding: '14px 18px', flexDirection: 'row', alignItems: 'center', gap: 18 }}&gt;&#10;                &lt;Box style={{ width: 4, height: 76, background: '#CB6B28' }} /&gt;&#10;                &lt;Box style={{ flex: 1, flexDirection: 'column', gap: 4 }}&gt;&#10;                    &lt;Text style={{ fontSize: 17, fontWeight: 'bold', color: '#CB6B28' }}&gt;不是系统寻路验收&lt;/Text&gt;&#10;                    &lt;Text style={{ fontSize: 15, color: '#546779', lineHeight: 1.5 }}&gt;运行时仍须查内嵌地图与真实 MOVE 结果。纸面预检不替代任何一项运行事实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可走格与它的适用边界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纸面自洽，不等于系统验收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609600" y="17240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纸面推演路线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1619250" y="1695450"/>
            <a:ext cx="800100" cy="247650"/>
          </a:xfrm>
          <a:prstGeom prst="roundRect">
            <a:avLst>
              <a:gd name="adj" fmla="val 30769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1885950" y="17430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609600" y="2038350"/>
            <a:ext cx="40386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781050" y="228600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起点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(7,3)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781050" y="25050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位于连接区西侧，紧邻上口内侧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2571750" y="30480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609600" y="3448050"/>
            <a:ext cx="40386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781050" y="369570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沿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x = 7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南行至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(7,8)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走到下口内侧，不穿墙也不穿公告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2571750" y="44577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609600" y="4857750"/>
            <a:ext cx="40386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781050" y="510540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经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(8,8)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(9,8)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折向北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781050" y="53244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进入集合区，路线在纸面上成立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4914900" y="161925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四邻接检查说明了什么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4914900" y="1924050"/>
            <a:ext cx="66675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0" name=""/>
          <p:cNvSpPr/>
          <p:nvPr/>
        </p:nvSpPr>
        <p:spPr>
          <a:xfrm rot="0" flipH="0" flipV="0">
            <a:off x="5086350" y="21717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5295900" y="2286000"/>
            <a:ext cx="6115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127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格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与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126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5295900" y="252412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开放布局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个可走格，关闭布局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格，差的那一格就是被改动的缺口。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4914900" y="3257550"/>
            <a:ext cx="66675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4" name=""/>
          <p:cNvSpPr/>
          <p:nvPr/>
        </p:nvSpPr>
        <p:spPr>
          <a:xfrm rot="0" flipH="0" flipV="0">
            <a:off x="5086350" y="3505200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5295900" y="3619500"/>
            <a:ext cx="6115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这是纸面自洽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295900" y="385762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各组全连通，每个可走格恰好属于一个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Arena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；墙与门洞也归对应的语义区域。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4914900" y="4591050"/>
            <a:ext cx="66675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5086350" y="48387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5295900" y="4953000"/>
            <a:ext cx="6115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不是系统寻路验收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5295900" y="519112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运行时仍须查内嵌地图与真实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结果。纸面预检不替代任何一项运行事实。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93" name="" descr="&lt;Slide notes={`接下来要讲的是这次干预在作者操作上怎么做才干净。&#10;核心原则只有一条：两套布局必须只差一个格子。做法是先做一份开放布局，把它当作基线；然后复制成一份独立草稿，只在这份草稿里把 8,3 改成阻挡。&#10;两份布局分别封存，封存的时刻碰撞就已经确定，运行中不会再改动。这样一来，任何结果差异都可以追到那个格子上，而不是被「谁在什么时候改了地图」污染。&#10;换句话说，干预要能被隔离出来，对照才成立。如果两套布局之间还差着别的东西，后面所有的解释都会失效，再漂亮的数据也救不回来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　4.7.2 作者操作：只动一个碰撞格&lt;/Text&gt;&#10;&#10;        &lt;Text style={{ fontSize: 56, fontWeight: 'bold', color: '#20344B', lineHeight: 1.15 }}&gt;把干预隔离出来&lt;/Text&gt;&#10;&#10;        &lt;Box style={{ width: 72, height: 4, background: '#276FBF' }} /&gt;&#10;&#10;        &lt;Text style={{ fontSize: 18, color: '#546779', lineHeight: 1.7, width: 900 }}&gt;开放布局作为基线，复制成独立草稿，只改一格后分别封存。&lt;/Text&gt;&#10;&#10;        &lt;Box style={{ flexDirection: 'row', alignItems: 'center', marginTop: 10 }}&gt;&#10;            &lt;Box style={{ width: 460, height: 120, background: '#EDF4FC', borderRadius: 10, flexDirection: 'column', justifyContent: 'center', alignItems: 'center', gap: 6 }}&gt;&#10;                &lt;Text style={{ fontSize: 20, fontWeight: 'bold', color: '#276FBF' }}&gt;开放草稿（基线）&lt;/Text&gt;&#10;                &lt;Text style={{ fontSize: 15, color: '#546779' }}&gt;两处缺口都开&lt;/Text&gt;&#10;            &lt;/Box&gt;&#10;            &lt;Box style={{ width: 100, height: 120, justifyContent: 'center', alignItems: 'center' }}&gt;&#10;                &lt;Text style={{ fontSize: 40, color: '#276FBF' }}&gt;›&lt;/Text&gt;&#10;            &lt;/Box&gt;&#10;            &lt;Box style={{ width: 460, height: 120, background: '#FFF4E6', borderRadius: 10, flexDirection: 'column', justifyContent: 'center', alignItems: 'center', gap: 6 }}&gt;&#10;                &lt;Text style={{ fontSize: 20, fontWeight: 'bold', color: '#CB6B28' }}&gt;对照副本（关闭）&lt;/Text&gt;&#10;                &lt;Text style={{ fontSize: 15, color: '#546779' }}&gt;只封 (8,3)，下口不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09600" y="15525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4.7.2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作者操作：只动一个碰撞格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把干预隔离出来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609600" y="28860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609600" y="31337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开放布局作为基线，复制成独立草稿，只改一格后分别封存。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609600" y="3790950"/>
            <a:ext cx="43815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2038350" y="413385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开放草稿（基线）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2371725" y="4419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两处缺口都开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5400675" y="4133850"/>
            <a:ext cx="1333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5943600" y="3790950"/>
            <a:ext cx="43815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7372350" y="413385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对照副本（关闭）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7467600" y="4419600"/>
            <a:ext cx="1343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(8,3)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，下口不动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808" name="" descr="&lt;Slide notes={`这一步的关键，是把改动限制在一个格子里，同时保证其他一切都不动。&#10;我会先做一份开放布局，两处缺口都开，把它当成基线。然后复制成一份完全独立的草稿，两组使用同一套抽象背景，地面标记只显示通口，不承诺开闭状态。&#10;接着在草稿里用 Ctrl 编辑目标格，把 8,3 从可走改成阻挡，别的都不碰。存盘、离开、重新打开，核对三件事：上口封住了、下口还开着、邻格没有被误涂。&#10;最后用路径检查核对东西连接。但心里要清楚，预检不替代运行时对内嵌地图和真实 MOVE 的检查。人物出生坐标一律经空间选择器保存，两组的实际坐标必须一致，不能改文件绕过界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2　五步作者操作&lt;/Text&gt;&#10;            &lt;Text style={{ fontSize: 34, fontWeight: 'bold', color: '#20344B' }}&gt;从开放草稿到关闭副本&lt;/Text&gt;&#10;        &lt;/Box&gt;&#10;    &lt;/Box&gt;&#10;&#10;    &lt;Box style={{ height: 540, flexDirection: 'column', justifyContent: 'center', gap: 16 }}&gt;&#10;&#10;        &lt;Box style={{ flexDirection: 'row', justifyContent: 'center', alignItems: 'stretch' }}&gt;&#10;&#10;            &lt;Box style={{ width: 320, height: 340, background: '#F4F7FA', borderRadius: 12, padding: '20px 22px', flexDirection: 'column', gap: 10 }}&gt;&#10;                &lt;Text style={{ fontSize: 72, fontWeight: 'bold', color: '#276FBF', lineHeight: 1.0 }}&gt;1&lt;/Text&gt;&#10;                &lt;Text style={{ fontSize: 20, fontWeight: 'bold', color: '#20344B' }}&gt;制作开放布局&lt;/Text&gt;&#10;                &lt;Text style={{ fontSize: 15, color: '#546779', lineHeight: 1.5 }}&gt;两处缺口都开，作为基线。两组使用同一套抽象背景，地面标记只显示通口。&lt;/Text&gt;&#10;                &lt;Text style={{ fontSize: 15, color: '#546779', lineHeight: 1.5 }}&gt;不额外改外观、公告、视野或引导策略。&lt;/Text&gt;&#10;            &lt;/Box&gt;&#10;&#10;            &lt;Box style={{ width: 44, height: 340, justifyContent: 'center', alignItems: 'center' }}&gt;&#10;                &lt;Text style={{ fontSize: 32, color: '#276FBF' }}&gt;›&lt;/Text&gt;&#10;            &lt;/Box&gt;&#10;&#10;            &lt;Box style={{ width: 320, height: 340, background: '#FFF4E6', borderRadius: 12, padding: '20px 22px', flexDirection: 'column', gap: 10 }}&gt;&#10;                &lt;Text style={{ fontSize: 72, fontWeight: 'bold', color: '#CB6B28', lineHeight: 1.0 }}&gt;2&lt;/Text&gt;&#10;                &lt;Text style={{ fontSize: 20, fontWeight: 'bold', color: '#20344B' }}&gt;只动一个碰撞格&lt;/Text&gt;&#10;                &lt;Text style={{ fontSize: 15, color: '#546779', lineHeight: 1.5 }}&gt;先把开放布局复制为独立草稿，在地图的世界到通路界面确认是对照副本。&lt;/Text&gt;&#10;                &lt;Text style={{ fontSize: 15, color: '#546779', lineHeight: 1.5 }}&gt;Ctrl 编辑目标格，把 (8,3) 从可走改成阻挡。&lt;/Text&gt;&#10;            &lt;/Box&gt;&#10;&#10;            &lt;Box style={{ width: 44, height: 340, justifyContent: 'center', alignItems: 'center' }}&gt;&#10;                &lt;Text style={{ fontSize: 32, color: '#26816B' }}&gt;›&lt;/Text&gt;&#10;            &lt;/Box&gt;&#10;&#10;            &lt;Box style={{ width: 320, height: 340, background: '#ECF7F2', borderRadius: 12, padding: '20px 22px', flexDirection: 'column', gap: 10 }}&gt;&#10;                &lt;Text style={{ fontSize: 72, fontWeight: 'bold', color: '#26816B', lineHeight: 1.0 }}&gt;3&lt;/Text&gt;&#10;                &lt;Text style={{ fontSize: 20, fontWeight: 'bold', color: '#20344B' }}&gt;封存并重开核对&lt;/Text&gt;&#10;                &lt;Text style={{ fontSize: 15, color: '#546779', lineHeight: 1.5 }}&gt;保存、离开、重新打开，核对上封、下开、邻格没有误涂。&lt;/Text&gt;&#10;                &lt;Text style={{ fontSize: 15, color: '#546779', lineHeight: 1.5 }}&gt;人物出生经空间选择器保存，两组实际坐标一致。&lt;/Text&gt;&#10;            &lt;/Box&gt;&#10;&#10;        &lt;/Box&gt;&#10;&#10;        &lt;Box style={{ width: 1152, height: 104, background: '#EDF4FC', borderRadius: 10, padding: '0 22px', flexDirection: 'row', alignItems: 'center', gap: 18 }}&gt;&#10;            &lt;Box style={{ width: 4, height: 64, background: '#276FBF' }} /&gt;&#10;            &lt;Box style={{ flex: 1, flexDirection: 'column', gap: 4 }}&gt;&#10;                &lt;Text style={{ fontSize: 17, fontWeight: 'bold', color: '#276FBF' }}&gt;用「路径检查」核对东西连接，预检不替代运行事实&lt;/Text&gt;&#10;                &lt;Text style={{ fontSize: 15, color: '#546779', lineHeight: 1.5 }}&gt;运行时仍须查内嵌地图与真实 MOVE。两组实际坐标必须一致，不改文件绕过界面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五步作者操作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从开放草稿到关闭副本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1104900" y="1524000"/>
            <a:ext cx="3048000" cy="323850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314450" y="1714500"/>
            <a:ext cx="2628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314450" y="2638425"/>
            <a:ext cx="2628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制作开放布局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1314450" y="2962275"/>
            <a:ext cx="262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两处缺口都开，作为基线。两组使用同一套抽象背景，地面标记只显示通口。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314450" y="3571875"/>
            <a:ext cx="2628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不额外改外观、公告、视野或引导策略。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4305300" y="2962275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4572000" y="1524000"/>
            <a:ext cx="3048000" cy="3238500"/>
          </a:xfrm>
          <a:prstGeom prst="roundRect">
            <a:avLst>
              <a:gd name="adj" fmla="val 375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4781550" y="1714500"/>
            <a:ext cx="2628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B6B2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4781550" y="2638425"/>
            <a:ext cx="2628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只动一个碰撞格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4781550" y="2962275"/>
            <a:ext cx="262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先把开放布局复制为独立草稿，在地图的世界到通路界面确认是对照副本。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4781550" y="3571875"/>
            <a:ext cx="262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Ctrl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编辑目标格，把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(8,3)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从可走改成阻挡。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772400" y="2962275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8039100" y="1524000"/>
            <a:ext cx="3048000" cy="3238500"/>
          </a:xfrm>
          <a:prstGeom prst="roundRect">
            <a:avLst>
              <a:gd name="adj" fmla="val 37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248650" y="1714500"/>
            <a:ext cx="2628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8248650" y="2638425"/>
            <a:ext cx="2628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封存并重开核对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8248650" y="2962275"/>
            <a:ext cx="262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保存、离开、重新打开，核对上封、下开、邻格没有误涂。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8248650" y="3571875"/>
            <a:ext cx="262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人物出生经空间选择器保存，两组实际坐标一致。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609600" y="49149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1" name=""/>
          <p:cNvSpPr/>
          <p:nvPr/>
        </p:nvSpPr>
        <p:spPr>
          <a:xfrm rot="0" flipH="0" flipV="0">
            <a:off x="819150" y="51054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1028700" y="5162550"/>
            <a:ext cx="1034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用「路径检查」核对东西连接，预检不替代运行事实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1028700" y="5400675"/>
            <a:ext cx="10344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运行时仍须查内嵌地图与真实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。两组实际坐标必须一致，不改文件绕过界面。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836" name="" descr="&lt;Slide notes={`做单因素对照，最容易出问题的地方不是干预本身，而是那些没被写下来的其他条件。&#10;这项演练里，参与者固定为三名集合者、一名引导员和一个公告对象；时间是 2026 年 10 月 22 日下午两点到两点半，时区上海，一分钟一步，一共 31 步。&#10;模型、采样方式、Skill、人物设定、注意力设置、视野、实际出生位置和审计设置都要保持一致。唯一的差别写在一行里：上缺口从可走改成阻挡，下缺口不变。&#10;我建议把这几行单独存成一份干预差异表。固定项写得越具体，越容易发现两组之间混进了不该有的变化；动手之前，也要先在地图的通路界面确认当前打开的是对照副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2　固定项与本案值&lt;/Text&gt;&#10;            &lt;Text style={{ fontSize: 34, fontWeight: 'bold', color: '#20344B' }}&gt;两组之间，什么必须一样&lt;/Text&gt;&#10;        &lt;/Box&gt;&#10;    &lt;/Box&gt;&#10;&#10;    &lt;Box style={{ height: 540, flexDirection: 'row', justifyContent: 'center', gap: 28 }}&gt;&#10;&#10;        &lt;Box style={{ width: 618, background: '#F4F7FA', borderRadius: 10, padding: '16px 20px', flexDirection: 'column', justifyContent: 'center', gap: 10 }}&gt;&#10;&#10;            &lt;Box style={{ height: 104, background: '#FFFFFF', borderRadius: 8, flexDirection: 'row', alignItems: 'center', gap: 14, padding: '0 14px' }}&gt;&#10;                &lt;Box style={{ width: 4, height: 60, background: '#276FBF' }} /&gt;&#10;                &lt;Box style={{ width: 150 }}&gt;&lt;Text style={{ fontSize: 17, fontWeight: 'bold', color: '#276FBF' }}&gt;参与者&lt;/Text&gt;&lt;/Box&gt;&#10;                &lt;Box style={{ flex: 1 }}&gt;&lt;Text style={{ fontSize: 15, color: '#546779', lineHeight: 1.5 }}&gt;3 名集合者 + 1 名引导员 + 1 个公告对象&lt;/Text&gt;&lt;/Box&gt;&#10;            &lt;/Box&gt;&#10;&#10;            &lt;Box style={{ height: 104, background: '#FFFFFF', borderRadius: 8, flexDirection: 'row', alignItems: 'center', gap: 14, padding: '0 14px' }}&gt;&#10;                &lt;Box style={{ width: 4, height: 60, background: '#276FBF' }} /&gt;&#10;                &lt;Box style={{ width: 150 }}&gt;&lt;Text style={{ fontSize: 17, fontWeight: 'bold', color: '#276FBF' }}&gt;时间&lt;/Text&gt;&lt;/Box&gt;&#10;                &lt;Box style={{ flex: 1 }}&gt;&lt;Text style={{ fontSize: 15, color: '#546779', lineHeight: 1.5 }}&gt;2026-10-22 14:00—14:30　Asia/Shanghai{'\n'}1 分钟／步，共 31 步&lt;/Text&gt;&lt;/Box&gt;&#10;            &lt;/Box&gt;&#10;&#10;            &lt;Box style={{ height: 104, background: '#FFFFFF', borderRadius: 8, flexDirection: 'row', alignItems: 'center', gap: 14, padding: '0 14px' }}&gt;&#10;                &lt;Box style={{ width: 4, height: 60, background: '#276FBF' }} /&gt;&#10;                &lt;Box style={{ width: 150 }}&gt;&lt;Text style={{ fontSize: 17, fontWeight: 'bold', color: '#276FBF' }}&gt;其余条件&lt;/Text&gt;&lt;/Box&gt;&#10;                &lt;Box style={{ flex: 1 }}&gt;&lt;Text style={{ fontSize: 15, color: '#546779', lineHeight: 1.5 }}&gt;模型、采样、Skill、人物、注意力、视野、实际出生、审计设置一致&lt;/Text&gt;&lt;/Box&gt;&#10;            &lt;/Box&gt;&#10;&#10;            &lt;Box style={{ height: 104, background: '#FFF4E6', borderRadius: 8, flexDirection: 'row', alignItems: 'center', gap: 14, padding: '0 14px' }}&gt;&#10;                &lt;Box style={{ width: 4, height: 60, background: '#CB6B28' }} /&gt;&#10;                &lt;Box style={{ width: 150 }}&gt;&lt;Text style={{ fontSize: 17, fontWeight: 'bold', color: '#CB6B28' }}&gt;干预（唯一一行）&lt;/Text&gt;&lt;/Box&gt;&#10;                &lt;Box style={{ flex: 1 }}&gt;&lt;Text style={{ fontSize: 15, color: '#546779', lineHeight: 1.5 }}&gt;仅上缺口从可走改为阻挡；下缺口不变&lt;/Text&gt;&lt;/Box&gt;&#10;            &lt;/Box&gt;&#10;&#10;        &lt;/Box&gt;&#10;&#10;        &lt;Box style={{ width: 506, flexDirection: 'column', justifyContent: 'center', gap: 14 }}&gt;&#10;&#10;            &lt;Box style={{ width: 506, height: 152, background: '#EDF4FC', borderRadius: 10, padding: '14px 18px', flexDirection: 'column', gap: 6 }}&gt;&#10;                &lt;Text style={{ fontSize: 17, fontWeight: 'bold', color: '#276FBF' }}&gt;把差异压到一行&lt;/Text&gt;&#10;                &lt;Text style={{ fontSize: 14, color: '#546779', lineHeight: 1.5 }}&gt;固定项写得越具体，越容易发现两组之间混进了不该有的变化。差异表里只应留下干预这一行。&lt;/Text&gt;&#10;            &lt;/Box&gt;&#10;&#10;            &lt;Box style={{ width: 506, height: 152, background: '#ECF7F2', borderRadius: 10, padding: '14px 18px', flexDirection: 'column', gap: 6 }}&gt;&#10;                &lt;Text style={{ fontSize: 17, fontWeight: 'bold', color: '#26816B' }}&gt;留一份干预差异表&lt;/Text&gt;&#10;                &lt;Text style={{ fontSize: 14, color: '#546779', lineHeight: 1.5 }}&gt;把精确文本或布局差异存档，核对共同条件时直接对照，不靠记忆。&lt;/Text&gt;&#10;            &lt;/Box&gt;&#10;&#10;            &lt;Box style={{ width: 506, height: 152, background: '#FFF4E6', borderRadius: 10, padding: '14px 18px', flexDirection: 'column', gap: 6 }}&gt;&#10;                &lt;Text style={{ fontSize: 17, fontWeight: 'bold', color: '#CB6B28' }}&gt;先确认是对照副本&lt;/Text&gt;&#10;                &lt;Text style={{ fontSize: 14, color: '#546779', lineHeight: 1.5 }}&gt;在地图的世界到通路界面里确认当前打开的是对照副本，再编辑目标格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0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固定项与本案值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两组之间，什么必须一样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609600" y="1143000"/>
            <a:ext cx="5886450" cy="5143500"/>
          </a:xfrm>
          <a:prstGeom prst="roundRect">
            <a:avLst>
              <a:gd name="adj" fmla="val 18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42" name=""/>
          <p:cNvSpPr/>
          <p:nvPr/>
        </p:nvSpPr>
        <p:spPr>
          <a:xfrm rot="0" flipH="0" flipV="0">
            <a:off x="800100" y="1590675"/>
            <a:ext cx="5505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933450" y="18002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1104900" y="19907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2667000" y="1962150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名集合者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+ 1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名引导员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+ 1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个公告对象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800100" y="2676525"/>
            <a:ext cx="5505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7" name=""/>
          <p:cNvSpPr/>
          <p:nvPr/>
        </p:nvSpPr>
        <p:spPr>
          <a:xfrm rot="0" flipH="0" flipV="0">
            <a:off x="933450" y="28860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1104900" y="30765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2667000" y="2914650"/>
            <a:ext cx="35052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2026-10-22 14:00—14:30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Asia/Shanghai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分钟／步，共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800100" y="3762375"/>
            <a:ext cx="55054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1" name=""/>
          <p:cNvSpPr/>
          <p:nvPr/>
        </p:nvSpPr>
        <p:spPr>
          <a:xfrm rot="0" flipH="0" flipV="0">
            <a:off x="933450" y="39719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1104900" y="41624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其余条件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2667000" y="4000500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模型、采样、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、人物、注意力、视野、实际出生、审计设置一致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800100" y="4848225"/>
            <a:ext cx="550545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55" name=""/>
          <p:cNvSpPr/>
          <p:nvPr/>
        </p:nvSpPr>
        <p:spPr>
          <a:xfrm rot="0" flipH="0" flipV="0">
            <a:off x="933450" y="50577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1104900" y="52482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干预（唯一一行）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2667000" y="5219700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仅上缺口从可走改为阻挡；下缺口不变</a:t>
            </a:r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6762750" y="1409700"/>
            <a:ext cx="481965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6934200" y="154305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把差异压到一行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6934200" y="1800225"/>
            <a:ext cx="4476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固定项写得越具体，越容易发现两组之间混进了不该有的变化。差异表里只应留下干预这一行。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6762750" y="2990850"/>
            <a:ext cx="481965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6934200" y="312420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留一份干预差异表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6934200" y="3381375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把精确文本或布局差异存档，核对共同条件时直接对照，不靠记忆。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6762750" y="4572000"/>
            <a:ext cx="481965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6934200" y="470535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先确认是对照副本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6934200" y="4962525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在地图的世界到通路界面里确认当前打开的是对照副本，再编辑目标格。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notes={`预算和样本这块有两句话必须记住。&#10;第一句是每组用相同预算先跑一个 Run，再按预先登记的计划决定要不要重复。计划写在前面，不是看到结果之后再补。&#10;第二句是三名集合者在同一个世界里活动，他们互相可见、可能互相影响，所以不是三个独立实验。&#10;还有一个数字容易读错：完整 31 步乘以 5 名参与者，得到 155 个参与者轮次。这个 155 不等于 155 次模型请求，它是包含引导员、公告对象、失败请求和物理重试在内的全部成本。&#10;所以算成本、算分母的时候，口径要写清楚，否则后面所有比率都会对不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2　预算、轮次与独立性&lt;/Text&gt;&#10;            &lt;Text style={{ fontSize: 34, fontWeight: 'bold', color: '#20344B' }}&gt;同世界三人，不是三个实验&lt;/Text&gt;&#10;        &lt;/Box&gt;&#10;    &lt;/Box&gt;&#10;&#10;    &lt;Box style={{ height: 540, flexDirection: 'row', justifyContent: 'center', gap: 28 }}&gt;&#10;&#10;        &lt;Box style={{ width: 506, flexDirection: 'column', justifyContent: 'center', gap: 14 }}&gt;&#10;&#10;            &lt;Box style={{ width: 506, height: 168, background: '#FFF4E6', borderRadius: 10, padding: '14px 18px', flexDirection: 'column', gap: 6 }}&gt;&#10;                &lt;Text style={{ fontSize: 40, fontWeight: 'bold', color: '#CB6B28', lineHeight: 1.0 }}&gt;155&lt;/Text&gt;&#10;                &lt;Text style={{ fontSize: 17, fontWeight: 'bold', color: '#20344B' }}&gt;参与者轮次，不是请求数&lt;/Text&gt;&#10;                &lt;Text style={{ fontSize: 14, color: '#546779', lineHeight: 1.5 }}&gt;5 × 31 = 155。含引导员、公告对象、失败与物理重试的全部成本。&lt;/Text&gt;&#10;            &lt;/Box&gt;&#10;&#10;            &lt;Box style={{ width: 506, height: 142, background: '#EDF4FC', borderRadius: 10, padding: '14px 18px', flexDirection: 'column', gap: 6 }}&gt;&#10;                &lt;Text style={{ fontSize: 17, fontWeight: 'bold', color: '#276FBF' }}&gt;每组同预算先跑一个 Run&lt;/Text&gt;&#10;                &lt;Text style={{ fontSize: 14, color: '#546779', lineHeight: 1.5 }}&gt;再按预登记的计划决定是否重复；计划写在看结果之前。&lt;/Text&gt;&#10;            &lt;/Box&gt;&#10;&#10;            &lt;Box style={{ width: 506, height: 142, background: '#ECF7F2', borderRadius: 10, padding: '14px 18px', flexDirection: 'column', gap: 6 }}&gt;&#10;                &lt;Text style={{ fontSize: 17, fontWeight: 'bold', color: '#26816B' }}&gt;三人共享同一个世界&lt;/Text&gt;&#10;                &lt;Text style={{ fontSize: 14, color: '#546779', lineHeight: 1.5 }}&gt;互相可见、可能互相影响，因此不能当作三个独立样本。&lt;/Text&gt;&#10;            &lt;/Box&gt;&#10;&#10;        &lt;/Box&gt;&#10;&#10;        &lt;Box style={{ width: 618, flexDirection: 'column', justifyContent: 'center', gap: 12 }}&gt;&#10;&#10;            &lt;Text style={{ fontSize: 16, fontWeight: 'bold', color: '#20344B' }}&gt;三种常见误读&lt;/Text&gt;&#10;&#10;            &lt;Box style={{ width: 618, height: 140, background: '#FFF4E6', borderRadius: 10, padding: '16px 20px', flexDirection: 'row', alignItems: 'center', gap: 18 }}&gt;&#10;                &lt;Box style={{ width: 4, height: 88, background: '#CB6B28' }} /&gt;&#10;                &lt;Box style={{ flex: 1, flexDirection: 'column', gap: 4 }}&gt;&#10;                    &lt;Text style={{ fontSize: 17, fontWeight: 'bold', color: '#CB6B28' }}&gt;把轮次当请求&lt;/Text&gt;&#10;                    &lt;Text style={{ fontSize: 15, color: '#546779', lineHeight: 1.5 }}&gt;155 是参与者轮次，不是导航或 MOVE 的请求次数，更不是模型调用次数。&lt;/Text&gt;&#10;                &lt;/Box&gt;&#10;            &lt;/Box&gt;&#10;&#10;            &lt;Box style={{ width: 618, height: 140, background: '#EDF4FC', borderRadius: 10, padding: '16px 20px', flexDirection: 'row', alignItems: 'center', gap: 18 }}&gt;&#10;                &lt;Box style={{ width: 4, height: 88, background: '#276FBF' }} /&gt;&#10;                &lt;Box style={{ flex: 1, flexDirection: 'column', gap: 4 }}&gt;&#10;                    &lt;Text style={{ fontSize: 17, fontWeight: 'bold', color: '#276FBF' }}&gt;把三人当三次重复&lt;/Text&gt;&#10;                    &lt;Text style={{ fontSize: 15, color: '#546779', lineHeight: 1.5 }}&gt;同一世界里三人互相影响，不能拆成三个独立实验来算显著性。&lt;/Text&gt;&#10;                &lt;/Box&gt;&#10;            &lt;/Box&gt;&#10;&#10;            &lt;Box style={{ width: 618, height: 140, background: '#ECF7F2', borderRadius: 10, padding: '16px 20px', flexDirection: 'row', alignItems: 'center', gap: 18 }}&gt;&#10;                &lt;Box style={{ width: 4, height: 88, background: '#26816B' }} /&gt;&#10;                &lt;Box style={{ flex: 1, flexDirection: 'column', gap: 4 }}&gt;&#10;                    &lt;Text style={{ fontSize: 17, fontWeight: 'bold', color: '#26816B' }}&gt;忘了失败与重试&lt;/Text&gt;&#10;                    &lt;Text style={{ fontSize: 15, color: '#546779', lineHeight: 1.5 }}&gt;成本口径要含引导员、公告对象、失败请求和物理重试，不能只算成功那部分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预算、轮次与独立性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同世界三人，不是三个实验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1428750"/>
            <a:ext cx="4819650" cy="1600200"/>
          </a:xfrm>
          <a:prstGeom prst="roundRect">
            <a:avLst>
              <a:gd name="adj" fmla="val 59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447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B6B28"/>
                </a:solidFill>
                <a:latin typeface="Microsoft YaHei"/>
                <a:ea typeface="Microsoft YaHei"/>
              </a:rPr>
              <a:t>155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1050" y="207645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参与者轮次，不是请求数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81050" y="2333625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 × 31 = 155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。含引导员、公告对象、失败与物理重试的全部成本。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3162300"/>
            <a:ext cx="4819650" cy="1352550"/>
          </a:xfrm>
          <a:prstGeom prst="roundRect">
            <a:avLst>
              <a:gd name="adj" fmla="val 704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329565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每组同预算先跑一个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1050" y="3552825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再按预登记的计划决定是否重复；计划写在看结果之前。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4648200"/>
            <a:ext cx="4819650" cy="1352550"/>
          </a:xfrm>
          <a:prstGeom prst="roundRect">
            <a:avLst>
              <a:gd name="adj" fmla="val 704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" y="478155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三人共享同一个世界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1050" y="5038725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互相可见、可能互相影响，因此不能当作三个独立样本。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695950" y="1447800"/>
            <a:ext cx="5886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三种常见误读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695950" y="1752600"/>
            <a:ext cx="588645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5886450" y="2000250"/>
            <a:ext cx="38100" cy="838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0" y="2171700"/>
            <a:ext cx="5295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把轮次当请求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0" y="2409825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155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是参与者轮次，不是导航或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的请求次数，更不是模型调用次数。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695950" y="3200400"/>
            <a:ext cx="588645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886450" y="3448050"/>
            <a:ext cx="38100" cy="838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0" y="3619500"/>
            <a:ext cx="5295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把三人当三次重复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0" y="3857625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同一世界里三人互相影响，不能拆成三个独立实验来算显著性。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695950" y="4648200"/>
            <a:ext cx="588645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5886450" y="4895850"/>
            <a:ext cx="38100" cy="838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0" y="5067300"/>
            <a:ext cx="5295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忘了失败与重试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0" y="5305425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成本口径要含引导员、公告对象、失败请求和物理重试，不能只算成功那部分。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notes={`行为这一侧，两组用的是同一套设置。&#10;我把它写成一段条件式的判断：先读当前坐标、地址和有效进度，再用真实已知的地址去查询路线。&#10;如果返回可达而且还需要移动，就保留完整目标提交 MOVE；如果已经进入集合区，就记录待核对的到达信息，并在当前位置做一次集合准备动作；如果目标合法但确实不可达，就保存原因，再去咨询实际可交互的公告对象或者看得见的引导员；参数被拒绝的时候，按具体错误修正，不猜地址，也不扩大视野去突破上限。&#10;两组共享这一套判断，所以后面出现的任何行为差异，都只能来自那一个被改动的碰撞格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　4.7.3 两组同一条件式 Brain&lt;/Text&gt;&#10;&#10;        &lt;Text style={{ fontSize: 56, fontWeight: 'bold', color: '#20344B', lineHeight: 1.15 }}&gt;同一套判断，四条出口&lt;/Text&gt;&#10;&#10;        &lt;Box style={{ width: 72, height: 4, background: '#276FBF' }} /&gt;&#10;&#10;        &lt;Text style={{ fontSize: 18, color: '#546779', lineHeight: 1.7, width: 900 }}&gt;先读坐标与进度，再按真实已知地址查路线；四条出口互不先后。&lt;/Text&gt;&#10;&#10;        &lt;Box style={{ flexDirection: 'row', alignItems: 'center', marginTop: 10 }}&gt;&#10;            &lt;Box style={{ width: 250, height: 76, background: '#ECF7F2', borderRadius: 10, flexDirection: 'column', justifyContent: 'center', alignItems: 'center', gap: 4 }}&gt;&#10;                &lt;Text style={{ fontSize: 16, color: '#546779' }}&gt;可达且仍需移动&lt;/Text&gt;&#10;                &lt;Text style={{ fontSize: 18, fontWeight: 'bold', color: '#26816B' }}&gt;提交 MOVE&lt;/Text&gt;&#10;            &lt;/Box&gt;&#10;            &lt;Box style={{ width: 44, height: 76, justifyContent: 'center', alignItems: 'center' }}&gt;&#10;                &lt;Text style={{ fontSize: 26, color: '#276FBF' }}&gt;›&lt;/Text&gt;&#10;            &lt;/Box&gt;&#10;            &lt;Box style={{ width: 250, height: 76, background: '#ECF7F2', borderRadius: 10, flexDirection: 'column', justifyContent: 'center', alignItems: 'center', gap: 4 }}&gt;&#10;                &lt;Text style={{ fontSize: 16, color: '#546779' }}&gt;已进入集合区&lt;/Text&gt;&#10;                &lt;Text style={{ fontSize: 18, fontWeight: 'bold', color: '#26816B' }}&gt;集合准备 ACT&lt;/Text&gt;&#10;            &lt;/Box&gt;&#10;            &lt;Box style={{ width: 44, height: 76, justifyContent: 'center', alignItems: 'center' }}&gt;&#10;                &lt;Text style={{ fontSize: 26, color: '#276FBF' }}&gt;›&lt;/Text&gt;&#10;            &lt;/Box&gt;&#10;            &lt;Box style={{ width: 250, height: 76, background: '#FFF4E6', borderRadius: 10, flexDirection: 'column', justifyContent: 'center', alignItems: 'center', gap: 4 }}&gt;&#10;                &lt;Text style={{ fontSize: 16, color: '#546779' }}&gt;合法但不可达&lt;/Text&gt;&#10;                &lt;Text style={{ fontSize: 18, fontWeight: 'bold', color: '#CB6B28' }}&gt;保存原因并咨询&lt;/Text&gt;&#10;            &lt;/Box&gt;&#10;            &lt;Box style={{ width: 44, height: 76, justifyContent: 'center', alignItems: 'center' }}&gt;&#10;                &lt;Text style={{ fontSize: 26, color: '#276FBF' }}&gt;›&lt;/Text&gt;&#10;            &lt;/Box&gt;&#10;            &lt;Box style={{ width: 250, height: 76, background: '#FFF4E6', borderRadius: 10, flexDirection: 'column', justifyContent: 'center', alignItems: 'center', gap: 4 }}&gt;&#10;                &lt;Text style={{ fontSize: 16, color: '#546779' }}&gt;参数被拒绝&lt;/Text&gt;&#10;                &lt;Text style={{ fontSize: 18, fontWeight: 'bold', color: '#CB6B28' }}&gt;按具体错误修正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4.7.3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两组同一条件式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同一套判断，四条出口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先读坐标与进度，再按真实已知地址查路线；四条出口互不先后。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266825" y="41433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可达且仍需移动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333500" y="4371975"/>
            <a:ext cx="93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提交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MOVE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1623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40995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143375" y="41433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已进入集合区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057650" y="4371975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集合准备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ACT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9626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21030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943725" y="41433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合法但不可达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00850" y="43719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保存原因并咨询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7630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901065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820275" y="41433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参数被拒绝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601200" y="43719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按具体错误修正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 notes={`这一套条件式行为有四个出口，它们之间没有先后顺序，而是按当前事实各走一条。&#10;第一条，路线返回可达而且确实还需要移动，那就保留同一个完整目标提交 MOVE。第二条，已经进入集合区了，就记录待核对的到达信息，并在当前位置做一次集合准备动作。&#10;第三条，目标本身合法但确实不可达，那就先把原因保存下来，再去咨询实际可交互的公告对象，或者看得见的引导员。第四条，参数被拒绝，就按具体错误去修正，绝不猜地址，也不靠扩大视野去突破上限。&#10;每一轮成功选出一个世界动作之后就结束。下一轮重新以实际位置判断进度，而不是拿上一轮的坐标继续推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3　条件式 Brain 的四个出口&lt;/Text&gt;&#10;            &lt;Text style={{ fontSize: 34, fontWeight: 'bold', color: '#20344B' }}&gt;一个目标，四条判断分支&lt;/Text&gt;&#10;        &lt;/Box&gt;&#10;    &lt;/Box&gt;&#10;&#10;    &lt;Box style={{ height: 540, flexDirection: 'column', justifyContent: 'center', gap: 12 }}&gt;&#10;&#10;        &lt;Text style={{ fontSize: 15, color: '#546779' }}&gt;我的目标是进入本次实际配置的集合区；每轮先读取事实上发生了什么，再决定本轮的出口。&lt;/Text&gt;&#10;&#10;        &lt;Box style={{ flexDirection: 'row', justifyContent: 'center' }}&gt;&#10;            &lt;Box style={{ width: 380, height: 56, background: '#EDF4FC', borderRadius: 10, justifyContent: 'center', alignItems: 'center' }}&gt;&#10;                &lt;Text style={{ fontSize: 16, color: '#276FBF' }}&gt;读当前坐标、地址与有效进度&lt;/Text&gt;&#10;            &lt;/Box&gt;&#10;            &lt;Box style={{ width: 44, height: 56, justifyContent: 'center', alignItems: 'center' }}&gt;&#10;                &lt;Text style={{ fontSize: 26, color: '#276FBF' }}&gt;›&lt;/Text&gt;&#10;            &lt;/Box&gt;&#10;            &lt;Box style={{ width: 380, height: 56, background: '#EDF4FC', borderRadius: 10, justifyContent: 'center', alignItems: 'center' }}&gt;&#10;                &lt;Text style={{ fontSize: 16, color: '#276FBF' }}&gt;用真实已知地址查询路线&lt;/Text&gt;&#10;            &lt;/Box&gt;&#10;        &lt;/Box&gt;&#10;&#10;        &lt;Text style={{ fontSize: 14, color: '#546779' }}&gt;四条出口，互不先后&lt;/Text&gt;&#10;&#10;        &lt;Box style={{ flexDirection: 'row', justifyContent: 'center' }}&gt;&#10;            &lt;Box style={{ width: 250, height: 180, background: '#ECF7F2', borderRadius: 10, padding: '14px 16px', flexDirection: 'column', gap: 6 }}&gt;&#10;                &lt;Text style={{ fontSize: 15, color: '#546779' }}&gt;返回可达，仍需移动&lt;/Text&gt;&#10;                &lt;Text style={{ fontSize: 18, fontWeight: 'bold', color: '#26816B' }}&gt;提交 MOVE&lt;/Text&gt;&#10;                &lt;Text style={{ fontSize: 13, color: '#546779', lineHeight: 1.45 }}&gt;保留相同完整目标；下一轮以实际位置判断进度。&lt;/Text&gt;&#10;            &lt;/Box&gt;&#10;            &lt;Box style={{ width: 44, height: 180, justifyContent: 'center', alignItems: 'center' }}&gt;&#10;                &lt;Text style={{ fontSize: 28, color: '#276FBF' }}&gt;›&lt;/Text&gt;&#10;            &lt;/Box&gt;&#10;            &lt;Box style={{ width: 250, height: 180, background: '#ECF7F2', borderRadius: 10, padding: '14px 16px', flexDirection: 'column', gap: 6 }}&gt;&#10;                &lt;Text style={{ fontSize: 15, color: '#546779' }}&gt;已进入集合区&lt;/Text&gt;&#10;                &lt;Text style={{ fontSize: 18, fontWeight: 'bold', color: '#26816B' }}&gt;一次集合准备 ACT&lt;/Text&gt;&#10;                &lt;Text style={{ fontSize: 13, color: '#546779', lineHeight: 1.45 }}&gt;记录待核对的到达信息，在当前位置完成。&lt;/Text&gt;&#10;            &lt;/Box&gt;&#10;            &lt;Box style={{ width: 44, height: 180, justifyContent: 'center', alignItems: 'center' }}&gt;&#10;                &lt;Text style={{ fontSize: 28, color: '#276FBF' }}&gt;›&lt;/Text&gt;&#10;            &lt;/Box&gt;&#10;            &lt;Box style={{ width: 250, height: 180, background: '#FFF4E6', borderRadius: 10, padding: '14px 16px', flexDirection: 'column', gap: 6 }}&gt;&#10;                &lt;Text style={{ fontSize: 15, color: '#546779' }}&gt;目标合法但不可达&lt;/Text&gt;&#10;                &lt;Text style={{ fontSize: 18, fontWeight: 'bold', color: '#CB6B28' }}&gt;保存原因再咨询&lt;/Text&gt;&#10;                &lt;Text style={{ fontSize: 13, color: '#546779', lineHeight: 1.45 }}&gt;咨询实际可交互公告或可见引导员，不穿墙。&lt;/Text&gt;&#10;            &lt;/Box&gt;&#10;            &lt;Box style={{ width: 44, height: 180, justifyContent: 'center', alignItems: 'center' }}&gt;&#10;                &lt;Text style={{ fontSize: 28, color: '#276FBF' }}&gt;›&lt;/Text&gt;&#10;            &lt;/Box&gt;&#10;            &lt;Box style={{ width: 250, height: 180, background: '#FFF4E6', borderRadius: 10, padding: '14px 16px', flexDirection: 'column', gap: 6 }}&gt;&#10;                &lt;Text style={{ fontSize: 15, color: '#546779' }}&gt;参数被拒绝&lt;/Text&gt;&#10;                &lt;Text style={{ fontSize: 18, fontWeight: 'bold', color: '#CB6B28' }}&gt;按具体错误修正&lt;/Text&gt;&#10;                &lt;Text style={{ fontSize: 13, color: '#546779', lineHeight: 1.45 }}&gt;不猜地址，也不扩大视野突破上限。&lt;/Text&gt;&#10;            &lt;/Box&gt;&#10;        &lt;/Box&gt;&#10;&#10;        &lt;Box style={{ flexDirection: 'row', justifyContent: 'center', gap: 32 }}&gt;&#10;            &lt;Box style={{ width: 560, height: 76, background: '#EDF4FC', borderRadius: 10, padding: '0 20px', flexDirection: 'row', alignItems: 'center', gap: 14 }}&gt;&#10;                &lt;Box style={{ width: 4, height: 46, background: '#276FBF' }} /&gt;&#10;                &lt;Text style={{ fontSize: 16, color: '#276FBF', lineHeight: 1.4 }}&gt;每轮成功选择世界动作后结束&lt;/Text&gt;&#10;            &lt;/Box&gt;&#10;            &lt;Box style={{ width: 560, height: 76, background: '#F4F7FA', borderRadius: 10, padding: '0 20px', flexDirection: 'row', alignItems: 'center', gap: 14 }}&gt;&#10;                &lt;Box style={{ width: 4, height: 46, background: '#546779' }} /&gt;&#10;                &lt;Text style={{ fontSize: 16, color: '#546779', lineHeight: 1.4 }}&gt;下一轮以实际位置判断进度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条件式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的四个出口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一个目标，四条判断分支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18383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我的目标是进入本次实际配置的集合区；每轮先读取事实上发生了什么，再决定本轮的出口。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2266950" y="2124075"/>
            <a:ext cx="3619500" cy="533400"/>
          </a:xfrm>
          <a:prstGeom prst="roundRect">
            <a:avLst>
              <a:gd name="adj" fmla="val 178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086100" y="229552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读当前坐标、地址与有效进度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57900" y="2238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305550" y="2124075"/>
            <a:ext cx="3619500" cy="533400"/>
          </a:xfrm>
          <a:prstGeom prst="roundRect">
            <a:avLst>
              <a:gd name="adj" fmla="val 178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277100" y="229552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用真实已知地址查询路线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27717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四条出口，互不先后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04850" y="3048000"/>
            <a:ext cx="2381250" cy="17145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3181350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返回可达，仍需移动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207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提交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MOVE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57250" y="3676650"/>
            <a:ext cx="2076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保留相同完整目标；下一轮以实际位置判断进度。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248025" y="374332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3505200" y="3048000"/>
            <a:ext cx="2381250" cy="17145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657600" y="3181350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已进入集合区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657600" y="3409950"/>
            <a:ext cx="207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一次集合准备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ACT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657600" y="3676650"/>
            <a:ext cx="2076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记录待核对的到达信息，在当前位置完成。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48375" y="374332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305550" y="3048000"/>
            <a:ext cx="2381250" cy="1714500"/>
          </a:xfrm>
          <a:prstGeom prst="roundRect">
            <a:avLst>
              <a:gd name="adj" fmla="val 55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457950" y="3181350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目标合法但不可达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57950" y="3409950"/>
            <a:ext cx="207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保存原因再咨询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57950" y="3676650"/>
            <a:ext cx="2076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咨询实际可交互公告或可见引导员，不穿墙。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848725" y="374332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9105900" y="3048000"/>
            <a:ext cx="2381250" cy="1714500"/>
          </a:xfrm>
          <a:prstGeom prst="roundRect">
            <a:avLst>
              <a:gd name="adj" fmla="val 55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258300" y="3181350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参数被拒绝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258300" y="3409950"/>
            <a:ext cx="207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按具体错误修正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258300" y="3676650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不猜地址，也不扩大视野突破上限。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4876800"/>
            <a:ext cx="53340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800100" y="501967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71550" y="5114925"/>
            <a:ext cx="19812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每轮成功选择世界动作后结束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248400" y="4876800"/>
            <a:ext cx="53340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438900" y="5019675"/>
            <a:ext cx="38100" cy="43815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610350" y="51149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下一轮以实际位置判断进度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5" name="" descr="&lt;Slide notes={`引导员和公告对象这两个角色，边界要划清楚，否则很容易变成作者在暗中帮忙。&#10;引导员只帮助他当前感知到的人。他要向对方说明自己已知的目标，并且做一次真实的查询，而不是凭印象指路。如果他自己也不知道通路，就请对方重新查。他不能穿墙，也不能替人移动。&#10;公告对象按真实的请求 ID 回复，目标在下一轮才会接收到这条信息。「恢复通行」这类文字不会改变碰撞状态，改写几个字并不能把封住的缺口打开。&#10;两组公告用的是同一段文字，不透露任何组别信息。这样设计之后，角色能拿到什么，完全取决于他自己有没有去发起一次真实的查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3　引导员与公告对象的边界&lt;/Text&gt;&#10;            &lt;Text style={{ fontSize: 34, fontWeight: 'bold', color: '#20344B' }}&gt;谁能帮，帮到什么程度&lt;/Text&gt;&#10;        &lt;/Box&gt;&#10;    &lt;/Box&gt;&#10;&#10;    &lt;Box style={{ height: 540, flexDirection: 'row', justifyContent: 'center', gap: 28 }}&gt;&#10;&#10;        &lt;Box style={{ width: 450, background: '#F4F7FA', borderRadius: 10, padding: '14px 18px', flexDirection: 'column', justifyContent: 'center', gap: 10 }}&gt;&#10;&#10;            &lt;Box style={{ flexDirection: 'row', alignItems: 'center', gap: 12, height: 26 }}&gt;&#10;                &lt;Box style={{ width: 4 }} /&gt;&#10;                &lt;Box style={{ width: 190 }}&gt;&lt;Text style={{ fontSize: 15, fontWeight: 'bold', color: '#546779' }}&gt;引导员能做&lt;/Text&gt;&lt;/Box&gt;&#10;                &lt;Box style={{ flex: 1 }}&gt;&lt;Text style={{ fontSize: 15, fontWeight: 'bold', color: '#546779' }}&gt;不能做&lt;/Text&gt;&lt;/Box&gt;&#10;            &lt;/Box&gt;&#10;&#10;            &lt;Box style={{ height: 118, background: '#FFFFFF', borderRadius: 8, flexDirection: 'row', alignItems: 'center', gap: 12, padding: '0 14px' }}&gt;&#10;                &lt;Box style={{ width: 4, height: 62, background: '#26816B' }} /&gt;&#10;                &lt;Box style={{ width: 190 }}&gt;&lt;Text style={{ fontSize: 15, fontWeight: 'bold', color: '#26816B', lineHeight: 1.4 }}&gt;只帮当前感知到的人&lt;/Text&gt;&lt;/Box&gt;&#10;                &lt;Box style={{ flex: 1 }}&gt;&lt;Text style={{ fontSize: 15, color: '#546779', lineHeight: 1.45 }}&gt;不主动替任何人移动&lt;/Text&gt;&lt;/Box&gt;&#10;            &lt;/Box&gt;&#10;&#10;            &lt;Box style={{ height: 118, background: '#FFFFFF', borderRadius: 8, flexDirection: 'row', alignItems: 'center', gap: 12, padding: '0 14px' }}&gt;&#10;                &lt;Box style={{ width: 4, height: 62, background: '#26816B' }} /&gt;&#10;                &lt;Box style={{ width: 190 }}&gt;&lt;Text style={{ fontSize: 15, fontWeight: 'bold', color: '#26816B', lineHeight: 1.4 }}&gt;说明已知目标与真实查询&lt;/Text&gt;&lt;/Box&gt;&#10;                &lt;Box style={{ flex: 1 }}&gt;&lt;Text style={{ fontSize: 15, color: '#546779', lineHeight: 1.45 }}&gt;不穿墙，不编造一条路线&lt;/Text&gt;&lt;/Box&gt;&#10;            &lt;/Box&gt;&#10;&#10;            &lt;Box style={{ height: 118, background: '#FFFFFF', borderRadius: 8, flexDirection: 'row', alignItems: 'center', gap: 12, padding: '0 14px' }}&gt;&#10;                &lt;Box style={{ width: 4, height: 62, background: '#276FBF' }} /&gt;&#10;                &lt;Box style={{ width: 190 }}&gt;&lt;Text style={{ fontSize: 15, fontWeight: 'bold', color: '#276FBF', lineHeight: 1.4 }}&gt;不知道通路就请对方重查&lt;/Text&gt;&lt;/Box&gt;&#10;                &lt;Box style={{ flex: 1 }}&gt;&lt;Text style={{ fontSize: 15, color: '#546779', lineHeight: 1.45 }}&gt;不假设对方已掌握信息&lt;/Text&gt;&lt;/Box&gt;&#10;            &lt;/Box&gt;&#10;&#10;        &lt;/Box&gt;&#10;&#10;        &lt;Box style={{ width: 674, flexDirection: 'column', justifyContent: 'center', gap: 12 }}&gt;&#10;&#10;            &lt;Text style={{ fontSize: 16, fontWeight: 'bold', color: '#20344B' }}&gt;公告对象按真实请求回复，目标下一轮接收&lt;/Text&gt;&#10;&#10;            &lt;Box style={{ width: 674, height: 118, background: '#EDF4FC', borderRadius: 10, padding: '0 20px', flexDirection: 'row', alignItems: 'center', gap: 18 }}&gt;&#10;                &lt;Box style={{ width: 4, height: 62, background: '#276FBF' }} /&gt;&#10;                &lt;Box style={{ flex: 1, flexDirection: 'column', gap: 4 }}&gt;&#10;                    &lt;Text style={{ fontSize: 17, fontWeight: 'bold', color: '#276FBF' }}&gt;按真实请求 ID 回复&lt;/Text&gt;&#10;                    &lt;Text style={{ fontSize: 15, color: '#546779', lineHeight: 1.45 }}&gt;只有发起过真实查询的角色才会收到回复，回复在下一轮生效。&lt;/Text&gt;&#10;                &lt;/Box&gt;&#10;            &lt;/Box&gt;&#10;&#10;            &lt;Box style={{ width: 674, height: 118, background: '#FFF4E6', borderRadius: 10, padding: '0 20px', flexDirection: 'row', alignItems: 'center', gap: 18 }}&gt;&#10;                &lt;Box style={{ width: 4, height: 62, background: '#CB6B28' }} /&gt;&#10;                &lt;Box style={{ flex: 1, flexDirection: 'column', gap: 4 }}&gt;&#10;                    &lt;Text style={{ fontSize: 17, fontWeight: 'bold', color: '#CB6B28' }}&gt;「恢复通行」的文字不改碰撞&lt;/Text&gt;&#10;                    &lt;Text style={{ fontSize: 15, color: '#546779', lineHeight: 1.45 }}&gt;公告里写什么，都不会把已经封闭的格子重新变成可走。&lt;/Text&gt;&#10;                &lt;/Box&gt;&#10;            &lt;/Box&gt;&#10;&#10;            &lt;Box style={{ width: 674, height: 118, background: '#ECF7F2', borderRadius: 10, padding: '0 20px', flexDirection: 'row', alignItems: 'center', gap: 18 }}&gt;&#10;                &lt;Box style={{ width: 4, height: 62, background: '#26816B' }} /&gt;&#10;                &lt;Box style={{ flex: 1, flexDirection: 'column', gap: 4 }}&gt;&#10;                    &lt;Text style={{ fontSize: 17, fontWeight: 'bold', color: '#26816B' }}&gt;两组公告同文&lt;/Text&gt;&#10;                    &lt;Text style={{ fontSize: 15, color: '#546779', lineHeight: 1.45 }}&gt;不透露额外组别信息，也不暗示这次关闭只影响其中一组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引导员与公告对象的边界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谁能帮，帮到什么程度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1143000"/>
            <a:ext cx="4286250" cy="514350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33450" y="180022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引导员能做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857500" y="18002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不能做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81050" y="2105025"/>
            <a:ext cx="39433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914400" y="237172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66800" y="2543175"/>
            <a:ext cx="1809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只帮当前感知到的人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2990850" y="2543175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不主动替任何人移动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781050" y="3324225"/>
            <a:ext cx="39433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914400" y="359092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66800" y="3762375"/>
            <a:ext cx="1809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说明已知目标与真实查询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2990850" y="3762375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不穿墙，不编造一条路线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81050" y="4543425"/>
            <a:ext cx="39433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914400" y="48101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66800" y="4981575"/>
            <a:ext cx="1809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不知道通路就请对方重查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990850" y="4981575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不假设对方已掌握信息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162550" y="1762125"/>
            <a:ext cx="6419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公告对象按真实请求回复，目标下一轮接收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162550" y="2066925"/>
            <a:ext cx="641985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5353050" y="23336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562600" y="238125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按真实请求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回复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562600" y="2619375"/>
            <a:ext cx="582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只有发起过真实查询的角色才会收到回复，回复在下一轮生效。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162550" y="3305175"/>
            <a:ext cx="641985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5353050" y="357187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「恢复通行」的文字不改碰撞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562600" y="3857625"/>
            <a:ext cx="582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公告里写什么，都不会把已经封闭的格子重新变成可走。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5162550" y="4543425"/>
            <a:ext cx="641985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5353050" y="481012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562600" y="485775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两组公告同文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562600" y="5095875"/>
            <a:ext cx="582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不透露额外组别信息，也不暗示这次关闭只影响其中一组。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0" name="" descr="&lt;Slide notes={`导航这一环有一个很容易做错的地方：明明路线是可达的，却让角色先失败一次、或者先空等一轮，再去走。&#10;这项演练的正确行为是，导航直接返回下口的可达路线时，可以在同一个 Step 里就选择 MOVE，不需要额外制造一次失败或等待。&#10;还有两个细节。一分钟的默认移动预算一般是四格，但实际能走多远还受路径长度限制，不是想走多远就走多远。中途进入下一轮的时候，要用实际位置重新查询同一个完整目标，因为返回里的 next_coord 只是下一步的坐标，不是整个目标。&#10;完整的剩余路径，得由教师去看提交事实，不能假设 Agent 的上下文里已经暴露了整条路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3　可达路线与移动预算&lt;/Text&gt;&#10;            &lt;Text style={{ fontSize: 34, fontWeight: 'bold', color: '#20344B' }}&gt;能直接走，就不要制造失败&lt;/Text&gt;&#10;        &lt;/Box&gt;&#10;    &lt;/Box&gt;&#10;&#10;    &lt;Box style={{ height: 540, flexDirection: 'row', justifyContent: 'center', gap: 32 }}&gt;&#10;&#10;        &lt;Box style={{ width: 360, flexDirection: 'column', justifyContent: 'center', gap: 14 }}&gt;&#10;            &lt;Text style={{ fontSize: 16, fontWeight: 'bold', color: '#20344B' }}&gt;三条要点&lt;/Text&gt;&#10;            &lt;Box style={{ width: 72, height: 4, background: '#276FBF' }} /&gt;&#10;            &lt;Box style={{ width: 360, height: 118, background: '#ECF7F2', borderRadius: 10, padding: '14px 18px', flexDirection: 'column', gap: 4 }}&gt;&#10;                &lt;Text style={{ fontSize: 16, fontWeight: 'bold', color: '#26816B' }}&gt;可达即可同 Step 开始 MOVE&lt;/Text&gt;&#10;                &lt;Text style={{ fontSize: 14, color: '#546779', lineHeight: 1.45 }}&gt;不加虚构的失败，也不加等待。&lt;/Text&gt;&#10;            &lt;/Box&gt;&#10;            &lt;Box style={{ width: 360, height: 118, background: '#EDF4FC', borderRadius: 10, padding: '14px 18px', flexDirection: 'column', gap: 4 }}&gt;&#10;                &lt;Text style={{ fontSize: 16, fontWeight: 'bold', color: '#276FBF' }}&gt;1 分钟默认预算四格&lt;/Text&gt;&#10;                &lt;Text style={{ fontSize: 14, color: '#546779', lineHeight: 1.45 }}&gt;实际还受路径长度限制，不是想走多远就走多远。&lt;/Text&gt;&#10;            &lt;/Box&gt;&#10;            &lt;Box style={{ width: 360, height: 118, background: '#F4F7FA', borderRadius: 10, padding: '14px 18px', flexDirection: 'column', gap: 4 }}&gt;&#10;                &lt;Text style={{ fontSize: 16, fontWeight: 'bold', color: '#546779' }}&gt;下一轮查同一完整目标&lt;/Text&gt;&#10;                &lt;Text style={{ fontSize: 14, color: '#546779', lineHeight: 1.45 }}&gt;用实际位置重新查询，不拿旧坐标继续推算。&lt;/Text&gt;&#10;            &lt;/Box&gt;&#10;        &lt;/Box&gt;&#10;&#10;        &lt;Box style={{ width: 760, flexDirection: 'column', justifyContent: 'center', gap: 14 }}&gt;&#10;&#10;            &lt;Box style={{ width: 760, height: 140, background: '#FFF4E6', borderRadius: 10, padding: '16px 20px', flexDirection: 'row', alignItems: 'center', gap: 18 }}&gt;&#10;                &lt;Box style={{ width: 4, height: 84, background: '#CB6B28' }} /&gt;&#10;                &lt;Box style={{ flex: 1, flexDirection: 'column', gap: 4 }}&gt;&#10;                    &lt;Text style={{ fontSize: 17, fontWeight: 'bold', color: '#CB6B28' }}&gt;next_coord 不是整个目标&lt;/Text&gt;&#10;                    &lt;Text style={{ fontSize: 15, color: '#546779', lineHeight: 1.5 }}&gt;返回里的下一步坐标只描述紧邻的一步。完整剩余路径要由教师查提交事实，不假设 Agent 上下文已暴露整条路径。&lt;/Text&gt;&#10;                &lt;/Box&gt;&#10;            &lt;/Box&gt;&#10;&#10;            &lt;Box style={{ width: 760, height: 140, background: '#EDF4FC', borderRadius: 10, padding: '16px 20px', flexDirection: 'row', alignItems: 'center', gap: 18 }}&gt;&#10;                &lt;Box style={{ width: 4, height: 84, background: '#276FBF' }} /&gt;&#10;                &lt;Box style={{ flex: 1, flexDirection: 'column', gap: 4 }}&gt;&#10;                    &lt;Text style={{ fontSize: 17, fontWeight: 'bold', color: '#276FBF' }}&gt;不必先撞墙&lt;/Text&gt;&#10;                    &lt;Text style={{ fontSize: 15, color: '#546779', lineHeight: 1.5 }}&gt;常用通路关闭而目标仍可达时，导航可以直接返回绕行路线，行为上不需要一次预演式的失败。&lt;/Text&gt;&#10;                &lt;/Box&gt;&#10;            &lt;/Box&gt;&#10;&#10;            &lt;Box style={{ width: 760, height: 140, background: '#ECF7F2', borderRadius: 10, padding: '16px 20px', flexDirection: 'row', alignItems: 'center', gap: 18 }}&gt;&#10;                &lt;Box style={{ width: 4, height: 84, background: '#26816B' }} /&gt;&#10;                &lt;Box style={{ flex: 1, flexDirection: 'column', gap: 4 }}&gt;&#10;                    &lt;Text style={{ fontSize: 17, fontWeight: 'bold', color: '#26816B' }}&gt;两组同一套查询方式&lt;/Text&gt;&#10;                    &lt;Text style={{ fontSize: 15, color: '#546779', lineHeight: 1.5 }}&gt;路线查询与移动选择都不区分组别，差异只能来自布局里的那一个碰撞格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可达路线与移动预算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能直接走，就不要制造失败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三条要点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09600" y="1971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09600" y="2143125"/>
            <a:ext cx="34290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81050" y="227647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可达即可同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开始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MOVE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81050" y="2505075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不加虚构的失败，也不加等待。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3400425"/>
            <a:ext cx="34290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分钟默认预算四格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" y="3762375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实际还受路径长度限制，不是想走多远就走多远。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4657725"/>
            <a:ext cx="34290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下一轮查同一完整目标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81050" y="5019675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用实际位置重新查询，不拿旧坐标继续推算。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343400" y="1581150"/>
            <a:ext cx="72390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4533900" y="1847850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743450" y="1876425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next_coord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不是整个目标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743450" y="2114550"/>
            <a:ext cx="6648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返回里的下一步坐标只描述紧邻的一步。完整剩余路径要由教师查提交事实，不假设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上下文已暴露整条路径。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343400" y="3048000"/>
            <a:ext cx="72390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533900" y="331470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743450" y="346710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不必先撞墙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743450" y="3705225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常用通路关闭而目标仍可达时，导航可以直接返回绕行路线，行为上不需要一次预演式的失败。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4343400" y="4514850"/>
            <a:ext cx="72390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533900" y="4781550"/>
            <a:ext cx="38100" cy="800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743450" y="49339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两组同一套查询方式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743450" y="5172075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路线查询与移动选择都不区分组别，差异只能来自布局里的那一个碰撞格。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notes={`接下来是这一节最容易被含糊过去的部分：一个人到底有没有走到。&#10;我要把两件事分开。第一件是动作被接受，也就是系统接受了这次 MOVE 的选择；第二件是世界里真的发生了位移，实际坐标提交出来之后，人确实进入了集合区的语义范围。&#10;这两件事不一样。动作被接受，只能说明这一步的选择是合法的；只有实际坐标提交进 StepResult，它才成为可以回放的运行事实。&#10;所以后面讨论到达率的时候，判据始终是提交出来的坐标，而不是某一步返回里的 accepted 字段。分不清这两件事，评价就会整个跑偏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④　　4.7.4 实际移动与真实到达&lt;/Text&gt;&#10;&#10;        &lt;Text style={{ fontSize: 56, fontWeight: 'bold', color: '#20344B', lineHeight: 1.15 }}&gt;走了几步，走到了没有&lt;/Text&gt;&#10;&#10;        &lt;Box style={{ width: 72, height: 4, background: '#276FBF' }} /&gt;&#10;&#10;        &lt;Text style={{ fontSize: 18, color: '#546779', lineHeight: 1.7, width: 900 }}&gt;动作被接受只说明选择合法；实际坐标提交后才是回放事实。&lt;/Text&gt;&#10;&#10;        &lt;Box style={{ flexDirection: 'row', alignItems: 'center', marginTop: 10 }}&gt;&#10;            &lt;Box style={{ width: 150, height: 76, background: '#ECF7F2', borderRadius: 10, justifyContent: 'center', alignItems: 'center' }}&gt;&#10;                &lt;Text style={{ fontSize: 17, fontWeight: 'bold', color: '#26816B' }}&gt;点0&lt;/Text&gt;&#10;            &lt;/Box&gt;&#10;            &lt;Box style={{ width: 44, height: 76, justifyContent: 'center', alignItems: 'center' }}&gt;&#10;                &lt;Text style={{ fontSize: 26, color: '#26816B' }}&gt;›&lt;/Text&gt;&#10;            &lt;/Box&gt;&#10;            &lt;Box style={{ width: 150, height: 76, background: '#ECF7F2', borderRadius: 10, justifyContent: 'center', alignItems: 'center' }}&gt;&#10;                &lt;Text style={{ fontSize: 17, fontWeight: 'bold', color: '#26816B' }}&gt;点1&lt;/Text&gt;&#10;            &lt;/Box&gt;&#10;            &lt;Box style={{ width: 44, height: 76, justifyContent: 'center', alignItems: 'center' }}&gt;&#10;                &lt;Text style={{ fontSize: 26, color: '#26816B' }}&gt;›&lt;/Text&gt;&#10;            &lt;/Box&gt;&#10;            &lt;Box style={{ width: 150, height: 76, background: '#ECF7F2', borderRadius: 10, justifyContent: 'center', alignItems: 'center' }}&gt;&#10;                &lt;Text style={{ fontSize: 17, fontWeight: 'bold', color: '#26816B' }}&gt;点2&lt;/Text&gt;&#10;            &lt;/Box&gt;&#10;            &lt;Box style={{ width: 44, height: 76, justifyContent: 'center', alignItems: 'center' }}&gt;&#10;                &lt;Text style={{ fontSize: 26, color: '#26816B' }}&gt;›&lt;/Text&gt;&#10;            &lt;/Box&gt;&#10;            &lt;Box style={{ width: 150, height: 76, background: '#ECF7F2', borderRadius: 10, justifyContent: 'center', alignItems: 'center' }}&gt;&#10;                &lt;Text style={{ fontSize: 17, fontWeight: 'bold', color: '#26816B' }}&gt;点3&lt;/Text&gt;&#10;            &lt;/Box&gt;&#10;            &lt;Box style={{ width: 44, height: 76, justifyContent: 'center', alignItems: 'center' }}&gt;&#10;                &lt;Text style={{ fontSize: 26, color: '#546779' }}&gt;›&lt;/Text&gt;&#10;            &lt;/Box&gt;&#10;            &lt;Box style={{ width: 150, height: 76, background: '#F4F7FA', borderRadius: 10, justifyContent: 'center', alignItems: 'center' }}&gt;&#10;                &lt;Text style={{ fontSize: 17, fontWeight: 'bold', color: '#546779' }}&gt;点4&lt;/Text&gt;&#10;            &lt;/Box&gt;&#10;            &lt;Box style={{ width: 44, height: 76, justifyContent: 'center', alignItems: 'center' }}&gt;&#10;                &lt;Text style={{ fontSize: 26, color: '#546779' }}&gt;›&lt;/Text&gt;&#10;            &lt;/Box&gt;&#10;            &lt;Box style={{ width: 150, height: 76, background: '#F4F7FA', borderRadius: 10, justifyContent: 'center', alignItems: 'center' }}&gt;&#10;                &lt;Text style={{ fontSize: 17, fontWeight: 'bold', color: '#546779' }}&gt;点5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4.7.4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实际移动与真实到达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走了几步，走到了没有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动作被接受只说明选择合法；实际坐标提交后才是回放事实。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4000500"/>
            <a:ext cx="14287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90625" y="42672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22098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2457450" y="4000500"/>
            <a:ext cx="14287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038475" y="42672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0576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305300" y="4000500"/>
            <a:ext cx="14287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886325" y="42672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9055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153150" y="4000500"/>
            <a:ext cx="14287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734175" y="42672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7533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001000" y="4000500"/>
            <a:ext cx="142875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582025" y="42672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点</a:t>
            </a: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6012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9848850" y="4000500"/>
            <a:ext cx="142875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0429875" y="42672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点</a:t>
            </a: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15" name="" descr="&lt;Slide notes={`从起点 0 数到实际终点 3，一共是四个路径点、三条移动边。这个差一的关系最容易出错：把点数直接当成格数，就会多算一格。&#10;灰色标出的点 4 和点 5 还只是计划，不能拿它们宣布抵达；它们不进入实际路程，也不能当作已经走过的边。&#10;所以读的时候，先看青绿色的边有几条，那才是实际发生的位移。灰色段只表示后面的计划，不计入路程。&#10;另外，判到达率的时候还要多做一步：把已经提交的终点坐标放回集合区的语义范围里去判断，看它落不落得进去。人站在某个具体点上并不重要，重要的是那个坐标属于集合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4　已执行边与剩余计划&lt;/Text&gt;&#10;            &lt;Text style={{ fontSize: 34, fontWeight: 'bold', color: '#20344B' }}&gt;点数不是格数&lt;/Text&gt;&#10;        &lt;/Box&gt;&#10;    &lt;/Box&gt;&#10;&#10;    &lt;Box style={{ height: 540, flexDirection: 'column', justifyContent: 'center', gap: 14 }}&gt;&#10;&#10;        &lt;Text style={{ fontSize: 15, color: '#546779' }}&gt;绿实线是已执行的移动边，灰色段只是计划，不进入实际路程。&lt;/Text&gt;&#10;&#10;        &lt;Box style={{ flexDirection: 'row', justifyContent: 'center', alignItems: 'center' }}&gt;&#10;            &lt;Box style={{ width: 150, height: 120, background: '#ECF7F2', borderRadius: 10, flexDirection: 'column', justifyContent: 'center', alignItems: 'center', gap: 4 }}&gt;&#10;                &lt;Text style={{ fontSize: 18, fontWeight: 'bold', color: '#26816B' }}&gt;点 0&lt;/Text&gt;&#10;                &lt;Text style={{ fontSize: 13, color: '#546779' }}&gt;起点&lt;/Text&gt;&#10;            &lt;/Box&gt;&#10;            &lt;Box style={{ width: 44, height: 120, justifyContent: 'center', alignItems: 'center' }}&gt;&#10;                &lt;Text style={{ fontSize: 30, color: '#26816B' }}&gt;›&lt;/Text&gt;&#10;            &lt;/Box&gt;&#10;            &lt;Box style={{ width: 150, height: 120, background: '#ECF7F2', borderRadius: 10, flexDirection: 'column', justifyContent: 'center', alignItems: 'center', gap: 4 }}&gt;&#10;                &lt;Text style={{ fontSize: 18, fontWeight: 'bold', color: '#26816B' }}&gt;点 1&lt;/Text&gt;&#10;                &lt;Text style={{ fontSize: 13, color: '#546779' }}&gt;已执行&lt;/Text&gt;&#10;            &lt;/Box&gt;&#10;            &lt;Box style={{ width: 44, height: 120, justifyContent: 'center', alignItems: 'center' }}&gt;&#10;                &lt;Text style={{ fontSize: 30, color: '#26816B' }}&gt;›&lt;/Text&gt;&#10;            &lt;/Box&gt;&#10;            &lt;Box style={{ width: 150, height: 120, background: '#ECF7F2', borderRadius: 10, flexDirection: 'column', justifyContent: 'center', alignItems: 'center', gap: 4 }}&gt;&#10;                &lt;Text style={{ fontSize: 18, fontWeight: 'bold', color: '#26816B' }}&gt;点 2&lt;/Text&gt;&#10;                &lt;Text style={{ fontSize: 13, color: '#546779' }}&gt;已执行&lt;/Text&gt;&#10;            &lt;/Box&gt;&#10;            &lt;Box style={{ width: 44, height: 120, justifyContent: 'center', alignItems: 'center' }}&gt;&#10;                &lt;Text style={{ fontSize: 30, color: '#26816B' }}&gt;›&lt;/Text&gt;&#10;            &lt;/Box&gt;&#10;            &lt;Box style={{ width: 150, height: 120, background: '#ECF7F2', borderRadius: 10, flexDirection: 'column', justifyContent: 'center', alignItems: 'center', gap: 4 }}&gt;&#10;                &lt;Text style={{ fontSize: 18, fontWeight: 'bold', color: '#26816B' }}&gt;点 3&lt;/Text&gt;&#10;                &lt;Text style={{ fontSize: 13, color: '#546779' }}&gt;实际终点&lt;/Text&gt;&#10;            &lt;/Box&gt;&#10;            &lt;Box style={{ width: 44, height: 120, justifyContent: 'center', alignItems: 'center' }}&gt;&#10;                &lt;Text style={{ fontSize: 30, color: '#546779' }}&gt;›&lt;/Text&gt;&#10;            &lt;/Box&gt;&#10;            &lt;Box style={{ width: 150, height: 120, background: '#F4F7FA', borderRadius: 10, flexDirection: 'column', justifyContent: 'center', alignItems: 'center', gap: 4 }}&gt;&#10;                &lt;Text style={{ fontSize: 18, fontWeight: 'bold', color: '#546779' }}&gt;点 4&lt;/Text&gt;&#10;                &lt;Text style={{ fontSize: 13, color: '#546779' }}&gt;计划段&lt;/Text&gt;&#10;            &lt;/Box&gt;&#10;            &lt;Box style={{ width: 44, height: 120, justifyContent: 'center', alignItems: 'center' }}&gt;&#10;                &lt;Text style={{ fontSize: 30, color: '#546779' }}&gt;›&lt;/Text&gt;&#10;            &lt;/Box&gt;&#10;            &lt;Box style={{ width: 150, height: 120, background: '#F4F7FA', borderRadius: 10, flexDirection: 'column', justifyContent: 'center', alignItems: 'center', gap: 4 }}&gt;&#10;                &lt;Text style={{ fontSize: 18, fontWeight: 'bold', color: '#546779' }}&gt;点 5&lt;/Text&gt;&#10;                &lt;Text style={{ fontSize: 13, color: '#546779' }}&gt;计划段&lt;/Text&gt;&#10;            &lt;/Box&gt;&#10;        &lt;/Box&gt;&#10;&#10;        &lt;Box style={{ flexDirection: 'row', justifyContent: 'center', gap: 32 }}&gt;&#10;            &lt;Box style={{ width: 560, height: 96, background: '#ECF7F2', borderRadius: 10, padding: '0 20px', flexDirection: 'row', alignItems: 'center', gap: 14 }}&gt;&#10;                &lt;Box style={{ width: 4, height: 60, background: '#26816B' }} /&gt;&#10;                &lt;Box style={{ flexDirection: 'column', gap: 2 }}&gt;&#10;                    &lt;Text style={{ fontSize: 17, fontWeight: 'bold', color: '#26816B' }}&gt;4 个路径点，3 条移动边&lt;/Text&gt;&#10;                    &lt;Text style={{ fontSize: 14, color: '#546779' }}&gt;点 0 到点 3 是已执行的位移&lt;/Text&gt;&#10;                &lt;/Box&gt;&#10;            &lt;/Box&gt;&#10;            &lt;Box style={{ width: 560, height: 96, background: '#F4F7FA', borderRadius: 10, padding: '0 20px', flexDirection: 'row', alignItems: 'center', gap: 14 }}&gt;&#10;                &lt;Box style={{ width: 4, height: 60, background: '#546779' }} /&gt;&#10;                &lt;Box style={{ flexDirection: 'column', gap: 2 }}&gt;&#10;                    &lt;Text style={{ fontSize: 17, fontWeight: 'bold', color: '#546779' }}&gt;点 4、点 5 只是计划&lt;/Text&gt;&#10;                    &lt;Text style={{ fontSize: 14, color: '#546779' }}&gt;不计实际路程，不能据此宣布抵达&lt;/Text&gt;&#10;                &lt;/Box&gt;&#10;            &lt;/Box&gt;&#10;        &lt;/Box&gt;&#10;&#10;        &lt;Box style={{ width: 1152, height: 88, background: '#FFF4E6', borderRadius: 10, padding: '0 22px', flexDirection: 'row', alignItems: 'center', gap: 18 }}&gt;&#10;            &lt;Box style={{ width: 84, height: 30, background: '#CB6B28', borderRadius: 8, justifyContent: 'center', alignItems: 'center' }}&gt;&#10;                &lt;Text style={{ fontSize: 15, fontWeight: 'bold', color: '#FFFFFF' }}&gt;示意&lt;/Text&gt;&#10;            &lt;/Box&gt;&#10;            &lt;Text style={{ fontSize: 16, color: '#546779', lineHeight: 1.5, flex: 1 }}&gt;到达率还须把已提交的终点坐标放回集合区语义范围判断；站在哪个点上不要紧，坐标属于集合区才算数。&lt;/Text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已执行边与剩余计划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点数不是格数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绿实线是已执行的移动边，灰色段只是计划，不进入实际路程。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62000" y="2286000"/>
            <a:ext cx="142875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314450" y="2657475"/>
            <a:ext cx="33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352550" y="2905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352675" y="26860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2609850" y="2286000"/>
            <a:ext cx="142875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162300" y="2657475"/>
            <a:ext cx="33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143250" y="29051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已执行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200525" y="26860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457700" y="2286000"/>
            <a:ext cx="142875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010150" y="2657475"/>
            <a:ext cx="33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991100" y="29051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已执行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48375" y="26860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305550" y="2286000"/>
            <a:ext cx="142875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858000" y="2657475"/>
            <a:ext cx="33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点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772275" y="29051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实际终点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896225" y="26860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8153400" y="2286000"/>
            <a:ext cx="142875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705850" y="2657475"/>
            <a:ext cx="33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46779"/>
                </a:solidFill>
                <a:latin typeface="Microsoft YaHei"/>
                <a:ea typeface="Microsoft YaHei"/>
              </a:rPr>
              <a:t>点</a:t>
            </a:r>
            <a:r>
              <a:rPr lang="en-US" sz="1350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686800" y="29051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计划段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744075" y="26860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10001250" y="2286000"/>
            <a:ext cx="142875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553700" y="2657475"/>
            <a:ext cx="33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46779"/>
                </a:solidFill>
                <a:latin typeface="Microsoft YaHei"/>
                <a:ea typeface="Microsoft YaHei"/>
              </a:rPr>
              <a:t>点</a:t>
            </a:r>
            <a:r>
              <a:rPr lang="en-US" sz="1350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5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534650" y="29051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计划段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09600" y="356235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800100" y="37338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71550" y="3829050"/>
            <a:ext cx="176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个路径点，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条移动边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71550" y="40481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是已执行的位移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248400" y="356235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438900" y="3733800"/>
            <a:ext cx="38100" cy="5715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610350" y="382905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点</a:t>
            </a: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4</a:t>
            </a: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、点</a:t>
            </a: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只是计划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610350" y="40481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不计实际路程，不能据此宣布抵达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46101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19150" y="4886325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76325" y="4943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790700" y="4895850"/>
            <a:ext cx="95821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到达率还须把已提交的终点坐标放回集合区语义范围判断；站在哪个点上不要紧，坐标属于集合区才算数。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58" name="" descr="&lt;Slide notes={`判断一个人到没到，要沿着一条证据链往下走。&#10;第一段是导航的输入和返回结果：他带着什么地址去查，系统返回了什么路线。第二段是 MOVE 的选择：他有没有真的选择朝这个目标移动。第三段是执行路径：实际发生了哪些位移边。第四段是提交出来的实际坐标和地址。&#10;这条链上最容易弄混的是 accepted。它只表示这一次动作选择被接受了，并不代表人已经走到了。世界把提交写进 StepResult 之后，它才成为可以回放的事实。&#10;评分的时候用的就是这条链的最后一段，而不是中间某个返回字段。把这一点分清，很多看起来矛盾的结果立刻就解释得通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4　从导航到坐标的证据链&lt;/Text&gt;&#10;            &lt;Text style={{ fontSize: 34, fontWeight: 'bold', color: '#20344B' }}&gt;哪一环才算事实&lt;/Text&gt;&#10;        &lt;/Box&gt;&#10;    &lt;/Box&gt;&#10;&#10;    &lt;Box style={{ height: 540, flexDirection: 'row', justifyContent: 'center', gap: 28 }}&gt;&#10;&#10;        &lt;Box style={{ width: 682, flexDirection: 'column', justifyContent: 'center', gap: 12 }}&gt;&#10;&#10;            &lt;Text style={{ fontSize: 16, fontWeight: 'bold', color: '#20344B' }}&gt;证据链四段，自上而下逐段留证&lt;/Text&gt;&#10;&#10;            &lt;Box style={{ width: 682, height: 100, background: '#EDF4FC', borderRadius: 10, padding: '0 20px', flexDirection: 'row', alignItems: 'center', gap: 16 }}&gt;&#10;                &lt;Box style={{ width: 34, height: 34, background: '#276FBF', borderRadius: 8, justifyContent: 'center', alignItems: 'center' }}&gt;&#10;                    &lt;Text style={{ fontSize: 16, fontWeight: 'bold', color: '#FFFFFF' }}&gt;1&lt;/Text&gt;&#10;                &lt;/Box&gt;&#10;                &lt;Box style={{ width: 200 }}&gt;&lt;Text style={{ fontSize: 16, fontWeight: 'bold', color: '#276FBF' }}&gt;导航输入／结果&lt;/Text&gt;&lt;/Box&gt;&#10;                &lt;Box style={{ flex: 1 }}&gt;&lt;Text style={{ fontSize: 15, color: '#546779', lineHeight: 1.45 }}&gt;用了什么地址查询、返回了哪条路线&lt;/Text&gt;&lt;/Box&gt;&#10;            &lt;/Box&gt;&#10;&#10;            &lt;Box style={{ width: 682, height: 100, background: '#EDF4FC', borderRadius: 10, padding: '0 20px', flexDirection: 'row', alignItems: 'center', gap: 16 }}&gt;&#10;                &lt;Box style={{ width: 34, height: 34, background: '#276FBF', borderRadius: 8, justifyContent: 'center', alignItems: 'center' }}&gt;&#10;                    &lt;Text style={{ fontSize: 16, fontWeight: 'bold', color: '#FFFFFF' }}&gt;2&lt;/Text&gt;&#10;                &lt;/Box&gt;&#10;                &lt;Box style={{ width: 200 }}&gt;&lt;Text style={{ fontSize: 16, fontWeight: 'bold', color: '#276FBF' }}&gt;MOVE 选择&lt;/Text&gt;&lt;/Box&gt;&#10;                &lt;Box style={{ flex: 1 }}&gt;&lt;Text style={{ fontSize: 15, color: '#546779', lineHeight: 1.45 }}&gt;是否真的选择了朝该目标移动这一步&lt;/Text&gt;&lt;/Box&gt;&#10;            &lt;/Box&gt;&#10;&#10;            &lt;Box style={{ width: 682, height: 100, background: '#ECF7F2', borderRadius: 10, padding: '0 20px', flexDirection: 'row', alignItems: 'center', gap: 16 }}&gt;&#10;                &lt;Box style={{ width: 34, height: 34, background: '#26816B', borderRadius: 8, justifyContent: 'center', alignItems: 'center' }}&gt;&#10;                    &lt;Text style={{ fontSize: 16, fontWeight: 'bold', color: '#FFFFFF' }}&gt;3&lt;/Text&gt;&#10;                &lt;/Box&gt;&#10;                &lt;Box style={{ width: 200 }}&gt;&lt;Text style={{ fontSize: 16, fontWeight: 'bold', color: '#26816B' }}&gt;执行路径&lt;/Text&gt;&lt;/Box&gt;&#10;                &lt;Box style={{ flex: 1 }}&gt;&lt;Text style={{ fontSize: 15, color: '#546779', lineHeight: 1.45 }}&gt;实际发生了哪些位移边，逐边计数&lt;/Text&gt;&lt;/Box&gt;&#10;            &lt;/Box&gt;&#10;&#10;            &lt;Box style={{ width: 682, height: 100, background: '#ECF7F2', borderRadius: 10, padding: '0 20px', flexDirection: 'row', alignItems: 'center', gap: 16 }}&gt;&#10;                &lt;Box style={{ width: 34, height: 34, background: '#26816B', borderRadius: 8, justifyContent: 'center', alignItems: 'center' }}&gt;&#10;                    &lt;Text style={{ fontSize: 16, fontWeight: 'bold', color: '#FFFFFF' }}&gt;4&lt;/Text&gt;&#10;                &lt;/Box&gt;&#10;                &lt;Box style={{ width: 200 }}&gt;&lt;Text style={{ fontSize: 16, fontWeight: 'bold', color: '#26816B' }}&gt;实际坐标／地址&lt;/Text&gt;&lt;/Box&gt;&#10;                &lt;Box style={{ flex: 1 }}&gt;&lt;Text style={{ fontSize: 15, color: '#546779', lineHeight: 1.45 }}&gt;提交出来的位置，用于判断是否进入集合区&lt;/Text&gt;&lt;/Box&gt;&#10;            &lt;/Box&gt;&#10;&#10;        &lt;/Box&gt;&#10;&#10;        &lt;Box style={{ width: 442, flexDirection: 'column', justifyContent: 'center', gap: 12 }}&gt;&#10;&#10;            &lt;Text style={{ fontSize: 16, fontWeight: 'bold', color: '#20344B' }}&gt;两件事必须分开&lt;/Text&gt;&#10;&#10;            &lt;Box style={{ width: 442, height: 150, background: '#FFF4E6', borderRadius: 10, padding: '14px 18px', flexDirection: 'column', gap: 6 }}&gt;&#10;                &lt;Text style={{ fontSize: 17, fontWeight: 'bold', color: '#CB6B28' }}&gt;accepted 只是动作选择&lt;/Text&gt;&#10;                &lt;Text style={{ fontSize: 14, color: '#546779', lineHeight: 1.5 }}&gt;表示这一次选择被接受，并不代表角色已经在世界里的新位置。&lt;/Text&gt;&#10;            &lt;/Box&gt;&#10;&#10;            &lt;Box style={{ width: 442, height: 150, background: '#ECF7F2', borderRadius: 10, padding: '14px 18px', flexDirection: 'column', gap: 6 }}&gt;&#10;                &lt;Text style={{ fontSize: 17, fontWeight: 'bold', color: '#26816B' }}&gt;提交进 StepResult 才是事实&lt;/Text&gt;&#10;                &lt;Text style={{ fontSize: 14, color: '#546779', lineHeight: 1.5 }}&gt;世界把坐标提交之后，它才成为可以回放的运行事实。&lt;/Text&gt;&#10;            &lt;/Box&gt;&#10;&#10;            &lt;Box style={{ width: 442, height: 150, background: '#F4F7FA', borderRadius: 10, padding: '14px 18px', flexDirection: 'column', gap: 6 }}&gt;&#10;                &lt;Text style={{ fontSize: 17, fontWeight: 'bold', color: '#546779' }}&gt;评分只看最后一段&lt;/Text&gt;&#10;                &lt;Text style={{ fontSize: 14, color: '#546779', lineHeight: 1.5 }}&gt;到达率与移动负担都按已执行路径和提交坐标计算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从导航到坐标的证据链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哪一环才算事实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1485900"/>
            <a:ext cx="649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证据链四段，自上而下逐段留证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1790700"/>
            <a:ext cx="649605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800100" y="21050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14400" y="21717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276350" y="21717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导航输入／结果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333750" y="214312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用了什么地址查询、返回了哪条路线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2857500"/>
            <a:ext cx="649605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800100" y="31718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14400" y="32385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276350" y="32385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MOVE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选择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333750" y="320992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是否真的选择了朝该目标移动这一步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3924300"/>
            <a:ext cx="64960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800100" y="42386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914400" y="43053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276350" y="43053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执行路径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333750" y="427672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实际发生了哪些位移边，逐边计数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" y="4991100"/>
            <a:ext cx="64960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800100" y="53054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14400" y="53721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276350" y="53721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实际坐标／地址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333750" y="534352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提交出来的位置，用于判断是否进入集合区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372350" y="1304925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两件事必须分开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7372350" y="1609725"/>
            <a:ext cx="421005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543800" y="174307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accepted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只是动作选择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543800" y="2000250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表示这一次选择被接受，并不代表角色已经在世界里的新位置。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372350" y="3152775"/>
            <a:ext cx="421005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543800" y="328612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提交进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StepResult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才是事实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543800" y="3543300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世界把坐标提交之后，它才成为可以回放的运行事实。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7372350" y="4695825"/>
            <a:ext cx="42100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543800" y="482917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评分只看最后一段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543800" y="5086350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到达率与移动负担都按已执行路径和提交坐标计算。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6" name="" descr="&lt;Slide notes={`到达的定义要写得没有歧义。&#10;我采用的判据是：已经提交的实际坐标进入集合区的语义范围，就算到达；每个人只记第一次，不要求他站在某个指定的点上。&#10;准备动作是补充信息，不是到达率的必要条件。有人在集合区做了一次准备，有人直接停下，都不影响到达的判定。&#10;还有一点在解释结果时特别重要：南区的人物在基线里原本就可能走下面那个口子，所以关掉上面的缺口，对三个人的影响并不一样。&#10;给结论的时候，要把三个人的起点、路线和结果分别列出来，不能只报一个总数，否则别人看不出这个差异到底是从哪里来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4　到达的判据与解释方式&lt;/Text&gt;&#10;            &lt;Text style={{ fontSize: 34, fontWeight: 'bold', color: '#20344B' }}&gt;到达怎么算&lt;/Text&gt;&#10;        &lt;/Box&gt;&#10;    &lt;/Box&gt;&#10;&#10;    &lt;Box style={{ height: 540, flexDirection: 'row', justifyContent: 'center', gap: 28 }}&gt;&#10;&#10;        &lt;Box style={{ width: 393, flexDirection: 'column', justifyContent: 'center', gap: 12 }}&gt;&#10;&#10;            &lt;Text style={{ fontSize: 16, fontWeight: 'bold', color: '#20344B' }}&gt;构成到达的三条&lt;/Text&gt;&#10;&#10;            &lt;Box style={{ width: 393, height: 108, background: '#ECF7F2', borderRadius: 10, padding: '12px 16px', flexDirection: 'row', alignItems: 'center', gap: 12 }}&gt;&#10;                &lt;Box style={{ width: 4, height: 62, background: '#26816B' }} /&gt;&#10;                &lt;Text style={{ fontSize: 15, color: '#546779', lineHeight: 1.45 }}&gt;已提交状态的实际坐标进入集合区语义范围&lt;/Text&gt;&#10;            &lt;/Box&gt;&#10;&#10;            &lt;Box style={{ width: 393, height: 108, background: '#ECF7F2', borderRadius: 10, padding: '12px 16px', flexDirection: 'row', alignItems: 'center', gap: 12 }}&gt;&#10;                &lt;Box style={{ width: 4, height: 62, background: '#26816B' }} /&gt;&#10;                &lt;Text style={{ fontSize: 15, color: '#546779', lineHeight: 1.45 }}&gt;每人只记首次进入，重复进入不重复计入&lt;/Text&gt;&#10;            &lt;/Box&gt;&#10;&#10;            &lt;Box style={{ width: 393, height: 108, background: '#ECF7F2', borderRadius: 10, padding: '12px 16px', flexDirection: 'row', alignItems: 'center', gap: 12 }}&gt;&#10;                &lt;Box style={{ width: 4, height: 62, background: '#26816B' }} /&gt;&#10;                &lt;Text style={{ fontSize: 15, color: '#546779', lineHeight: 1.45 }}&gt;不要求站在指定点，落在集合区内的任意格即可&lt;/Text&gt;&#10;            &lt;/Box&gt;&#10;&#10;            &lt;Box style={{ width: 393, height: 108, background: '#FFF4E6', borderRadius: 10, padding: '12px 16px', flexDirection: 'row', alignItems: 'center', gap: 12 }}&gt;&#10;                &lt;Box style={{ width: 4, height: 62, background: '#CB6B28' }} /&gt;&#10;                &lt;Text style={{ fontSize: 15, color: '#546779', lineHeight: 1.45 }}&gt;准备 ACT 是补充，不是到达率的必要条件&lt;/Text&gt;&#10;            &lt;/Box&gt;&#10;&#10;        &lt;/Box&gt;&#10;&#10;        &lt;Box style={{ width: 731, flexDirection: 'column', justifyContent: 'center', gap: 12 }}&gt;&#10;&#10;            &lt;Text style={{ fontSize: 16, fontWeight: 'bold', color: '#20344B' }}&gt;解释结果时要一起列出什么&lt;/Text&gt;&#10;&#10;            &lt;Box style={{ width: 731, height: 140, background: '#EDF4FC', borderRadius: 10, padding: '16px 20px', flexDirection: 'row', alignItems: 'center', gap: 18 }}&gt;&#10;                &lt;Box style={{ width: 4, height: 84, background: '#276FBF' }} /&gt;&#10;                &lt;Box style={{ flex: 1, flexDirection: 'column', gap: 4 }}&gt;&#10;                    &lt;Text style={{ fontSize: 17, fontWeight: 'bold', color: '#276FBF' }}&gt;三人的起点、路线和结果&lt;/Text&gt;&#10;                    &lt;Text style={{ fontSize: 15, color: '#546779', lineHeight: 1.5 }}&gt;不能只报一个总数，否则看不出差异来自哪一段路线、哪一个人。&lt;/Text&gt;&#10;                &lt;/Box&gt;&#10;            &lt;/Box&gt;&#10;&#10;            &lt;Box style={{ width: 731, height: 140, background: '#ECF7F2', borderRadius: 10, padding: '16px 20px', flexDirection: 'row', alignItems: 'center', gap: 18 }}&gt;&#10;                &lt;Box style={{ width: 4, height: 84, background: '#26816B' }} /&gt;&#10;                &lt;Box style={{ flex: 1, flexDirection: 'column', gap: 4 }}&gt;&#10;                    &lt;Text style={{ fontSize: 17, fontWeight: 'bold', color: '#26816B' }}&gt;南区人物基线就可能走下口&lt;/Text&gt;&#10;                    &lt;Text style={{ fontSize: 15, color: '#546779', lineHeight: 1.5 }}&gt;封掉上缺口对他的路线影响很小，他的移动负担不必跟着上升。&lt;/Text&gt;&#10;                &lt;/Box&gt;&#10;            &lt;/Box&gt;&#10;&#10;            &lt;Box style={{ width: 731, height: 140, background: '#FFF4E6', borderRadius: 10, padding: '16px 20px', flexDirection: 'row', alignItems: 'center', gap: 18 }}&gt;&#10;                &lt;Box style={{ width: 4, height: 84, background: '#CB6B28' }} /&gt;&#10;                &lt;Box style={{ flex: 1, flexDirection: 'column', gap: 4 }}&gt;&#10;                    &lt;Text style={{ fontSize: 17, fontWeight: 'bold', color: '#CB6B28' }}&gt;关闭不必同样影响三个人&lt;/Text&gt;&#10;                    &lt;Text style={{ fontSize: 15, color: '#546779', lineHeight: 1.5 }}&gt;把「总体变差」直接讲成「每个人变差」，是把个体差异抹掉的说法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到达的判据与解释方式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71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到达怎么算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3743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构成到达的三条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09600" y="1638300"/>
            <a:ext cx="3743325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762000" y="185737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914400" y="2028825"/>
            <a:ext cx="27146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已提交状态的实际坐标进入集合区语义范围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2781300"/>
            <a:ext cx="3743325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762000" y="300037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14400" y="3171825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每人只记首次进入，重复进入不重复计入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3924300"/>
            <a:ext cx="3743325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762000" y="414337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14400" y="431482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不要求站在指定点，落在集合区内的任意格即可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09600" y="5067300"/>
            <a:ext cx="3743325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762000" y="528637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14400" y="5457825"/>
            <a:ext cx="26479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准备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是补充，不是到达率的必要条件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619625" y="1447800"/>
            <a:ext cx="6962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解释结果时要一起列出什么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4619625" y="1752600"/>
            <a:ext cx="6962775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4810125" y="201930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019675" y="2171700"/>
            <a:ext cx="6372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三人的起点、路线和结果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019675" y="2409825"/>
            <a:ext cx="6372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不能只报一个总数，否则看不出差异来自哪一段路线、哪一个人。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619625" y="3200400"/>
            <a:ext cx="6962775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4810125" y="3467100"/>
            <a:ext cx="38100" cy="800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019675" y="3619500"/>
            <a:ext cx="6372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南区人物基线就可能走下口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019675" y="3857625"/>
            <a:ext cx="6372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封掉上缺口对他的路线影响很小，他的移动负担不必跟着上升。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619625" y="4648200"/>
            <a:ext cx="6962775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4810125" y="4914900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19675" y="5067300"/>
            <a:ext cx="6372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关闭不必同样影响三个人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19675" y="5305425"/>
            <a:ext cx="6372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把「总体变差」直接讲成「每个人变差」，是把个体差异抹掉的说法。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26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29" name="" descr="&lt;Slide notes={`这一部分讲的是怎么把观察变成可以比较的数字。&#10;我一共定四个指标。集合到达率，是窗口内首次进入集合区的人数除以三，引导员不进分母。人均移动负担，是三个人在窗口内全部已执行路径的边数除以三，单位是格每人。&#10;路线执行启动时延，是从第一次拿到目标可达路线，到第一次真的朝这个目标移动之间隔了多少虚拟分钟，可以是零。无效请求率，是地址、目标证据或权限不合法的导航和 MOVE 拒绝数，除以全部导航和 MOVE 请求数。&#10;四个口径写清楚之后，数字才有意义；口径不写，别人没法复核，也没法跟别的案例比较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⑤　　4.7.5 指标与人工判分&lt;/Text&gt;&#10;&#10;        &lt;Text style={{ fontSize: 56, fontWeight: 'bold', color: '#20344B', lineHeight: 1.15 }}&gt;先定口径，再看数字&lt;/Text&gt;&#10;&#10;        &lt;Box style={{ width: 72, height: 4, background: '#276FBF' }} /&gt;&#10;&#10;        &lt;Text style={{ fontSize: 18, color: '#546779', lineHeight: 1.7, width: 900 }}&gt;四个指标各自回答一个问题；分母写不出来，结果就不能比较。&lt;/Text&gt;&#10;&#10;        &lt;Box style={{ flexDirection: 'row', alignItems: 'center', marginTop: 10 }}&gt;&#10;            &lt;Box style={{ width: 250, height: 76, background: '#ECF7F2', borderRadius: 10, justifyContent: 'center', alignItems: 'center' }}&gt;&#10;                &lt;Text style={{ fontSize: 16, color: '#26816B' }}&gt;集合到达率&lt;/Text&gt;&#10;            &lt;/Box&gt;&#10;            &lt;Box style={{ width: 44, height: 76, justifyContent: 'center', alignItems: 'center' }}&gt;&#10;                &lt;Text style={{ fontSize: 26, color: '#276FBF' }}&gt;›&lt;/Text&gt;&#10;            &lt;/Box&gt;&#10;            &lt;Box style={{ width: 250, height: 76, background: '#EDF4FC', borderRadius: 10, justifyContent: 'center', alignItems: 'center' }}&gt;&#10;                &lt;Text style={{ fontSize: 16, color: '#276FBF' }}&gt;人均移动负担&lt;/Text&gt;&#10;            &lt;/Box&gt;&#10;            &lt;Box style={{ width: 44, height: 76, justifyContent: 'center', alignItems: 'center' }}&gt;&#10;                &lt;Text style={{ fontSize: 26, color: '#276FBF' }}&gt;›&lt;/Text&gt;&#10;            &lt;/Box&gt;&#10;            &lt;Box style={{ width: 250, height: 76, background: '#EDF4FC', borderRadius: 10, justifyContent: 'center', alignItems: 'center' }}&gt;&#10;                &lt;Text style={{ fontSize: 16, color: '#276FBF' }}&gt;路线执行启动时延&lt;/Text&gt;&#10;            &lt;/Box&gt;&#10;            &lt;Box style={{ width: 44, height: 76, justifyContent: 'center', alignItems: 'center' }}&gt;&#10;                &lt;Text style={{ fontSize: 26, color: '#276FBF' }}&gt;›&lt;/Text&gt;&#10;            &lt;/Box&gt;&#10;            &lt;Box style={{ width: 250, height: 76, background: '#FFF4E6', borderRadius: 10, justifyContent: 'center', alignItems: 'center' }}&gt;&#10;                &lt;Text style={{ fontSize: 16, color: '#CB6B28' }}&gt;无效请求率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1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⑤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4.7.5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指标与人工判分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先定口径，再看数字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四个指标各自回答一个问题；分母写不出来，结果就不能比较。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0960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419225" y="4267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集合到达率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31623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40995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143375" y="4267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人均移动负担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9626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21030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791325" y="42672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路线执行启动时延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7630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010650" y="4000500"/>
            <a:ext cx="23812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820275" y="4267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无效请求率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94" name="" descr="&lt;Slide notes={`这三根柱子来自一次人工评分，不是 Run 的实测结果。&#10;参与者 1 走了 12 格，参与者 2 走了 18 格，两个人都到达了；参与者 3 只走了 9 格，中途停下，没有到达。&#10;判断谁效率高的时候，要先看到达状态，再看走了多少格。那根最短的柱子并不表示效率最高，它表示这个人还没走到。&#10;三根柱子加起来是 39 格，全部计入移动成本，因为不管到没到，路都是走掉的；但到达分子里只有标着「已到达」的两个人。&#10;两个公式的分母都是同样三个人。所以结果是：到达率 2 除以 3，大约 66.7%；人均移动负担 39 除以 3，等于 13 格每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5　三人的已执行移动边数&lt;/Text&gt;&#10;            &lt;Text style={{ fontSize: 34, fontWeight: 'bold', color: '#20344B' }}&gt;短柱不等于高效率&lt;/Text&gt;&#10;        &lt;/Box&gt;&#10;    &lt;/Box&gt;&#10;&#10;    &lt;Box style={{ height: 540, flexDirection: 'column', justifyContent: 'center', gap: 12 }}&gt;&#10;&#10;        &lt;Box style={{ flexDirection: 'row', alignItems: 'center', gap: 14, height: 28 }}&gt;&#10;            &lt;Box style={{ width: 84, height: 28, background: '#CB6B28', borderRadius: 8, justifyContent: 'center', alignItems: 'center' }}&gt;&#10;                &lt;Text style={{ fontSize: 14, fontWeight: 'bold', color: '#FFFFFF' }}&gt;人工评分&lt;/Text&gt;&#10;            &lt;/Box&gt;&#10;            &lt;Text style={{ fontSize: 15, color: '#546779' }}&gt;纵轴为已执行移动边数（格），满刻度 20；先看到达状态，再看柱高。&lt;/Text&gt;&#10;        &lt;/Box&gt;&#10;&#10;        &lt;Box style={{ flexDirection: 'row', justifyContent: 'center', alignItems: 'flex-end', height: 320 }}&gt;&#10;&#10;            &lt;Box style={{ width: 300, height: 320, flexDirection: 'column', justifyContent: 'flex-end', alignItems: 'center', gap: 8 }}&gt;&#10;                &lt;Box style={{ width: 160, height: 126, background: '#26816B', borderRadius: 8, justifyContent: 'flex-start', alignItems: 'center', paddingTop: 10 }}&gt;&#10;                    &lt;Text style={{ fontSize: 26, fontWeight: 'bold', color: '#FFFFFF' }}&gt;12&lt;/Text&gt;&#10;                &lt;/Box&gt;&#10;                &lt;Box style={{ width: 220, height: 40, background: '#ECF7F2', borderRadius: 8, justifyContent: 'center', alignItems: 'center' }}&gt;&#10;                    &lt;Text style={{ fontSize: 15, color: '#26816B' }}&gt;参与者 1 · 已到达&lt;/Text&gt;&#10;                &lt;/Box&gt;&#10;            &lt;/Box&gt;&#10;&#10;            &lt;Box style={{ width: 300, height: 320, flexDirection: 'column', justifyContent: 'flex-end', alignItems: 'center', gap: 8 }}&gt;&#10;                &lt;Box style={{ width: 160, height: 189, background: '#26816B', borderRadius: 8, justifyContent: 'flex-start', alignItems: 'center', paddingTop: 10 }}&gt;&#10;                    &lt;Text style={{ fontSize: 26, fontWeight: 'bold', color: '#FFFFFF' }}&gt;18&lt;/Text&gt;&#10;                &lt;/Box&gt;&#10;                &lt;Box style={{ width: 220, height: 40, background: '#ECF7F2', borderRadius: 8, justifyContent: 'center', alignItems: 'center' }}&gt;&#10;                    &lt;Text style={{ fontSize: 15, color: '#26816B' }}&gt;参与者 2 · 已到达&lt;/Text&gt;&#10;                &lt;/Box&gt;&#10;            &lt;/Box&gt;&#10;&#10;            &lt;Box style={{ width: 300, height: 320, flexDirection: 'column', justifyContent: 'flex-end', alignItems: 'center', gap: 8 }}&gt;&#10;                &lt;Box style={{ width: 160, height: 95, background: '#CB6B28', borderRadius: 8, justifyContent: 'flex-start', alignItems: 'center', paddingTop: 10 }}&gt;&#10;                    &lt;Text style={{ fontSize: 26, fontWeight: 'bold', color: '#FFFFFF' }}&gt;9&lt;/Text&gt;&#10;                &lt;/Box&gt;&#10;                &lt;Box style={{ width: 220, height: 40, background: '#FFF4E6', borderRadius: 8, justifyContent: 'center', alignItems: 'center' }}&gt;&#10;                    &lt;Text style={{ fontSize: 15, color: '#CB6B28' }}&gt;参与者 3 · 未到达&lt;/Text&gt;&#10;                &lt;/Box&gt;&#10;            &lt;/Box&gt;&#10;&#10;        &lt;/Box&gt;&#10;&#10;        &lt;Box style={{ flexDirection: 'row', justifyContent: 'center', gap: 16 }}&gt;&#10;            &lt;Box style={{ width: 568, height: 88, background: '#ECF7F2', borderRadius: 10, padding: '0 20px', flexDirection: 'row', alignItems: 'center', gap: 14 }}&gt;&#10;                &lt;Box style={{ width: 4, height: 56, background: '#26816B' }} /&gt;&#10;                &lt;Box style={{ flexDirection: 'column', gap: 2 }}&gt;&#10;                    &lt;Text style={{ fontSize: 17, fontWeight: 'bold', color: '#26816B' }}&gt;到达 2 / 3 ≈ 66.7%&lt;/Text&gt;&#10;                    &lt;Text style={{ fontSize: 14, color: '#546779' }}&gt;只有标「已到达」的两人进分子&lt;/Text&gt;&#10;                &lt;/Box&gt;&#10;            &lt;/Box&gt;&#10;            &lt;Box style={{ width: 568, height: 88, background: '#EDF4FC', borderRadius: 10, padding: '0 20px', flexDirection: 'row', alignItems: 'center', gap: 14 }}&gt;&#10;                &lt;Box style={{ width: 4, height: 56, background: '#276FBF' }} /&gt;&#10;                &lt;Box style={{ flexDirection: 'column', gap: 2 }}&gt;&#10;                    &lt;Text style={{ fontSize: 17, fontWeight: 'bold', color: '#276FBF' }}&gt;移动 39 / 3 = 13 格／人&lt;/Text&gt;&#10;                    &lt;Text style={{ fontSize: 14, color: '#546779' }}&gt;三柱之和 39 全部计入成本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2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三人的已执行移动边数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短柱不等于高效率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1524000"/>
            <a:ext cx="800100" cy="266700"/>
          </a:xfrm>
          <a:prstGeom prst="roundRect">
            <a:avLst>
              <a:gd name="adj" fmla="val 2857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42950" y="1581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人工评分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543050" y="1571625"/>
            <a:ext cx="450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纵轴为已执行移动边数（格），满刻度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；先看到达状态，再看柱高。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2476500" y="3295650"/>
            <a:ext cx="1524000" cy="1200150"/>
          </a:xfrm>
          <a:prstGeom prst="roundRect">
            <a:avLst>
              <a:gd name="adj" fmla="val 634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3086100" y="339090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2190750" y="4572000"/>
            <a:ext cx="209550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2686050" y="467677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参与者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已到达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334000" y="2695575"/>
            <a:ext cx="1524000" cy="1800225"/>
          </a:xfrm>
          <a:prstGeom prst="roundRect">
            <a:avLst>
              <a:gd name="adj" fmla="val 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943600" y="27908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18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048250" y="4572000"/>
            <a:ext cx="209550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543550" y="467677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参与者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已到达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8191500" y="3590925"/>
            <a:ext cx="1524000" cy="904875"/>
          </a:xfrm>
          <a:prstGeom prst="roundRect">
            <a:avLst>
              <a:gd name="adj" fmla="val 842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877300" y="368617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7905750" y="4572000"/>
            <a:ext cx="2095500" cy="38100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401050" y="467677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参与者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3 ·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未到达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5067300"/>
            <a:ext cx="54102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800100" y="52197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971550" y="52959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到达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2 / 3 ≈ 66.7%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971550" y="55149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只有标「已到达」的两人进分子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172200" y="5067300"/>
            <a:ext cx="54102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6362700" y="52197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534150" y="5295900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移动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39 / 3 = 13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格／人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534150" y="5514975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三柱之和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全部计入成本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24" name="" descr="&lt;Slide notes={`四个指标的口径我一条一条写清楚。&#10;集合到达率，是窗口内首次进入集合区的人数除以三。引导员不进分母，他不是集合者。&#10;人均移动负担，是三个人在窗口内全部已执行路径的边数除以三，单位是格每人。数组里含起点，但不多计一格；重复查询不产生位移，也不计入。&#10;路线执行启动时延，是从第一次获得目标可达路线，到第一次实际朝这个目标 MOVE 之间的虚拟分钟数，可以是零。可达查询在同一个 Step 就执行的，时延记零；没有执行的，不补时间。&#10;无效请求率，是地址、目标证据或权限不合法的导航和 MOVE 拒绝数，除以全部导航和 MOVE 请求数。合法目标确实不可达要另列，不进无效的分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5　四个指标的计算口径&lt;/Text&gt;&#10;            &lt;Text style={{ fontSize: 34, fontWeight: 'bold', color: '#20344B' }}&gt;每个指标的分母是什么&lt;/Text&gt;&#10;        &lt;/Box&gt;&#10;    &lt;/Box&gt;&#10;&#10;    &lt;Box style={{ height: 540, flexDirection: 'row', justifyContent: 'center', gap: 32 }}&gt;&#10;&#10;        &lt;Box style={{ width: 360, flexDirection: 'column', justifyContent: 'center', gap: 14 }}&gt;&#10;            &lt;Text style={{ fontSize: 16, fontWeight: 'bold', color: '#20344B' }}&gt;口径先行&lt;/Text&gt;&#10;            &lt;Box style={{ width: 72, height: 4, background: '#276FBF' }} /&gt;&#10;            &lt;Text style={{ fontSize: 16, color: '#546779', lineHeight: 1.7, width: 360 }}&gt;分母写不出来，结果就不能与别的案例比较，也无法复核。&lt;/Text&gt;&#10;            &lt;Box style={{ width: 360, height: 130, background: '#ECF7F2', borderRadius: 10, padding: '14px 18px', flexDirection: 'column', gap: 6 }}&gt;&#10;                &lt;Text style={{ fontSize: 16, fontWeight: 'bold', color: '#26816B' }}&gt;引导员不入分母&lt;/Text&gt;&#10;                &lt;Text style={{ fontSize: 14, color: '#546779', lineHeight: 1.45 }}&gt;到达率与移动负担都只算三名集合者。&lt;/Text&gt;&#10;            &lt;/Box&gt;&#10;            &lt;Box style={{ width: 360, height: 130, background: '#FFF4E6', borderRadius: 10, padding: '14px 18px', flexDirection: 'column', gap: 6 }}&gt;&#10;                &lt;Text style={{ fontSize: 16, fontWeight: 'bold', color: '#CB6B28' }}&gt;不可达要另列&lt;/Text&gt;&#10;                &lt;Text style={{ fontSize: 14, color: '#546779', lineHeight: 1.45 }}&gt;合法目标确实不可达，不算参数无效，不进无效分子。&lt;/Text&gt;&#10;            &lt;/Box&gt;&#10;        &lt;/Box&gt;&#10;&#10;        &lt;Box style={{ width: 760, background: '#F4F7FA', borderRadius: 10, padding: '14px 20px', flexDirection: 'column', justifyContent: 'center', gap: 12 }}&gt;&#10;&#10;            &lt;Box style={{ flexDirection: 'row', alignItems: 'center', gap: 14, height: 26 }}&gt;&#10;                &lt;Box style={{ width: 4 }} /&gt;&#10;                &lt;Box style={{ width: 200 }}&gt;&lt;Text style={{ fontSize: 15, fontWeight: 'bold', color: '#546779' }}&gt;指标&lt;/Text&gt;&lt;/Box&gt;&#10;                &lt;Box style={{ flex: 1 }}&gt;&lt;Text style={{ fontSize: 15, fontWeight: 'bold', color: '#546779' }}&gt;口径&lt;/Text&gt;&lt;/Box&gt;&#10;            &lt;/Box&gt;&#10;&#10;            &lt;Box style={{ height: 100, background: '#FFFFFF', borderRadius: 8, flexDirection: 'row', alignItems: 'center', gap: 14, padding: '0 14px' }}&gt;&#10;                &lt;Box style={{ width: 4, height: 60, background: '#26816B' }} /&gt;&#10;                &lt;Box style={{ width: 200 }}&gt;&lt;Text style={{ fontSize: 16, fontWeight: 'bold', color: '#26816B' }}&gt;集合到达率&lt;/Text&gt;&lt;/Box&gt;&#10;                &lt;Box style={{ flex: 1 }}&gt;&lt;Text style={{ fontSize: 15, color: '#546779', lineHeight: 1.45 }}&gt;W 内首次进入集合区人数 ÷ 3；引导员不入分母&lt;/Text&gt;&lt;/Box&gt;&#10;            &lt;/Box&gt;&#10;&#10;            &lt;Box style={{ height: 100, background: '#FFFFFF', borderRadius: 8, flexDirection: 'row', alignItems: 'center', gap: 14, padding: '0 14px' }}&gt;&#10;                &lt;Box style={{ width: 4, height: 60, background: '#276FBF' }} /&gt;&#10;                &lt;Box style={{ width: 200 }}&gt;&lt;Text style={{ fontSize: 16, fontWeight: 'bold', color: '#276FBF' }}&gt;人均移动负担&lt;/Text&gt;&lt;/Box&gt;&#10;                &lt;Box style={{ flex: 1 }}&gt;&lt;Text style={{ fontSize: 15, color: '#546779', lineHeight: 1.45 }}&gt;三人 W 内全部已执行路径边数 ÷ 3，单位格／人&lt;/Text&gt;&lt;/Box&gt;&#10;            &lt;/Box&gt;&#10;&#10;            &lt;Box style={{ height: 100, background: '#FFFFFF', borderRadius: 8, flexDirection: 'row', alignItems: 'center', gap: 14, padding: '0 14px' }}&gt;&#10;                &lt;Box style={{ width: 4, height: 60, background: '#276FBF' }} /&gt;&#10;                &lt;Box style={{ width: 200 }}&gt;&lt;Text style={{ fontSize: 16, fontWeight: 'bold', color: '#276FBF' }}&gt;路线执行启动时延&lt;/Text&gt;&lt;/Box&gt;&#10;                &lt;Box style={{ flex: 1 }}&gt;&lt;Text style={{ fontSize: 15, color: '#546779', lineHeight: 1.45 }}&gt;首次获可达路线 → 首次朝该目标 MOVE，虚拟分钟，可为 0&lt;/Text&gt;&lt;/Box&gt;&#10;            &lt;/Box&gt;&#10;&#10;            &lt;Box style={{ height: 100, background: '#FFFFFF', borderRadius: 8, flexDirection: 'row', alignItems: 'center', gap: 14, padding: '0 14px' }}&gt;&#10;                &lt;Box style={{ width: 4, height: 60, background: '#CB6B28' }} /&gt;&#10;                &lt;Box style={{ width: 200 }}&gt;&lt;Text style={{ fontSize: 16, fontWeight: 'bold', color: '#CB6B28' }}&gt;无效请求率&lt;/Text&gt;&lt;/Box&gt;&#10;                &lt;Box style={{ flex: 1 }}&gt;&lt;Text style={{ fontSize: 15, color: '#546779', lineHeight: 1.45 }}&gt;地址、目标证据、权限不合法的拒绝数 ÷ 全部请求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2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四个指标的计算口径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每个指标的分母是什么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口径先行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2105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09600" y="2276475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分母写不出来，结果就不能与别的案例比较，也无法复核。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09600" y="30384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81050" y="317182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引导员不入分母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781050" y="3419475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到达率与移动负担都只算三名集合者。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09600" y="44100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不可达要另列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3086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合法目标确实不可达，不算参数无效，不进无效分子。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4343400" y="1143000"/>
            <a:ext cx="7239000" cy="5143500"/>
          </a:xfrm>
          <a:prstGeom prst="roundRect">
            <a:avLst>
              <a:gd name="adj" fmla="val 18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705350" y="149542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743700" y="149542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4533900" y="1819275"/>
            <a:ext cx="6858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4667250" y="2009775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838700" y="22002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集合到达率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877050" y="21717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W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内首次进入集合区人数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；引导员不入分母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4533900" y="2886075"/>
            <a:ext cx="6858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4667250" y="30765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838700" y="32670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人均移动负担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877050" y="32385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内全部已执行路径边数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，单位格／人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4533900" y="3952875"/>
            <a:ext cx="6858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4667250" y="41433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838700" y="43338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路线执行启动时延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877050" y="43053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首次获可达路线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首次朝该目标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，虚拟分钟，可为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4533900" y="5019675"/>
            <a:ext cx="6858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4667250" y="52101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838700" y="54006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无效请求率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877050" y="53721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地址、目标证据、权限不合法的拒绝数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全部请求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59" name="" descr="&lt;Slide notes={`把数字算一遍。&#10;三个人分别走了 12 格、18 格和 9 格，前两个人进入集合区，第三个人中途停下。到达率是 2 除以 3，大约是 66.7%；人均移动负担是 39 除以 3，等于 13 格每人。两个公式的分母都是同样三个人。&#10;请求这边，一共发生 20 次导航或 MOVE 请求，其中 2 次地址不合法，1 次是合法目标但确实不可达。&#10;无效请求率是 2 除以 20，等于 10%。那 1 次不可达要单独报出来，不能塞进无效请求的分子里，因为参数本身没有问题，是环境里的通路确实不存在。&#10;零请求的分母不适用；窗口截止还没到达的人，保留最后状态和原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5　一次人工演算&lt;/Text&gt;&#10;            &lt;Text style={{ fontSize: 34, fontWeight: 'bold', color: '#20344B' }}&gt;一次演算：2/3、13 格／人、10%&lt;/Text&gt;&#10;        &lt;/Box&gt;&#10;    &lt;/Box&gt;&#10;&#10;    &lt;Box style={{ height: 540, flexDirection: 'row', justifyContent: 'center', gap: 28 }}&gt;&#10;&#10;        &lt;Box style={{ width: 472, flexDirection: 'column', justifyContent: 'center', gap: 12 }}&gt;&#10;&#10;            &lt;Text style={{ fontSize: 16, fontWeight: 'bold', color: '#20344B' }}&gt;三个结果&lt;/Text&gt;&#10;&#10;            &lt;Box style={{ width: 472, height: 142, background: '#ECF7F2', borderRadius: 10, padding: '14px 18px', flexDirection: 'column', gap: 4 }}&gt;&#10;                &lt;Text style={{ fontSize: 26, fontWeight: 'bold', color: '#26816B' }}&gt;2 / 3 ≈ 66.7%&lt;/Text&gt;&#10;                &lt;Text style={{ fontSize: 15, color: '#546779', lineHeight: 1.45 }}&gt;集合到达率：只有已到达的两人进分子，分母始终是三人。&lt;/Text&gt;&#10;            &lt;/Box&gt;&#10;&#10;            &lt;Box style={{ width: 472, height: 142, background: '#EDF4FC', borderRadius: 10, padding: '14px 18px', flexDirection: 'column', gap: 4 }}&gt;&#10;                &lt;Text style={{ fontSize: 26, fontWeight: 'bold', color: '#276FBF' }}&gt;39 / 3 = 13 格／人&lt;/Text&gt;&#10;                &lt;Text style={{ fontSize: 15, color: '#546779', lineHeight: 1.45 }}&gt;人均移动负担：12、18、9 三人的已执行边全部计入成本。&lt;/Text&gt;&#10;            &lt;/Box&gt;&#10;&#10;            &lt;Box style={{ width: 472, height: 142, background: '#FFF4E6', borderRadius: 10, padding: '14px 18px', flexDirection: 'column', gap: 4 }}&gt;&#10;                &lt;Text style={{ fontSize: 17, fontWeight: 'bold', color: '#CB6B28' }}&gt;失败者走得短，不证明效率高&lt;/Text&gt;&#10;                &lt;Text style={{ fontSize: 15, color: '#546779', lineHeight: 1.45 }}&gt;9 格那位没有到达，短柱只说明他停得早。&lt;/Text&gt;&#10;            &lt;/Box&gt;&#10;&#10;        &lt;/Box&gt;&#10;&#10;        &lt;Box style={{ width: 652, background: '#F4F7FA', borderRadius: 10, padding: '14px 20px', flexDirection: 'column', justifyContent: 'center', gap: 12 }}&gt;&#10;&#10;            &lt;Box style={{ flexDirection: 'row', alignItems: 'center', gap: 14, height: 26 }}&gt;&#10;                &lt;Box style={{ width: 4 }} /&gt;&#10;                &lt;Box style={{ width: 220 }}&gt;&lt;Text style={{ fontSize: 15, fontWeight: 'bold', color: '#546779' }}&gt;20 次导航／MOVE 请求&lt;/Text&gt;&lt;/Box&gt;&#10;                &lt;Box style={{ flex: 1 }}&gt;&lt;Text style={{ fontSize: 15, fontWeight: 'bold', color: '#546779' }}&gt;记账方式&lt;/Text&gt;&lt;/Box&gt;&#10;            &lt;/Box&gt;&#10;&#10;            &lt;Box style={{ height: 100, background: '#FFFFFF', borderRadius: 8, flexDirection: 'row', alignItems: 'center', gap: 12, padding: '0 14px' }}&gt;&#10;                &lt;Box style={{ width: 4, height: 56, background: '#276FBF' }} /&gt;&#10;                &lt;Box style={{ width: 220 }}&gt;&lt;Text style={{ fontSize: 16, fontWeight: 'bold', color: '#276FBF' }}&gt;全部请求&lt;/Text&gt;&lt;/Box&gt;&#10;                &lt;Box style={{ flex: 1 }}&gt;&lt;Text style={{ fontSize: 15, color: '#546779', lineHeight: 1.45 }}&gt;20 次，作为无效请求率的分母&lt;/Text&gt;&lt;/Box&gt;&#10;            &lt;/Box&gt;&#10;&#10;            &lt;Box style={{ height: 100, background: '#FFFFFF', borderRadius: 8, flexDirection: 'row', alignItems: 'center', gap: 12, padding: '0 14px' }}&gt;&#10;                &lt;Box style={{ width: 4, height: 56, background: '#CB6B28' }} /&gt;&#10;                &lt;Box style={{ width: 220 }}&gt;&lt;Text style={{ fontSize: 16, fontWeight: 'bold', color: '#CB6B28' }}&gt;地址非法&lt;/Text&gt;&lt;/Box&gt;&#10;                &lt;Box style={{ flex: 1 }}&gt;&lt;Text style={{ fontSize: 15, color: '#546779', lineHeight: 1.45 }}&gt;2 次，进入无效请求的分子&lt;/Text&gt;&lt;/Box&gt;&#10;            &lt;/Box&gt;&#10;&#10;            &lt;Box style={{ height: 100, background: '#FFFFFF', borderRadius: 8, flexDirection: 'row', alignItems: 'center', gap: 12, padding: '0 14px' }}&gt;&#10;                &lt;Box style={{ width: 4, height: 56, background: '#CB6B28' }} /&gt;&#10;                &lt;Box style={{ width: 220 }}&gt;&lt;Text style={{ fontSize: 16, fontWeight: 'bold', color: '#CB6B28' }}&gt;合法目标不可达&lt;/Text&gt;&lt;/Box&gt;&#10;                &lt;Box style={{ flex: 1 }}&gt;&lt;Text style={{ fontSize: 15, color: '#546779', lineHeight: 1.45 }}&gt;1 次，另报，不进无效分子&lt;/Text&gt;&lt;/Box&gt;&#10;            &lt;/Box&gt;&#10;&#10;            &lt;Box style={{ height: 100, background: '#ECF7F2', borderRadius: 8, flexDirection: 'row', alignItems: 'center', gap: 12, padding: '0 14px' }}&gt;&#10;                &lt;Box style={{ width: 4, height: 56, background: '#26816B' }} /&gt;&#10;                &lt;Box style={{ width: 220 }}&gt;&lt;Text style={{ fontSize: 16, fontWeight: 'bold', color: '#26816B' }}&gt;无效请求率&lt;/Text&gt;&lt;/Box&gt;&#10;                &lt;Box style={{ flex: 1 }}&gt;&lt;Text style={{ fontSize: 15, color: '#546779', lineHeight: 1.45 }}&gt;2 ÷ 20 = 10%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2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一次人工演算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991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一次演算：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2/3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格／人、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10%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1419225"/>
            <a:ext cx="449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三个结果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1724025"/>
            <a:ext cx="4495800" cy="1352550"/>
          </a:xfrm>
          <a:prstGeom prst="roundRect">
            <a:avLst>
              <a:gd name="adj" fmla="val 704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4152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6816B"/>
                </a:solidFill>
                <a:latin typeface="Microsoft YaHei"/>
                <a:ea typeface="Microsoft YaHei"/>
              </a:rPr>
              <a:t>2 / 3 ≈ 66.7%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81050" y="220027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集合到达率：只有已到达的两人进分子，分母始终是三人。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9600" y="3190875"/>
            <a:ext cx="4495800" cy="1352550"/>
          </a:xfrm>
          <a:prstGeom prst="roundRect">
            <a:avLst>
              <a:gd name="adj" fmla="val 704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81050" y="3324225"/>
            <a:ext cx="4152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39 / 3 = 13 </a:t>
            </a: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格／人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人均移动负担：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三人的已执行边全部计入成本。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4657725"/>
            <a:ext cx="4495800" cy="1352550"/>
          </a:xfrm>
          <a:prstGeom prst="roundRect">
            <a:avLst>
              <a:gd name="adj" fmla="val 704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失败者走得短，不证明效率高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81050" y="502920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格那位没有到达，短柱只说明他停得早。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5372100" y="1143000"/>
            <a:ext cx="6210300" cy="5143500"/>
          </a:xfrm>
          <a:prstGeom prst="roundRect">
            <a:avLst>
              <a:gd name="adj" fmla="val 18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734050" y="149542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次导航／</a:t>
            </a: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MOVE 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请求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962900" y="14954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记账方式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5562600" y="181927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5695950" y="20288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848350" y="2200275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全部请求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058150" y="217170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次，作为无效请求率的分母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5562600" y="288607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5695950" y="30956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848350" y="3267075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地址非法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058150" y="323850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次，进入无效请求的分子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5562600" y="395287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5695950" y="41624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848350" y="4333875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合法目标不可达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058150" y="430530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次，另报，不进无效分子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5562600" y="501967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5695950" y="522922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5848350" y="5400675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无效请求率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058150" y="537210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 ÷ 20 = 10%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26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95" name="" descr="&lt;Slide notes={`最后一部分讲失败怎么归因。不是所有异常都等于 bug。&#10;我把可能出现的现象分成五层：根本没有替代通路；路存在但角色反复询问；缺少目标知识、被系统正确拒绝；已经执行的路径穿过了阻挡格；还有已经开始 MOVE 但没有到达。&#10;每一层对应的处理方式都不一样。有的属于装配不满足题目，要留证，但绝对不能改 Run 的碰撞来冒充原来那份对照；有的属于行为分析；有的属于合同边界，系统做得对，不该报错。&#10;先把现象分到正确的层，再决定接下来查什么、记录什么。分层做对了，后面的处理才不会互相干扰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⑥　　4.7.6 失败分层与练习&lt;/Text&gt;&#10;&#10;        &lt;Text style={{ fontSize: 56, fontWeight: 'bold', color: '#20344B', lineHeight: 1.15 }}&gt;不是所有异常都是 bug&lt;/Text&gt;&#10;&#10;        &lt;Box style={{ width: 72, height: 4, background: '#276FBF' }} /&gt;&#10;&#10;        &lt;Text style={{ fontSize: 18, color: '#546779', lineHeight: 1.7, width: 900 }}&gt;先分清现象属于哪一层，再决定查什么、记什么、停不停。&lt;/Text&gt;&#10;&#10;        &lt;Box style={{ flexDirection: 'row', alignItems: 'center', marginTop: 10 }}&gt;&#10;            &lt;Box style={{ width: 190, height: 64, background: '#FFF4E6', borderRadius: 10, justifyContent: 'center', alignItems: 'center' }}&gt;&#10;                &lt;Text style={{ fontSize: 14, color: '#CB6B28' }}&gt;根本没有替代通路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190, height: 64, background: '#EDF4FC', borderRadius: 10, justifyContent: 'center', alignItems: 'center' }}&gt;&#10;                &lt;Text style={{ fontSize: 14, color: '#276FBF' }}&gt;路存在但反复询问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190, height: 64, background: '#ECF7F2', borderRadius: 10, justifyContent: 'center', alignItems: 'center' }}&gt;&#10;                &lt;Text style={{ fontSize: 14, color: '#26816B' }}&gt;缺目标知识被拒绝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190, height: 64, background: '#FFF4E6', borderRadius: 10, justifyContent: 'center', alignItems: 'center' }}&gt;&#10;                &lt;Text style={{ fontSize: 14, color: '#CB6B28' }}&gt;已执行路径穿阻挡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190, height: 64, background: '#EDF4FC', borderRadius: 10, justifyContent: 'center', alignItems: 'center' }}&gt;&#10;                &lt;Text style={{ fontSize: 14, color: '#276FBF' }}&gt;开始 MOVE 未到达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2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⑥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4.7.6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失败分层与练习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不是所有异常都是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bug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先分清现象属于哪一层，再决定查什么、记什么、停不停。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09600" y="40576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81075" y="42862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根本没有替代通路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25908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2838450" y="40576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209925" y="42862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路存在但反复询问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8196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5067300" y="40576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438775" y="42862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缺目标知识被拒绝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04850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296150" y="40576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667625" y="42862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已执行路径穿阻挡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92773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9525000" y="40576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858375" y="42862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开始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未到达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17" name="" descr="&lt;Slide notes={`五种现象，对应五种处理方式。&#10;根本没有替代通路，属于装配不满足题目。这时候要留证据，但绝对不能改 Run 的碰撞去冒充原来那份对照，那会把整组数据变成假的。&#10;路存在而角色反复询问，要去看他的行为和调用预算，这属于行为层面的分析。缺少目标知识、被系统正确拒绝，这是合同边界，系统做得对，不该自动报成 bug。&#10;已经执行的路径穿过了阻挡格，要核对事实，按项目规则停止验收并报告。开始了 MOVE 但没有到达，要去查实际路程、剩余路径和观察窗口，这和「从未启动」是两回事。&#10;另外，两组全到达也是有效结果，可以用路程解释代价，但不能事后换指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6　五种现象与对应处理&lt;/Text&gt;&#10;            &lt;Text style={{ fontSize: 34, fontWeight: 'bold', color: '#20344B' }}&gt;五种现象，五种归因&lt;/Text&gt;&#10;        &lt;/Box&gt;&#10;    &lt;/Box&gt;&#10;&#10;    &lt;Box style={{ height: 540, flexDirection: 'row', justifyContent: 'center', gap: 28 }}&gt;&#10;&#10;        &lt;Box style={{ width: 700, background: '#F4F7FA', borderRadius: 10, padding: '14px 20px', flexDirection: 'column', justifyContent: 'center', gap: 10 }}&gt;&#10;&#10;            &lt;Box style={{ flexDirection: 'row', alignItems: 'center', gap: 12, height: 26 }}&gt;&#10;                &lt;Box style={{ width: 4 }} /&gt;&#10;                &lt;Box style={{ width: 200 }}&gt;&lt;Text style={{ fontSize: 15, fontWeight: 'bold', color: '#546779' }}&gt;观察到的现象&lt;/Text&gt;&lt;/Box&gt;&#10;                &lt;Box style={{ flex: 1 }}&gt;&lt;Text style={{ fontSize: 15, fontWeight: 'bold', color: '#546779' }}&gt;解释与处理&lt;/Text&gt;&lt;/Box&gt;&#10;            &lt;/Box&gt;&#10;&#10;            &lt;Box style={{ height: 82, background: '#FFFFFF', borderRadius: 8, flexDirection: 'row', alignItems: 'center', gap: 12, padding: '0 14px' }}&gt;&#10;                &lt;Box style={{ width: 4, height: 46, background: '#CB6B28' }} /&gt;&#10;                &lt;Box style={{ width: 200 }}&gt;&lt;Text style={{ fontSize: 15, fontWeight: 'bold', color: '#CB6B28' }}&gt;根本没有替代通路&lt;/Text&gt;&lt;/Box&gt;&#10;                &lt;Box style={{ flex: 1 }}&gt;&lt;Text style={{ fontSize: 15, color: '#546779', lineHeight: 1.4 }}&gt;装配不满足题目，留证；不改 Run 碰撞冒充原对照&lt;/Text&gt;&lt;/Box&gt;&#10;            &lt;/Box&gt;&#10;&#10;            &lt;Box style={{ height: 82, background: '#FFFFFF', borderRadius: 8, flexDirection: 'row', alignItems: 'center', gap: 12, padding: '0 14px' }}&gt;&#10;                &lt;Box style={{ width: 4, height: 46, background: '#276FBF' }} /&gt;&#10;                &lt;Box style={{ width: 200 }}&gt;&lt;Text style={{ fontSize: 15, fontWeight: 'bold', color: '#276FBF' }}&gt;路存在但反复询问&lt;/Text&gt;&lt;/Box&gt;&#10;                &lt;Box style={{ flex: 1 }}&gt;&lt;Text style={{ fontSize: 15, color: '#546779', lineHeight: 1.4 }}&gt;分析角色行为与调用预算，不是环境缺陷&lt;/Text&gt;&lt;/Box&gt;&#10;            &lt;/Box&gt;&#10;&#10;            &lt;Box style={{ height: 82, background: '#FFFFFF', borderRadius: 8, flexDirection: 'row', alignItems: 'center', gap: 12, padding: '0 14px' }}&gt;&#10;                &lt;Box style={{ width: 4, height: 46, background: '#26816B' }} /&gt;&#10;                &lt;Box style={{ width: 200 }}&gt;&lt;Text style={{ fontSize: 15, fontWeight: 'bold', color: '#26816B' }}&gt;缺目标知识被正确拒绝&lt;/Text&gt;&lt;/Box&gt;&#10;                &lt;Box style={{ flex: 1 }}&gt;&lt;Text style={{ fontSize: 15, color: '#546779', lineHeight: 1.4 }}&gt;合同边界，系统行为正确，不自动报 bug&lt;/Text&gt;&lt;/Box&gt;&#10;            &lt;/Box&gt;&#10;&#10;            &lt;Box style={{ height: 82, background: '#FFF4E6', borderRadius: 8, flexDirection: 'row', alignItems: 'center', gap: 12, padding: '0 14px' }}&gt;&#10;                &lt;Box style={{ width: 4, height: 46, background: '#CB6B28' }} /&gt;&#10;                &lt;Box style={{ width: 200 }}&gt;&lt;Text style={{ fontSize: 15, fontWeight: 'bold', color: '#CB6B28' }}&gt;已执行路径穿阻挡格&lt;/Text&gt;&lt;/Box&gt;&#10;                &lt;Box style={{ flex: 1 }}&gt;&lt;Text style={{ fontSize: 15, color: '#546779', lineHeight: 1.4 }}&gt;核对事实，按项目规则停止验收并报告&lt;/Text&gt;&lt;/Box&gt;&#10;            &lt;/Box&gt;&#10;&#10;            &lt;Box style={{ height: 82, background: '#FFFFFF', borderRadius: 8, flexDirection: 'row', alignItems: 'center', gap: 12, padding: '0 14px' }}&gt;&#10;                &lt;Box style={{ width: 4, height: 46, background: '#546779' }} /&gt;&#10;                &lt;Box style={{ width: 200 }}&gt;&lt;Text style={{ fontSize: 15, fontWeight: 'bold', color: '#546779' }}&gt;开始 MOVE 但未到达&lt;/Text&gt;&lt;/Box&gt;&#10;                &lt;Box style={{ flex: 1 }}&gt;&lt;Text style={{ fontSize: 15, color: '#546779', lineHeight: 1.4 }}&gt;查实际路程、剩余路径与窗口，区别于未启动&lt;/Text&gt;&lt;/Box&gt;&#10;            &lt;/Box&gt;&#10;&#10;        &lt;/Box&gt;&#10;&#10;        &lt;Box style={{ width: 424, flexDirection: 'column', justifyContent: 'center', gap: 12 }}&gt;&#10;&#10;            &lt;Text style={{ fontSize: 16, fontWeight: 'bold', color: '#20344B' }}&gt;结果边界&lt;/Text&gt;&#10;&#10;            &lt;Box style={{ width: 424, height: 150, background: '#ECF7F2', borderRadius: 10, padding: '14px 18px', flexDirection: 'column', gap: 6 }}&gt;&#10;                &lt;Text style={{ fontSize: 17, fontWeight: 'bold', color: '#26816B' }}&gt;两组全到达也有效&lt;/Text&gt;&#10;                &lt;Text style={{ fontSize: 14, color: '#546779', lineHeight: 1.5 }}&gt;可以用路程解释代价；没有差异本身就是一个需要解释的结果。&lt;/Text&gt;&#10;            &lt;/Box&gt;&#10;&#10;            &lt;Box style={{ width: 424, height: 150, background: '#FFF4E6', borderRadius: 10, padding: '14px 18px', flexDirection: 'column', gap: 6 }}&gt;&#10;                &lt;Text style={{ fontSize: 17, fontWeight: 'bold', color: '#CB6B28' }}&gt;不得事后换指标&lt;/Text&gt;&#10;                &lt;Text style={{ fontSize: 14, color: '#546779', lineHeight: 1.5 }}&gt;也不得删掉不按预想走的人。预登记的判分口径要一直用到底。&lt;/Text&gt;&#10;            &lt;/Box&gt;&#10;&#10;            &lt;Box style={{ width: 424, height: 150, background: '#F4F7FA', borderRadius: 10, padding: '14px 18px', flexDirection: 'column', gap: 6 }}&gt;&#10;                &lt;Text style={{ fontSize: 17, fontWeight: 'bold', color: '#546779' }}&gt;此案无疏散模型&lt;/Text&gt;&#10;                &lt;Text style={{ fontSize: 14, color: '#546779', lineHeight: 1.5 }}&gt;没有现实疏散、容量或物理运动模型，不能据此推断场地安全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2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五种现象与对应处理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五种现象，五种归因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1143000"/>
            <a:ext cx="6667500" cy="5143500"/>
          </a:xfrm>
          <a:prstGeom prst="roundRect">
            <a:avLst>
              <a:gd name="adj" fmla="val 18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952500" y="14382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观察到的现象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2971800" y="14382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解释与处理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800100" y="1743075"/>
            <a:ext cx="6286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933450" y="191452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085850" y="20478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根本没有替代通路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105150" y="200977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装配不满足题目，留证；不改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碰撞冒充原对照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800100" y="2619375"/>
            <a:ext cx="6286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933450" y="279082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085850" y="29241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路存在但反复询问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105150" y="288607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分析角色行为与调用预算，不是环境缺陷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800100" y="3495675"/>
            <a:ext cx="6286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933450" y="3667125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85850" y="38004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缺目标知识被正确拒绝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3105150" y="376237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合同边界，系统行为正确，不自动报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bug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800100" y="4371975"/>
            <a:ext cx="6286500" cy="781050"/>
          </a:xfrm>
          <a:prstGeom prst="roundRect">
            <a:avLst>
              <a:gd name="adj" fmla="val 97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933450" y="454342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085850" y="46767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已执行路径穿阻挡格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3105150" y="463867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核对事实，按项目规则停止验收并报告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800100" y="5248275"/>
            <a:ext cx="6286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933450" y="5419725"/>
            <a:ext cx="38100" cy="43815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1085850" y="55530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但未到达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3105150" y="5514975"/>
            <a:ext cx="38481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查实际路程、剩余路径与窗口，区别于未启动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543800" y="130492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结果边界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7543800" y="1609725"/>
            <a:ext cx="40386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715250" y="1743075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两组全到达也有效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715250" y="2000250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可以用路程解释代价；没有差异本身就是一个需要解释的结果。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7543800" y="3152775"/>
            <a:ext cx="40386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715250" y="3286125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不得事后换指标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715250" y="3543300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也不得删掉不按预想走的人。预登记的判分口径要一直用到底。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7543800" y="4695825"/>
            <a:ext cx="40386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715250" y="4829175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此案无疏散模型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715250" y="5086350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没有现实疏散、容量或物理运动模型，不能据此推断场地安全。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57" name="" descr="&lt;Slide notes={`最后留一个练习：解释「关闭之后，导航直接返回可达路线」为什么是正确的行为。&#10;答案的关键在于，环境里确实存在一条绕行路线，而且角色的目标没有变化。这时候返回可达并直接开始移动，是符合事实的选择；如果硬要让它先失败一次，反而往系统里塞了一个现实中不存在的障碍。&#10;如果你要研究「提前通知」会不会改变结果，那应该另外建一份同样的关闭图，只改通知策略，别把两个因素混在一组里。&#10;如果你把目标改成确实不可达，那就是另一个问题，正确拒绝要作为预期结果写进计划，而不是当成错误来修。把问题定义清楚，后面的判分才站得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.6　练习与延伸问题&lt;/Text&gt;&#10;            &lt;Text style={{ fontSize: 34, fontWeight: 'bold', color: '#20344B' }}&gt;练习：为什么「直接返回可达」是对的&lt;/Text&gt;&#10;        &lt;/Box&gt;&#10;    &lt;/Box&gt;&#10;&#10;    &lt;Box style={{ height: 540, flexDirection: 'row', justifyContent: 'center', gap: 32 }}&gt;&#10;&#10;        &lt;Box style={{ width: 360, flexDirection: 'column', justifyContent: 'center', gap: 14 }}&gt;&#10;            &lt;Text style={{ fontSize: 16, fontWeight: 'bold', color: '#20344B' }}&gt;问题的关键&lt;/Text&gt;&#10;            &lt;Box style={{ width: 72, height: 4, background: '#276FBF' }} /&gt;&#10;            &lt;Text style={{ fontSize: 16, color: '#546779', lineHeight: 1.75, width: 360 }}&gt;环境里确实存在绕行路线，角色的目标也没有改变。&lt;/Text&gt;&#10;            &lt;Box style={{ width: 360, height: 140, background: '#ECF7F2', borderRadius: 10, padding: '14px 18px', flexDirection: 'column', gap: 6 }}&gt;&#10;                &lt;Text style={{ fontSize: 16, fontWeight: 'bold', color: '#26816B' }}&gt;返回可达并直接开始移动&lt;/Text&gt;&#10;                &lt;Text style={{ fontSize: 14, color: '#546779', lineHeight: 1.45 }}&gt;这符合事实；硬要它先失败一次，等于往系统里塞进一个现实中不存在的障碍。&lt;/Text&gt;&#10;            &lt;/Box&gt;&#10;        &lt;/Box&gt;&#10;&#10;        &lt;Box style={{ width: 760, flexDirection: 'column', justifyContent: 'center', gap: 14 }}&gt;&#10;&#10;            &lt;Box style={{ width: 760, height: 140, background: '#EDF4FC', borderRadius: 10, padding: '16px 20px', flexDirection: 'row', alignItems: 'center', gap: 18 }}&gt;&#10;                &lt;Box style={{ width: 4, height: 84, background: '#276FBF' }} /&gt;&#10;                &lt;Box style={{ flex: 1, flexDirection: 'column', gap: 4 }}&gt;&#10;                    &lt;Text style={{ fontSize: 17, fontWeight: 'bold', color: '#276FBF' }}&gt;研究提前通知，就另建一份实验&lt;/Text&gt;&#10;                    &lt;Text style={{ fontSize: 15, color: '#546779', lineHeight: 1.5 }}&gt;保持同一张关闭图，只改通知策略。不要把「关闭」和「通知」两个因素放进同一组。&lt;/Text&gt;&#10;                &lt;/Box&gt;&#10;            &lt;/Box&gt;&#10;&#10;            &lt;Box style={{ width: 760, height: 140, background: '#FFF4E6', borderRadius: 10, padding: '16px 20px', flexDirection: 'row', alignItems: 'center', gap: 18 }}&gt;&#10;                &lt;Box style={{ width: 4, height: 84, background: '#CB6B28' }} /&gt;&#10;                &lt;Box style={{ flex: 1, flexDirection: 'column', gap: 4 }}&gt;&#10;                    &lt;Text style={{ fontSize: 17, fontWeight: 'bold', color: '#CB6B28' }}&gt;改成确实不可达，就另定问题&lt;/Text&gt;&#10;                    &lt;Text style={{ fontSize: 15, color: '#546779', lineHeight: 1.5 }}&gt;把正确拒绝写成预期结果，而不是把它当成一个需要修掉的错误。&lt;/Text&gt;&#10;                &lt;/Box&gt;&#10;            &lt;/Box&gt;&#10;&#10;            &lt;Box style={{ width: 760, height: 140, background: '#F4F7FA', borderRadius: 10, padding: '16px 20px', flexDirection: 'row', alignItems: 'center', gap: 18 }}&gt;&#10;                &lt;Box style={{ width: 4, height: 84, background: '#546779' }} /&gt;&#10;                &lt;Box style={{ flex: 1, flexDirection: 'column', gap: 4 }}&gt;&#10;                    &lt;Text style={{ fontSize: 17, fontWeight: 'bold', color: '#546779' }}&gt;本教案是虚构的&lt;/Text&gt;&#10;                    &lt;Text style={{ fontSize: 15, color: '#546779', lineHeight: 1.5 }}&gt;尚未创建地图、实验或 Run；这里给出的是设计方法，不是任何实测结论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2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练习与延伸问题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练习：为什么「直接返回可达」是对的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问题的关键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09600" y="2733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09600" y="2905125"/>
            <a:ext cx="3429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环境里确实存在绕行路线，角色的目标也没有改变。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3686175"/>
            <a:ext cx="34290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返回可达并直接开始移动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3086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这符合事实；硬要它先失败一次，等于往系统里塞进一个现实中不存在的障碍。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4343400" y="1581150"/>
            <a:ext cx="72390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4533900" y="1847850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743450" y="20002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研究提前通知，就另建一份实验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4743450" y="2238375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保持同一张关闭图，只改通知策略。不要把「关闭」和「通知」两个因素放进同一组。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4343400" y="3048000"/>
            <a:ext cx="72390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4533900" y="3314700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4743450" y="346710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改成确实不可达，就另定问题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4743450" y="3705225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把正确拒绝写成预期结果，而不是把它当成一个需要修掉的错误。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4343400" y="4514850"/>
            <a:ext cx="72390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4533900" y="4781550"/>
            <a:ext cx="38100" cy="8001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4743450" y="4933950"/>
            <a:ext cx="664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本教案是虚构的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4743450" y="5172075"/>
            <a:ext cx="6648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尚未创建地图、实验或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；这里给出的是设计方法，不是任何实测结论。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82" name="" descr="&lt;Slide notes={`把这一节压缩成三句话。&#10;第一句：干预要能被隔离。两套布局之间只允许差那一个碰撞格，其他条件全部写下来，否则结果无法归因。&#10;第二句：到达按提交事实判。动作被接受只说明选择合法，只有实际坐标提交进集合区，那个人才算走到了。准备动作是补充，不是必要条件。&#10;第三句：失败先分层，再处理。没有替代通路、反复询问、被正确拒绝、路径穿阻挡、启动未到达，是五件不同的事，处理方法也不一样。&#10;把这三句话记住，你就可以拿同一套方法去设计自己的空间对照实验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7 场地临时关闭演练&lt;/Text&gt;&#10;            &lt;Text style={{ fontSize: 34, fontWeight: 'bold', color: '#20344B' }}&gt;收束&lt;/Text&gt;&#10;        &lt;/Box&gt;&#10;    &lt;/Box&gt;&#10;&#10;    &lt;Box style={{ height: 540, flexDirection: 'column', justifyContent: 'center', gap: 20 }}&gt;&#10;&#10;        &lt;Text style={{ fontSize: 48, fontWeight: 'bold', color: '#20344B', lineHeight: 1.15 }}&gt;记住三件事&lt;/Text&gt;&#10;&#10;        &lt;Box style={{ width: 72, height: 4, background: '#276FBF' }} /&gt;&#10;&#10;        &lt;Box style={{ flexDirection: 'row', gap: 36 }}&gt;&#10;&#10;            &lt;Box style={{ width: 356, height: 210, background: '#EDF4FC', borderRadius: 12, padding: '20px 22px', flexDirection: 'column', gap: 8 }}&gt;&#10;                &lt;Text style={{ fontSize: 40, fontWeight: 'bold', color: '#276FBF', lineHeight: 1.0 }}&gt;1&lt;/Text&gt;&#10;                &lt;Text style={{ fontSize: 20, fontWeight: 'bold', color: '#20344B' }}&gt;干预要能被隔离&lt;/Text&gt;&#10;                &lt;Text style={{ fontSize: 14, color: '#546779', lineHeight: 1.5 }}&gt;两套布局之间只允许差那一个碰撞格，其余条件全部写下来。&lt;/Text&gt;&#10;            &lt;/Box&gt;&#10;&#10;            &lt;Box style={{ width: 356, height: 210, background: '#ECF7F2', borderRadius: 12, padding: '20px 22px', flexDirection: 'column', gap: 8 }}&gt;&#10;                &lt;Text style={{ fontSize: 40, fontWeight: 'bold', color: '#26816B', lineHeight: 1.0 }}&gt;2&lt;/Text&gt;&#10;                &lt;Text style={{ fontSize: 20, fontWeight: 'bold', color: '#20344B' }}&gt;到达按提交事实判&lt;/Text&gt;&#10;                &lt;Text style={{ fontSize: 14, color: '#546779', lineHeight: 1.5 }}&gt;动作被接受只说明选择合法；实际坐标进入集合区才算走到。&lt;/Text&gt;&#10;            &lt;/Box&gt;&#10;&#10;            &lt;Box style={{ width: 356, height: 210, background: '#FFF4E6', borderRadius: 12, padding: '20px 22px', flexDirection: 'column', gap: 8 }}&gt;&#10;                &lt;Text style={{ fontSize: 40, fontWeight: 'bold', color: '#CB6B28', lineHeight: 1.0 }}&gt;3&lt;/Text&gt;&#10;                &lt;Text style={{ fontSize: 20, fontWeight: 'bold', color: '#20344B' }}&gt;失败先分层再处理&lt;/Text&gt;&#10;                &lt;Text style={{ fontSize: 14, color: '#546779', lineHeight: 1.5 }}&gt;五种现象对应五种原因，不是每一种都算 bug。&lt;/Text&gt;&#10;            &lt;/Box&gt;&#10;&#10;        &lt;/Box&gt;&#10;&#10;        &lt;Text style={{ fontSize: 15, color: '#546779' }}&gt;同一个目标，两种可走条件：只封一个缺口，答案在提交的事实里。&lt;/Text&gt;&#10;&#10;    &lt;/Box&gt;&#10;&#10;    &lt;Box style={{ height: 40, flexDirection: 'row', justifyContent: 'space-between', alignItems: 'center' }}&gt;&#10;        &lt;Text style={{ fontSize: 14, color: '#546779' }}&gt;4.7 场地临时关闭演练&lt;/Text&gt;&#10;        &lt;Text style={{ fontSize: 14, color: '#546779' }}&gt;2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收束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10972800" cy="638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6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28384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609600" y="3067050"/>
            <a:ext cx="3390900" cy="2000250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19150" y="3257550"/>
            <a:ext cx="2971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19150" y="37909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干预要能被隔离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19150" y="4095750"/>
            <a:ext cx="2971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两套布局之间只允许差那一个碰撞格，其余条件全部写下来。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4343400" y="3067050"/>
            <a:ext cx="3390900" cy="2000250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4552950" y="3257550"/>
            <a:ext cx="2971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4552950" y="37909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到达按提交事实判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552950" y="4095750"/>
            <a:ext cx="2971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动作被接受只说明选择合法；实际坐标进入集合区才算走到。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8077200" y="3067050"/>
            <a:ext cx="3390900" cy="2000250"/>
          </a:xfrm>
          <a:prstGeom prst="roundRect">
            <a:avLst>
              <a:gd name="adj" fmla="val 57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286750" y="3257550"/>
            <a:ext cx="2971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B6B2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286750" y="37909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失败先分层再处理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8286750" y="4095750"/>
            <a:ext cx="297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五种现象对应五种原因，不是每一种都算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525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同一个目标，两种可走条件：只封一个缺口，答案在提交的事实里。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2026-09-29T09:53:39Z</dcterms:created>
  <dcterms:modified xsi:type="dcterms:W3CDTF">2026-09-29T09:53:39Z</dcterms:modified>
</cp:coreProperties>
</file>