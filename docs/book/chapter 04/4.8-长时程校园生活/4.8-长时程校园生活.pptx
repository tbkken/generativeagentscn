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2.xml" ContentType="application/vnd.openxmlformats-officedocument.presentationml.slide+xml"/>
  <Override PartName="/ppt/slides/slide7.xml" ContentType="application/vnd.openxmlformats-officedocument.presentationml.slide+xml"/>
  <Override PartName="/ppt/slides/slide27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6.xml" ContentType="application/vnd.openxmlformats-officedocument.presentationml.slide+xml"/>
  <Override PartName="/ppt/slides/slide6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8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31" Type="http://schemas.openxmlformats.org/officeDocument/2006/relationships/viewProps" Target="viewProps.xml" /><Relationship Id="rId15" Type="http://schemas.openxmlformats.org/officeDocument/2006/relationships/slide" Target="slides/slide15.xml" /><Relationship Id="rId0" Type="http://schemas.openxmlformats.org/officeDocument/2006/relationships/slideMaster" Target="slideMasters/slideMaster1.xml" /><Relationship Id="rId3" Type="http://schemas.openxmlformats.org/officeDocument/2006/relationships/slide" Target="slides/slide3.xml" /><Relationship Id="rId11" Type="http://schemas.openxmlformats.org/officeDocument/2006/relationships/slide" Target="slides/slide1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2" Type="http://schemas.openxmlformats.org/officeDocument/2006/relationships/slide" Target="slides/slide12.xml" /><Relationship Id="rId9" Type="http://schemas.openxmlformats.org/officeDocument/2006/relationships/slide" Target="slides/slide9.xml" /><Relationship Id="rId13" Type="http://schemas.openxmlformats.org/officeDocument/2006/relationships/slide" Target="slides/slide13.xml" /><Relationship Id="rId23" Type="http://schemas.openxmlformats.org/officeDocument/2006/relationships/slide" Target="slides/slide23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28" Type="http://schemas.openxmlformats.org/officeDocument/2006/relationships/notesMaster" Target="notesMasters/notesMaster1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6" Type="http://schemas.openxmlformats.org/officeDocument/2006/relationships/slide" Target="slides/slide6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4" Type="http://schemas.openxmlformats.org/officeDocument/2006/relationships/slide" Target="slides/slide24.xml" /><Relationship Id="rId25" Type="http://schemas.openxmlformats.org/officeDocument/2006/relationships/slide" Target="slides/slide25.xml" /><Relationship Id="rId26" Type="http://schemas.openxmlformats.org/officeDocument/2006/relationships/slide" Target="slides/slide26.xml" /><Relationship Id="rId8" Type="http://schemas.openxmlformats.org/officeDocument/2006/relationships/slide" Target="slides/slide8.xml" /><Relationship Id="rId27" Type="http://schemas.openxmlformats.org/officeDocument/2006/relationships/slide" Target="slides/slide27.xml" /><Relationship Id="rId29" Type="http://schemas.openxmlformats.org/officeDocument/2006/relationships/presProps" Target="presProps.xml" /><Relationship Id="rId30" Type="http://schemas.openxmlformats.org/officeDocument/2006/relationships/tableStyles" Target="tableStyles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7" Type="http://schemas.openxmlformats.org/officeDocument/2006/relationships/slide" Target="slides/slide7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先说清楚这一节要回答什么问题。昨日已经办完的事，第二天会不会被重新做一遍？一个人答应别人的事，跨过午夜以后还算不算数？到了第二天做的总结，会不会把还等着确认的事写成已经完成？这三种毛病看着琐碎，却正好是长时程运行最典型的问题。</a:t>
            </a:r>
          </a:p>
          <a:p>
            <a:r>
              <a:rPr lang="zh-CN" dirty="0"/>
              <a:t>我用的场景是虚构的白榆校园开放学习周：三名学习者在居住、阅览、讨论和公共休息四个相邻区域里活动，不模拟课程、饥饿或者疲劳。我要比较的不是谁跑得更久，而是逐项进度和额外的跨日整理这两种记忆组织方式，各会带来什么收益、又要付出什么代价。</a:t>
            </a:r>
          </a:p>
          <a:p>
            <a:r>
              <a:rPr lang="zh-CN" dirty="0"/>
              <a:t>跑得久，不等于更聪明。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这一节我打算按四步走。</a:t>
            </a:r>
          </a:p>
          <a:p>
            <a:r>
              <a:rPr lang="zh-CN" dirty="0"/>
              <a:t>第一步先把事项的身份分清：一次性任务、周期活动、自愿承诺，这三类东西的“结束”和“重复”含义完全不同，混在一起就没办法判断昨天办完的事今天要不要再办。</a:t>
            </a:r>
          </a:p>
          <a:p>
            <a:r>
              <a:rPr lang="zh-CN" dirty="0"/>
              <a:t>第二步把时间账算清楚：起点定在十月十九日早上八点，步长十分钟，那么跑满二十四小时到底是第几步，跨过午夜又意味着什么。</a:t>
            </a:r>
          </a:p>
          <a:p>
            <a:r>
              <a:rPr lang="zh-CN" dirty="0"/>
              <a:t>第三步是唯一改动的地方：对照这一组在第一次发现当地日期变化、而当天还没有成功整理的时候，额外调用一次事实整理子技能，其余条件两组完全一样。</a:t>
            </a:r>
          </a:p>
          <a:p>
            <a:r>
              <a:rPr lang="zh-CN" dirty="0"/>
              <a:t>第四步看账怎么算：四个指标的分子分母从哪里来，人工判分算出的百分之四十、百分之百和百分之七十五分别说明什么，以及预算为什么要在开跑之前先定好。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先解决一个前提问题：什么算同一件事。</a:t>
            </a:r>
          </a:p>
          <a:p>
            <a:r>
              <a:rPr lang="zh-CN" dirty="0"/>
              <a:t>在这套设置里，World 是白榆校园，往下是学习生活区，再分成居住、阅览、讨论和公共休息四个相邻区域。三名学习者唐悠、顾澄和罗予各有一件自己的任务，休息区只有一个咨询台。这里没有课程表，也没有饥饿和疲劳的物理模型，休息和学习都是活动语义，不是生理需求。</a:t>
            </a:r>
          </a:p>
          <a:p>
            <a:r>
              <a:rPr lang="zh-CN" dirty="0"/>
              <a:t>我要先把三件不同性质的事分开：一次性任务是办完就该结束的；周期活动每天都是新的一次，昨天晨读不代表今天晨读已完成；自愿承诺更复杂，得先有人邀请、再有本人明确接受，才算立起一条承诺。</a:t>
            </a:r>
          </a:p>
          <a:p>
            <a:r>
              <a:rPr lang="zh-CN" dirty="0"/>
              <a:t>身份没分清，后面所有关于“有没有重复”“有没有丢”的判断都会错位。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三类事项各自要办成什么、留下什么证据，差别很大。</a:t>
            </a:r>
          </a:p>
          <a:p>
            <a:r>
              <a:rPr lang="zh-CN" dirty="0"/>
              <a:t>一次性任务有三件：唐悠去咨询台核对阅览区约定，再准确转述给顾澄；顾澄提交一次观摩报名意向；罗予核对讨论室使用说明，再转述给唐悠。前两件的证据不同：唐悠那件要有真实回复、转述和顾澄的相关回应；顾澄那件只要对方确认接收，只能证明意向被收到，不是报名成功。</a:t>
            </a:r>
          </a:p>
          <a:p>
            <a:r>
              <a:rPr lang="zh-CN" dirty="0"/>
              <a:t>周期活动是每天九点到十点倾向晨读、晚八点到八点半倾向晚间整理，靠活动名加当地日期识别，不是内核强制的作息。</a:t>
            </a:r>
          </a:p>
          <a:p>
            <a:r>
              <a:rPr lang="zh-CN" dirty="0"/>
              <a:t>自愿承诺是唐悠邀请顾澄十月十九日十六点在阅览区交流笔记；如果顾澄没明确承诺自己的行动，邀请不会自动变成承诺。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承诺这件事最容易记错，我把它单独拿出来说。</a:t>
            </a:r>
          </a:p>
          <a:p>
            <a:r>
              <a:rPr lang="zh-CN" dirty="0"/>
              <a:t>一条承诺按三样东西识别：承诺者、内容、完整的截止时间。唐悠邀请顾澄最晚十月十九日下午四点、东八区，在阅览区开始笔记交流——这是一次邀请，不是承诺。邀请不等于接受，也不会自动给邀请者加一条承诺：唐悠提出邀请，不因此多出一条“唐悠必须去”的承诺。</a:t>
            </a:r>
          </a:p>
          <a:p>
            <a:r>
              <a:rPr lang="zh-CN" dirty="0"/>
              <a:t>只有当顾澄明确承诺自己的行动之后，才有属于顾澄的那一条承诺。如果两个人都明确表态，才计两条。</a:t>
            </a:r>
          </a:p>
          <a:p>
            <a:r>
              <a:rPr lang="zh-CN" dirty="0"/>
              <a:t>兑现也有硬标准：本人要实际到阅览区，并且在截止之前或者当时，向约定的对象说出实质的笔记内容。只是到场、或者自己声称“我们交流过了”，都不算兑现。这条标准写得这么细，是为了让判分不依赖谁的主观感受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接下来把信息边界立好，这一步决定了实验有没有意义。</a:t>
            </a:r>
          </a:p>
          <a:p>
            <a:r>
              <a:rPr lang="zh-CN" dirty="0"/>
              <a:t>休息区那个咨询台手里只有三条固定资料：阅览区要安静，可以交流的地方是讨论区；报名只记本周的意向；讨论室使用之前要先确认当前的说明。它没有真实的座位、库存，也没有报名锁，所以它给出的是一段文字说明，不是一次真实的资源占用。</a:t>
            </a:r>
          </a:p>
          <a:p>
            <a:r>
              <a:rPr lang="zh-CN" dirty="0"/>
              <a:t>另一个关键是初始目标：只把各自的任务放进各自手里，不共享全部答案，也不公开别人的进度。如果一上来每个人都知道该找谁、谁办到哪一步，那后面观察到的“重复执行”和“遗漏”就都不是自然发生的了。</a:t>
            </a:r>
          </a:p>
          <a:p>
            <a:r>
              <a:rPr lang="zh-CN" dirty="0"/>
              <a:t>这两条合起来，才让“昨天办完的事今天会不会重做”变成一个可以观察的问题，而不是我提前写好的答案。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长跑之前必须先把时间算清楚，否则连“跑够了没有”都说不清。</a:t>
            </a:r>
          </a:p>
          <a:p>
            <a:r>
              <a:rPr lang="zh-CN" dirty="0"/>
              <a:t>起点是十月十九日早上八点，东八区，每步十分钟；第 k 步就是起点加上 k 减一乘十分钟。十九日十六点是顾澄承诺的截止，前提是他真的接受了邀请。到二十日零点，当地日期变化，这是唯一的跨日节点。</a:t>
            </a:r>
          </a:p>
          <a:p>
            <a:r>
              <a:rPr lang="zh-CN" dirty="0"/>
              <a:t>跑满二十四小时，最后一步是第一百四十五步，落在二十日八点。要注意，一百四十四步只到七点五十分，差十分钟就不是满二十四小时；四十八小时对应二百八十九步。</a:t>
            </a:r>
          </a:p>
          <a:p>
            <a:r>
              <a:rPr lang="zh-CN" dirty="0"/>
              <a:t>罗予承诺的二十日八点半已在窗口之外，仍待履行，不能判逾期。窗口含末端提交，但不倒填端点之后才收到的回复。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窗口要跑多少步，是可以精确算出来的，而这里最容易差一步。</a:t>
            </a:r>
          </a:p>
          <a:p>
            <a:r>
              <a:rPr lang="zh-CN" dirty="0"/>
              <a:t>十月十九日早上八点起步，十分钟一步，跑满二十四小时，最后一步是第一百四十五步，落在二十日早上八点整。很多人算成一百四十四步，那是把起点那一步漏掉了；一百四十四步只走到七点五十分，还差十分钟才满二十四小时。</a:t>
            </a:r>
          </a:p>
          <a:p>
            <a:r>
              <a:rPr lang="zh-CN" dirty="0"/>
              <a:t>四十八小时同理：二百八十九步走到二十一日八点，二百八十八步只到七点五十分。</a:t>
            </a:r>
          </a:p>
          <a:p>
            <a:r>
              <a:rPr lang="zh-CN" dirty="0"/>
              <a:t>主比较是二十四小时，四十八小时只是另行登记。我不会因为哪一组没成功就把窗口延长，那样比率就没有意义。末端提交算在窗口内，但端点之后才送达的回复不能倒填。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时间粒度这件事，我得多说一句，因为它最容易被误读。</a:t>
            </a:r>
          </a:p>
          <a:p>
            <a:r>
              <a:rPr lang="zh-CN" dirty="0"/>
              <a:t>默认是每分钟四格。一次十分钟的移动最多会消费四十格路径，但角色在同一轮里仍然只执行一次世界动作：他可以在这一轮走到目的地，但不能抵达之后在同一个轮次里接着做动作。所以“十分钟走完”不等于“十分钟里能做很多件事”。</a:t>
            </a:r>
          </a:p>
          <a:p>
            <a:r>
              <a:rPr lang="zh-CN" dirty="0"/>
              <a:t>这也不是在逐分钟地模拟真实生活。调度器到九点并不会强制谁去上课，晨读只是活动语义上的倾向。粗粒度换来的是一段可以长期运行的时间线，代价是细节被压扁了。</a:t>
            </a:r>
          </a:p>
          <a:p>
            <a:r>
              <a:rPr lang="zh-CN" dirty="0"/>
              <a:t>我提醒这一点，是因为有人看到十分钟一步，就以为角色在场景里能像真人一样连续活动。它更像一张时刻表，而不是一段录像。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两组的共同条件很多，真正的差异只有一处，我要把它讲得很窄。</a:t>
            </a:r>
          </a:p>
          <a:p>
            <a:r>
              <a:rPr lang="zh-CN" dirty="0"/>
              <a:t>不管哪一组，每一轮都要根据当前虚拟日期、实际位置、有效进度和真实消息来决定下一件事。动作之前只记“待确认”，等下一轮有了提交事实或者目标回复支持，才更新成完成。一次性任务和按日期重复的活动要分开记。成功选择世界动作之后，这一轮就结束。</a:t>
            </a:r>
          </a:p>
          <a:p>
            <a:r>
              <a:rPr lang="zh-CN" dirty="0"/>
              <a:t>两组都声明了同一个包内的原子依赖，名字叫校园事实整理，配置文字也完全相同，复制同一份。</a:t>
            </a:r>
          </a:p>
          <a:p>
            <a:r>
              <a:rPr lang="zh-CN" dirty="0"/>
              <a:t>唯一的差别是：对照这一组在第一次发现当地日期变化、而且这一天还没有成功整理的时候，会额外调用一次事实整理子技能。多出来的就是这一次调用，没有任何额外权限，也没有更好的事实来源。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同一个再次行动，身份不同，判法就完全不同。</a:t>
            </a:r>
          </a:p>
          <a:p>
            <a:r>
              <a:rPr lang="zh-CN" dirty="0"/>
              <a:t>第一支是一次性任务。报名已经确认过了，如果没有新的需求又提交一次，就算重复执行。哪怕对方拒绝重复接收，只要这一轮真的提交了，仍然计入重复。</a:t>
            </a:r>
          </a:p>
          <a:p>
            <a:r>
              <a:rPr lang="zh-CN" dirty="0"/>
              <a:t>第二支是周期活动。每天九点的晨读，新的一天就是新的实例，不算重复昨天的任务。所以判断之前先问一句：这是不是同一件事的第二次，还是本来每天都要发生的一次。</a:t>
            </a:r>
          </a:p>
          <a:p>
            <a:r>
              <a:rPr lang="zh-CN" dirty="0"/>
              <a:t>第三支是自愿承诺。先有邀请，再要本人明确接受，然后才有“承诺者、内容、完整截止时间”这三样齐备的一条承诺。</a:t>
            </a:r>
          </a:p>
          <a:p>
            <a:r>
              <a:rPr lang="zh-CN" dirty="0"/>
              <a:t>分不清这三支，就会出现两种相反的错：把每天的晨读算成重复，或者把重复的报名当成新任务放过去。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我把两组共同遵守的规则收成三步，再把差异单独拎出来。</a:t>
            </a:r>
          </a:p>
          <a:p>
            <a:r>
              <a:rPr lang="zh-CN" dirty="0"/>
              <a:t>第一步，动作之前只记“待确认”，不提前写成完成。第二步，等到下一轮真的出现了提交事实，或者目标对象有了回复，才把状态更新成完成。第三步，一旦成功选择了世界动作，这一轮就结束，不在一轮里叠加第二件事。</a:t>
            </a:r>
          </a:p>
          <a:p>
            <a:r>
              <a:rPr lang="zh-CN" dirty="0"/>
              <a:t>配套还有两条记录纪律：一次性任务和按日期重复的活动要分开记；没有真实接受，就不写成双方已经约定，更不能把对方的承诺记成自己的。</a:t>
            </a:r>
          </a:p>
          <a:p>
            <a:r>
              <a:rPr lang="zh-CN" dirty="0"/>
              <a:t>差异只有一处：对照在第一次发现当地日期变化、而且当天还没有成功整理的时候，额外调用一次事实整理子技能。它的输入是现有记忆和真实来源，要求把已确认完成、待证据、未来承诺和下一周期活动分开，但不允许新增历史事实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整理子技能到底能做什么、不能做什么，边界必须画得很清楚，否则对照就变成了“偷偷加权限”。</a:t>
            </a:r>
          </a:p>
          <a:p>
            <a:r>
              <a:rPr lang="zh-CN" dirty="0"/>
              <a:t>它能做的是：检索上次处理的日期和有效进度；第一次运行时先记下当前日期；把已有记忆按“已确认完成、待证据、未来承诺、下一周期活动”四类分开；输出一份带日期和来源的整理，标记本日整理成功；每个日期最多成功一次，失败要记下原因。</a:t>
            </a:r>
          </a:p>
          <a:p>
            <a:r>
              <a:rPr lang="zh-CN" dirty="0"/>
              <a:t>它不能做的是：不执行任何世界动作，不替角色制造接受或完成的证据，不读取别人的记忆，也拿不到教师答案。要不要采纳它给的建议，由根 Brain 决定。</a:t>
            </a:r>
          </a:p>
          <a:p>
            <a:r>
              <a:rPr lang="zh-CN" dirty="0"/>
              <a:t>这两组在更正、失效和完成证据上的处理规则完全相同。整理只改变以后能检索到的文本，不会平白多出事实，也不会让对照组更容易成功。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记忆这块当前用的实现叫 file_lexical，也就是基于文件的词法检索。我要提醒一句：选择 Embedding，并不会自动启用向量检索，那只是配置里的一个选项，不等于生效。</a:t>
            </a:r>
          </a:p>
          <a:p>
            <a:r>
              <a:rPr lang="zh-CN" dirty="0"/>
              <a:t>整理这件事听起来像在训练模型，其实不是。它不训练模型，也不新增调度器，只改变一件事——以后能被检索到的文本长什么样。这个坐标很重要，因为它决定了收益的来源：不是模型变聪明了，而是它以后能翻到的记录变了。</a:t>
            </a:r>
          </a:p>
          <a:p>
            <a:r>
              <a:rPr lang="zh-CN" dirty="0"/>
              <a:t>所以结果可能两头走：整理得好，能减少遗漏，前一晚确认过的事情第二天更容易被想起来；整理得不好，多出来的文字反而会增噪，把不相干的记录推到你面前。</a:t>
            </a:r>
          </a:p>
          <a:p>
            <a:r>
              <a:rPr lang="zh-CN" dirty="0"/>
              <a:t>这一节要观察的，正是这种“可能更好、也可能更乱”的净效果。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跨日和跨尝试都要留下证据，而且不同对象的证据链不一样。</a:t>
            </a:r>
          </a:p>
          <a:p>
            <a:r>
              <a:rPr lang="zh-CN" dirty="0"/>
              <a:t>一次性任务的链条是：目标，请求或者发言，真实回复，完成便签，再到后续行为。承诺要多加一段：明确的接受、承诺者，以及完整的截止时间。整理的链条是：输入里实际包含哪些事实，输出的声明指向什么来源，之后有没有被真实检索和使用。恢复的链条是：同一个 run_id，新的 attempt_id，完整的恢复边界，以及下一次提交，消息和便签既不重复也不丢失。</a:t>
            </a:r>
          </a:p>
          <a:p>
            <a:r>
              <a:rPr lang="zh-CN" dirty="0"/>
              <a:t>我特别说一条容易漏的：生成了一份总结，并不证明它影响了后面的决策。要看到它被真正检索并且用上了，链条才算接上。</a:t>
            </a:r>
          </a:p>
          <a:p>
            <a:r>
              <a:rPr lang="zh-CN" dirty="0"/>
              <a:t>证据链不断，才能把“记得住”和“看起来记得住”分开。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有三句话最容易被读错，我把它们单独列出来。</a:t>
            </a:r>
          </a:p>
          <a:p>
            <a:r>
              <a:rPr lang="zh-CN" dirty="0"/>
              <a:t>第一，生成总结不证明它影响了决策。总结写得再漂亮，也要看到它在后续被真实检索、并且改变了某个动作，才算起作用。</a:t>
            </a:r>
          </a:p>
          <a:p>
            <a:r>
              <a:rPr lang="zh-CN" dirty="0"/>
              <a:t>第二，午夜以后必须保留日期和偏移。十月二十日早上八点半，写成“八点半”就丢了日期和时区，跨日场景里这个缩写是歧义的，会把窗口内外的判断搅乱。</a:t>
            </a:r>
          </a:p>
          <a:p>
            <a:r>
              <a:rPr lang="zh-CN" dirty="0"/>
              <a:t>第三，次日的晨读是新实例。不能把昨天的报名改个名字叫今天的任务，用来逃避重复计数。</a:t>
            </a:r>
          </a:p>
          <a:p>
            <a:r>
              <a:rPr lang="zh-CN" dirty="0"/>
              <a:t>最后补一条常被误解的：角色晚上真的在休息，或者有理由地等待，不算卡死。只有当它有条件继续、却反复无事可做，才值得怀疑。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接下来看账怎么算。这一块的难点不在公式，而在分母从哪来。</a:t>
            </a:r>
          </a:p>
          <a:p>
            <a:r>
              <a:rPr lang="zh-CN" dirty="0"/>
              <a:t>四个指标各有各的分母：重复执行率的分母是全部已提交的一次性任务实例；闭环率的分母就是三件初始任务；承诺按期兑现率的分母，是已经明确接受、而且截止时间落在窗口内的承诺；整理保真率的分母，是全部可以核验的整理声明。</a:t>
            </a:r>
          </a:p>
          <a:p>
            <a:r>
              <a:rPr lang="zh-CN" dirty="0"/>
              <a:t>分母不一样，就不能互相推导。比如说一次性任务全部闭环，仍然可能反复重做；反过来，保真率很高，也不能推出闭环率就高。</a:t>
            </a:r>
          </a:p>
          <a:p>
            <a:r>
              <a:rPr lang="zh-CN" dirty="0"/>
              <a:t>所以读比率的时候，我要求每份报告都把分子和分母的边界写出来，让读者自己判断这个数字在说什么。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四个指标的分母口径，我逐条念一遍，方便对照后面的算例。</a:t>
            </a:r>
          </a:p>
          <a:p>
            <a:r>
              <a:rPr lang="zh-CN" dirty="0"/>
              <a:t>已完成事项重复执行率：分子是首次完成之后、没有新需求又启动的重复实例，分母是全部已提交的一次性任务实例。</a:t>
            </a:r>
          </a:p>
          <a:p>
            <a:r>
              <a:rPr lang="zh-CN" dirty="0"/>
              <a:t>初始任务闭环率：分子是窗口内完整证据成立的 A、B、C 三件，分母就是三。</a:t>
            </a:r>
          </a:p>
          <a:p>
            <a:r>
              <a:rPr lang="zh-CN" dirty="0"/>
              <a:t>承诺按期兑现率：分子是按事实标准兑现的数量，分母是已经明确接受、并且截止时间落在窗口内的承诺。没明确接受的不进分母。</a:t>
            </a:r>
          </a:p>
          <a:p>
            <a:r>
              <a:rPr lang="zh-CN" dirty="0"/>
              <a:t>整理事实保真率：分子是有此前事实或有效来源支持、可以核验的声明，分母是全部可核验的整理声明。</a:t>
            </a:r>
          </a:p>
          <a:p>
            <a:r>
              <a:rPr lang="zh-CN" dirty="0"/>
              <a:t>重复率必须配上闭环率一起看，否则“什么都不做”反而显得干净。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这一组数字全部是人工判分和算术的结果，不是某次真实运行跑出来的，先说在前头。</a:t>
            </a:r>
          </a:p>
          <a:p>
            <a:r>
              <a:rPr lang="zh-CN" dirty="0"/>
              <a:t>左边这一支数的是执行实例：A 一次、C 一次、B 三次，一共五个实例。其中 B 首次确认之后又提交了两次，后来两次都算重复，所以重复率是二除以五，等于百分之四十。三件任务首次都闭环，闭环率是三除以三，等于百分之百。</a:t>
            </a:r>
          </a:p>
          <a:p>
            <a:r>
              <a:rPr lang="zh-CN" dirty="0"/>
              <a:t>中间这一支数的是整理声明：共八项，六项有证据，两项有问题，一项虚构完成、一项来源不明，严格保真六除以八等于百分之七十五。</a:t>
            </a:r>
          </a:p>
          <a:p>
            <a:r>
              <a:rPr lang="zh-CN" dirty="0"/>
              <a:t>右边这一支数的是调用：全部尝试合起来一千四百四十次逻辑调用，其中对象占了三百六十次。用一千四百四十除以三人乘二十四小时，得到每人每虚拟小时二十次。三支的单位不同，不能互相推。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比率算出来以后，还有几条口径要交代清楚，否则很容易得出荒唐的结论。</a:t>
            </a:r>
          </a:p>
          <a:p>
            <a:r>
              <a:rPr lang="zh-CN" dirty="0"/>
              <a:t>如果某一次运行里没有任务被执行、没有承诺、也没有整理，那么对应的比率就不适用，不能拿零除以零，也不能写成百分之零。更要注意的是，重复率必须和闭环率一起报：只看重复率的话，一个什么都不做的角色反而显得干净，因为他一次重复都没有。</a:t>
            </a:r>
          </a:p>
          <a:p>
            <a:r>
              <a:rPr lang="zh-CN" dirty="0"/>
              <a:t>声明也要拆开算。“已经报名，而且罗予同意同行”这句话必须拆成两条声明，因为它们是两件不同的事实，一条成立不代表另一条成立。</a:t>
            </a:r>
          </a:p>
          <a:p>
            <a:r>
              <a:rPr lang="zh-CN" dirty="0"/>
              <a:t>还有一条：预测和建议不能混进历史声明。整理里写“预计他会同意”，那是推测，不是已发生的事实，不能算进有证据的那一类。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最后讲成本口径里最容易被偷换的一处：分母是谁。</a:t>
            </a:r>
          </a:p>
          <a:p>
            <a:r>
              <a:rPr lang="zh-CN" dirty="0"/>
              <a:t>全覆盖小时是 H，等于最后提交的步数 k 减一，乘以步长，再除以六十，单位是小时。把全部尝试里三人加咨询台的逻辑调用记作 L，那么单位值就是 L 除以三倍的 H，读作“每人每虚拟小时多少次调用”。</a:t>
            </a:r>
          </a:p>
          <a:p>
            <a:r>
              <a:rPr lang="zh-CN" dirty="0"/>
              <a:t>拿例子说：一千四百四十次调用，三人乘二十四小时等于七十二个虚拟人时，于是得到每人每虚拟小时二十次。</a:t>
            </a:r>
          </a:p>
          <a:p>
            <a:r>
              <a:rPr lang="zh-CN" dirty="0"/>
              <a:t>关键是那三百六十次对象调用要算进分子，但不能在分母里多算一个人。咨询台不是第四个学习者，把它塞进分母会把单位值压低，看起来就便宜了。</a:t>
            </a:r>
          </a:p>
          <a:p>
            <a:r>
              <a:rPr lang="zh-CN" dirty="0"/>
              <a:t>另外，如果只有第一步，H 就是零，这个单位值不可计算，要如实写不可计算。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第四块要解决的是“什么时候停下来”。这件事必须在开跑之前定好，不能跑着跑着再改。</a:t>
            </a:r>
          </a:p>
          <a:p>
            <a:r>
              <a:rPr lang="zh-CN" dirty="0"/>
              <a:t>我会先算清楚覆盖了多少小时，再拿调用除以人时，得到单位成本。同时把轮次数和请求数分开报，把估算和真实用量分开报。</a:t>
            </a:r>
          </a:p>
          <a:p>
            <a:r>
              <a:rPr lang="zh-CN" dirty="0"/>
              <a:t>然后设定停下来重评的条件。我给每组的第一个运行准备了一组可选的预算草案，达到其中任何一个阈值，就计划暂停、记录边界、重新评估。</a:t>
            </a:r>
          </a:p>
          <a:p>
            <a:r>
              <a:rPr lang="zh-CN" dirty="0"/>
              <a:t>需要强调的是，这是我作为作者的监控规则，不是软件界面上自动执行的硬限额。跑到一半或者正在收尾的时候，仍然可能继续消耗资源。事前把规则写清楚、两组一致，才能避免事后挑对自己有利的口径。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这几行人工算术，数字不多，但每一个都容易被记错。</a:t>
            </a:r>
          </a:p>
          <a:p>
            <a:r>
              <a:rPr lang="zh-CN" dirty="0"/>
              <a:t>第一行，完整一百四十五步，三人乘二十四小时，等于七十二个虚拟人时，这是分母。</a:t>
            </a:r>
          </a:p>
          <a:p>
            <a:r>
              <a:rPr lang="zh-CN" dirty="0"/>
              <a:t>第二行，调用一千四百四十次，其中对象三百六十次，除以七十二，得到每人每虚拟小时二十次；对象那三百六十次另外列出来。</a:t>
            </a:r>
          </a:p>
          <a:p>
            <a:r>
              <a:rPr lang="zh-CN" dirty="0"/>
              <a:t>第三行，一百四十五步乘以四个参与者——三个人加咨询台——等于五百八十个轮次。这里要注意，五百八十是轮次，不是五百八十个请求，一个轮次里可能包含多次调用。</a:t>
            </a:r>
          </a:p>
          <a:p>
            <a:r>
              <a:rPr lang="zh-CN" dirty="0"/>
              <a:t>第四行，四十八小时窗口二百八十九步，乘以四个参与者，等于一千一百五十六个轮次，同样不是请求数。</a:t>
            </a:r>
          </a:p>
          <a:p>
            <a:r>
              <a:rPr lang="zh-CN" dirty="0"/>
              <a:t>如果只是跑了一半就停，我要报告实际覆盖到哪儿、还有哪些没完成，而不是拿单位值直接说便宜。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我把停下来重评的条件写成三个阈值，达到其中任何一个就暂停。</a:t>
            </a:r>
          </a:p>
          <a:p>
            <a:r>
              <a:rPr lang="zh-CN" dirty="0"/>
              <a:t>第一，单个运行达到两千次物理尝试。第二，累计达到四百万 Token。第三，执行墙钟超过两小时。</a:t>
            </a:r>
          </a:p>
          <a:p>
            <a:r>
              <a:rPr lang="zh-CN" dirty="0"/>
              <a:t>这三个条件是事前按负担能力定好的，而且两组完全一致，不能只给其中一组设限。达到阈值时要做三件事：计划暂停、记录当前边界、重新评估要不要继续。</a:t>
            </a:r>
          </a:p>
          <a:p>
            <a:r>
              <a:rPr lang="zh-CN" dirty="0"/>
              <a:t>还要强调，这是我作为作者的监控规则，不是界面上会自动执行的硬限额。所以在途的调用和收尾的动作仍然可能继续消耗；它不是一堵墙，只是一条提醒线。</a:t>
            </a:r>
          </a:p>
          <a:p>
            <a:r>
              <a:rPr lang="zh-CN" dirty="0"/>
              <a:t>如果 Token 用量缺失，就如实记为未知，不能写成“已经控制住了”。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如果发现角色反复重办同一件事，我不建议先去改模型，而是沿一条链往回查。</a:t>
            </a:r>
          </a:p>
          <a:p>
            <a:r>
              <a:rPr lang="zh-CN" dirty="0"/>
              <a:t>第一站看完成证据：这件事到底有没有留下完成的凭据。第二站看有效记忆：凭据有没有写进能被后续用到的记录里。第三站看检索：轮到该想起它的时候，有没有真的把它检索出来。第四站看整理输出：整理后的文本是不是还在，有没有被改写或丢掉。第五站看下一动作：拿到这些记录之后，角色实际做了什么。</a:t>
            </a:r>
          </a:p>
          <a:p>
            <a:r>
              <a:rPr lang="zh-CN" dirty="0"/>
              <a:t>这条链上要分清两种完全不同的错：一种是输入里根本没有提供这个事实，那是上游没给；另一种是输入里有、但整理的时候把它丢了。前者不该怪记忆，后者才是记忆环节的问题。</a:t>
            </a:r>
          </a:p>
          <a:p>
            <a:r>
              <a:rPr lang="zh-CN" dirty="0"/>
              <a:t>另外，编造完成会拉低保真率；运行状态显示成功或未评估，都不能替代业务判分。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最后留一道练习，检验你有没有真的把身份分清。</a:t>
            </a:r>
          </a:p>
          <a:p>
            <a:r>
              <a:rPr lang="zh-CN" dirty="0"/>
              <a:t>三句话，请分别写出实例身份和需要的证据。“昨天已经报名”是一次性任务，同一个已提交实例再提交就是重复；“今天再晨读”是周期活动，新日期就是新实例；“明天早上八点半见面”是自愿承诺，得先有本人明确接受，才谈得上兑现。</a:t>
            </a:r>
          </a:p>
          <a:p>
            <a:r>
              <a:rPr lang="zh-CN" dirty="0"/>
              <a:t>为什么四十八小时窗口可能把第三项纳入承诺分母？因为窗口拉到二十一日八点后，原本落在窗口外的截止时间进了窗口；只要已明确接受且截止在窗口内，就要进分母。</a:t>
            </a:r>
          </a:p>
          <a:p>
            <a:r>
              <a:rPr lang="zh-CN" dirty="0"/>
              <a:t>后续可以只改整理频率或摘要长度，一次只动一个因素。但这里只有三名虚构人物，不支持真实学生生活规律的结论。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把这一节收一收，记住三件事。</a:t>
            </a:r>
          </a:p>
          <a:p>
            <a:r>
              <a:rPr lang="zh-CN" dirty="0"/>
              <a:t>第一，身份先分清。一次性任务、周期活动、自愿承诺，它们对“结束”和“重复”的定义完全不同；承诺还要先有人明确接受，邀请本身不算数。</a:t>
            </a:r>
          </a:p>
          <a:p>
            <a:r>
              <a:rPr lang="zh-CN" dirty="0"/>
              <a:t>第二，证据链跨日不能断。生成一份总结不等于它影响了决策，要看到整理之后的真实检索与使用，链条才算接上；日期和偏移也不能随手缩写成有歧义的“八点半”。</a:t>
            </a:r>
          </a:p>
          <a:p>
            <a:r>
              <a:rPr lang="zh-CN" dirty="0"/>
              <a:t>第三，预算不因为跑得久就放宽。停下来的条件是开跑之前定好的，两组一致，达到阈值就记边界、再评估，而不是事后挑一个好看的口径。</a:t>
            </a:r>
          </a:p>
          <a:p>
            <a:r>
              <a:rPr lang="zh-CN" dirty="0"/>
              <a:t>下一节我们把跨案例的比率、未完成任务和调用代价放在一起比较，看看哪些结论能站得住、哪些只能留在限定条件里。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7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我先说清楚这一节要回答什么问题。昨日已经办完的事，第二天会不会被重新做一遍？一个人答应别人的事，跨过午夜以后还算不算数？到了第二天做的总结，会不会把还等着确认的事写成已经完成？这三种毛病看着琐碎，却正好是长时程运行最典型的问题。&#10;&#10;我用的场景是虚构的白榆校园开放学习周：三名学习者在居住、阅览、讨论和公共休息四个相邻区域里活动，不模拟课程、饥饿或者疲劳。我要比较的不是谁跑得更久，而是逐项进度和额外的跨日整理这两种记忆组织方式，各会带来什么收益、又要付出什么代价。&#10;&#10;跑得久，不等于更聪明。`} style={{ width: 1280, height: 720, background: '#FFFFFF', flexDirection: 'column', padding: '20px 64px' }}&gt;&#10;&#10;    &lt;Box style={{ height: 100, flexDirection: 'row', alignItems: 'center', gap: 12 }}&gt;&#10;        &lt;Box style={{ width: 4, height: 36, background: '#276FBF' }} /&gt;&#10;        &lt;Text style={{ fontSize: 15, color: '#546779' }}&gt;第四章　面向问题的场景化应用　·　4.8　选修案例&lt;/Text&gt;&#10;    &lt;/Box&gt;&#10;&#10;    &lt;Box style={{ height: 540, flexDirection: 'row', alignItems: 'center', gap: 32 }}&gt;&#10;&#10;        &lt;Box style={{ width: 500, flexDirection: 'column', justifyContent: 'center', gap: 14 }}&gt;&#10;            &lt;Text style={{ fontSize: 52, fontWeight: 'bold', color: '#20344B', lineHeight: 1.2 }}&gt;跨过午夜以后，{'\n'}还记得什么&lt;/Text&gt;&#10;            &lt;Box style={{ width: 72, height: 4, background: '#276FBF' }} /&gt;&#10;            &lt;Text style={{ fontSize: 17, color: '#546779', lineHeight: 1.7, width: 500 }}&gt;同一件事，昨天办完了今天会不会重做；一句承诺，跨过午夜会不会丢失；一份总结，会不会把“待确认”写成“已完成”。&lt;/Text&gt;&#10;            &lt;Box style={{ flexDirection: 'row', gap: 12, marginTop: 4 }}&gt;&#10;                &lt;Box style={{ width: 150, height: 42, background: '#EDF4FC', borderRadius: 8, justifyContent: 'center', alignItems: 'center' }}&gt;&#10;                    &lt;Text style={{ fontSize: 15, color: '#276FBF' }}&gt;三名学习者&lt;/Text&gt;&#10;                &lt;/Box&gt;&#10;                &lt;Box style={{ width: 150, height: 42, background: '#ECF7F2', borderRadius: 8, justifyContent: 'center', alignItems: 'center' }}&gt;&#10;                    &lt;Text style={{ fontSize: 15, color: '#26816B' }}&gt;24 / 48 小时&lt;/Text&gt;&#10;                &lt;/Box&gt;&#10;                &lt;Box style={{ width: 150, height: 42, background: '#FFF4E6', borderRadius: 8, justifyContent: 'center', alignItems: 'center' }}&gt;&#10;                    &lt;Text style={{ fontSize: 15, color: '#CB6B28' }}&gt;跨日这一处&lt;/Text&gt;&#10;                &lt;/Box&gt;&#10;            &lt;/Box&gt;&#10;        &lt;/Box&gt;&#10;&#10;        &lt;Box style={{ width: 620, flexDirection: 'column', justifyContent: 'center', gap: 10 }}&gt;&#10;&#10;            &lt;Box style={{ width: 620, height: 52, background: '#F4F7FA', borderRadius: 8, flexDirection: 'row', alignItems: 'center', gap: 12, padding: '0 18px' }}&gt;&#10;                &lt;Box style={{ width: 4, height: 32, background: '#276FBF' }} /&gt;&#10;                &lt;Text style={{ fontSize: 17, fontWeight: 'bold', color: '#20344B' }}&gt;一次性任务&lt;/Text&gt;&#10;                &lt;Text style={{ fontSize: 14, color: '#546779' }}&gt;办完就该结束&lt;/Text&gt;&#10;            &lt;/Box&gt;&#10;            &lt;Box style={{ width: 620, height: 52, background: '#F4F7FA', borderRadius: 8, flexDirection: 'row', alignItems: 'center', gap: 12, padding: '0 18px' }}&gt;&#10;                &lt;Box style={{ width: 4, height: 32, background: '#26816B' }} /&gt;&#10;                &lt;Text style={{ fontSize: 17, fontWeight: 'bold', color: '#20344B' }}&gt;周期活动&lt;/Text&gt;&#10;                &lt;Text style={{ fontSize: 14, color: '#546779' }}&gt;新日期就是新一次&lt;/Text&gt;&#10;            &lt;/Box&gt;&#10;            &lt;Box style={{ width: 620, height: 52, background: '#F4F7FA', borderRadius: 8, flexDirection: 'row', alignItems: 'center', gap: 12, padding: '0 18px' }}&gt;&#10;                &lt;Box style={{ width: 4, height: 32, background: '#276FBF' }} /&gt;&#10;                &lt;Text style={{ fontSize: 17, fontWeight: 'bold', color: '#20344B' }}&gt;自愿承诺&lt;/Text&gt;&#10;                &lt;Text style={{ fontSize: 14, color: '#546779' }}&gt;有人答应才算数&lt;/Text&gt;&#10;            &lt;/Box&gt;&#10;&#10;            &lt;Box style={{ width: 620, height: 40, justifyContent: 'center', alignItems: 'center' }}&gt;&#10;                &lt;Text style={{ fontSize: 22, color: '#276FBF' }}&gt;↓&lt;/Text&gt;&#10;            &lt;/Box&gt;&#10;&#10;            &lt;Box style={{ width: 620, height: 104, background: '#F4F7FA', borderRadius: 10, padding: '0 18px', flexDirection: 'column', gap: 10, justifyContent: 'center' }}&gt;&#10;                &lt;Box style={{ flexDirection: 'row', gap: 10 }}&gt;&#10;                    &lt;Box style={{ width: 126, height: 44, background: '#EDF4FC', borderRadius: 6, justifyContent: 'center', alignItems: 'center' }}&gt;&#10;                        &lt;Text style={{ fontSize: 14, color: '#276FBF' }}&gt;10-19 08:00&lt;/Text&gt;&#10;                    &lt;/Box&gt;&#10;                    &lt;Box style={{ width: 140, height: 44, background: '#EDF4FC', borderRadius: 6, justifyContent: 'center', alignItems: 'center' }}&gt;&#10;                        &lt;Text style={{ fontSize: 14, color: '#276FBF' }}&gt;10-19 16:00&lt;/Text&gt;&#10;                    &lt;/Box&gt;&#10;                    &lt;Box style={{ width: 120, height: 44, background: '#CB6B28', borderRadius: 6, justifyContent: 'center', alignItems: 'center' }}&gt;&#10;                        &lt;Text style={{ fontSize: 14, fontWeight: 'bold', color: '#FFFFFF' }}&gt;午夜 00:00&lt;/Text&gt;&#10;                    &lt;/Box&gt;&#10;                    &lt;Box style={{ width: 138, height: 44, background: '#EDF4FC', borderRadius: 6, justifyContent: 'center', alignItems: 'center' }}&gt;&#10;                        &lt;Text style={{ fontSize: 14, color: '#276FBF' }}&gt;10-20 08:00&lt;/Text&gt;&#10;                    &lt;/Box&gt;&#10;                &lt;/Box&gt;&#10;                &lt;Text style={{ fontSize: 13, color: '#546779' }}&gt;跨日时间线示意　节点间距不按时长比例&lt;/Text&gt;&#10;            &lt;/Box&gt;&#10;&#10;        &lt;/Box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495300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581025"/>
            <a:ext cx="3238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第四章　面向问题的场景化应用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4.8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选修案例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2228850"/>
            <a:ext cx="4762500" cy="14287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跨过午夜以后，</a:t>
            </a:r>
            <a:endParaRPr/>
          </a:p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还记得什么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09600" y="37909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3962400"/>
            <a:ext cx="47625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同一件事，昨天办完了今天会不会重做；一句承诺，跨过午夜会不会丢失；一份总结，会不会把“待确认”写成“已完成”。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09600" y="4800600"/>
            <a:ext cx="142875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971550" y="49149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三名学习者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2152650" y="4800600"/>
            <a:ext cx="1428750" cy="400050"/>
          </a:xfrm>
          <a:prstGeom prst="roundRect">
            <a:avLst>
              <a:gd name="adj" fmla="val 1904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2466975" y="4914900"/>
            <a:ext cx="809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 xml:space="preserve">24 / 48 </a:t>
            </a: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小时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3695700" y="4800600"/>
            <a:ext cx="1428750" cy="400050"/>
          </a:xfrm>
          <a:prstGeom prst="roundRect">
            <a:avLst>
              <a:gd name="adj" fmla="val 1904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4057650" y="49149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跨日这一处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5676900" y="2095500"/>
            <a:ext cx="5905500" cy="495300"/>
          </a:xfrm>
          <a:prstGeom prst="roundRect">
            <a:avLst>
              <a:gd name="adj" fmla="val 1538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5" name=""/>
          <p:cNvSpPr/>
          <p:nvPr/>
        </p:nvSpPr>
        <p:spPr>
          <a:xfrm rot="0" flipH="0" flipV="0">
            <a:off x="5848350" y="2190750"/>
            <a:ext cx="38100" cy="304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000750" y="2247900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一次性任务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924675" y="226695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办完就该结束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5676900" y="2686050"/>
            <a:ext cx="5905500" cy="495300"/>
          </a:xfrm>
          <a:prstGeom prst="roundRect">
            <a:avLst>
              <a:gd name="adj" fmla="val 1538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9" name=""/>
          <p:cNvSpPr/>
          <p:nvPr/>
        </p:nvSpPr>
        <p:spPr>
          <a:xfrm rot="0" flipH="0" flipV="0">
            <a:off x="5848350" y="2781300"/>
            <a:ext cx="38100" cy="3048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000750" y="28384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周期活动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762750" y="2857500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新日期就是新一次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5676900" y="3276600"/>
            <a:ext cx="5905500" cy="495300"/>
          </a:xfrm>
          <a:prstGeom prst="roundRect">
            <a:avLst>
              <a:gd name="adj" fmla="val 1538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3" name=""/>
          <p:cNvSpPr/>
          <p:nvPr/>
        </p:nvSpPr>
        <p:spPr>
          <a:xfrm rot="0" flipH="0" flipV="0">
            <a:off x="5848350" y="3371850"/>
            <a:ext cx="38100" cy="304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000750" y="34290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自愿承诺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762750" y="3448050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有人答应才算数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8582025" y="3933825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5676900" y="4343400"/>
            <a:ext cx="590550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8" name=""/>
          <p:cNvSpPr/>
          <p:nvPr/>
        </p:nvSpPr>
        <p:spPr>
          <a:xfrm rot="0" flipH="0" flipV="0">
            <a:off x="5848350" y="4505325"/>
            <a:ext cx="1200150" cy="419100"/>
          </a:xfrm>
          <a:prstGeom prst="roundRect">
            <a:avLst>
              <a:gd name="adj" fmla="val 1363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067425" y="4638675"/>
            <a:ext cx="76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>10-19 08:00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7143750" y="4505325"/>
            <a:ext cx="1333500" cy="419100"/>
          </a:xfrm>
          <a:prstGeom prst="roundRect">
            <a:avLst>
              <a:gd name="adj" fmla="val 1363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7429500" y="4638675"/>
            <a:ext cx="76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>10-19 16:00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8572500" y="4505325"/>
            <a:ext cx="1143000" cy="419100"/>
          </a:xfrm>
          <a:prstGeom prst="roundRect">
            <a:avLst>
              <a:gd name="adj" fmla="val 13636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8810625" y="4638675"/>
            <a:ext cx="676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午夜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00:00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9810750" y="4505325"/>
            <a:ext cx="1314450" cy="419100"/>
          </a:xfrm>
          <a:prstGeom prst="roundRect">
            <a:avLst>
              <a:gd name="adj" fmla="val 1363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10086975" y="4638675"/>
            <a:ext cx="76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>10-20 08:00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5848350" y="5019675"/>
            <a:ext cx="5562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跨日时间线示意　节点间距不按时长比例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97" name="" descr="&lt;Slide notes={`这一节我打算按四步走。&#10;&#10;第一步先把事项的身份分清：一次性任务、周期活动、自愿承诺，这三类东西的“结束”和“重复”含义完全不同，混在一起就没办法判断昨天办完的事今天要不要再办。&#10;&#10;第二步把时间账算清楚：起点定在十月十九日早上八点，步长十分钟，那么跑满二十四小时到底是第几步，跨过午夜又意味着什么。&#10;&#10;第三步是唯一改动的地方：对照这一组在第一次发现当地日期变化、而当天还没有成功整理的时候，额外调用一次事实整理子技能，其余条件两组完全一样。&#10;&#10;第四步看账怎么算：四个指标的分子分母从哪里来，人工判分算出的百分之四十、百分之百和百分之七十五分别说明什么，以及预算为什么要在开跑之前先定好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8　长时程校园生活：跨过午夜以后，还记得什么&lt;/Text&gt;&#10;            &lt;Text style={{ fontSize: 34, fontWeight: 'bold', color: '#20344B' }}&gt;本节要看清的四件事&lt;/Text&gt;&#10;        &lt;/Box&gt;&#10;    &lt;/Box&gt;&#10;&#10;    &lt;Box style={{ height: 540, flexDirection: 'row', alignItems: 'center', gap: 32 }}&gt;&#10;&#10;        &lt;Box style={{ width: 300, flexDirection: 'column', gap: 18 }}&gt;&#10;            &lt;Text style={{ fontSize: 17, color: '#546779', lineHeight: 1.75, width: 300 }}&gt;先把事项身份和时间窗立好，再只改一处整理策略，最后核对比率与成本是怎么算出来的。&lt;/Text&gt;&#10;            &lt;Box style={{ width: 300, height: 130, background: '#FFF4E6', borderRadius: 10, padding: '14px 18px', flexDirection: 'column', gap: 4, justifyContent: 'center' }}&gt;&#10;                &lt;Text style={{ fontSize: 16, fontWeight: 'bold', color: '#CB6B28' }}&gt;唯一变量是什么&lt;/Text&gt;&#10;                &lt;Text style={{ fontSize: 14, color: '#546779', lineHeight: 1.5 }}&gt;World、Sector、人物、模型、依赖与检索实现都不动，只让对照多整理一次&lt;/Text&gt;&#10;            &lt;/Box&gt;&#10;        &lt;/Box&gt;&#10;&#10;        &lt;Box style={{ width: 820, flexDirection: 'column', gap: 14 }}&gt;&#10;&#10;            &lt;Box style={{ width: 820, height: 100, background: '#F4F7FA', borderRadius: 10, padding: '0 20px', flexDirection: 'row', alignItems: 'center', gap: 16 }}&gt;&#10;                &lt;Box style={{ width: 44, height: 44, background: '#276FBF', borderRadius: 8, justifyContent: 'center', alignItems: 'center' }}&gt;&#10;                    &lt;Text style={{ fontSize: 20, fontWeight: 'bold', color: '#FFFFFF' }}&gt;1&lt;/Text&gt;&#10;                &lt;/Box&gt;&#10;                &lt;Box style={{ flexDirection: 'column', gap: 4 }}&gt;&#10;                    &lt;Text style={{ fontSize: 20, fontWeight: 'bold', color: '#20344B' }}&gt;把三类事项分开，再把时间账算清&lt;/Text&gt;&#10;                    &lt;Text style={{ fontSize: 14, color: '#546779' }}&gt;一次性任务、周期活动、自愿承诺身份不同，承诺还先要有人明确接受。&lt;/Text&gt;&#10;                &lt;/Box&gt;&#10;            &lt;/Box&gt;&#10;&#10;            &lt;Box style={{ width: 820, height: 100, background: '#F4F7FA', borderRadius: 10, padding: '0 20px', flexDirection: 'row', alignItems: 'center', gap: 16 }}&gt;&#10;                &lt;Box style={{ width: 44, height: 44, background: '#276FBF', borderRadius: 8, justifyContent: 'center', alignItems: 'center' }}&gt;&#10;                    &lt;Text style={{ fontSize: 20, fontWeight: 'bold', color: '#FFFFFF' }}&gt;2&lt;/Text&gt;&#10;                &lt;/Box&gt;&#10;                &lt;Box style={{ flexDirection: 'column', gap: 4 }}&gt;&#10;                    &lt;Text style={{ fontSize: 20, fontWeight: 'bold', color: '#20344B' }}&gt;唯一变化：跨日时额外整理一次&lt;/Text&gt;&#10;                    &lt;Text style={{ fontSize: 14, color: '#546779' }}&gt;首次发现日期变化且本日未成功整理时，才多调用一次整理子技能。&lt;/Text&gt;&#10;                &lt;/Box&gt;&#10;            &lt;/Box&gt;&#10;&#10;            &lt;Box style={{ width: 820, height: 100, background: '#F4F7FA', borderRadius: 10, padding: '0 20px', flexDirection: 'row', alignItems: 'center', gap: 16 }}&gt;&#10;                &lt;Box style={{ width: 44, height: 44, background: '#276FBF', borderRadius: 8, justifyContent: 'center', alignItems: 'center' }}&gt;&#10;                    &lt;Text style={{ fontSize: 20, fontWeight: 'bold', color: '#FFFFFF' }}&gt;3&lt;/Text&gt;&#10;                &lt;/Box&gt;&#10;                &lt;Box style={{ flexDirection: 'column', gap: 4 }}&gt;&#10;                    &lt;Text style={{ fontSize: 20, fontWeight: 'bold', color: '#20344B' }}&gt;四个指标的分子、分母与人工判分&lt;/Text&gt;&#10;                    &lt;Text style={{ fontSize: 14, color: '#546779' }}&gt;重复、闭环、承诺兑现、整理保真各有各的分母，不能互相推得。&lt;/Text&gt;&#10;                &lt;/Box&gt;&#10;            &lt;/Box&gt;&#10;&#10;            &lt;Box style={{ width: 820, height: 100, background: '#F4F7FA', borderRadius: 10, padding: '0 20px', flexDirection: 'row', alignItems: 'center', gap: 16 }}&gt;&#10;                &lt;Box style={{ width: 44, height: 44, background: '#276FBF', borderRadius: 8, justifyContent: 'center', alignItems: 'center' }}&gt;&#10;                    &lt;Text style={{ fontSize: 20, fontWeight: 'bold', color: '#FFFFFF' }}&gt;4&lt;/Text&gt;&#10;                &lt;/Box&gt;&#10;                &lt;Box style={{ flexDirection: 'column', gap: 4 }}&gt;&#10;                    &lt;Text style={{ fontSize: 20, fontWeight: 'bold', color: '#20344B' }}&gt;预算在长跑之前固定，失败沿五步定位&lt;/Text&gt;&#10;                    &lt;Text style={{ fontSize: 14, color: '#546779' }}&gt;先定好停下来重评的条件，再沿记忆链路找出是哪里丢了事实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8 长时程校园生活&lt;/Text&gt;&#10;        &lt;Text style={{ fontSize: 14, color: '#546779' }}&gt;02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90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4.8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长时程校园生活：跨过午夜以后，还记得什么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908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本节要看清的四件事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609600" y="2495550"/>
            <a:ext cx="2857500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先把事项身份和时间窗立好，再只改一处整理策略，最后核对比率与成本是怎么算出来的。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609600" y="3695700"/>
            <a:ext cx="2857500" cy="1238250"/>
          </a:xfrm>
          <a:prstGeom prst="roundRect">
            <a:avLst>
              <a:gd name="adj" fmla="val 769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781050" y="3962400"/>
            <a:ext cx="2514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唯一变量是什么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781050" y="4191000"/>
            <a:ext cx="25146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World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Sector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、人物、模型、依赖与检索实现都不动，只让对照多整理一次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3771900" y="1609725"/>
            <a:ext cx="78105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07" name=""/>
          <p:cNvSpPr/>
          <p:nvPr/>
        </p:nvSpPr>
        <p:spPr>
          <a:xfrm rot="0" flipH="0" flipV="0">
            <a:off x="3962400" y="18764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4114800" y="197167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4533900" y="1876425"/>
            <a:ext cx="4267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把三类事项分开，再把时间账算清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4533900" y="2143125"/>
            <a:ext cx="426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一次性任务、周期活动、自愿承诺身份不同，承诺还先要有人明确接受。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3771900" y="2695575"/>
            <a:ext cx="78105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12" name=""/>
          <p:cNvSpPr/>
          <p:nvPr/>
        </p:nvSpPr>
        <p:spPr>
          <a:xfrm rot="0" flipH="0" flipV="0">
            <a:off x="3962400" y="29622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4114800" y="305752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4533900" y="2962275"/>
            <a:ext cx="400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唯一变化：跨日时额外整理一次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4533900" y="3228975"/>
            <a:ext cx="4000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首次发现日期变化且本日未成功整理时，才多调用一次整理子技能。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3771900" y="3781425"/>
            <a:ext cx="78105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17" name=""/>
          <p:cNvSpPr/>
          <p:nvPr/>
        </p:nvSpPr>
        <p:spPr>
          <a:xfrm rot="0" flipH="0" flipV="0">
            <a:off x="3962400" y="40481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4114800" y="414337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4533900" y="4048125"/>
            <a:ext cx="3867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四个指标的分子、分母与人工判分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4533900" y="4314825"/>
            <a:ext cx="3867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重复、闭环、承诺兑现、整理保真各有各的分母，不能互相推得。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3771900" y="4867275"/>
            <a:ext cx="78105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22" name=""/>
          <p:cNvSpPr/>
          <p:nvPr/>
        </p:nvSpPr>
        <p:spPr>
          <a:xfrm rot="0" flipH="0" flipV="0">
            <a:off x="3962400" y="51339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4114800" y="522922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4533900" y="5133975"/>
            <a:ext cx="3733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预算在长跑之前固定，失败沿五步定位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4533900" y="5400675"/>
            <a:ext cx="3733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先定好停下来重评的条件，再沿记忆链路找出是哪里丢了事实。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长时程校园生活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27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513" name="" descr="&lt;Slide notes={`先解决一个前提问题：什么算同一件事。&#10;&#10;在这套设置里，World 是白榆校园，往下是学习生活区，再分成居住、阅览、讨论和公共休息四个相邻区域。三名学习者唐悠、顾澄和罗予各有一件自己的任务，休息区只有一个咨询台。这里没有课程表，也没有饥饿和疲劳的物理模型，休息和学习都是活动语义，不是生理需求。&#10;&#10;我要先把三件不同性质的事分开：一次性任务是办完就该结束的；周期活动每天都是新的一次，昨天晨读不代表今天晨读已完成；自愿承诺更复杂，得先有人邀请、再有本人明确接受，才算立起一条承诺。&#10;&#10;身份没分清，后面所有关于“有没有重复”“有没有丢”的判断都会错位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1　　4.8.1 — 4.8.2&lt;/Text&gt;&#10;&#10;        &lt;Text style={{ fontSize: 56, fontWeight: 'bold', color: '#20344B', lineHeight: 1.15 }}&gt;把三类事项分开，{'\n'}再把时间账算清&lt;/Text&gt;&#10;&#10;        &lt;Box style={{ width: 72, height: 4, background: '#276FBF' }} /&gt;&#10;&#10;        &lt;Text style={{ fontSize: 18, color: '#546779', lineHeight: 1.7, width: 900 }}&gt;一次性任务看是否重做，周期活动看是不是新实例，自愿承诺先看有没有人真正接受。&lt;/Text&gt;&#10;&#10;        &lt;Box style={{ flexDirection: 'row', alignItems: 'center', marginTop: 10 }}&gt;&#10;            &lt;Box style={{ width: 300, height: 64, background: '#EDF4FC', borderRadius: 8, justifyContent: 'center', alignItems: 'center' }}&gt;&#10;                &lt;Text style={{ fontSize: 18, color: '#276FBF' }}&gt;一次性：办完即结束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周期：新日期新实例&lt;/Text&gt;&#10;            &lt;/Box&gt;&#10;            &lt;Box style={{ width: 44, height: 64, justifyContent: 'center', alignItems: 'center' }}&gt;&#10;                &lt;Text style={{ fontSize: 26, color: '#CB6B28' }}&gt;›&lt;/Text&gt;&#10;            &lt;/Box&gt;&#10;            &lt;Box style={{ width: 300, height: 64, background: '#FFF4E6', borderRadius: 8, justifyContent: 'center', alignItems: 'center' }}&gt;&#10;                &lt;Text style={{ fontSize: 18, color: '#CB6B28' }}&gt;承诺：先接受才成立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8 长时程校园生活&lt;/Text&gt;&#10;        &lt;Text style={{ fontSize: 14, color: '#546779' }}&gt;03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609600" y="14478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1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4.8.1 — 4.8.2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609600" y="1828800"/>
            <a:ext cx="10972800" cy="14763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把三类事项分开，</a:t>
            </a:r>
            <a:endParaRPr/>
          </a:p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再把时间账算清</a:t>
            </a:r>
            <a:endParaRPr/>
          </a:p>
        </p:txBody>
      </p:sp>
      <p:sp>
        <p:nvSpPr>
          <p:cNvPr id="517" name=""/>
          <p:cNvSpPr/>
          <p:nvPr/>
        </p:nvSpPr>
        <p:spPr>
          <a:xfrm rot="0" flipH="0" flipV="0">
            <a:off x="609600" y="35147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609600" y="376237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一次性任务看是否重做，周期活动看是不是新实例，自愿承诺先看有没有人真正接受。</a:t>
            </a:r>
            <a:endParaRPr/>
          </a:p>
        </p:txBody>
      </p:sp>
      <p:sp>
        <p:nvSpPr>
          <p:cNvPr id="519" name=""/>
          <p:cNvSpPr/>
          <p:nvPr/>
        </p:nvSpPr>
        <p:spPr>
          <a:xfrm rot="0" flipH="0" flipV="0">
            <a:off x="609600" y="441960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1266825" y="4619625"/>
            <a:ext cx="1543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一次性：办完即结束</a:t>
            </a:r>
            <a:endParaRPr/>
          </a:p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3638550" y="45720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22" name=""/>
          <p:cNvSpPr/>
          <p:nvPr/>
        </p:nvSpPr>
        <p:spPr>
          <a:xfrm rot="0" flipH="0" flipV="0">
            <a:off x="3886200" y="441960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4543425" y="4619625"/>
            <a:ext cx="1543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周期：新日期新实例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6915150" y="45720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25" name=""/>
          <p:cNvSpPr/>
          <p:nvPr/>
        </p:nvSpPr>
        <p:spPr>
          <a:xfrm rot="0" flipH="0" flipV="0">
            <a:off x="7162800" y="441960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7820025" y="4619625"/>
            <a:ext cx="1543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CB6B28"/>
                </a:solidFill>
                <a:latin typeface="Microsoft YaHei"/>
                <a:ea typeface="Microsoft YaHei"/>
              </a:rPr>
              <a:t>承诺：先接受才成立</a:t>
            </a:r>
            <a:endParaRPr/>
          </a:p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长时程校园生活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27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529" name="" descr="&lt;Slide notes={`三类事项各自要办成什么、留下什么证据，我把它们摊开来看。&#10;&#10;一次性任务有三件：唐悠去咨询台核对阅览区约定，再准确转述给顾澄；顾澄提交一次观摩报名意向；罗予核对讨论室的使用说明，再转述给唐悠。前两件的证据不一样：唐悠那件要有真实回复、转述和顾澄的相关回应；顾澄那件只要对方对真实请求确认接收，就只证明意向被收到了，不能当成报名成功。&#10;&#10;周期活动是每天上午九点到十点倾向晨读，晚上八点到八点半倾向晚间整理，判定依据是活动名加上当地日期能不能识别出来，它不是内核强制的作息。&#10;&#10;自愿承诺是唐悠邀请顾澄最晚在十月十九日下午四点、在东八区的阅览区开始笔记交流。如果顾澄没有明确承诺自己的行动，唐悠的邀请不会自动变成承诺。&#10;&#10;三类放在一起看，才看得出哪些证据是必需的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8.1　把一次性任务、周期活动、承诺分开&lt;/Text&gt;&#10;            &lt;Text style={{ fontSize: 34, fontWeight: 'bold', color: '#20344B' }}&gt;同一天里，三件事的身份不同&lt;/Text&gt;&#10;        &lt;/Box&gt;&#10;    &lt;/Box&gt;&#10;&#10;    &lt;Box style={{ height: 540, flexDirection: 'column', justifyContent: 'center', gap: 12 }}&gt;&#10;&#10;        &lt;Box style={{ flexDirection: 'row', gap: 10, padding: '0 4px' }}&gt;&#10;            &lt;Text style={{ fontSize: 15, fontWeight: 'bold', color: '#546779', width: 220 }}&gt;类型&lt;/Text&gt;&#10;            &lt;Text style={{ fontSize: 15, fontWeight: 'bold', color: '#546779', width: 460 }}&gt;完整任务&lt;/Text&gt;&#10;            &lt;Text style={{ fontSize: 15, fontWeight: 'bold', color: '#546779', width: 452 }}&gt;成立证据&lt;/Text&gt;&#10;        &lt;/Box&gt;&#10;&#10;        &lt;Box style={{ width: 1152, height: 132, background: '#EDF4FC', borderRadius: 10, flexDirection: 'row', alignItems: 'center', gap: 10, padding: '0 16px' }}&gt;&#10;            &lt;Box style={{ width: 4, height: 100, background: '#276FBF' }} /&gt;&#10;            &lt;Box style={{ width: 216, flexDirection: 'column', gap: 6 }}&gt;&#10;                &lt;Text style={{ fontSize: 19, fontWeight: 'bold', color: '#276FBF' }}&gt;一次性任务&lt;/Text&gt;&#10;                &lt;Text style={{ fontSize: 14, color: '#546779' }}&gt;A / B / C 三件&lt;/Text&gt;&#10;            &lt;/Box&gt;&#10;            &lt;Box style={{ width: 450, flexDirection: 'column', gap: 5 }}&gt;&#10;                &lt;Text style={{ fontSize: 15, color: '#20344B', lineHeight: 1.5 }}&gt;A 唐悠核对阅览约定再转述顾澄&lt;/Text&gt;&#10;                &lt;Text style={{ fontSize: 15, color: '#20344B', lineHeight: 1.5 }}&gt;B 顾澄提交一次观摩报名意向&lt;/Text&gt;&#10;                &lt;Text style={{ fontSize: 15, color: '#20344B', lineHeight: 1.5 }}&gt;C 罗予核对讨论室说明再转述唐悠&lt;/Text&gt;&#10;            &lt;/Box&gt;&#10;            &lt;Box style={{ width: 442, flexDirection: 'column', gap: 5 }}&gt;&#10;                &lt;Text style={{ fontSize: 15, color: '#546779', lineHeight: 1.5 }}&gt;A 真实回复、转述与顾澄相关回应&lt;/Text&gt;&#10;                &lt;Text style={{ fontSize: 15, color: '#CB6B28', lineHeight: 1.5 }}&gt;B 对象确认接收，仅证明意向收到&lt;/Text&gt;&#10;                &lt;Text style={{ fontSize: 15, color: '#546779', lineHeight: 1.5 }}&gt;C 查询与消息链齐全&lt;/Text&gt;&#10;            &lt;/Box&gt;&#10;        &lt;/Box&gt;&#10;&#10;        &lt;Box style={{ width: 1152, height: 118, background: '#ECF7F2', borderRadius: 10, flexDirection: 'row', alignItems: 'center', gap: 10, padding: '0 16px' }}&gt;&#10;            &lt;Box style={{ width: 4, height: 86, background: '#26816B' }} /&gt;&#10;            &lt;Box style={{ width: 216, flexDirection: 'column', gap: 6 }}&gt;&#10;                &lt;Text style={{ fontSize: 19, fontWeight: 'bold', color: '#26816B' }}&gt;周期活动&lt;/Text&gt;&#10;                &lt;Text style={{ fontSize: 14, color: '#546779' }}&gt;按日期重复&lt;/Text&gt;&#10;            &lt;/Box&gt;&#10;            &lt;Box style={{ width: 450 }}&gt;&#10;                &lt;Text style={{ fontSize: 15, color: '#20344B', lineHeight: 1.55 }}&gt;每日 09:00–10:00 倾向晨读{'\n'}20:00–20:30 倾向晚间整理&lt;/Text&gt;&#10;            &lt;/Box&gt;&#10;            &lt;Box style={{ width: 442 }}&gt;&#10;                &lt;Text style={{ fontSize: 15, color: '#546779', lineHeight: 1.55 }}&gt;活动名＋当地日期可识别，不是内核强制；没有课程表把角色按到九点。&lt;/Text&gt;&#10;            &lt;/Box&gt;&#10;        &lt;/Box&gt;&#10;&#10;        &lt;Box style={{ width: 1152, height: 118, background: '#F4F7FA', borderRadius: 10, flexDirection: 'row', alignItems: 'center', gap: 10, padding: '0 16px' }}&gt;&#10;            &lt;Box style={{ width: 4, height: 86, background: '#CB6B28' }} /&gt;&#10;            &lt;Box style={{ width: 216, flexDirection: 'column', gap: 6 }}&gt;&#10;                &lt;Text style={{ fontSize: 19, fontWeight: 'bold', color: '#20344B' }}&gt;自愿承诺&lt;/Text&gt;&#10;                &lt;Text style={{ fontSize: 14, color: '#546779' }}&gt;邀请 → 接受&lt;/Text&gt;&#10;            &lt;/Box&gt;&#10;            &lt;Box style={{ width: 450 }}&gt;&#10;                &lt;Text style={{ fontSize: 15, color: '#20344B', lineHeight: 1.55 }}&gt;唐悠邀请顾澄最晚 2026-10-19 16:00 +08:00 在阅览区开始笔记交流&lt;/Text&gt;&#10;            &lt;/Box&gt;&#10;            &lt;Box style={{ width: 442 }}&gt;&#10;                &lt;Text style={{ fontSize: 15, color: '#546779', lineHeight: 1.55 }}&gt;顾澄明确承诺本人行动之后，才有一条属于顾澄的承诺；邀请不自动带出承诺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8 长时程校园生活&lt;/Text&gt;&#10;        &lt;Text style={{ fontSize: 14, color: '#546779' }}&gt;04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4.8.1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把一次性任务、周期活动、承诺分开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同一天里，三件事的身份不同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647700" y="1704975"/>
            <a:ext cx="2076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类型</a:t>
            </a:r>
            <a:endParaRPr/>
          </a:p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2819400" y="1704975"/>
            <a:ext cx="4352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完整任务</a:t>
            </a:r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7267575" y="1704975"/>
            <a:ext cx="4276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成立证据</a:t>
            </a:r>
            <a:endParaRPr/>
          </a:p>
        </p:txBody>
      </p:sp>
      <p:sp>
        <p:nvSpPr>
          <p:cNvPr id="537" name=""/>
          <p:cNvSpPr/>
          <p:nvPr/>
        </p:nvSpPr>
        <p:spPr>
          <a:xfrm rot="0" flipH="0" flipV="0">
            <a:off x="609600" y="1990725"/>
            <a:ext cx="10972800" cy="1257300"/>
          </a:xfrm>
          <a:prstGeom prst="roundRect">
            <a:avLst>
              <a:gd name="adj" fmla="val 757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38" name=""/>
          <p:cNvSpPr/>
          <p:nvPr/>
        </p:nvSpPr>
        <p:spPr>
          <a:xfrm rot="0" flipH="0" flipV="0">
            <a:off x="762000" y="2143125"/>
            <a:ext cx="38100" cy="952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895350" y="2400300"/>
            <a:ext cx="2057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一次性任务</a:t>
            </a:r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895350" y="2676525"/>
            <a:ext cx="2057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A / B / C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三件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3009900" y="2190750"/>
            <a:ext cx="4286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唐悠核对阅览约定再转述顾澄</a:t>
            </a:r>
            <a:endParaRPr/>
          </a:p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3009900" y="2495550"/>
            <a:ext cx="4286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顾澄提交一次观摩报名意向</a:t>
            </a:r>
            <a:endParaRPr/>
          </a:p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3009900" y="2800350"/>
            <a:ext cx="4286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C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罗予核对讨论室说明再转述唐悠</a:t>
            </a:r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7305675" y="2190750"/>
            <a:ext cx="42100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真实回复、转述与顾澄相关回应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7305675" y="2495550"/>
            <a:ext cx="42100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对象确认接收，仅证明意向收到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7305675" y="2800350"/>
            <a:ext cx="42100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C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查询与消息链齐全</a:t>
            </a:r>
            <a:endParaRPr/>
          </a:p>
        </p:txBody>
      </p:sp>
      <p:sp>
        <p:nvSpPr>
          <p:cNvPr id="547" name=""/>
          <p:cNvSpPr/>
          <p:nvPr/>
        </p:nvSpPr>
        <p:spPr>
          <a:xfrm rot="0" flipH="0" flipV="0">
            <a:off x="609600" y="3362325"/>
            <a:ext cx="10972800" cy="1123950"/>
          </a:xfrm>
          <a:prstGeom prst="roundRect">
            <a:avLst>
              <a:gd name="adj" fmla="val 847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48" name=""/>
          <p:cNvSpPr/>
          <p:nvPr/>
        </p:nvSpPr>
        <p:spPr>
          <a:xfrm rot="0" flipH="0" flipV="0">
            <a:off x="762000" y="3514725"/>
            <a:ext cx="38100" cy="8191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895350" y="3705225"/>
            <a:ext cx="2057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周期活动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895350" y="3981450"/>
            <a:ext cx="2057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按日期重复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3009900" y="3657600"/>
            <a:ext cx="4286250" cy="5334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每日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09:00–10:00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倾向晨读</a:t>
            </a:r>
            <a:endParaRPr/>
          </a:p>
          <a:p>
            <a:pPr>
              <a:lnSpc>
                <a:spcPct val="155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20:00–20:30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倾向晚间整理</a:t>
            </a:r>
            <a:endParaRPr/>
          </a:p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7305675" y="3657600"/>
            <a:ext cx="42100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活动名＋当地日期可识别，不是内核强制；没有课程表把角色按到九点。</a:t>
            </a:r>
            <a:endParaRPr/>
          </a:p>
        </p:txBody>
      </p:sp>
      <p:sp>
        <p:nvSpPr>
          <p:cNvPr id="553" name=""/>
          <p:cNvSpPr/>
          <p:nvPr/>
        </p:nvSpPr>
        <p:spPr>
          <a:xfrm rot="0" flipH="0" flipV="0">
            <a:off x="609600" y="4600575"/>
            <a:ext cx="10972800" cy="1123950"/>
          </a:xfrm>
          <a:prstGeom prst="roundRect">
            <a:avLst>
              <a:gd name="adj" fmla="val 847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54" name=""/>
          <p:cNvSpPr/>
          <p:nvPr/>
        </p:nvSpPr>
        <p:spPr>
          <a:xfrm rot="0" flipH="0" flipV="0">
            <a:off x="762000" y="4752975"/>
            <a:ext cx="38100" cy="8191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895350" y="4943475"/>
            <a:ext cx="2057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自愿承诺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895350" y="5219700"/>
            <a:ext cx="2057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邀请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接受</a:t>
            </a:r>
            <a:endParaRPr/>
          </a:p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3009900" y="4895850"/>
            <a:ext cx="42862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唐悠邀请顾澄最晚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2026-10-19 16:00 +08:00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在阅览区开始笔记交流</a:t>
            </a:r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7305675" y="4895850"/>
            <a:ext cx="42100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顾澄明确承诺本人行动之后，才有一条属于顾澄的承诺；邀请不自动带出承诺。</a:t>
            </a:r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长时程校园生活</a:t>
            </a:r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27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561" name="" descr="&lt;Slide notes={`承诺这件事最容易记错，我把它单独拿出来说。&#10;&#10;一条承诺按三样东西识别：承诺者、内容、完整的截止时间。唐悠邀请顾澄最晚十月十九日下午四点、东八区，在阅览区开始笔记交流——这是一次邀请，不是承诺。邀请不等于接受，也不会自动给邀请者加一条承诺：唐悠提出邀请，不因此多出一条“唐悠必须去”的承诺。&#10;&#10;只有当顾澄明确承诺自己的行动之后，才有属于顾澄的那一条承诺。如果两个人都明确表态，才计两条。&#10;&#10;兑现也有硬标准：本人要实际到阅览区，并且在截止之前或者当时，向约定的对象说出实质的笔记内容。只是到场、或者自己声称“我们交流过了”，都不算兑现。这条标准写得这么细，是为了让判分不依赖谁的主观感受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8.1　承诺者、内容与完整截止时间&lt;/Text&gt;&#10;            &lt;Text style={{ fontSize: 34, fontWeight: 'bold', color: '#20344B' }}&gt;邀请不等于接受&lt;/Text&gt;&#10;        &lt;/Box&gt;&#10;    &lt;/Box&gt;&#10;&#10;    &lt;Box style={{ height: 540, flexDirection: 'row', alignItems: 'center', gap: 32 }}&gt;&#10;&#10;        &lt;Box style={{ width: 620, flexDirection: 'column', justifyContent: 'center', gap: 8 }}&gt;&#10;&#10;            &lt;Box style={{ width: 620, height: 78, background: '#EDF4FC', borderRadius: 10, padding: '0 20px', flexDirection: 'row', alignItems: 'center', gap: 14 }}&gt;&#10;                &lt;Text style={{ fontSize: 18, fontWeight: 'bold', color: '#276FBF', width: 76 }}&gt;邀请&lt;/Text&gt;&#10;                &lt;Text style={{ fontSize: 15, color: '#20344B', flex: 1, lineHeight: 1.5 }}&gt;唐悠邀请顾澄最晚 10-19 16:00 +08:00 在阅览区交流笔记&lt;/Text&gt;&#10;            &lt;/Box&gt;&#10;&#10;            &lt;Box style={{ width: 620, height: 34, justifyContent: 'center', alignItems: 'center' }}&gt;&#10;                &lt;Text style={{ fontSize: 22, color: '#276FBF' }}&gt;↓&lt;/Text&gt;&#10;            &lt;/Box&gt;&#10;&#10;            &lt;Box style={{ width: 620, height: 78, background: '#ECF7F2', borderRadius: 10, padding: '0 20px', flexDirection: 'row', alignItems: 'center', gap: 14 }}&gt;&#10;                &lt;Text style={{ fontSize: 18, fontWeight: 'bold', color: '#26816B', width: 76 }}&gt;接受&lt;/Text&gt;&#10;                &lt;Text style={{ fontSize: 15, color: '#20344B', flex: 1, lineHeight: 1.5 }}&gt;顾澄明确承诺的是本人的行动，而不是“知道了”或“再说吧”&lt;/Text&gt;&#10;            &lt;/Box&gt;&#10;&#10;            &lt;Box style={{ width: 620, height: 34, justifyContent: 'center', alignItems: 'center' }}&gt;&#10;                &lt;Text style={{ fontSize: 22, color: '#26816B' }}&gt;↓&lt;/Text&gt;&#10;            &lt;/Box&gt;&#10;&#10;            &lt;Box style={{ width: 620, height: 122, background: '#F4F7FA', borderRadius: 10, padding: '14px 20px', flexDirection: 'column', gap: 8, justifyContent: 'center' }}&gt;&#10;                &lt;Text style={{ fontSize: 18, fontWeight: 'bold', color: '#20344B' }}&gt;一条承诺＝承诺者 ＋ 内容 ＋ 完整截止时间&lt;/Text&gt;&#10;                &lt;Box style={{ flexDirection: 'row', gap: 8 }}&gt;&#10;                    &lt;Box style={{ width: 178, height: 34, background: '#FFFFFF', borderRadius: 6, justifyContent: 'center', alignItems: 'center' }}&gt;&#10;                        &lt;Text style={{ fontSize: 14, color: '#276FBF' }}&gt;承诺者&lt;/Text&gt;&#10;                    &lt;/Box&gt;&#10;                    &lt;Box style={{ width: 178, height: 34, background: '#FFFFFF', borderRadius: 6, justifyContent: 'center', alignItems: 'center' }}&gt;&#10;                        &lt;Text style={{ fontSize: 14, color: '#276FBF' }}&gt;内容&lt;/Text&gt;&#10;                    &lt;/Box&gt;&#10;                    &lt;Box style={{ width: 188, height: 34, background: '#FFFFFF', borderRadius: 6, justifyContent: 'center', alignItems: 'center' }}&gt;&#10;                        &lt;Text style={{ fontSize: 14, color: '#276FBF' }}&gt;完整截止时间&lt;/Text&gt;&#10;                    &lt;/Box&gt;&#10;                &lt;/Box&gt;&#10;            &lt;/Box&gt;&#10;&#10;        &lt;/Box&gt;&#10;&#10;        &lt;Box style={{ width: 500, flexDirection: 'column', justifyContent: 'center', gap: 18 }}&gt;&#10;&#10;            &lt;Box style={{ width: 500, height: 178, background: '#FFF4E6', borderRadius: 10, padding: '18px 22px', flexDirection: 'column', gap: 8, justifyContent: 'center' }}&gt;&#10;                &lt;Text style={{ fontSize: 20, fontWeight: 'bold', color: '#CB6B28' }}&gt;邀请不自动添加承诺&lt;/Text&gt;&#10;                &lt;Text style={{ fontSize: 15, color: '#546779', lineHeight: 1.6 }}&gt;邀请不等于接受；唐悠发出邀请，不会因此多出一条属于她的承诺。要两人都明确自我承诺，才计两条。&lt;/Text&gt;&#10;            &lt;/Box&gt;&#10;&#10;            &lt;Box style={{ width: 500, height: 178, background: '#EDF4FC', borderRadius: 10, padding: '18px 22px', flexDirection: 'column', gap: 8, justifyContent: 'center' }}&gt;&#10;                &lt;Text style={{ fontSize: 20, fontWeight: 'bold', color: '#276FBF' }}&gt;兑现看得见才算&lt;/Text&gt;&#10;                &lt;Text style={{ fontSize: 15, color: '#546779', lineHeight: 1.6 }}&gt;本人实际到阅览区，并在截止前或当时向约定对象说出实质笔记内容。仅到场、或自称交流过，都不算兑现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8 长时程校园生活&lt;/Text&gt;&#10;        &lt;Text style={{ fontSize: 14, color: '#546779' }}&gt;05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4.8.1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承诺者、内容与完整截止时间</a:t>
            </a:r>
            <a:endParaRPr/>
          </a:p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266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邀请不等于接受</a:t>
            </a:r>
            <a:endParaRPr/>
          </a:p>
        </p:txBody>
      </p:sp>
      <p:sp>
        <p:nvSpPr>
          <p:cNvPr id="566" name=""/>
          <p:cNvSpPr/>
          <p:nvPr/>
        </p:nvSpPr>
        <p:spPr>
          <a:xfrm rot="0" flipH="0" flipV="0">
            <a:off x="609600" y="1914525"/>
            <a:ext cx="5905500" cy="742950"/>
          </a:xfrm>
          <a:prstGeom prst="roundRect">
            <a:avLst>
              <a:gd name="adj" fmla="val 1282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800100" y="2181225"/>
            <a:ext cx="723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邀请</a:t>
            </a:r>
            <a:endParaRPr/>
          </a:p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1657350" y="2162175"/>
            <a:ext cx="4667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唐悠邀请顾澄最晚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10-19 16:00 +08:00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在阅览区交流笔记</a:t>
            </a:r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3514725" y="2771775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570" name=""/>
          <p:cNvSpPr/>
          <p:nvPr/>
        </p:nvSpPr>
        <p:spPr>
          <a:xfrm rot="0" flipH="0" flipV="0">
            <a:off x="609600" y="3133725"/>
            <a:ext cx="5905500" cy="742950"/>
          </a:xfrm>
          <a:prstGeom prst="roundRect">
            <a:avLst>
              <a:gd name="adj" fmla="val 1282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800100" y="3400425"/>
            <a:ext cx="723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接受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1657350" y="3381375"/>
            <a:ext cx="4667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顾澄明确承诺的是本人的行动，而不是“知道了”或“再说吧”</a:t>
            </a:r>
            <a:endParaRPr/>
          </a:p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3514725" y="3990975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574" name=""/>
          <p:cNvSpPr/>
          <p:nvPr/>
        </p:nvSpPr>
        <p:spPr>
          <a:xfrm rot="0" flipH="0" flipV="0">
            <a:off x="609600" y="4352925"/>
            <a:ext cx="5905500" cy="1162050"/>
          </a:xfrm>
          <a:prstGeom prst="roundRect">
            <a:avLst>
              <a:gd name="adj" fmla="val 819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800100" y="4629150"/>
            <a:ext cx="5524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一条承诺＝承诺者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＋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内容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＋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完整截止时间</a:t>
            </a:r>
            <a:endParaRPr/>
          </a:p>
        </p:txBody>
      </p:sp>
      <p:sp>
        <p:nvSpPr>
          <p:cNvPr id="576" name=""/>
          <p:cNvSpPr/>
          <p:nvPr/>
        </p:nvSpPr>
        <p:spPr>
          <a:xfrm rot="0" flipH="0" flipV="0">
            <a:off x="800100" y="4914900"/>
            <a:ext cx="16954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1447800" y="50006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承诺者</a:t>
            </a:r>
            <a:endParaRPr/>
          </a:p>
        </p:txBody>
      </p:sp>
      <p:sp>
        <p:nvSpPr>
          <p:cNvPr id="578" name=""/>
          <p:cNvSpPr/>
          <p:nvPr/>
        </p:nvSpPr>
        <p:spPr>
          <a:xfrm rot="0" flipH="0" flipV="0">
            <a:off x="2571750" y="4914900"/>
            <a:ext cx="16954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3286125" y="500062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内容</a:t>
            </a:r>
            <a:endParaRPr/>
          </a:p>
        </p:txBody>
      </p:sp>
      <p:sp>
        <p:nvSpPr>
          <p:cNvPr id="580" name=""/>
          <p:cNvSpPr/>
          <p:nvPr/>
        </p:nvSpPr>
        <p:spPr>
          <a:xfrm rot="0" flipH="0" flipV="0">
            <a:off x="4343400" y="4914900"/>
            <a:ext cx="17907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4838700" y="500062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完整截止时间</a:t>
            </a:r>
            <a:endParaRPr/>
          </a:p>
        </p:txBody>
      </p:sp>
      <p:sp>
        <p:nvSpPr>
          <p:cNvPr id="582" name=""/>
          <p:cNvSpPr/>
          <p:nvPr/>
        </p:nvSpPr>
        <p:spPr>
          <a:xfrm rot="0" flipH="0" flipV="0">
            <a:off x="6819900" y="1933575"/>
            <a:ext cx="4762500" cy="1695450"/>
          </a:xfrm>
          <a:prstGeom prst="roundRect">
            <a:avLst>
              <a:gd name="adj" fmla="val 561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7029450" y="2352675"/>
            <a:ext cx="4343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邀请不自动添加承诺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7029450" y="2657475"/>
            <a:ext cx="43434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邀请不等于接受；唐悠发出邀请，不会因此多出一条属于她的承诺。要两人都明确自我承诺，才计两条。</a:t>
            </a:r>
            <a:endParaRPr/>
          </a:p>
        </p:txBody>
      </p:sp>
      <p:sp>
        <p:nvSpPr>
          <p:cNvPr id="585" name=""/>
          <p:cNvSpPr/>
          <p:nvPr/>
        </p:nvSpPr>
        <p:spPr>
          <a:xfrm rot="0" flipH="0" flipV="0">
            <a:off x="6819900" y="3800475"/>
            <a:ext cx="4762500" cy="1695450"/>
          </a:xfrm>
          <a:prstGeom prst="roundRect">
            <a:avLst>
              <a:gd name="adj" fmla="val 561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7029450" y="4219575"/>
            <a:ext cx="4343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兑现看得见才算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7029450" y="4524375"/>
            <a:ext cx="43434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本人实际到阅览区，并在截止前或当时向约定对象说出实质笔记内容。仅到场、或自称交流过，都不算兑现。</a:t>
            </a:r>
            <a:endParaRPr/>
          </a:p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长时程校园生活</a:t>
            </a:r>
            <a:endParaRPr/>
          </a:p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27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590" name="" descr="&lt;Slide notes={`接下来把信息边界立好，这一步决定了实验有没有意义。&#10;&#10;休息区那个咨询台手里只有三条固定资料：阅览区要安静，可以交流的地方是讨论区；报名只记本周的意向；讨论室使用之前要先确认当前的说明。它没有真实的座位、库存，也没有报名锁，所以它给出的是一段文字说明，不是一次真实的资源占用。&#10;&#10;另一个关键是初始目标：只把各自的任务放进各自手里，不共享全部答案，也不公开别人的进度。如果一上来每个人都知道该找谁、谁办到哪一步，那后面观察到的“重复执行”和“遗漏”就都不是自然发生的了。&#10;&#10;这两条合起来，才让“昨天办完的事今天会不会重做”变成一个可以观察的问题，而不是我提前写好的答案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8.1　咨询台与初始信息边界&lt;/Text&gt;&#10;            &lt;Text style={{ fontSize: 34, fontWeight: 'bold', color: '#20344B' }}&gt;咨询台知道什么，谁不该知道&lt;/Text&gt;&#10;        &lt;/Box&gt;&#10;    &lt;/Box&gt;&#10;&#10;    &lt;Box style={{ height: 540, flexDirection: 'row', alignItems: 'center', gap: 32 }}&gt;&#10;&#10;        &lt;Box style={{ width: 700, flexDirection: 'column', justifyContent: 'center', gap: 12 }}&gt;&#10;            &lt;Text style={{ fontSize: 16, fontWeight: 'bold', color: '#546779' }}&gt;咨询台的固定资料（只有这三条）&lt;/Text&gt;&#10;&#10;            &lt;Box style={{ width: 700, height: 92, background: '#EDF4FC', borderRadius: 10, padding: '0 20px', flexDirection: 'row', alignItems: 'center', gap: 14 }}&gt;&#10;                &lt;Box style={{ width: 4, height: 60, background: '#276FBF' }} /&gt;&#10;                &lt;Text style={{ fontSize: 16, color: '#20344B', flex: 1, lineHeight: 1.55 }}&gt;阅览区要安静，可以交流的地方是讨论区&lt;/Text&gt;&#10;            &lt;/Box&gt;&#10;&#10;            &lt;Box style={{ width: 700, height: 92, background: '#EDF4FC', borderRadius: 10, padding: '0 20px', flexDirection: 'row', alignItems: 'center', gap: 14 }}&gt;&#10;                &lt;Box style={{ width: 4, height: 60, background: '#276FBF' }} /&gt;&#10;                &lt;Text style={{ fontSize: 16, color: '#20344B', flex: 1, lineHeight: 1.55 }}&gt;报名只记录本周的意向，不代表预留了名额&lt;/Text&gt;&#10;            &lt;/Box&gt;&#10;&#10;            &lt;Box style={{ width: 700, height: 92, background: '#EDF4FC', borderRadius: 10, padding: '0 20px', flexDirection: 'row', alignItems: 'center', gap: 14 }}&gt;&#10;                &lt;Box style={{ width: 4, height: 60, background: '#276FBF' }} /&gt;&#10;                &lt;Text style={{ fontSize: 16, color: '#20344B', flex: 1, lineHeight: 1.55 }}&gt;讨论室使用之前，先确认当前的使用说明&lt;/Text&gt;&#10;            &lt;/Box&gt;&#10;&#10;            &lt;Box style={{ width: 700, height: 76, background: '#FFF4E6', borderRadius: 10, padding: '0 20px', flexDirection: 'row', alignItems: 'center', gap: 14 }}&gt;&#10;                &lt;Text style={{ fontSize: 20, fontWeight: 'bold', color: '#CB6B28', width: 30 }}&gt;!&lt;/Text&gt;&#10;                &lt;Text style={{ fontSize: 15, color: '#546779', flex: 1, lineHeight: 1.55 }}&gt;它没有真实座位、库存或报名锁：说的是文字说明，不是一次资源占用&lt;/Text&gt;&#10;            &lt;/Box&gt;&#10;        &lt;/Box&gt;&#10;&#10;        &lt;Box style={{ width: 420, flexDirection: 'column', justifyContent: 'center', gap: 14 }}&gt;&#10;            &lt;Text style={{ fontSize: 16, fontWeight: 'bold', color: '#546779' }}&gt;初始目标只放各自任务&lt;/Text&gt;&#10;&#10;            &lt;Box style={{ width: 420, height: 116, background: '#F4F7FA', borderRadius: 10, padding: '16px 20px', flexDirection: 'column', gap: 6, justifyContent: 'center' }}&gt;&#10;                &lt;Text style={{ fontSize: 17, fontWeight: 'bold', color: '#20344B' }}&gt;不共享全部答案&lt;/Text&gt;&#10;                &lt;Text style={{ fontSize: 14, color: '#546779', lineHeight: 1.5 }}&gt;角色手里只有自己那件事的说明，没有全局答案表。&lt;/Text&gt;&#10;            &lt;/Box&gt;&#10;&#10;            &lt;Box style={{ width: 420, height: 116, background: '#F4F7FA', borderRadius: 10, padding: '16px 20px', flexDirection: 'column', gap: 6, justifyContent: 'center' }}&gt;&#10;                &lt;Text style={{ fontSize: 17, fontWeight: 'bold', color: '#20344B' }}&gt;不公开他人进度&lt;/Text&gt;&#10;                &lt;Text style={{ fontSize: 14, color: '#546779', lineHeight: 1.5 }}&gt;无法直接知道别人办到哪一步，只能靠真实消息与感知获得。&lt;/Text&gt;&#10;            &lt;/Box&gt;&#10;&#10;            &lt;Box style={{ width: 420, height: 92, background: '#ECF7F2', borderRadius: 10, padding: '14px 20px', flexDirection: 'column', gap: 4, justifyContent: 'center' }}&gt;&#10;                &lt;Text style={{ fontSize: 14, color: '#546779', lineHeight: 1.5 }}&gt;边界立好，重复与遗漏才是被观察到的行为，不是提前写好的答案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8 长时程校园生活&lt;/Text&gt;&#10;        &lt;Text style={{ fontSize: 14, color: '#546779' }}&gt;06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4.8.1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咨询台与初始信息边界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咨询台知道什么，谁不该知道</a:t>
            </a:r>
            <a:endParaRPr/>
          </a:p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609600" y="1714500"/>
            <a:ext cx="666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546779"/>
                </a:solidFill>
                <a:latin typeface="Microsoft YaHei"/>
                <a:ea typeface="Microsoft YaHei"/>
              </a:rPr>
              <a:t>咨询台的固定资料（只有这三条）</a:t>
            </a:r>
            <a:endParaRPr/>
          </a:p>
        </p:txBody>
      </p:sp>
      <p:sp>
        <p:nvSpPr>
          <p:cNvPr id="596" name=""/>
          <p:cNvSpPr/>
          <p:nvPr/>
        </p:nvSpPr>
        <p:spPr>
          <a:xfrm rot="0" flipH="0" flipV="0">
            <a:off x="609600" y="2019300"/>
            <a:ext cx="6667500" cy="876300"/>
          </a:xfrm>
          <a:prstGeom prst="roundRect">
            <a:avLst>
              <a:gd name="adj" fmla="val 1087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97" name=""/>
          <p:cNvSpPr/>
          <p:nvPr/>
        </p:nvSpPr>
        <p:spPr>
          <a:xfrm rot="0" flipH="0" flipV="0">
            <a:off x="800100" y="2171700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971550" y="2314575"/>
            <a:ext cx="61150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阅览区要安静，可以交流的地方是讨论区</a:t>
            </a:r>
            <a:endParaRPr/>
          </a:p>
        </p:txBody>
      </p:sp>
      <p:sp>
        <p:nvSpPr>
          <p:cNvPr id="599" name=""/>
          <p:cNvSpPr/>
          <p:nvPr/>
        </p:nvSpPr>
        <p:spPr>
          <a:xfrm rot="0" flipH="0" flipV="0">
            <a:off x="609600" y="3009900"/>
            <a:ext cx="6667500" cy="876300"/>
          </a:xfrm>
          <a:prstGeom prst="roundRect">
            <a:avLst>
              <a:gd name="adj" fmla="val 1087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00" name=""/>
          <p:cNvSpPr/>
          <p:nvPr/>
        </p:nvSpPr>
        <p:spPr>
          <a:xfrm rot="0" flipH="0" flipV="0">
            <a:off x="800100" y="3162300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971550" y="3305175"/>
            <a:ext cx="61150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报名只记录本周的意向，不代表预留了名额</a:t>
            </a:r>
            <a:endParaRPr/>
          </a:p>
        </p:txBody>
      </p:sp>
      <p:sp>
        <p:nvSpPr>
          <p:cNvPr id="602" name=""/>
          <p:cNvSpPr/>
          <p:nvPr/>
        </p:nvSpPr>
        <p:spPr>
          <a:xfrm rot="0" flipH="0" flipV="0">
            <a:off x="609600" y="4000500"/>
            <a:ext cx="6667500" cy="876300"/>
          </a:xfrm>
          <a:prstGeom prst="roundRect">
            <a:avLst>
              <a:gd name="adj" fmla="val 1087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03" name=""/>
          <p:cNvSpPr/>
          <p:nvPr/>
        </p:nvSpPr>
        <p:spPr>
          <a:xfrm rot="0" flipH="0" flipV="0">
            <a:off x="800100" y="4152900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971550" y="4295775"/>
            <a:ext cx="61150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讨论室使用之前，先确认当前的使用说明</a:t>
            </a:r>
            <a:endParaRPr/>
          </a:p>
        </p:txBody>
      </p:sp>
      <p:sp>
        <p:nvSpPr>
          <p:cNvPr id="605" name=""/>
          <p:cNvSpPr/>
          <p:nvPr/>
        </p:nvSpPr>
        <p:spPr>
          <a:xfrm rot="0" flipH="0" flipV="0">
            <a:off x="609600" y="4991100"/>
            <a:ext cx="6667500" cy="723900"/>
          </a:xfrm>
          <a:prstGeom prst="roundRect">
            <a:avLst>
              <a:gd name="adj" fmla="val 1315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800100" y="5238750"/>
            <a:ext cx="285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CB6B28"/>
                </a:solidFill>
                <a:latin typeface="Microsoft YaHei"/>
                <a:ea typeface="Microsoft YaHei"/>
              </a:rPr>
              <a:t>!</a:t>
            </a:r>
            <a:endParaRPr/>
          </a:p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1219200" y="5219700"/>
            <a:ext cx="58674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它没有真实座位、库存或报名锁：说的是文字说明，不是一次资源占用</a:t>
            </a:r>
            <a:endParaRPr/>
          </a:p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7581900" y="1876425"/>
            <a:ext cx="400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546779"/>
                </a:solidFill>
                <a:latin typeface="Microsoft YaHei"/>
                <a:ea typeface="Microsoft YaHei"/>
              </a:rPr>
              <a:t>初始目标只放各自任务</a:t>
            </a:r>
            <a:endParaRPr/>
          </a:p>
        </p:txBody>
      </p:sp>
      <p:sp>
        <p:nvSpPr>
          <p:cNvPr id="609" name=""/>
          <p:cNvSpPr/>
          <p:nvPr/>
        </p:nvSpPr>
        <p:spPr>
          <a:xfrm rot="0" flipH="0" flipV="0">
            <a:off x="7581900" y="2200275"/>
            <a:ext cx="400050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7772400" y="2505075"/>
            <a:ext cx="3619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不共享全部答案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7772400" y="2762250"/>
            <a:ext cx="3619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角色手里只有自己那件事的说明，没有全局答案表。</a:t>
            </a:r>
            <a:endParaRPr/>
          </a:p>
        </p:txBody>
      </p:sp>
      <p:sp>
        <p:nvSpPr>
          <p:cNvPr id="612" name=""/>
          <p:cNvSpPr/>
          <p:nvPr/>
        </p:nvSpPr>
        <p:spPr>
          <a:xfrm rot="0" flipH="0" flipV="0">
            <a:off x="7581900" y="3438525"/>
            <a:ext cx="400050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7772400" y="3743325"/>
            <a:ext cx="3619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不公开他人进度</a:t>
            </a:r>
            <a:endParaRPr/>
          </a:p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7772400" y="4000500"/>
            <a:ext cx="3619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无法直接知道别人办到哪一步，只能靠真实消息与感知获得。</a:t>
            </a:r>
            <a:endParaRPr/>
          </a:p>
        </p:txBody>
      </p:sp>
      <p:sp>
        <p:nvSpPr>
          <p:cNvPr id="615" name=""/>
          <p:cNvSpPr/>
          <p:nvPr/>
        </p:nvSpPr>
        <p:spPr>
          <a:xfrm rot="0" flipH="0" flipV="0">
            <a:off x="7581900" y="4676775"/>
            <a:ext cx="4000500" cy="876300"/>
          </a:xfrm>
          <a:prstGeom prst="roundRect">
            <a:avLst>
              <a:gd name="adj" fmla="val 1087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7772400" y="4876800"/>
            <a:ext cx="36195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边界立好，重复与遗漏才是被观察到的行为，不是提前写好的答案。</a:t>
            </a:r>
            <a:endParaRPr/>
          </a:p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长时程校园生活</a:t>
            </a:r>
            <a:endParaRPr/>
          </a:p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27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619" name="" descr="&lt;Slide notes={`长跑之前必须先把时间算清楚，否则连“跑够了没有”都说不清。&#10;&#10;起点定在十月十九日早上八点，东八区，每一步十分钟。第 k 步的时间就是起点加上 k 减一乘十分钟。十月十九日下午四点是顾澄那个承诺的截止，前提是他真的接受了邀请。到十月二十日零点，当地日期发生变化，这是唯一的跨日节点。&#10;&#10;跑满二十四小时，最后一步是第一百四十五步，落在二十日早上八点。要注意，一百四十四步只到早上七点五十分，也就是二十三小时五十分钟，差十分钟就不是满二十四小时。四十八小时对应二百八十九步，同理两百八十八步只到七点五十分。&#10;&#10;另外还有一个时间点：罗予承诺的十月二十日早上八点半，已经在二十四小时窗口之外，所以它仍然待履行，不能判成逾期失败。窗口包含末端提交，但不会倒回去把端点之后才收到的回复算进来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8.2　先算时间，再决定跑多久&lt;/Text&gt;&#10;            &lt;Text style={{ fontSize: 34, fontWeight: 'bold', color: '#20344B' }}&gt;从 Step1 到午夜，再到 24 小时窗口末&lt;/Text&gt;&#10;        &lt;/Box&gt;&#10;    &lt;/Box&gt;&#10;&#10;    &lt;Box style={{ height: 540, flexDirection: 'column', justifyContent: 'center', gap: 16 }}&gt;&#10;&#10;        &lt;Box style={{ width: 1152, height: 396, background: '#F4F7FA', borderRadius: 12, padding: '18px 24px', flexDirection: 'column', gap: 16, justifyContent: 'center' }}&gt;&#10;&#10;            &lt;Box style={{ flexDirection: 'row', alignItems: 'center', gap: 10 }}&gt;&#10;                &lt;Box style={{ width: 84, height: 30, background: '#CB6B28', borderRadius: 8, justifyContent: 'center', alignItems: 'center' }}&gt;&#10;                    &lt;Text style={{ fontSize: 15, fontWeight: 'bold', color: '#FFFFFF' }}&gt;示意&lt;/Text&gt;&#10;                &lt;/Box&gt;&#10;                &lt;Text style={{ fontSize: 14, color: '#546779' }}&gt;候选时间链　Asia/Shanghai（+08:00）　每步 10 分钟　节点间距不代表时长&lt;/Text&gt;&#10;            &lt;/Box&gt;&#10;&#10;            &lt;Box style={{ flexDirection: 'row', alignItems: 'center' }}&gt;&#10;                &lt;Box style={{ width: 184, height: 88, background: '#EDF4FC', borderRadius: 8, flexDirection: 'column', gap: 4, justifyContent: 'center', alignItems: 'center' }}&gt;&#10;                    &lt;Text style={{ fontSize: 15, fontWeight: 'bold', color: '#276FBF' }}&gt;10-19 08:00&lt;/Text&gt;&#10;                    &lt;Text style={{ fontSize: 14, color: '#546779' }}&gt;Step1 起点&lt;/Text&gt;&#10;                &lt;/Box&gt;&#10;                &lt;Box style={{ width: 44, height: 88, justifyContent: 'center', alignItems: 'center' }}&gt;&#10;                    &lt;Text style={{ fontSize: 24, color: '#276FBF' }}&gt;›&lt;/Text&gt;&#10;                &lt;/Box&gt;&#10;                &lt;Box style={{ width: 184, height: 88, background: '#EDF4FC', borderRadius: 8, flexDirection: 'column', gap: 4, justifyContent: 'center', alignItems: 'center' }}&gt;&#10;                    &lt;Text style={{ fontSize: 15, fontWeight: 'bold', color: '#276FBF' }}&gt;10-19 16:00&lt;/Text&gt;&#10;                    &lt;Text style={{ fontSize: 14, color: '#546779' }}&gt;顾澄承诺截止&lt;/Text&gt;&#10;                &lt;/Box&gt;&#10;                &lt;Box style={{ width: 44, height: 88, justifyContent: 'center', alignItems: 'center' }}&gt;&#10;                    &lt;Text style={{ fontSize: 24, color: '#276FBF' }}&gt;›&lt;/Text&gt;&#10;                &lt;/Box&gt;&#10;                &lt;Box style={{ width: 184, height: 88, background: '#CB6B28', borderRadius: 8, flexDirection: 'column', gap: 4, justifyContent: 'center', alignItems: 'center' }}&gt;&#10;                    &lt;Text style={{ fontSize: 15, fontWeight: 'bold', color: '#FFFFFF' }}&gt;10-20 00:00&lt;/Text&gt;&#10;                    &lt;Text style={{ fontSize: 14, color: '#FFF4E6' }}&gt;午夜·当地日期变化&lt;/Text&gt;&#10;                &lt;/Box&gt;&#10;                &lt;Box style={{ width: 44, height: 88, justifyContent: 'center', alignItems: 'center' }}&gt;&#10;                    &lt;Text style={{ fontSize: 24, color: '#276FBF' }}&gt;›&lt;/Text&gt;&#10;                &lt;/Box&gt;&#10;                &lt;Box style={{ width: 184, height: 88, background: '#EDF4FC', borderRadius: 8, flexDirection: 'column', gap: 4, justifyContent: 'center', alignItems: 'center' }}&gt;&#10;                    &lt;Text style={{ fontSize: 15, fontWeight: 'bold', color: '#276FBF' }}&gt;10-20 08:00&lt;/Text&gt;&#10;                    &lt;Text style={{ fontSize: 14, color: '#546779' }}&gt;Step145 窗口末&lt;/Text&gt;&#10;                &lt;/Box&gt;&#10;                &lt;Box style={{ width: 44, height: 88, justifyContent: 'center', alignItems: 'center' }}&gt;&#10;                    &lt;Text style={{ fontSize: 20, color: '#CB6B28' }}&gt;- -&lt;/Text&gt;&#10;                &lt;/Box&gt;&#10;                &lt;Box style={{ width: 156, height: 88, background: '#FFF4E6', borderRadius: 8, flexDirection: 'column', gap: 4, justifyContent: 'center', alignItems: 'center' }}&gt;&#10;                    &lt;Text style={{ fontSize: 15, fontWeight: 'bold', color: '#CB6B28' }}&gt;10-20 08:30&lt;/Text&gt;&#10;                    &lt;Text style={{ fontSize: 13, color: '#546779' }}&gt;罗予截止·窗口外&lt;/Text&gt;&#10;                &lt;/Box&gt;&#10;            &lt;/Box&gt;&#10;&#10;            &lt;Box style={{ flexDirection: 'row', gap: 12 }}&gt;&#10;                &lt;Box style={{ width: 560, height: 92, background: '#ECF7F2', borderRadius: 8, padding: '12px 16px', flexDirection: 'column', gap: 4, justifyContent: 'center' }}&gt;&#10;                    &lt;Text style={{ fontSize: 15, fontWeight: 'bold', color: '#26816B' }}&gt;午夜之后才可能触发对照整理&lt;/Text&gt;&#10;                    &lt;Text style={{ fontSize: 14, color: '#546779', lineHeight: 1.5 }}&gt;首次检测到日期变化，且本日尚未成功整理，才多调用一次整理。&lt;/Text&gt;&#10;                &lt;/Box&gt;&#10;                &lt;Box style={{ width: 532, height: 92, background: '#FFFFFF', borderRadius: 8, padding: '12px 16px', flexDirection: 'column', gap: 4, justifyContent: 'center' }}&gt;&#10;                    &lt;Text style={{ fontSize: 15, fontWeight: 'bold', color: '#20344B' }}&gt;窗口末之后的提交只算待履行&lt;/Text&gt;&#10;                    &lt;Text style={{ fontSize: 14, color: '#546779', lineHeight: 1.5 }}&gt;08:30 在观察范围外，不能判逾期；截止与触发条件都不是已发生行为。&lt;/Text&gt;&#10;                &lt;/Box&gt;&#10;            &lt;/Box&gt;&#10;&#10;        &lt;/Box&gt;&#10;&#10;        &lt;Box style={{ width: 1152, height: 92, background: '#EDF4FC', borderRadius: 10, padding: '0 22px', flexDirection: 'row', alignItems: 'center', gap: 18 }}&gt;&#10;            &lt;Box style={{ width: 4, height: 56, background: '#276FBF' }} /&gt;&#10;            &lt;Text style={{ fontSize: 16, color: '#546779', lineHeight: 1.6, flex: 1 }}&gt;主比较 24 小时，48 小时另登记；不因一组没成功而延长窗口。窗口含末端提交，不倒填端点之后才收到的回复。&lt;/Text&gt;&#10;        &lt;/Box&gt;&#10;&#10;    &lt;/Box&gt;&#10;&#10;    &lt;Box style={{ height: 40, flexDirection: 'row', justifyContent: 'space-between', alignItems: 'center' }}&gt;&#10;        &lt;Text style={{ fontSize: 14, color: '#546779' }}&gt;4.8 长时程校园生活&lt;/Text&gt;&#10;        &lt;Text style={{ fontSize: 14, color: '#546779' }}&gt;07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5600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4.8.2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先算时间，再决定跑多久</a:t>
            </a:r>
            <a:endParaRPr/>
          </a:p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56007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从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Step1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到午夜，再到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24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小时窗口末</a:t>
            </a:r>
            <a:endParaRPr/>
          </a:p>
        </p:txBody>
      </p:sp>
      <p:sp>
        <p:nvSpPr>
          <p:cNvPr id="624" name=""/>
          <p:cNvSpPr/>
          <p:nvPr/>
        </p:nvSpPr>
        <p:spPr>
          <a:xfrm rot="0" flipH="0" flipV="0">
            <a:off x="609600" y="1314450"/>
            <a:ext cx="10972800" cy="3771900"/>
          </a:xfrm>
          <a:prstGeom prst="roundRect">
            <a:avLst>
              <a:gd name="adj" fmla="val 303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25" name=""/>
          <p:cNvSpPr/>
          <p:nvPr/>
        </p:nvSpPr>
        <p:spPr>
          <a:xfrm rot="0" flipH="0" flipV="0">
            <a:off x="838200" y="2047875"/>
            <a:ext cx="800100" cy="285750"/>
          </a:xfrm>
          <a:prstGeom prst="roundRect">
            <a:avLst>
              <a:gd name="adj" fmla="val 26667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1095375" y="210502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1733550" y="2114550"/>
            <a:ext cx="4667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候选时间链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Asia/Shanghai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（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+08:00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）　每步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分钟　节点间距不代表时长</a:t>
            </a:r>
            <a:endParaRPr/>
          </a:p>
        </p:txBody>
      </p:sp>
      <p:sp>
        <p:nvSpPr>
          <p:cNvPr id="628" name=""/>
          <p:cNvSpPr/>
          <p:nvPr/>
        </p:nvSpPr>
        <p:spPr>
          <a:xfrm rot="0" flipH="0" flipV="0">
            <a:off x="838200" y="2486025"/>
            <a:ext cx="1752600" cy="83820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1285875" y="272415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10-19 08:00</a:t>
            </a:r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1381125" y="2933700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Step1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起点</a:t>
            </a:r>
            <a:endParaRPr/>
          </a:p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2762250" y="277177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32" name=""/>
          <p:cNvSpPr/>
          <p:nvPr/>
        </p:nvSpPr>
        <p:spPr>
          <a:xfrm rot="0" flipH="0" flipV="0">
            <a:off x="3009900" y="2486025"/>
            <a:ext cx="1752600" cy="83820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3457575" y="272415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10-19 16:00</a:t>
            </a:r>
            <a:endParaRPr/>
          </a:p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3486150" y="293370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顾澄承诺截止</a:t>
            </a:r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4933950" y="277177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36" name=""/>
          <p:cNvSpPr/>
          <p:nvPr/>
        </p:nvSpPr>
        <p:spPr>
          <a:xfrm rot="0" flipH="0" flipV="0">
            <a:off x="5181600" y="2486025"/>
            <a:ext cx="1752600" cy="838200"/>
          </a:xfrm>
          <a:prstGeom prst="roundRect">
            <a:avLst>
              <a:gd name="adj" fmla="val 9091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5629275" y="272415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10-20 00:00</a:t>
            </a:r>
            <a:endParaRPr/>
          </a:p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5505450" y="2933700"/>
            <a:ext cx="1104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4E6"/>
                </a:solidFill>
                <a:latin typeface="Microsoft YaHei"/>
                <a:ea typeface="Microsoft YaHei"/>
              </a:rPr>
              <a:t>午夜·当地日期变化</a:t>
            </a:r>
            <a:endParaRPr/>
          </a:p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7105650" y="277177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40" name=""/>
          <p:cNvSpPr/>
          <p:nvPr/>
        </p:nvSpPr>
        <p:spPr>
          <a:xfrm rot="0" flipH="0" flipV="0">
            <a:off x="7353300" y="2486025"/>
            <a:ext cx="1752600" cy="83820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7800975" y="272415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10-20 08:00</a:t>
            </a:r>
            <a:endParaRPr/>
          </a:p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7753350" y="2933700"/>
            <a:ext cx="96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Step145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窗口末</a:t>
            </a:r>
            <a:endParaRPr/>
          </a:p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9201150" y="2790825"/>
            <a:ext cx="228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B6B28"/>
                </a:solidFill>
                <a:latin typeface="Microsoft YaHei"/>
                <a:ea typeface="Microsoft YaHei"/>
              </a:rPr>
              <a:t>- -</a:t>
            </a:r>
            <a:endParaRPr/>
          </a:p>
        </p:txBody>
      </p:sp>
      <p:sp>
        <p:nvSpPr>
          <p:cNvPr id="644" name=""/>
          <p:cNvSpPr/>
          <p:nvPr/>
        </p:nvSpPr>
        <p:spPr>
          <a:xfrm rot="0" flipH="0" flipV="0">
            <a:off x="9525000" y="2486025"/>
            <a:ext cx="1485900" cy="838200"/>
          </a:xfrm>
          <a:prstGeom prst="roundRect">
            <a:avLst>
              <a:gd name="adj" fmla="val 90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9839325" y="272415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CB6B28"/>
                </a:solidFill>
                <a:latin typeface="Microsoft YaHei"/>
                <a:ea typeface="Microsoft YaHei"/>
              </a:rPr>
              <a:t>10-20 08:30</a:t>
            </a:r>
            <a:endParaRPr/>
          </a:p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9820275" y="2933700"/>
            <a:ext cx="904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罗予截止·窗口外</a:t>
            </a:r>
            <a:endParaRPr/>
          </a:p>
        </p:txBody>
      </p:sp>
      <p:sp>
        <p:nvSpPr>
          <p:cNvPr id="647" name=""/>
          <p:cNvSpPr/>
          <p:nvPr/>
        </p:nvSpPr>
        <p:spPr>
          <a:xfrm rot="0" flipH="0" flipV="0">
            <a:off x="838200" y="3476625"/>
            <a:ext cx="5334000" cy="876300"/>
          </a:xfrm>
          <a:prstGeom prst="roundRect">
            <a:avLst>
              <a:gd name="adj" fmla="val 869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990600" y="3686175"/>
            <a:ext cx="502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午夜之后才可能触发对照整理</a:t>
            </a:r>
            <a:endParaRPr/>
          </a:p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990600" y="3895725"/>
            <a:ext cx="50292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首次检测到日期变化，且本日尚未成功整理，才多调用一次整理。</a:t>
            </a:r>
            <a:endParaRPr/>
          </a:p>
        </p:txBody>
      </p:sp>
      <p:sp>
        <p:nvSpPr>
          <p:cNvPr id="650" name=""/>
          <p:cNvSpPr/>
          <p:nvPr/>
        </p:nvSpPr>
        <p:spPr>
          <a:xfrm rot="0" flipH="0" flipV="0">
            <a:off x="6286500" y="3476625"/>
            <a:ext cx="50673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6438900" y="3686175"/>
            <a:ext cx="4762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窗口末之后的提交只算待履行</a:t>
            </a:r>
            <a:endParaRPr/>
          </a:p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6438900" y="3895725"/>
            <a:ext cx="4762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08:30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在观察范围外，不能判逾期；截止与触发条件都不是已发生行为。</a:t>
            </a:r>
            <a:endParaRPr/>
          </a:p>
        </p:txBody>
      </p:sp>
      <p:sp>
        <p:nvSpPr>
          <p:cNvPr id="653" name=""/>
          <p:cNvSpPr/>
          <p:nvPr/>
        </p:nvSpPr>
        <p:spPr>
          <a:xfrm rot="0" flipH="0" flipV="0">
            <a:off x="609600" y="5238750"/>
            <a:ext cx="10972800" cy="876300"/>
          </a:xfrm>
          <a:prstGeom prst="roundRect">
            <a:avLst>
              <a:gd name="adj" fmla="val 1087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54" name=""/>
          <p:cNvSpPr/>
          <p:nvPr/>
        </p:nvSpPr>
        <p:spPr>
          <a:xfrm rot="0" flipH="0" flipV="0">
            <a:off x="819150" y="5410200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1028700" y="5534025"/>
            <a:ext cx="103441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主比较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24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小时，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48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小时另登记；不因一组没成功而延长窗口。窗口含末端提交，不倒填端点之后才收到的回复。</a:t>
            </a:r>
            <a:endParaRPr/>
          </a:p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长时程校园生活</a:t>
            </a:r>
            <a:endParaRPr/>
          </a:p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27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658" name="" descr="&lt;Slide notes={`窗口要跑多少步，是可以精确算出来的，而这里最容易差一步。&#10;&#10;十月十九日早上八点起步，十分钟一步，跑满二十四小时，最后一步是第一百四十五步，落在二十日早上八点整。很多人会算成一百四十四步，那是因为把起点那一步漏掉了。一百四十四步其实只走到早上七点五十分，也就是二十三小时五十分钟，还差十分钟。&#10;&#10;四十八小时的窗口同理：二百八十九步走到二十一日早上八点，二百八十八步只到七点五十分。&#10;&#10;我特别提醒一点：主比较是二十四小时，四十八小时只是另行登记的观察，我不会因为哪一组在二十四小时里没成功，就顺手把窗口延长到四十八小时。规则不允许事后调整，否则比率就没有意义。末端提交算在窗口内，但端点之后才送达的回复不能倒填回来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8.2　两个窗口与常见误数&lt;/Text&gt;&#10;            &lt;Text style={{ fontSize: 34, fontWeight: 'bold', color: '#20344B' }}&gt;145 步，不是 144 步&lt;/Text&gt;&#10;        &lt;/Box&gt;&#10;    &lt;/Box&gt;&#10;&#10;    &lt;Box style={{ height: 540, flexDirection: 'row', alignItems: 'center', gap: 32 }}&gt;&#10;&#10;        &lt;Box style={{ width: 512, flexDirection: 'column', justifyContent: 'center', gap: 14 }}&gt;&#10;            &lt;Text style={{ fontSize: 16, fontWeight: 'bold', color: '#546779' }}&gt;窗口与所需步数&lt;/Text&gt;&#10;&#10;            &lt;Box style={{ width: 512, height: 112, background: '#EDF4FC', borderRadius: 10, padding: '16px 20px', flexDirection: 'column', gap: 6, justifyContent: 'center' }}&gt;&#10;                &lt;Text style={{ fontSize: 15, color: '#276FBF' }}&gt;到 10-20 08:00 · 24 小时&lt;/Text&gt;&#10;                &lt;Text style={{ fontSize: 34, fontWeight: 'bold', color: '#20344B' }}&gt;145 步&lt;/Text&gt;&#10;            &lt;/Box&gt;&#10;&#10;            &lt;Box style={{ width: 512, height: 112, background: '#EDF4FC', borderRadius: 10, padding: '16px 20px', flexDirection: 'column', gap: 6, justifyContent: 'center' }}&gt;&#10;                &lt;Text style={{ fontSize: 15, color: '#276FBF' }}&gt;到 10-21 08:00 · 48 小时&lt;/Text&gt;&#10;                &lt;Text style={{ fontSize: 34, fontWeight: 'bold', color: '#20344B' }}&gt;289 步&lt;/Text&gt;&#10;            &lt;/Box&gt;&#10;&#10;            &lt;Box style={{ width: 512, height: 84, background: '#F4F7FA', borderRadius: 10, padding: '12px 20px', flexDirection: 'column', gap: 4, justifyContent: 'center' }}&gt;&#10;                &lt;Text style={{ fontSize: 15, color: '#20344B' }}&gt;起点 2026-10-19T08:00:00+08:00&lt;/Text&gt;&#10;                &lt;Text style={{ fontSize: 14, color: '#546779' }}&gt;第 k 步 = 起点 +（k−1）× 10 分钟&lt;/Text&gt;&#10;            &lt;/Box&gt;&#10;        &lt;/Box&gt;&#10;&#10;        &lt;Box style={{ width: 608, flexDirection: 'column', justifyContent: 'center', gap: 14 }}&gt;&#10;            &lt;Text style={{ fontSize: 16, fontWeight: 'bold', color: '#546779' }}&gt;常见误数：少算起点那一步&lt;/Text&gt;&#10;&#10;            &lt;Box style={{ width: 608, height: 112, background: '#FFF4E6', borderRadius: 10, padding: '16px 22px', flexDirection: 'row', alignItems: 'center', gap: 16 }}&gt;&#10;                &lt;Text style={{ fontSize: 30, fontWeight: 'bold', color: '#CB6B28', width: 70 }}&gt;144&lt;/Text&gt;&#10;                &lt;Text style={{ fontSize: 16, color: '#20344B', lineHeight: 1.55, flex: 1 }}&gt;只走到次日 07:50，即 23 小时 50 分——还差 10 分钟，不是满 24 小时。&lt;/Text&gt;&#10;            &lt;/Box&gt;&#10;&#10;            &lt;Box style={{ width: 608, height: 112, background: '#FFF4E6', borderRadius: 10, padding: '16px 22px', flexDirection: 'row', alignItems: 'center', gap: 16 }}&gt;&#10;                &lt;Text style={{ fontSize: 30, fontWeight: 'bold', color: '#CB6B28', width: 70 }}&gt;288&lt;/Text&gt;&#10;                &lt;Text style={{ fontSize: 16, color: '#20344B', lineHeight: 1.55, flex: 1 }}&gt;只走到 07:50，即 47 小时 50 分——48 小时窗口少一步就落空。&lt;/Text&gt;&#10;            &lt;/Box&gt;&#10;&#10;            &lt;Box style={{ width: 608, height: 84, background: '#ECF7F2', borderRadius: 10, padding: '12px 20px', flexDirection: 'column', gap: 4, justifyContent: 'center' }}&gt;&#10;                &lt;Text style={{ fontSize: 15, color: '#20344B' }}&gt;差一步就换了结论&lt;/Text&gt;&#10;                &lt;Text style={{ fontSize: 14, color: '#546779' }}&gt;步数算错，会让本该判逾期的样本变成合格，反之亦然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8 长时程校园生活&lt;/Text&gt;&#10;        &lt;Text style={{ fontSize: 14, color: '#546779' }}&gt;08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114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4.8.2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两个窗口与常见误数</a:t>
            </a:r>
            <a:endParaRPr/>
          </a:p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1146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145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步，不是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144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步</a:t>
            </a:r>
            <a:endParaRPr/>
          </a:p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609600" y="1952625"/>
            <a:ext cx="487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546779"/>
                </a:solidFill>
                <a:latin typeface="Microsoft YaHei"/>
                <a:ea typeface="Microsoft YaHei"/>
              </a:rPr>
              <a:t>窗口与所需步数</a:t>
            </a:r>
            <a:endParaRPr/>
          </a:p>
        </p:txBody>
      </p:sp>
      <p:sp>
        <p:nvSpPr>
          <p:cNvPr id="664" name=""/>
          <p:cNvSpPr/>
          <p:nvPr/>
        </p:nvSpPr>
        <p:spPr>
          <a:xfrm rot="0" flipH="0" flipV="0">
            <a:off x="609600" y="2276475"/>
            <a:ext cx="4876800" cy="1066800"/>
          </a:xfrm>
          <a:prstGeom prst="roundRect">
            <a:avLst>
              <a:gd name="adj" fmla="val 892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800100" y="2505075"/>
            <a:ext cx="4495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到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 xml:space="preserve"> 10-20 08:00 · 24 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小时</a:t>
            </a:r>
            <a:endParaRPr/>
          </a:p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800100" y="2733675"/>
            <a:ext cx="4495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145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步</a:t>
            </a:r>
            <a:endParaRPr/>
          </a:p>
        </p:txBody>
      </p:sp>
      <p:sp>
        <p:nvSpPr>
          <p:cNvPr id="667" name=""/>
          <p:cNvSpPr/>
          <p:nvPr/>
        </p:nvSpPr>
        <p:spPr>
          <a:xfrm rot="0" flipH="0" flipV="0">
            <a:off x="609600" y="3476625"/>
            <a:ext cx="4876800" cy="1066800"/>
          </a:xfrm>
          <a:prstGeom prst="roundRect">
            <a:avLst>
              <a:gd name="adj" fmla="val 892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800100" y="3705225"/>
            <a:ext cx="4495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到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 xml:space="preserve"> 10-21 08:00 · 48 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小时</a:t>
            </a:r>
            <a:endParaRPr/>
          </a:p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800100" y="3933825"/>
            <a:ext cx="4495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289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步</a:t>
            </a:r>
            <a:endParaRPr/>
          </a:p>
        </p:txBody>
      </p:sp>
      <p:sp>
        <p:nvSpPr>
          <p:cNvPr id="670" name=""/>
          <p:cNvSpPr/>
          <p:nvPr/>
        </p:nvSpPr>
        <p:spPr>
          <a:xfrm rot="0" flipH="0" flipV="0">
            <a:off x="609600" y="4676775"/>
            <a:ext cx="48768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800100" y="4895850"/>
            <a:ext cx="4495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起点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2026-10-19T08:00:00+08:00</a:t>
            </a:r>
            <a:endParaRPr/>
          </a:p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800100" y="5105400"/>
            <a:ext cx="4495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k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步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起点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+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（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k−1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）×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5791200" y="1952625"/>
            <a:ext cx="5791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546779"/>
                </a:solidFill>
                <a:latin typeface="Microsoft YaHei"/>
                <a:ea typeface="Microsoft YaHei"/>
              </a:rPr>
              <a:t>常见误数：少算起点那一步</a:t>
            </a:r>
            <a:endParaRPr/>
          </a:p>
        </p:txBody>
      </p:sp>
      <p:sp>
        <p:nvSpPr>
          <p:cNvPr id="674" name=""/>
          <p:cNvSpPr/>
          <p:nvPr/>
        </p:nvSpPr>
        <p:spPr>
          <a:xfrm rot="0" flipH="0" flipV="0">
            <a:off x="5791200" y="2276475"/>
            <a:ext cx="5791200" cy="1066800"/>
          </a:xfrm>
          <a:prstGeom prst="roundRect">
            <a:avLst>
              <a:gd name="adj" fmla="val 892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6000750" y="2638425"/>
            <a:ext cx="666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CB6B28"/>
                </a:solidFill>
                <a:latin typeface="Microsoft YaHei"/>
                <a:ea typeface="Microsoft YaHei"/>
              </a:rPr>
              <a:t>144</a:t>
            </a:r>
            <a:endParaRPr/>
          </a:p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6819900" y="2524125"/>
            <a:ext cx="45529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只走到次日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07:50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，即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23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小时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50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分——还差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分钟，不是满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24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小时。</a:t>
            </a:r>
            <a:endParaRPr/>
          </a:p>
        </p:txBody>
      </p:sp>
      <p:sp>
        <p:nvSpPr>
          <p:cNvPr id="677" name=""/>
          <p:cNvSpPr/>
          <p:nvPr/>
        </p:nvSpPr>
        <p:spPr>
          <a:xfrm rot="0" flipH="0" flipV="0">
            <a:off x="5791200" y="3476625"/>
            <a:ext cx="5791200" cy="1066800"/>
          </a:xfrm>
          <a:prstGeom prst="roundRect">
            <a:avLst>
              <a:gd name="adj" fmla="val 892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6000750" y="3838575"/>
            <a:ext cx="666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CB6B28"/>
                </a:solidFill>
                <a:latin typeface="Microsoft YaHei"/>
                <a:ea typeface="Microsoft YaHei"/>
              </a:rPr>
              <a:t>288</a:t>
            </a:r>
            <a:endParaRPr/>
          </a:p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6819900" y="3867150"/>
            <a:ext cx="45529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只走到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07:50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，即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47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小时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50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分——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48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小时窗口少一步就落空。</a:t>
            </a:r>
            <a:endParaRPr/>
          </a:p>
        </p:txBody>
      </p:sp>
      <p:sp>
        <p:nvSpPr>
          <p:cNvPr id="680" name=""/>
          <p:cNvSpPr/>
          <p:nvPr/>
        </p:nvSpPr>
        <p:spPr>
          <a:xfrm rot="0" flipH="0" flipV="0">
            <a:off x="5791200" y="4676775"/>
            <a:ext cx="5791200" cy="800100"/>
          </a:xfrm>
          <a:prstGeom prst="roundRect">
            <a:avLst>
              <a:gd name="adj" fmla="val 1190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5981700" y="4895850"/>
            <a:ext cx="5410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差一步就换了结论</a:t>
            </a:r>
            <a:endParaRPr/>
          </a:p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5981700" y="5105400"/>
            <a:ext cx="541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步数算错，会让本该判逾期的样本变成合格，反之亦然。</a:t>
            </a:r>
            <a:endParaRPr/>
          </a:p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长时程校园生活</a:t>
            </a:r>
            <a:endParaRPr/>
          </a:p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27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685" name="" descr="&lt;Slide notes={`时间粒度这件事，我得多说一句，因为它最容易被误读。&#10;&#10;默认是每分钟四格。一次十分钟的移动最多会消费四十格路径，但角色在同一轮里仍然只执行一次世界动作：他可以在这一轮走到目的地，但不能抵达之后在同一个轮次里接着做动作。所以“十分钟走完”不等于“十分钟里能做很多件事”。&#10;&#10;这也不是在逐分钟地模拟真实生活。调度器到九点并不会强制谁去上课，晨读只是活动语义上的倾向。粗粒度换来的是一段可以长期运行的时间线，代价是细节被压扁了。&#10;&#10;我提醒这一点，是因为有人看到十分钟一步，就以为角色在场景里能像真人一样连续活动。它更像一张时刻表，而不是一段录像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8.2　时间粒度与轮次边界&lt;/Text&gt;&#10;            &lt;Text style={{ fontSize: 34, fontWeight: 'bold', color: '#20344B' }}&gt;粗粒度不等于逐分钟生活&lt;/Text&gt;&#10;        &lt;/Box&gt;&#10;    &lt;/Box&gt;&#10;&#10;    &lt;Box style={{ height: 540, flexDirection: 'row', alignItems: 'center', gap: 40 }}&gt;&#10;&#10;        &lt;Box style={{ width: 380, flexDirection: 'column', gap: 16, justifyContent: 'center' }}&gt;&#10;            &lt;Text style={{ fontSize: 17, color: '#546779', lineHeight: 1.75, width: 380 }}&gt;十分钟一步，是为了让跨日长跑在可接受的时间里跑完；代价是细小动作被压在同一格内。&lt;/Text&gt;&#10;            &lt;Box style={{ width: 380, height: 132, background: '#F4F7FA', borderRadius: 10, padding: '16px 20px', flexDirection: 'column', gap: 6, justifyContent: 'center' }}&gt;&#10;                &lt;Text style={{ fontSize: 17, fontWeight: 'bold', color: '#20344B' }}&gt;一次世界动作的边界&lt;/Text&gt;&#10;                &lt;Text style={{ fontSize: 14, color: '#546779', lineHeight: 1.55 }}&gt;成功选择 world-act 后结束本轮；同轮不叠加第二件世界动作。&lt;/Text&gt;&#10;            &lt;/Box&gt;&#10;        &lt;/Box&gt;&#10;&#10;        &lt;Box style={{ width: 732, flexDirection: 'column', gap: 14 }}&gt;&#10;&#10;            &lt;Box style={{ width: 732, height: 104, background: '#EDF4FC', borderRadius: 10, padding: '0 20px', flexDirection: 'row', alignItems: 'center', gap: 14 }}&gt;&#10;                &lt;Box style={{ width: 4, height: 68, background: '#276FBF' }} /&gt;&#10;                &lt;Box style={{ flexDirection: 'column', gap: 4 }}&gt;&#10;                    &lt;Text style={{ fontSize: 18, fontWeight: 'bold', color: '#20344B' }}&gt;每分钟四格，10 分钟最多 40 格路径&lt;/Text&gt;&#10;                    &lt;Text style={{ fontSize: 15, color: '#546779' }}&gt;MOVE 的路径长度有上限，不是一次跨过整张地图。&lt;/Text&gt;&#10;                &lt;/Box&gt;&#10;            &lt;/Box&gt;&#10;&#10;            &lt;Box style={{ width: 732, height: 104, background: '#FFF4E6', borderRadius: 10, padding: '0 20px', flexDirection: 'row', alignItems: 'center', gap: 14 }}&gt;&#10;                &lt;Box style={{ width: 4, height: 68, background: '#CB6B28' }} /&gt;&#10;                &lt;Box style={{ flexDirection: 'column', gap: 4 }}&gt;&#10;                    &lt;Text style={{ fontSize: 18, fontWeight: 'bold', color: '#CB6B28' }}&gt;抵达之后不能同轮 ACT&lt;/Text&gt;&#10;                    &lt;Text style={{ fontSize: 15, color: '#546779' }}&gt;到达目的地和与之交互分在两轮，节奏比真实生活更粗。&lt;/Text&gt;&#10;                &lt;/Box&gt;&#10;            &lt;/Box&gt;&#10;&#10;            &lt;Box style={{ width: 732, height: 104, background: '#ECF7F2', borderRadius: 10, padding: '0 20px', flexDirection: 'row', alignItems: 'center', gap: 14 }}&gt;&#10;                &lt;Box style={{ width: 4, height: 68, background: '#26816B' }} /&gt;&#10;                &lt;Box style={{ flexDirection: 'column', gap: 4 }}&gt;&#10;                    &lt;Text style={{ fontSize: 18, fontWeight: 'bold', color: '#26816B' }}&gt;到 9 点不强制上课&lt;/Text&gt;&#10;                    &lt;Text style={{ fontSize: 15, color: '#546779' }}&gt;调度器不按钟点发指令；周期活动只是语义上的倾向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8 长时程校园生活&lt;/Text&gt;&#10;        &lt;Text style={{ fontSize: 14, color: '#546779' }}&gt;09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8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4.8.2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时间粒度与轮次边界</a:t>
            </a:r>
            <a:endParaRPr/>
          </a:p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粗粒度不等于逐分钟生活</a:t>
            </a:r>
            <a:endParaRPr/>
          </a:p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609600" y="2667000"/>
            <a:ext cx="36195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十分钟一步，是为了让跨日长跑在可接受的时间里跑完；代价是细小动作被压在同一格内。</a:t>
            </a:r>
            <a:endParaRPr/>
          </a:p>
        </p:txBody>
      </p:sp>
      <p:sp>
        <p:nvSpPr>
          <p:cNvPr id="691" name=""/>
          <p:cNvSpPr/>
          <p:nvPr/>
        </p:nvSpPr>
        <p:spPr>
          <a:xfrm rot="0" flipH="0" flipV="0">
            <a:off x="609600" y="3505200"/>
            <a:ext cx="3619500" cy="1257300"/>
          </a:xfrm>
          <a:prstGeom prst="roundRect">
            <a:avLst>
              <a:gd name="adj" fmla="val 757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92" name="" descr="{&quot;isTemplate&quot;:true,&quot;type&quot;:&quot;text&quot;}"/>
          <p:cNvSpPr txBox="1"/>
          <p:nvPr/>
        </p:nvSpPr>
        <p:spPr>
          <a:xfrm rot="0" flipH="0" flipV="0">
            <a:off x="800100" y="3752850"/>
            <a:ext cx="3238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一次世界动作的边界</a:t>
            </a:r>
            <a:endParaRPr/>
          </a:p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800100" y="4010025"/>
            <a:ext cx="32385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成功选择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world-act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后结束本轮；同轮不叠加第二件世界动作。</a:t>
            </a:r>
            <a:endParaRPr/>
          </a:p>
        </p:txBody>
      </p:sp>
      <p:sp>
        <p:nvSpPr>
          <p:cNvPr id="694" name=""/>
          <p:cNvSpPr/>
          <p:nvPr/>
        </p:nvSpPr>
        <p:spPr>
          <a:xfrm rot="0" flipH="0" flipV="0">
            <a:off x="4610100" y="2095500"/>
            <a:ext cx="6972300" cy="990600"/>
          </a:xfrm>
          <a:prstGeom prst="roundRect">
            <a:avLst>
              <a:gd name="adj" fmla="val 961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95" name=""/>
          <p:cNvSpPr/>
          <p:nvPr/>
        </p:nvSpPr>
        <p:spPr>
          <a:xfrm rot="0" flipH="0" flipV="0">
            <a:off x="4800600" y="2266950"/>
            <a:ext cx="38100" cy="6477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4972050" y="2381250"/>
            <a:ext cx="3333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每分钟四格，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10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分钟最多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40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格路径</a:t>
            </a:r>
            <a:endParaRPr/>
          </a:p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4972050" y="2628900"/>
            <a:ext cx="3333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MOVE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的路径长度有上限，不是一次跨过整张地图。</a:t>
            </a:r>
            <a:endParaRPr/>
          </a:p>
        </p:txBody>
      </p:sp>
      <p:sp>
        <p:nvSpPr>
          <p:cNvPr id="698" name=""/>
          <p:cNvSpPr/>
          <p:nvPr/>
        </p:nvSpPr>
        <p:spPr>
          <a:xfrm rot="0" flipH="0" flipV="0">
            <a:off x="4610100" y="3219450"/>
            <a:ext cx="6972300" cy="990600"/>
          </a:xfrm>
          <a:prstGeom prst="roundRect">
            <a:avLst>
              <a:gd name="adj" fmla="val 961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99" name=""/>
          <p:cNvSpPr/>
          <p:nvPr/>
        </p:nvSpPr>
        <p:spPr>
          <a:xfrm rot="0" flipH="0" flipV="0">
            <a:off x="4800600" y="3390900"/>
            <a:ext cx="38100" cy="6477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4972050" y="3505200"/>
            <a:ext cx="35718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抵达之后不能同轮</a:t>
            </a:r>
            <a:r>
              <a:rPr lang="en-US" sz="135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ACT</a:t>
            </a:r>
            <a:endParaRPr/>
          </a:p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4972050" y="3752850"/>
            <a:ext cx="3571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到达目的地和与之交互分在两轮，节奏比真实生活更粗。</a:t>
            </a:r>
            <a:endParaRPr/>
          </a:p>
        </p:txBody>
      </p:sp>
      <p:sp>
        <p:nvSpPr>
          <p:cNvPr id="702" name=""/>
          <p:cNvSpPr/>
          <p:nvPr/>
        </p:nvSpPr>
        <p:spPr>
          <a:xfrm rot="0" flipH="0" flipV="0">
            <a:off x="4610100" y="4343400"/>
            <a:ext cx="6972300" cy="990600"/>
          </a:xfrm>
          <a:prstGeom prst="roundRect">
            <a:avLst>
              <a:gd name="adj" fmla="val 961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03" name=""/>
          <p:cNvSpPr/>
          <p:nvPr/>
        </p:nvSpPr>
        <p:spPr>
          <a:xfrm rot="0" flipH="0" flipV="0">
            <a:off x="4800600" y="4514850"/>
            <a:ext cx="38100" cy="6477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4972050" y="4629150"/>
            <a:ext cx="3429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到</a:t>
            </a: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9 </a:t>
            </a: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点不强制上课</a:t>
            </a:r>
            <a:endParaRPr/>
          </a:p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4972050" y="4876800"/>
            <a:ext cx="342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调度器不按钟点发指令；周期活动只是语义上的倾向。</a:t>
            </a:r>
            <a:endParaRPr/>
          </a:p>
        </p:txBody>
      </p:sp>
      <p:sp>
        <p:nvSpPr>
          <p:cNvPr id="70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长时程校园生活</a:t>
            </a:r>
            <a:endParaRPr/>
          </a:p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27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37" name="" descr="&lt;Slide notes={`两组的共同条件很多，真正的差异只有一处，我要把它讲得很窄。&#10;&#10;不管哪一组，每一轮都要根据当前虚拟日期、实际位置、有效进度和真实消息来决定下一件事。动作之前只记“待确认”，等下一轮有了提交事实或者目标回复支持，才更新成完成。一次性任务和按日期重复的活动要分开记。成功选择世界动作之后，这一轮就结束。&#10;&#10;两组都声明了同一个包内的原子依赖，名字叫校园事实整理，配置文字也完全相同，复制同一份。&#10;&#10;唯一的差别是：对照这一组在第一次发现当地日期变化、而且这一天还没有成功整理的时候，会额外调用一次事实整理子技能。多出来的就是这一次调用，没有任何额外权限，也没有更好的事实来源。`} style={{ width: 1280, height: 720, background: '#FFFFFF', flexDirection: 'column', padding: '20px 64px' }}&gt;&#10;&#10;    &lt;Box style={{ height: 640, flexDirection: 'column', justifyContent: 'center', gap: 20 }}&gt;&#10;&#10;        &lt;Text style={{ fontSize: 15, color: '#276FBF' }}&gt;2　　4.8.3 — 4.8.4&lt;/Text&gt;&#10;&#10;        &lt;Text style={{ fontSize: 56, fontWeight: 'bold', color: '#20344B', lineHeight: 1.15 }}&gt;唯一变化：跨日时{'\n'}额外整理一次&lt;/Text&gt;&#10;&#10;        &lt;Box style={{ width: 72, height: 4, background: '#276FBF' }} /&gt;&#10;&#10;        &lt;Text style={{ fontSize: 18, color: '#546779', lineHeight: 1.7, width: 900 }}&gt;共同规则、模型、依赖与检索实现都不动，只让对照多整理一次已有事实。&lt;/Text&gt;&#10;&#10;        &lt;Box style={{ flexDirection: 'row', alignItems: 'center', marginTop: 10 }}&gt;&#10;            &lt;Box style={{ width: 320, height: 64, background: '#EDF4FC', borderRadius: 8, justifyContent: 'center', alignItems: 'center' }}&gt;&#10;                &lt;Text style={{ fontSize: 18, color: '#276FBF' }}&gt;两组共同的每轮规则&lt;/Text&gt;&#10;            &lt;/Box&gt;&#10;            &lt;Box style={{ width: 44, height: 64, justifyContent: 'center', alignItems: 'center' }}&gt;&#10;                &lt;Text style={{ fontSize: 26, color: '#CB6B28' }}&gt;›&lt;/Text&gt;&#10;            &lt;/Box&gt;&#10;            &lt;Box style={{ width: 420, height: 64, background: '#FFF4E6', borderRadius: 8, justifyContent: 'center', alignItems: 'center' }}&gt;&#10;                &lt;Text style={{ fontSize: 18, color: '#CB6B28' }}&gt;仅对照：跨日额外整理一次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20, height: 64, background: '#ECF7F2', borderRadius: 8, justifyContent: 'center', alignItems: 'center' }}&gt;&#10;                &lt;Text style={{ fontSize: 18, color: '#26816B' }}&gt;证据链完整保留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8 长时程校园生活&lt;/Text&gt;&#10;        &lt;Text style={{ fontSize: 14, color: '#546779' }}&gt;10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09600" y="14859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2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4.8.3 — 4.8.4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09600" y="1847850"/>
            <a:ext cx="10972800" cy="14763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唯一变化：跨日时</a:t>
            </a:r>
            <a:endParaRPr/>
          </a:p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额外整理一次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609600" y="35147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09600" y="37433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共同规则、模型、依赖与检索实现都不动，只让对照多整理一次已有事实。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609600" y="4381500"/>
            <a:ext cx="30480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1362075" y="4581525"/>
            <a:ext cx="1543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两组共同的每轮规则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3829050" y="45339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4076700" y="4381500"/>
            <a:ext cx="4000500" cy="6096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5048250" y="4581525"/>
            <a:ext cx="2057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CB6B28"/>
                </a:solidFill>
                <a:latin typeface="Microsoft YaHei"/>
                <a:ea typeface="Microsoft YaHei"/>
              </a:rPr>
              <a:t>仅对照：跨日额外整理一次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8248650" y="45339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8496300" y="4381500"/>
            <a:ext cx="30480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9420225" y="4581525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证据链完整保留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长时程校园生活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27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53" name="" descr="&lt;Slide notes={`同一个再次行动，身份不同，判法就完全不同。&#10;&#10;第一支是一次性任务。报名已经确认过了，如果没有新的需求又提交一次，就算重复执行。哪怕对方拒绝重复接收，只要这一轮真的提交了，仍然计入重复。&#10;&#10;第二支是周期活动。每天九点的晨读，新的一天就是新的实例，不算重复昨天的任务。所以判断之前先问一句：这是不是同一件事的第二次，还是本来每天都要发生的一次。&#10;&#10;第三支是自愿承诺。先有邀请，再要本人明确接受，然后才有“承诺者、内容、完整截止时间”这三样齐备的一条承诺。&#10;&#10;分不清这三支，就会出现两种相反的错：把每天的晨读算成重复，或者把重复的报名当成新任务放过去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8.3　先区分事项身份，再判断再次行动&lt;/Text&gt;&#10;            &lt;Text style={{ fontSize: 34, fontWeight: 'bold', color: '#20344B' }}&gt;同一动作，身份不同&lt;/Text&gt;&#10;        &lt;/Box&gt;&#10;    &lt;/Box&gt;&#10;&#10;    &lt;Box style={{ height: 540, flexDirection: 'row', alignItems: 'center', gap: 32 }}&gt;&#10;&#10;        &lt;Box style={{ width: 440, flexDirection: 'column', gap: 14 }}&gt;&#10;            &lt;Text style={{ fontSize: 16, fontWeight: 'bold', color: '#546779' }}&gt;先认出它属于哪一类&lt;/Text&gt;&#10;&#10;            &lt;Box style={{ width: 440, height: 128, background: '#EDF4FC', borderRadius: 10, padding: '16px 20px', flexDirection: 'column', gap: 6, justifyContent: 'center' }}&gt;&#10;                &lt;Text style={{ fontSize: 19, fontWeight: 'bold', color: '#276FBF' }}&gt;一次性任务&lt;/Text&gt;&#10;                &lt;Text style={{ fontSize: 14, color: '#546779', lineHeight: 1.5 }}&gt;例：观摩报名已确认。办完就该结束，不应有第二次。&lt;/Text&gt;&#10;            &lt;/Box&gt;&#10;&#10;            &lt;Box style={{ width: 440, height: 128, background: '#ECF7F2', borderRadius: 10, padding: '16px 20px', flexDirection: 'column', gap: 6, justifyContent: 'center' }}&gt;&#10;                &lt;Text style={{ fontSize: 19, fontWeight: 'bold', color: '#26816B' }}&gt;周期活动&lt;/Text&gt;&#10;                &lt;Text style={{ fontSize: 14, color: '#546779', lineHeight: 1.5 }}&gt;例：每日 09:00 晨读。新日期本就是新一次，不叫重复。&lt;/Text&gt;&#10;            &lt;/Box&gt;&#10;&#10;            &lt;Box style={{ width: 440, height: 128, background: '#F4F7FA', borderRadius: 10, padding: '16px 20px', flexDirection: 'column', gap: 6, justifyContent: 'center' }}&gt;&#10;                &lt;Text style={{ fontSize: 19, fontWeight: 'bold', color: '#20344B' }}&gt;自愿承诺&lt;/Text&gt;&#10;                &lt;Text style={{ fontSize: 14, color: '#546779', lineHeight: 1.5 }}&gt;例：先有邀请，再有本人明确接受，才立起一条承诺。&lt;/Text&gt;&#10;            &lt;/Box&gt;&#10;        &lt;/Box&gt;&#10;&#10;        &lt;Box style={{ width: 680, flexDirection: 'column', gap: 16 }}&gt;&#10;            &lt;Text style={{ fontSize: 16, fontWeight: 'bold', color: '#546779' }}&gt;再次行动怎么判&lt;/Text&gt;&#10;&#10;            &lt;Box style={{ width: 680, height: 132, background: '#FFF4E6', borderRadius: 10, padding: '0 22px', flexDirection: 'row', alignItems: 'center', gap: 16 }}&gt;&#10;                &lt;Box style={{ width: 4, height: 92, background: '#CB6B28' }} /&gt;&#10;                &lt;Box style={{ flexDirection: 'column', gap: 6 }}&gt;&#10;                    &lt;Text style={{ fontSize: 18, fontWeight: 'bold', color: '#CB6B28' }}&gt;无新需求又提交 → 计重复执行&lt;/Text&gt;&#10;                    &lt;Text style={{ fontSize: 15, color: '#546779', lineHeight: 1.55 }}&gt;首次完成后，没有新要求再次启动，就是重复；对象拒绝重复接收也算。&lt;/Text&gt;&#10;                &lt;/Box&gt;&#10;            &lt;/Box&gt;&#10;&#10;            &lt;Box style={{ width: 680, height: 132, background: '#ECF7F2', borderRadius: 10, padding: '0 22px', flexDirection: 'row', alignItems: 'center', gap: 16 }}&gt;&#10;                &lt;Box style={{ width: 4, height: 92, background: '#26816B' }} /&gt;&#10;                &lt;Box style={{ flexDirection: 'column', gap: 6 }}&gt;&#10;                    &lt;Text style={{ fontSize: 18, fontWeight: 'bold', color: '#26816B' }}&gt;新日期 → 新实例，不是重复&lt;/Text&gt;&#10;                    &lt;Text style={{ fontSize: 15, color: '#546779', lineHeight: 1.55 }}&gt;每日晨读按当地日期识别身份，昨天的完成不覆盖今天这一次。&lt;/Text&gt;&#10;                &lt;/Box&gt;&#10;            &lt;/Box&gt;&#10;&#10;            &lt;Box style={{ width: 680, height: 92, background: '#EDF4FC', borderRadius: 10, padding: '0 22px', flexDirection: 'row', alignItems: 'center', gap: 16 }}&gt;&#10;                &lt;Box style={{ width: 4, height: 56, background: '#276FBF' }} /&gt;&#10;                &lt;Text style={{ fontSize: 15, color: '#546779', flex: 1, lineHeight: 1.55 }}&gt;承诺则要先检查本人是否接受，再核对承诺者、内容与完整截止时间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8 长时程校园生活&lt;/Text&gt;&#10;        &lt;Text style={{ fontSize: 14, color: '#546779' }}&gt;11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4.8.3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先区分事项身份，再判断再次行动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同一动作，身份不同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09600" y="1590675"/>
            <a:ext cx="4191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546779"/>
                </a:solidFill>
                <a:latin typeface="Microsoft YaHei"/>
                <a:ea typeface="Microsoft YaHei"/>
              </a:rPr>
              <a:t>先认出它属于哪一类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609600" y="1914525"/>
            <a:ext cx="4191000" cy="1219200"/>
          </a:xfrm>
          <a:prstGeom prst="roundRect">
            <a:avLst>
              <a:gd name="adj" fmla="val 781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800100" y="2266950"/>
            <a:ext cx="3810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一次性任务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800100" y="2543175"/>
            <a:ext cx="3810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例：观摩报名已确认。办完就该结束，不应有第二次。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609600" y="3267075"/>
            <a:ext cx="4191000" cy="1219200"/>
          </a:xfrm>
          <a:prstGeom prst="roundRect">
            <a:avLst>
              <a:gd name="adj" fmla="val 781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800100" y="3619500"/>
            <a:ext cx="3810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周期活动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800100" y="3895725"/>
            <a:ext cx="3810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例：每日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09:00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晨读。新日期本就是新一次，不叫重复。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609600" y="4619625"/>
            <a:ext cx="4191000" cy="1219200"/>
          </a:xfrm>
          <a:prstGeom prst="roundRect">
            <a:avLst>
              <a:gd name="adj" fmla="val 781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800100" y="4972050"/>
            <a:ext cx="3810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自愿承诺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800100" y="5248275"/>
            <a:ext cx="3810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例：先有邀请，再有本人明确接受，才立起一条承诺。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5105400" y="1695450"/>
            <a:ext cx="6477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546779"/>
                </a:solidFill>
                <a:latin typeface="Microsoft YaHei"/>
                <a:ea typeface="Microsoft YaHei"/>
              </a:rPr>
              <a:t>再次行动怎么判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5105400" y="2038350"/>
            <a:ext cx="6477000" cy="1257300"/>
          </a:xfrm>
          <a:prstGeom prst="roundRect">
            <a:avLst>
              <a:gd name="adj" fmla="val 757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5314950" y="2228850"/>
            <a:ext cx="38100" cy="876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5505450" y="2400300"/>
            <a:ext cx="4572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无新需求又提交</a:t>
            </a:r>
            <a:r>
              <a:rPr lang="en-US" sz="135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计重复执行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5505450" y="2667000"/>
            <a:ext cx="45720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首次完成后，没有新要求再次启动，就是重复；对象拒绝重复接收也算。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5105400" y="3448050"/>
            <a:ext cx="6477000" cy="1257300"/>
          </a:xfrm>
          <a:prstGeom prst="roundRect">
            <a:avLst>
              <a:gd name="adj" fmla="val 757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4" name=""/>
          <p:cNvSpPr/>
          <p:nvPr/>
        </p:nvSpPr>
        <p:spPr>
          <a:xfrm rot="0" flipH="0" flipV="0">
            <a:off x="5314950" y="3638550"/>
            <a:ext cx="38100" cy="8763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5505450" y="3810000"/>
            <a:ext cx="4000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新日期</a:t>
            </a: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新实例，不是重复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5505450" y="4076700"/>
            <a:ext cx="40005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每日晨读按当地日期识别身份，昨天的完成不覆盖今天这一次。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5105400" y="4857750"/>
            <a:ext cx="6477000" cy="876300"/>
          </a:xfrm>
          <a:prstGeom prst="roundRect">
            <a:avLst>
              <a:gd name="adj" fmla="val 1087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8" name=""/>
          <p:cNvSpPr/>
          <p:nvPr/>
        </p:nvSpPr>
        <p:spPr>
          <a:xfrm rot="0" flipH="0" flipV="0">
            <a:off x="5314950" y="5029200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5505450" y="5162550"/>
            <a:ext cx="58674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承诺则要先检查本人是否接受，再核对承诺者、内容与完整截止时间。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长时程校园生活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27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82" name="" descr="&lt;Slide notes={`我把两组共同遵守的规则收成三步，再把差异单独拎出来。&#10;&#10;第一步，动作之前只记“待确认”，不提前写成完成。第二步，等到下一轮真的出现了提交事实，或者目标对象有了回复，才把状态更新成完成。第三步，一旦成功选择了世界动作，这一轮就结束，不在一轮里叠加第二件事。&#10;&#10;配套还有两条记录纪律：一次性任务和按日期重复的活动要分开记；没有真实接受，就不写成双方已经约定，更不能把对方的承诺记成自己的。&#10;&#10;差异只有一处：对照在第一次发现当地日期变化、而且当天还没有成功整理的时候，额外调用一次事实整理子技能。它的输入是现有记忆和真实来源，要求把已确认完成、待证据、未来承诺和下一周期活动分开，但不允许新增历史事实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8.3　共同 Brain 与唯一差异&lt;/Text&gt;&#10;            &lt;Text style={{ fontSize: 34, fontWeight: 'bold', color: '#20344B' }}&gt;两组共同做什么，差在哪里&lt;/Text&gt;&#10;        &lt;/Box&gt;&#10;    &lt;/Box&gt;&#10;&#10;    &lt;Box style={{ height: 540, flexDirection: 'column', justifyContent: 'center', gap: 16 }}&gt;&#10;&#10;        &lt;Box style={{ flexDirection: 'row', alignItems: 'center' }}&gt;&#10;            &lt;Box style={{ width: 336, height: 112, background: '#EDF4FC', borderRadius: 10, padding: '0 18px', flexDirection: 'column', gap: 6, justifyContent: 'center' }}&gt;&#10;                &lt;Text style={{ fontSize: 17, fontWeight: 'bold', color: '#276FBF' }}&gt;动作前只记待确认&lt;/Text&gt;&#10;                &lt;Text style={{ fontSize: 14, color: '#546779', lineHeight: 1.5 }}&gt;依据虚拟日期、位置、进度与真实消息决定下一件事。&lt;/Text&gt;&#10;            &lt;/Box&gt;&#10;            &lt;Box style={{ width: 44, height: 112, justifyContent: 'center', alignItems: 'center' }}&gt;&#10;                &lt;Text style={{ fontSize: 24, color: '#276FBF' }}&gt;›&lt;/Text&gt;&#10;            &lt;/Box&gt;&#10;            &lt;Box style={{ width: 336, height: 112, background: '#EDF4FC', borderRadius: 10, padding: '0 18px', flexDirection: 'column', gap: 6, justifyContent: 'center' }}&gt;&#10;                &lt;Text style={{ fontSize: 17, fontWeight: 'bold', color: '#276FBF' }}&gt;据事实更新为完成&lt;/Text&gt;&#10;                &lt;Text style={{ fontSize: 14, color: '#546779', lineHeight: 1.5 }}&gt;下一轮有提交事实或目标回复支持时才改状态。&lt;/Text&gt;&#10;            &lt;/Box&gt;&#10;            &lt;Box style={{ width: 44, height: 112, justifyContent: 'center', alignItems: 'center' }}&gt;&#10;                &lt;Text style={{ fontSize: 24, color: '#276FBF' }}&gt;›&lt;/Text&gt;&#10;            &lt;/Box&gt;&#10;            &lt;Box style={{ width: 336, height: 112, background: '#EDF4FC', borderRadius: 10, padding: '0 18px', flexDirection: 'column', gap: 6, justifyContent: 'center' }}&gt;&#10;                &lt;Text style={{ fontSize: 17, fontWeight: 'bold', color: '#276FBF' }}&gt;成功世界动作后结束本轮&lt;/Text&gt;&#10;                &lt;Text style={{ fontSize: 14, color: '#546779', lineHeight: 1.5 }}&gt;一轮只落一件世界动作，不叠加第二件。&lt;/Text&gt;&#10;            &lt;/Box&gt;&#10;        &lt;/Box&gt;&#10;&#10;        &lt;Box style={{ flexDirection: 'row', gap: 16 }}&gt;&#10;            &lt;Box style={{ width: 568, height: 104, background: '#F4F7FA', borderRadius: 10, padding: '14px 20px', flexDirection: 'column', gap: 4, justifyContent: 'center' }}&gt;&#10;                &lt;Text style={{ fontSize: 16, fontWeight: 'bold', color: '#20344B' }}&gt;一次性与按日期重复分开记&lt;/Text&gt;&#10;                &lt;Text style={{ fontSize: 14, color: '#546779', lineHeight: 1.5 }}&gt;没有真实接受，不写成双方已约定；不把对方的承诺记成自己的。&lt;/Text&gt;&#10;            &lt;/Box&gt;&#10;            &lt;Box style={{ width: 568, height: 104, background: '#F4F7FA', borderRadius: 10, padding: '14px 20px', flexDirection: 'column', gap: 4, justifyContent: 'center' }}&gt;&#10;                &lt;Text style={{ fontSize: 16, fontWeight: 'bold', color: '#20344B' }}&gt;两组声明同一个依赖，文字相同&lt;/Text&gt;&#10;                &lt;Text style={{ fontSize: 14, color: '#546779', lineHeight: 1.5 }}&gt;包内原子依赖校园事实整理，两组复制同文，仅对照启用。&lt;/Text&gt;&#10;            &lt;/Box&gt;&#10;        &lt;/Box&gt;&#10;&#10;        &lt;Box style={{ width: 1152, height: 104, background: '#FFF4E6', borderRadius: 10, padding: '0 22px', flexDirection: 'row', alignItems: 'center', gap: 18 }}&gt;&#10;            &lt;Box style={{ width: 4, height: 72, background: '#CB6B28' }} /&gt;&#10;            &lt;Box style={{ flexDirection: 'column', gap: 4 }}&gt;&#10;                &lt;Text style={{ fontSize: 18, fontWeight: 'bold', color: '#CB6B28' }}&gt;唯一差异：首次跨日且本日未成功整理时，额外调用一次事实整理子 Skill&lt;/Text&gt;&#10;                &lt;Text style={{ fontSize: 15, color: '#546779', lineHeight: 1.5 }}&gt;整理不训练模型、不推进虚拟时间，也不给对照更多权限或更好的事实来源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8 长时程校园生活&lt;/Text&gt;&#10;        &lt;Text style={{ fontSize: 14, color: '#546779' }}&gt;12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4.8.3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共同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Brain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与唯一差异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两组共同做什么，差在哪里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609600" y="2038350"/>
            <a:ext cx="3200400" cy="1066800"/>
          </a:xfrm>
          <a:prstGeom prst="roundRect">
            <a:avLst>
              <a:gd name="adj" fmla="val 892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781050" y="2200275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动作前只记待确认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781050" y="2457450"/>
            <a:ext cx="28575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依据虚拟日期、位置、进度与真实消息决定下一件事。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3981450" y="243840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4229100" y="2038350"/>
            <a:ext cx="3200400" cy="1066800"/>
          </a:xfrm>
          <a:prstGeom prst="roundRect">
            <a:avLst>
              <a:gd name="adj" fmla="val 892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4400550" y="2324100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据事实更新为完成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4400550" y="2581275"/>
            <a:ext cx="2857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下一轮有提交事实或目标回复支持时才改状态。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7600950" y="243840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7848600" y="2038350"/>
            <a:ext cx="3200400" cy="1066800"/>
          </a:xfrm>
          <a:prstGeom prst="roundRect">
            <a:avLst>
              <a:gd name="adj" fmla="val 892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8020050" y="2324100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成功世界动作后结束本轮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8020050" y="2581275"/>
            <a:ext cx="2857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一轮只落一件世界动作，不叠加第二件。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609600" y="3257550"/>
            <a:ext cx="541020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800100" y="3514725"/>
            <a:ext cx="502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一次性与按日期重复分开记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800100" y="3743325"/>
            <a:ext cx="50292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没有真实接受，不写成双方已约定；不把对方的承诺记成自己的。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6172200" y="3257550"/>
            <a:ext cx="541020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6362700" y="3514725"/>
            <a:ext cx="502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两组声明同一个依赖，文字相同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6362700" y="3743325"/>
            <a:ext cx="50292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包内原子依赖校园事实整理，两组复制同文，仅对照启用。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609600" y="4400550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05" name=""/>
          <p:cNvSpPr/>
          <p:nvPr/>
        </p:nvSpPr>
        <p:spPr>
          <a:xfrm rot="0" flipH="0" flipV="0">
            <a:off x="819150" y="4552950"/>
            <a:ext cx="38100" cy="6858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1028700" y="4648200"/>
            <a:ext cx="5553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唯一差异：首次跨日且本日未成功整理时，额外调用一次事实整理子</a:t>
            </a:r>
            <a:r>
              <a:rPr lang="en-US" sz="135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1028700" y="4895850"/>
            <a:ext cx="55530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整理不训练模型、不推进虚拟时间，也不给对照更多权限或更好的事实来源。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长时程校园生活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27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10" name="" descr="&lt;Slide notes={`整理子技能到底能做什么、不能做什么，边界必须画得很清楚，否则对照就变成了“偷偷加权限”。&#10;&#10;它能做的是：检索上次处理的日期和有效进度；第一次运行时先记下当前日期；把已有记忆按“已确认完成、待证据、未来承诺、下一周期活动”四类分开；输出一份带日期和来源的整理，标记本日整理成功；每个日期最多成功一次，失败要记下原因。&#10;&#10;它不能做的是：不执行任何世界动作，不替角色制造接受或完成的证据，不读取别人的记忆，也拿不到教师答案。要不要采纳它给的建议，由根 Brain 决定。&#10;&#10;这两组在更正、失效和完成证据上的处理规则完全相同。整理只改变以后能检索到的文本，不会平白多出事实，也不会让对照组更容易成功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8.3　整理子 Skill 的职责边界&lt;/Text&gt;&#10;            &lt;Text style={{ fontSize: 34, fontWeight: 'bold', color: '#20344B' }}&gt;子 Skill 只建议，不越权&lt;/Text&gt;&#10;        &lt;/Box&gt;&#10;    &lt;/Box&gt;&#10;&#10;    &lt;Box style={{ height: 540, flexDirection: 'row', alignItems: 'center', gap: 32 }}&gt;&#10;&#10;        &lt;Box style={{ width: 420, flexDirection: 'column', gap: 16, justifyContent: 'center' }}&gt;&#10;            &lt;Text style={{ fontSize: 17, color: '#546779', lineHeight: 1.75, width: 420 }}&gt;它只处理已有事实：把记忆按来源分开，输出一份可核查的整理，供根 Brain 决定是否采纳。&lt;/Text&gt;&#10;            &lt;Box style={{ width: 420, height: 130, background: '#EDF4FC', borderRadius: 10, padding: '16px 20px', flexDirection: 'column', gap: 6, justifyContent: 'center' }}&gt;&#10;                &lt;Text style={{ fontSize: 17, fontWeight: 'bold', color: '#276FBF' }}&gt;什么时候被调用&lt;/Text&gt;&#10;                &lt;Text style={{ fontSize: 14, color: '#546779', lineHeight: 1.55 }}&gt;首次发现当地日期变化，且本日尚未成功整理。每日期最多一次成功整理，失败记原因。&lt;/Text&gt;&#10;            &lt;/Box&gt;&#10;            &lt;Box style={{ width: 420, height: 106, background: '#ECF7F2', borderRadius: 10, padding: '16px 20px', flexDirection: 'column', gap: 4, justifyContent: 'center' }}&gt;&#10;                &lt;Text style={{ fontSize: 15, color: '#546779', lineHeight: 1.55 }}&gt;两组处理更正、失效与完成证据的规则相同，不给对照更大权限或更好事实。&lt;/Text&gt;&#10;            &lt;/Box&gt;&#10;        &lt;/Box&gt;&#10;&#10;        &lt;Box style={{ width: 700, flexDirection: 'column', gap: 12 }}&gt;&#10;            &lt;Box style={{ flexDirection: 'row', gap: 16 }}&gt;&#10;                &lt;Text style={{ fontSize: 15, fontWeight: 'bold', color: '#26816B', width: 340 }}&gt;它做什么&lt;/Text&gt;&#10;                &lt;Text style={{ fontSize: 15, fontWeight: 'bold', color: '#CB6B28', width: 344 }}&gt;它不能做什么&lt;/Text&gt;&#10;            &lt;/Box&gt;&#10;&#10;            &lt;Box style={{ flexDirection: 'row', gap: 16 }}&gt;&#10;                &lt;Box style={{ width: 340, height: 92, background: '#ECF7F2', borderRadius: 8, padding: '12px 16px', flexDirection: 'column', gap: 4, justifyContent: 'center' }}&gt;&#10;                    &lt;Text style={{ fontSize: 14, color: '#546779', lineHeight: 1.5 }}&gt;检索上次处理日期与有效进度；第一次运行只记当前日期。&lt;/Text&gt;&#10;                &lt;/Box&gt;&#10;                &lt;Box style={{ width: 344, height: 92, background: '#FFF4E6', borderRadius: 8, padding: '12px 16px', flexDirection: 'column', gap: 4, justifyContent: 'center' }}&gt;&#10;                    &lt;Text style={{ fontSize: 14, color: '#546779', lineHeight: 1.5 }}&gt;不替角色制造接受或完成证据；不新增历史事实。&lt;/Text&gt;&#10;                &lt;/Box&gt;&#10;            &lt;/Box&gt;&#10;&#10;            &lt;Box style={{ flexDirection: 'row', gap: 16 }}&gt;&#10;                &lt;Box style={{ width: 340, height: 92, background: '#ECF7F2', borderRadius: 8, padding: '12px 16px', flexDirection: 'column', gap: 4, justifyContent: 'center' }}&gt;&#10;                    &lt;Text style={{ fontSize: 14, color: '#546779', lineHeight: 1.5 }}&gt;把已确认完成、待证据、未来承诺、下一周期活动分开。&lt;/Text&gt;&#10;                &lt;/Box&gt;&#10;                &lt;Box style={{ width: 344, height: 92, background: '#FFF4E6', borderRadius: 8, padding: '12px 16px', flexDirection: 'column', gap: 4, justifyContent: 'center' }}&gt;&#10;                    &lt;Text style={{ fontSize: 14, color: '#546779', lineHeight: 1.5 }}&gt;不做世界动作；不能抵达后同轮替角色完成任务。&lt;/Text&gt;&#10;                &lt;/Box&gt;&#10;            &lt;/Box&gt;&#10;&#10;            &lt;Box style={{ flexDirection: 'row', gap: 16 }}&gt;&#10;                &lt;Box style={{ width: 340, height: 92, background: '#ECF7F2', borderRadius: 8, padding: '12px 16px', flexDirection: 'column', gap: 4, justifyContent: 'center' }}&gt;&#10;                    &lt;Text style={{ fontSize: 14, color: '#546779', lineHeight: 1.5 }}&gt;输出带日期与来源的整理，核对后保存并标记本日成功。&lt;/Text&gt;&#10;                &lt;/Box&gt;&#10;                &lt;Box style={{ width: 344, height: 92, background: '#FFF4E6', borderRadius: 8, padding: '12px 16px', flexDirection: 'column', gap: 4, justifyContent: 'center' }}&gt;&#10;                    &lt;Text style={{ fontSize: 14, color: '#546779', lineHeight: 1.5 }}&gt;不读他人记忆，不获教师答案；仍受公共调用预算与无进展规则约束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8 长时程校园生活&lt;/Text&gt;&#10;        &lt;Text style={{ fontSize: 14, color: '#546779' }}&gt;13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467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4.8.3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整理子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的职责边界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467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子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只建议，不越权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609600" y="2095500"/>
            <a:ext cx="40005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它只处理已有事实：把记忆按来源分开，输出一份可核查的整理，供根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 xml:space="preserve"> Brain 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决定是否采纳。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609600" y="2933700"/>
            <a:ext cx="4000500" cy="123825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800100" y="3171825"/>
            <a:ext cx="3619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什么时候被调用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800100" y="3429000"/>
            <a:ext cx="36195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首次发现当地日期变化，且本日尚未成功整理。每日期最多一次成功整理，失败记原因。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609600" y="4324350"/>
            <a:ext cx="4000500" cy="1009650"/>
          </a:xfrm>
          <a:prstGeom prst="roundRect">
            <a:avLst>
              <a:gd name="adj" fmla="val 943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800100" y="4562475"/>
            <a:ext cx="36195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两组处理更正、失效与完成证据的规则相同，不给对照更大权限或更好事实。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4914900" y="2143125"/>
            <a:ext cx="3238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它做什么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8305800" y="2143125"/>
            <a:ext cx="3276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它不能做什么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4914900" y="2428875"/>
            <a:ext cx="3238500" cy="876300"/>
          </a:xfrm>
          <a:prstGeom prst="roundRect">
            <a:avLst>
              <a:gd name="adj" fmla="val 869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5067300" y="2628900"/>
            <a:ext cx="29337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检索上次处理日期与有效进度；第一次运行只记当前日期。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8305800" y="2428875"/>
            <a:ext cx="3276600" cy="876300"/>
          </a:xfrm>
          <a:prstGeom prst="roundRect">
            <a:avLst>
              <a:gd name="adj" fmla="val 869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8458200" y="2743200"/>
            <a:ext cx="29718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不替角色制造接受或完成证据；不新增历史事实。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4914900" y="3419475"/>
            <a:ext cx="3238500" cy="876300"/>
          </a:xfrm>
          <a:prstGeom prst="roundRect">
            <a:avLst>
              <a:gd name="adj" fmla="val 869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5067300" y="3619500"/>
            <a:ext cx="29337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把已确认完成、待证据、未来承诺、下一周期活动分开。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8305800" y="3419475"/>
            <a:ext cx="3276600" cy="876300"/>
          </a:xfrm>
          <a:prstGeom prst="roundRect">
            <a:avLst>
              <a:gd name="adj" fmla="val 869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8458200" y="3733800"/>
            <a:ext cx="29718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不做世界动作；不能抵达后同轮替角色完成任务。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4914900" y="4410075"/>
            <a:ext cx="3238500" cy="876300"/>
          </a:xfrm>
          <a:prstGeom prst="roundRect">
            <a:avLst>
              <a:gd name="adj" fmla="val 869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5067300" y="4610100"/>
            <a:ext cx="29337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输出带日期与来源的整理，核对后保存并标记本日成功。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8305800" y="4410075"/>
            <a:ext cx="3276600" cy="876300"/>
          </a:xfrm>
          <a:prstGeom prst="roundRect">
            <a:avLst>
              <a:gd name="adj" fmla="val 869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8458200" y="4610100"/>
            <a:ext cx="29718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不读他人记忆，不获教师答案；仍受公共调用预算与无进展规则约束。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长时程校园生活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27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37" name="" descr="&lt;Slide notes={`记忆这块当前用的实现叫 file_lexical，也就是基于文件的词法检索。我要提醒一句：选择 Embedding，并不会自动启用向量检索，那只是配置里的一个选项，不等于生效。&#10;&#10;整理这件事听起来像在训练模型，其实不是。它不训练模型，也不新增调度器，只改变一件事——以后能被检索到的文本长什么样。这个坐标很重要，因为它决定了收益的来源：不是模型变聪明了，而是它以后能翻到的记录变了。&#10;&#10;所以结果可能两头走：整理得好，能减少遗漏，前一晚确认过的事情第二天更容易被想起来；整理得不好，多出来的文字反而会增噪，把不相干的记录推到你面前。&#10;&#10;这一节要观察的，正是这种“可能更好、也可能更乱”的净效果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8.3　记忆实现与影响范围&lt;/Text&gt;&#10;            &lt;Text style={{ fontSize: 34, fontWeight: 'bold', color: '#20344B' }}&gt;改变的是以后能检索到什么&lt;/Text&gt;&#10;        &lt;/Box&gt;&#10;    &lt;/Box&gt;&#10;&#10;    &lt;Box style={{ height: 540, flexDirection: 'row', alignItems: 'center', gap: 36 }}&gt;&#10;&#10;        &lt;Box style={{ width: 400, flexDirection: 'column', gap: 16, justifyContent: 'center' }}&gt;&#10;            &lt;Text style={{ fontSize: 17, color: '#546779', lineHeight: 1.75, width: 400 }}&gt;整理不训练模型、不新增调度器，它只改一处：以后一次检索能翻到什么文本。&lt;/Text&gt;&#10;            &lt;Box style={{ width: 400, height: 130, background: '#F4F7FA', borderRadius: 10, padding: '16px 20px', flexDirection: 'column', gap: 6, justifyContent: 'center' }}&gt;&#10;                &lt;Text style={{ fontSize: 17, fontWeight: 'bold', color: '#20344B' }}&gt;当前实现：file_lexical&lt;/Text&gt;&#10;                &lt;Text style={{ fontSize: 14, color: '#546779', lineHeight: 1.55 }}&gt;基于文件的词法检索。另选 Embedding 不等于已经启用向量检索。&lt;/Text&gt;&#10;            &lt;/Box&gt;&#10;        &lt;/Box&gt;&#10;&#10;        &lt;Box style={{ width: 716, flexDirection: 'column', gap: 16 }}&gt;&#10;&#10;            &lt;Box style={{ width: 716, height: 130, background: '#ECF7F2', borderRadius: 10, padding: '0 22px', flexDirection: 'row', alignItems: 'center', gap: 16 }}&gt;&#10;                &lt;Box style={{ width: 4, height: 88, background: '#26816B' }} /&gt;&#10;                &lt;Box style={{ flexDirection: 'column', gap: 6 }}&gt;&#10;                    &lt;Text style={{ fontSize: 18, fontWeight: 'bold', color: '#26816B' }}&gt;收益侧的假设：减少遗漏&lt;/Text&gt;&#10;                    &lt;Text style={{ fontSize: 15, color: '#546779', lineHeight: 1.55 }}&gt;把已确认与待证据分开写清，前一日的事实更容易在次日被重新检索到。&lt;/Text&gt;&#10;                &lt;/Box&gt;&#10;            &lt;/Box&gt;&#10;&#10;            &lt;Box style={{ width: 716, height: 130, background: '#FFF4E6', borderRadius: 10, padding: '0 22px', flexDirection: 'row', alignItems: 'center', gap: 16 }}&gt;&#10;                &lt;Box style={{ width: 4, height: 88, background: '#CB6B28' }} /&gt;&#10;                &lt;Box style={{ flexDirection: 'column', gap: 6 }}&gt;&#10;                    &lt;Text style={{ fontSize: 18, fontWeight: 'bold', color: '#CB6B28' }}&gt;代价侧的假设：可能增噪&lt;/Text&gt;&#10;                    &lt;Text style={{ fontSize: 15, color: '#546779', lineHeight: 1.55 }}&gt;多出的整理文本如果混入推测或冗余，会把无关记录推到检索结果前面。&lt;/Text&gt;&#10;                &lt;/Box&gt;&#10;            &lt;/Box&gt;&#10;&#10;            &lt;Box style={{ width: 716, height: 130, background: '#EDF4FC', borderRadius: 10, padding: '0 22px', flexDirection: 'row', alignItems: 'center', gap: 16 }}&gt;&#10;                &lt;Box style={{ width: 4, height: 88, background: '#276FBF' }} /&gt;&#10;                &lt;Box style={{ flexDirection: 'column', gap: 6 }}&gt;&#10;                    &lt;Text style={{ fontSize: 18, fontWeight: 'bold', color: '#276FBF' }}&gt;所以要看净效果，而不是只看整理本身&lt;/Text&gt;&#10;                    &lt;Text style={{ fontSize: 15, color: '#546779', lineHeight: 1.55 }}&gt;登记生成总结不算数，要看到整理之后的真实检索与使用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8 长时程校园生活&lt;/Text&gt;&#10;        &lt;Text style={{ fontSize: 14, color: '#546779' }}&gt;14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4.8.3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记忆实现与影响范围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改变的是以后能检索到什么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609600" y="2676525"/>
            <a:ext cx="38100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整理不训练模型、不新增调度器，它只改一处：以后一次检索能翻到什么文本。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609600" y="3514725"/>
            <a:ext cx="3810000" cy="1238250"/>
          </a:xfrm>
          <a:prstGeom prst="roundRect">
            <a:avLst>
              <a:gd name="adj" fmla="val 769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800100" y="3752850"/>
            <a:ext cx="342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当前实现：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>file_lexical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800100" y="4010025"/>
            <a:ext cx="34290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基于文件的词法检索。另选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Embedding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不等于已经启用向量检索。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4762500" y="1704975"/>
            <a:ext cx="6819900" cy="1238250"/>
          </a:xfrm>
          <a:prstGeom prst="roundRect">
            <a:avLst>
              <a:gd name="adj" fmla="val 769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47" name=""/>
          <p:cNvSpPr/>
          <p:nvPr/>
        </p:nvSpPr>
        <p:spPr>
          <a:xfrm rot="0" flipH="0" flipV="0">
            <a:off x="4972050" y="1905000"/>
            <a:ext cx="38100" cy="8382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5162550" y="2057400"/>
            <a:ext cx="4572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收益侧的假设：减少遗漏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5162550" y="2324100"/>
            <a:ext cx="45720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把已确认与待证据分开写清，前一日的事实更容易在次日被重新检索到。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4762500" y="3095625"/>
            <a:ext cx="6819900" cy="1238250"/>
          </a:xfrm>
          <a:prstGeom prst="roundRect">
            <a:avLst>
              <a:gd name="adj" fmla="val 769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51" name=""/>
          <p:cNvSpPr/>
          <p:nvPr/>
        </p:nvSpPr>
        <p:spPr>
          <a:xfrm rot="0" flipH="0" flipV="0">
            <a:off x="4972050" y="3295650"/>
            <a:ext cx="38100" cy="838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5162550" y="3448050"/>
            <a:ext cx="4572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代价侧的假设：可能增噪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5162550" y="3714750"/>
            <a:ext cx="45720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多出的整理文本如果混入推测或冗余，会把无关记录推到检索结果前面。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4762500" y="4486275"/>
            <a:ext cx="6819900" cy="123825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55" name=""/>
          <p:cNvSpPr/>
          <p:nvPr/>
        </p:nvSpPr>
        <p:spPr>
          <a:xfrm rot="0" flipH="0" flipV="0">
            <a:off x="4972050" y="4686300"/>
            <a:ext cx="38100" cy="838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5162550" y="4838700"/>
            <a:ext cx="3714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所以要看净效果，而不是只看整理本身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5162550" y="5105400"/>
            <a:ext cx="37147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登记生成总结不算数，要看到整理之后的真实检索与使用。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长时程校园生活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27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60" name="" descr="&lt;Slide notes={`跨日和跨尝试都要留下证据，而且不同对象的证据链不一样。&#10;&#10;一次性任务的链条是：目标，请求或者发言，真实回复，完成便签，再到后续行为。承诺要多加一段：明确的接受、承诺者，以及完整的截止时间。整理的链条是：输入里实际包含哪些事实，输出的声明指向什么来源，之后有没有被真实检索和使用。恢复的链条是：同一个 run_id，新的 attempt_id，完整的恢复边界，以及下一次提交，消息和便签既不重复也不丢失。&#10;&#10;我特别说一条容易漏的：生成了一份总结，并不证明它影响了后面的决策。要看到它被真正检索并且用上了，链条才算接上。&#10;&#10;证据链不断，才能把“记得住”和“看起来记得住”分开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8.4　跨日、跨 Attempt 都保留证据&lt;/Text&gt;&#10;            &lt;Text style={{ fontSize: 34, fontWeight: 'bold', color: '#20344B' }}&gt;四类对象，四条证据链&lt;/Text&gt;&#10;        &lt;/Box&gt;&#10;    &lt;/Box&gt;&#10;&#10;    &lt;Box style={{ height: 540, flexDirection: 'row', alignItems: 'center', gap: 32 }}&gt;&#10;&#10;        &lt;Box style={{ width: 720, flexDirection: 'column', gap: 12 }}&gt;&#10;            &lt;Text style={{ fontSize: 16, fontWeight: 'bold', color: '#546779' }}&gt;证据链一段都不能少&lt;/Text&gt;&#10;&#10;            &lt;Box style={{ width: 720, height: 96, background: '#EDF4FC', borderRadius: 10, padding: '0 18px', flexDirection: 'row', alignItems: 'center', gap: 14 }}&gt;&#10;                &lt;Box style={{ width: 120, height: 30, background: '#276FBF', borderRadius: 6, justifyContent: 'center', alignItems: 'center' }}&gt;&#10;                    &lt;Text style={{ fontSize: 15, fontWeight: 'bold', color: '#FFFFFF' }}&gt;一次性任务&lt;/Text&gt;&#10;                &lt;/Box&gt;&#10;                &lt;Text style={{ fontSize: 15, color: '#20344B', flex: 1, lineHeight: 1.5 }}&gt;目标 → 请求／发言 → 真实回复 → 完成便签 → 后续行为&lt;/Text&gt;&#10;            &lt;/Box&gt;&#10;&#10;            &lt;Box style={{ width: 720, height: 96, background: '#ECF7F2', borderRadius: 10, padding: '0 18px', flexDirection: 'row', alignItems: 'center', gap: 14 }}&gt;&#10;                &lt;Box style={{ width: 120, height: 30, background: '#26816B', borderRadius: 6, justifyContent: 'center', alignItems: 'center' }}&gt;&#10;                    &lt;Text style={{ fontSize: 15, fontWeight: 'bold', color: '#FFFFFF' }}&gt;承诺&lt;/Text&gt;&#10;                &lt;/Box&gt;&#10;                &lt;Text style={{ fontSize: 15, color: '#20344B', flex: 1, lineHeight: 1.5 }}&gt;再加明确接受、承诺者与完整截止时间&lt;/Text&gt;&#10;            &lt;/Box&gt;&#10;&#10;            &lt;Box style={{ width: 720, height: 96, background: '#FFF4E6', borderRadius: 10, padding: '0 18px', flexDirection: 'row', alignItems: 'center', gap: 14 }}&gt;&#10;                &lt;Box style={{ width: 120, height: 30, background: '#CB6B28', borderRadius: 6, justifyContent: 'center', alignItems: 'center' }}&gt;&#10;                    &lt;Text style={{ fontSize: 15, fontWeight: 'bold', color: '#FFFFFF' }}&gt;整理&lt;/Text&gt;&#10;                &lt;/Box&gt;&#10;                &lt;Text style={{ fontSize: 15, color: '#20344B', flex: 1, lineHeight: 1.5 }}&gt;输入实际含哪些事实 → 输出声明来源 → 之后真实检索／使用&lt;/Text&gt;&#10;            &lt;/Box&gt;&#10;&#10;            &lt;Box style={{ width: 720, height: 96, background: '#F4F7FA', borderRadius: 10, padding: '0 18px', flexDirection: 'row', alignItems: 'center', gap: 14 }}&gt;&#10;                &lt;Box style={{ width: 120, height: 30, background: '#546779', borderRadius: 6, justifyContent: 'center', alignItems: 'center' }}&gt;&#10;                    &lt;Text style={{ fontSize: 15, fontWeight: 'bold', color: '#FFFFFF' }}&gt;恢复&lt;/Text&gt;&#10;                &lt;/Box&gt;&#10;                &lt;Text style={{ fontSize: 15, color: '#20344B', flex: 1, lineHeight: 1.5 }}&gt;同 run_id、新 attempt_id、完整恢复边界、下一提交；消息／便签不重复不丢失&lt;/Text&gt;&#10;            &lt;/Box&gt;&#10;        &lt;/Box&gt;&#10;&#10;        &lt;Box style={{ width: 400, flexDirection: 'column', gap: 16, justifyContent: 'center' }}&gt;&#10;            &lt;Box style={{ width: 400, height: 176, background: '#CB6B28', borderRadius: 10, padding: '20px 22px', flexDirection: 'column', gap: 8, justifyContent: 'center' }}&gt;&#10;                &lt;Text style={{ fontSize: 19, fontWeight: 'bold', color: '#FFFFFF' }}&gt;生成总结 ≠ 影响了决策&lt;/Text&gt;&#10;                &lt;Text style={{ fontSize: 15, color: '#FFF4E6', lineHeight: 1.6 }}&gt;只有整理之后的检索与使用被记录下来，这条链才算接上。&lt;/Text&gt;&#10;            &lt;/Box&gt;&#10;            &lt;Box style={{ width: 400, height: 148, background: '#F4F7FA', borderRadius: 10, padding: '20px 22px', flexDirection: 'column', gap: 6, justifyContent: 'center' }}&gt;&#10;                &lt;Text style={{ fontSize: 17, fontWeight: 'bold', color: '#20344B' }}&gt;恢复不是重灌答案&lt;/Text&gt;&#10;                &lt;Text style={{ fontSize: 15, color: '#546779', lineHeight: 1.55 }}&gt;两组若研究恢复，用相同规则；只给对照暂停会混入另一个因素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8 长时程校园生活&lt;/Text&gt;&#10;        &lt;Text style={{ fontSize: 14, color: '#546779' }}&gt;15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4.8.4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跨日、跨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Attempt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都保留证据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四类对象，四条证据链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609600" y="1562100"/>
            <a:ext cx="685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546779"/>
                </a:solidFill>
                <a:latin typeface="Microsoft YaHei"/>
                <a:ea typeface="Microsoft YaHei"/>
              </a:rPr>
              <a:t>证据链一段都不能少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609600" y="1866900"/>
            <a:ext cx="685800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67" name=""/>
          <p:cNvSpPr/>
          <p:nvPr/>
        </p:nvSpPr>
        <p:spPr>
          <a:xfrm rot="0" flipH="0" flipV="0">
            <a:off x="781050" y="2181225"/>
            <a:ext cx="1143000" cy="28575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1000125" y="223837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一次性任务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2057400" y="2200275"/>
            <a:ext cx="5238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目标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请求／发言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真实回复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完成便签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后续行为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609600" y="2895600"/>
            <a:ext cx="6858000" cy="914400"/>
          </a:xfrm>
          <a:prstGeom prst="roundRect">
            <a:avLst>
              <a:gd name="adj" fmla="val 1041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71" name=""/>
          <p:cNvSpPr/>
          <p:nvPr/>
        </p:nvSpPr>
        <p:spPr>
          <a:xfrm rot="0" flipH="0" flipV="0">
            <a:off x="781050" y="3209925"/>
            <a:ext cx="1143000" cy="285750"/>
          </a:xfrm>
          <a:prstGeom prst="roundRect">
            <a:avLst>
              <a:gd name="adj" fmla="val 2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1209675" y="32670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承诺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2057400" y="3228975"/>
            <a:ext cx="5238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再加明确接受、承诺者与完整截止时间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609600" y="3924300"/>
            <a:ext cx="68580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75" name=""/>
          <p:cNvSpPr/>
          <p:nvPr/>
        </p:nvSpPr>
        <p:spPr>
          <a:xfrm rot="0" flipH="0" flipV="0">
            <a:off x="781050" y="4238625"/>
            <a:ext cx="1143000" cy="285750"/>
          </a:xfrm>
          <a:prstGeom prst="roundRect">
            <a:avLst>
              <a:gd name="adj" fmla="val 20000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1209675" y="42957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整理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2057400" y="4257675"/>
            <a:ext cx="5238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输入实际含哪些事实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输出声明来源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之后真实检索／使用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609600" y="4953000"/>
            <a:ext cx="6858000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79" name=""/>
          <p:cNvSpPr/>
          <p:nvPr/>
        </p:nvSpPr>
        <p:spPr>
          <a:xfrm rot="0" flipH="0" flipV="0">
            <a:off x="781050" y="5267325"/>
            <a:ext cx="1143000" cy="285750"/>
          </a:xfrm>
          <a:prstGeom prst="roundRect">
            <a:avLst>
              <a:gd name="adj" fmla="val 20000"/>
            </a:avLst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1209675" y="53244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恢复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2057400" y="5286375"/>
            <a:ext cx="5238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同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run_id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、新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attempt_id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、完整恢复边界、下一提交；消息／便签不重复不丢失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7772400" y="2095500"/>
            <a:ext cx="3810000" cy="1676400"/>
          </a:xfrm>
          <a:prstGeom prst="roundRect">
            <a:avLst>
              <a:gd name="adj" fmla="val 5682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7981950" y="2514600"/>
            <a:ext cx="3390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生成总结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影响了决策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7981950" y="2809875"/>
            <a:ext cx="33909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FFF4E6"/>
                </a:solidFill>
                <a:latin typeface="Microsoft YaHei"/>
                <a:ea typeface="Microsoft YaHei"/>
              </a:rPr>
              <a:t>只有整理之后的检索与使用被记录下来，这条链才算接上。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7772400" y="3924300"/>
            <a:ext cx="3810000" cy="1409700"/>
          </a:xfrm>
          <a:prstGeom prst="roundRect">
            <a:avLst>
              <a:gd name="adj" fmla="val 675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7981950" y="4238625"/>
            <a:ext cx="3390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恢复不是重灌答案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7981950" y="4495800"/>
            <a:ext cx="33909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两组若研究恢复，用相同规则；只给对照暂停会混入另一个因素。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长时程校园生活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27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90" name="" descr="&lt;Slide notes={`有三句话最容易被读错，我把它们单独列出来。&#10;&#10;第一，生成总结不证明它影响了决策。总结写得再漂亮，也要看到它在后续被真实检索、并且改变了某个动作，才算起作用。&#10;&#10;第二，午夜以后必须保留日期和偏移。十月二十日早上八点半，写成“八点半”就丢了日期和时区，跨日场景里这个缩写是歧义的，会把窗口内外的判断搅乱。&#10;&#10;第三，次日的晨读是新实例。不能把昨天的报名改个名字叫今天的任务，用来逃避重复计数。&#10;&#10;最后补一条常被误解的：角色晚上真的在休息，或者有理由地等待，不算卡死。只有当它有条件继续、却反复无事可做，才值得怀疑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8.4　三句容易被读错的边界&lt;/Text&gt;&#10;            &lt;Text style={{ fontSize: 34, fontWeight: 'bold', color: '#20344B' }}&gt;证据边界：三句先记牢&lt;/Text&gt;&#10;        &lt;/Box&gt;&#10;    &lt;/Box&gt;&#10;&#10;    &lt;Box style={{ height: 540, flexDirection: 'column', justifyContent: 'center', gap: 14 }}&gt;&#10;&#10;        &lt;Box style={{ width: 1152, height: 108, background: '#FFF4E6', borderRadius: 10, padding: '0 22px', flexDirection: 'row', alignItems: 'center', gap: 18 }}&gt;&#10;            &lt;Box style={{ width: 4, height: 72, background: '#CB6B28' }} /&gt;&#10;            &lt;Box style={{ flexDirection: 'column', gap: 4, flex: 1 }}&gt;&#10;                &lt;Text style={{ fontSize: 18, fontWeight: 'bold', color: '#CB6B28' }}&gt;生成总结不证明影响了决策&lt;/Text&gt;&#10;                &lt;Text style={{ fontSize: 15, color: '#546779', lineHeight: 1.55 }}&gt;要看到整理之后的真实检索与使用，链条才算接上；登记一份总结不等于产生了收益。&lt;/Text&gt;&#10;            &lt;/Box&gt;&#10;        &lt;/Box&gt;&#10;&#10;        &lt;Box style={{ width: 1152, height: 108, background: '#EDF4FC', borderRadius: 10, padding: '0 22px', flexDirection: 'row', alignItems: 'center', gap: 18 }}&gt;&#10;            &lt;Box style={{ width: 4, height: 72, background: '#276FBF' }} /&gt;&#10;            &lt;Box style={{ flexDirection: 'column', gap: 4, flex: 1 }}&gt;&#10;                &lt;Text style={{ fontSize: 18, fontWeight: 'bold', color: '#276FBF' }}&gt;午夜以后保留日期与偏移&lt;/Text&gt;&#10;                &lt;Text style={{ fontSize: 15, color: '#546779', lineHeight: 1.55 }}&gt;2026-10-20T08:30:00+08:00 不能缩写成歧义的“八点半”。&lt;/Text&gt;&#10;            &lt;/Box&gt;&#10;        &lt;/Box&gt;&#10;&#10;        &lt;Box style={{ width: 1152, height: 108, background: '#EDF4FC', borderRadius: 10, padding: '0 22px', flexDirection: 'row', alignItems: 'center', gap: 18 }}&gt;&#10;            &lt;Box style={{ width: 4, height: 72, background: '#276FBF' }} /&gt;&#10;            &lt;Box style={{ flexDirection: 'column', gap: 4, flex: 1 }}&gt;&#10;                &lt;Text style={{ fontSize: 18, fontWeight: 'bold', color: '#276FBF' }}&gt;次日晨读是新实例&lt;/Text&gt;&#10;                &lt;Text style={{ fontSize: 15, color: '#546779', lineHeight: 1.55 }}&gt;不能把昨日报名改名成今日任务，用换名字的方式逃避重复计数。&lt;/Text&gt;&#10;            &lt;/Box&gt;&#10;        &lt;/Box&gt;&#10;&#10;        &lt;Box style={{ width: 1152, height: 96, background: '#ECF7F2', borderRadius: 10, padding: '0 22px', flexDirection: 'row', alignItems: 'center', gap: 18 }}&gt;&#10;            &lt;Box style={{ width: 4, height: 62, background: '#26816B' }} /&gt;&#10;            &lt;Box style={{ flexDirection: 'column', gap: 4, flex: 1 }}&gt;&#10;                &lt;Text style={{ fontSize: 17, fontWeight: 'bold', color: '#26816B' }}&gt;真实休息或有理由的等待，不自动算卡死&lt;/Text&gt;&#10;                &lt;Text style={{ fontSize: 15, color: '#546779', lineHeight: 1.55 }}&gt;暂停不是重新灌教师答案；只有有条件继续却反复无事可做，才值得怀疑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8 长时程校园生活&lt;/Text&gt;&#10;        &lt;Text style={{ fontSize: 14, color: '#546779' }}&gt;16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4.8.4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三句容易被读错的边界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证据边界：三句先记牢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609600" y="1514475"/>
            <a:ext cx="10972800" cy="1028700"/>
          </a:xfrm>
          <a:prstGeom prst="roundRect">
            <a:avLst>
              <a:gd name="adj" fmla="val 925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96" name=""/>
          <p:cNvSpPr/>
          <p:nvPr/>
        </p:nvSpPr>
        <p:spPr>
          <a:xfrm rot="0" flipH="0" flipV="0">
            <a:off x="819150" y="1685925"/>
            <a:ext cx="38100" cy="6858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1028700" y="1771650"/>
            <a:ext cx="10344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生成总结不证明影响了决策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1028700" y="2019300"/>
            <a:ext cx="103441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要看到整理之后的真实检索与使用，链条才算接上；登记一份总结不等于产生了收益。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609600" y="2676525"/>
            <a:ext cx="10972800" cy="1028700"/>
          </a:xfrm>
          <a:prstGeom prst="roundRect">
            <a:avLst>
              <a:gd name="adj" fmla="val 925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00" name=""/>
          <p:cNvSpPr/>
          <p:nvPr/>
        </p:nvSpPr>
        <p:spPr>
          <a:xfrm rot="0" flipH="0" flipV="0">
            <a:off x="819150" y="2847975"/>
            <a:ext cx="38100" cy="685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1028700" y="2933700"/>
            <a:ext cx="10344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午夜以后保留日期与偏移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1028700" y="3181350"/>
            <a:ext cx="103441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2026-10-20T08:30:00+08:00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不能缩写成歧义的“八点半”。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609600" y="3838575"/>
            <a:ext cx="10972800" cy="1028700"/>
          </a:xfrm>
          <a:prstGeom prst="roundRect">
            <a:avLst>
              <a:gd name="adj" fmla="val 925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04" name=""/>
          <p:cNvSpPr/>
          <p:nvPr/>
        </p:nvSpPr>
        <p:spPr>
          <a:xfrm rot="0" flipH="0" flipV="0">
            <a:off x="819150" y="4010025"/>
            <a:ext cx="38100" cy="685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1028700" y="4095750"/>
            <a:ext cx="10344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次日晨读是新实例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1028700" y="4343400"/>
            <a:ext cx="103441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不能把昨日报名改名成今日任务，用换名字的方式逃避重复计数。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609600" y="5000625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08" name=""/>
          <p:cNvSpPr/>
          <p:nvPr/>
        </p:nvSpPr>
        <p:spPr>
          <a:xfrm rot="0" flipH="0" flipV="0">
            <a:off x="819150" y="5162550"/>
            <a:ext cx="38100" cy="5905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1028700" y="5210175"/>
            <a:ext cx="10344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真实休息或有理由的等待，不自动算卡死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1028700" y="5448300"/>
            <a:ext cx="103441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暂停不是重新灌教师答案；只有有条件继续却反复无事可做，才值得怀疑。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长时程校园生活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27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13" name="" descr="&lt;Slide notes={`接下来看账怎么算。这一块的难点不在公式，而在分母从哪来。&#10;&#10;四个指标各有各的分母：重复执行率的分母是全部已提交的一次性任务实例；闭环率的分母就是三件初始任务；承诺按期兑现率的分母，是已经明确接受、而且截止时间落在窗口内的承诺；整理保真率的分母，是全部可以核验的整理声明。&#10;&#10;分母不一样，就不能互相推导。比如说一次性任务全部闭环，仍然可能反复重做；反过来，保真率很高，也不能推出闭环率就高。&#10;&#10;所以读比率的时候，我要求每份报告都把分子和分母的边界写出来，让读者自己判断这个数字在说什么。`} style={{ width: 1280, height: 720, background: '#FFFFFF', flexDirection: 'column', padding: '20px 64px' }}&gt;&#10;&#10;    &lt;Box style={{ height: 640, flexDirection: 'column', justifyContent: 'center', gap: 20 }}&gt;&#10;&#10;        &lt;Text style={{ fontSize: 15, color: '#276FBF' }}&gt;3　　4.8.5&lt;/Text&gt;&#10;&#10;        &lt;Text style={{ fontSize: 56, fontWeight: 'bold', color: '#20344B', lineHeight: 1.15 }}&gt;四个指标，{'\n'}说清分母从哪里来&lt;/Text&gt;&#10;&#10;        &lt;Box style={{ width: 72, height: 4, background: '#276FBF' }} /&gt;&#10;&#10;        &lt;Text style={{ fontSize: 18, color: '#546779', lineHeight: 1.7, width: 960 }}&gt;分母不同就不能互相推导：闭环率高不等于没有重复，保真率高也推不出任务办得好。&lt;/Text&gt;&#10;&#10;        &lt;Box style={{ flexDirection: 'row', alignItems: 'center', gap: 16, marginTop: 10 }}&gt;&#10;            &lt;Box style={{ width: 264, height: 72, background: '#EDF4FC', borderRadius: 8, justifyContent: 'center', alignItems: 'center' }}&gt;&#10;                &lt;Text style={{ fontSize: 17, color: '#276FBF' }}&gt;重复 ÷ 已提交实例&lt;/Text&gt;&#10;            &lt;/Box&gt;&#10;            &lt;Box style={{ width: 264, height: 72, background: '#EDF4FC', borderRadius: 8, justifyContent: 'center', alignItems: 'center' }}&gt;&#10;                &lt;Text style={{ fontSize: 17, color: '#276FBF' }}&gt;闭环 ÷ 3 件初始任务&lt;/Text&gt;&#10;            &lt;/Box&gt;&#10;            &lt;Box style={{ width: 264, height: 72, background: '#ECF7F2', borderRadius: 8, justifyContent: 'center', alignItems: 'center' }}&gt;&#10;                &lt;Text style={{ fontSize: 17, color: '#26816B' }}&gt;兑现 ÷ 窗口内承诺&lt;/Text&gt;&#10;            &lt;/Box&gt;&#10;            &lt;Box style={{ width: 264, height: 72, background: '#FFF4E6', borderRadius: 8, justifyContent: 'center', alignItems: 'center' }}&gt;&#10;                &lt;Text style={{ fontSize: 17, color: '#CB6B28' }}&gt;可核验声明为分母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8 长时程校园生活&lt;/Text&gt;&#10;        &lt;Text style={{ fontSize: 14, color: '#546779' }}&gt;17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609600" y="14478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4.8.5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609600" y="1809750"/>
            <a:ext cx="10972800" cy="14763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四个指标，</a:t>
            </a:r>
            <a:endParaRPr/>
          </a:p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说清分母从哪里来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609600" y="34766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609600" y="3705225"/>
            <a:ext cx="91440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分母不同就不能互相推导：闭环率高不等于没有重复，保真率高也推不出任务办得好。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609600" y="4343400"/>
            <a:ext cx="2514600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1190625" y="4591050"/>
            <a:ext cx="1352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重复</a:t>
            </a:r>
            <a:r>
              <a:rPr lang="en-US" sz="1275">
                <a:solidFill>
                  <a:srgbClr val="276FBF"/>
                </a:solidFill>
                <a:latin typeface="Microsoft YaHei"/>
                <a:ea typeface="Microsoft YaHei"/>
              </a:rPr>
              <a:t xml:space="preserve"> ÷ </a:t>
            </a: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已提交实例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3276600" y="4343400"/>
            <a:ext cx="2514600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3790950" y="4591050"/>
            <a:ext cx="1495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闭环</a:t>
            </a:r>
            <a:r>
              <a:rPr lang="en-US" sz="1275">
                <a:solidFill>
                  <a:srgbClr val="276FBF"/>
                </a:solidFill>
                <a:latin typeface="Microsoft YaHei"/>
                <a:ea typeface="Microsoft YaHei"/>
              </a:rPr>
              <a:t xml:space="preserve"> ÷ 3 </a:t>
            </a: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件初始任务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5943600" y="4343400"/>
            <a:ext cx="2514600" cy="685800"/>
          </a:xfrm>
          <a:prstGeom prst="roundRect">
            <a:avLst>
              <a:gd name="adj" fmla="val 1111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6524625" y="4591050"/>
            <a:ext cx="1352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6816B"/>
                </a:solidFill>
                <a:latin typeface="Microsoft YaHei"/>
                <a:ea typeface="Microsoft YaHei"/>
              </a:rPr>
              <a:t>兑现</a:t>
            </a:r>
            <a:r>
              <a:rPr lang="en-US" sz="1275">
                <a:solidFill>
                  <a:srgbClr val="26816B"/>
                </a:solidFill>
                <a:latin typeface="Microsoft YaHei"/>
                <a:ea typeface="Microsoft YaHei"/>
              </a:rPr>
              <a:t xml:space="preserve"> ÷ </a:t>
            </a:r>
            <a:r>
              <a:rPr lang="zh-CN" sz="1275">
                <a:solidFill>
                  <a:srgbClr val="26816B"/>
                </a:solidFill>
                <a:latin typeface="Microsoft YaHei"/>
                <a:ea typeface="Microsoft YaHei"/>
              </a:rPr>
              <a:t>窗口内承诺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8610600" y="4343400"/>
            <a:ext cx="2514600" cy="685800"/>
          </a:xfrm>
          <a:prstGeom prst="roundRect">
            <a:avLst>
              <a:gd name="adj" fmla="val 111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9220200" y="4591050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CB6B28"/>
                </a:solidFill>
                <a:latin typeface="Microsoft YaHei"/>
                <a:ea typeface="Microsoft YaHei"/>
              </a:rPr>
              <a:t>可核验声明为分母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长时程校园生活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27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29" name="" descr="&lt;Slide notes={`四个指标的分母口径，我逐条念一遍，方便对照后面的算例。&#10;&#10;已完成事项重复执行率：分子是首次完成之后、没有新需求又启动的重复实例，分母是全部已提交的一次性任务实例。&#10;&#10;初始任务闭环率：分子是窗口内完整证据成立的 A、B、C 三件，分母就是三。这里的 A、B、C 分别对应唐悠核对并转述、顾澄提交报名意向、罗予核对并转述这三件事。&#10;&#10;承诺按期兑现率：分子是按事实标准兑现的数量，分母是已经明确接受、并且截止时间落在窗口内的承诺。没明确接受的不进分母。&#10;&#10;整理事实保真率：分子是有此前事实或有效来源支持、可以核验的声明，分母是全部可核验的整理声明。&#10;&#10;重复率必须配上闭环率一起看，否则“什么都不做”反而显得干净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8.5　指标与人工练习&lt;/Text&gt;&#10;            &lt;Text style={{ fontSize: 34, fontWeight: 'bold', color: '#20344B' }}&gt;四个指标，四种分母&lt;/Text&gt;&#10;        &lt;/Box&gt;&#10;    &lt;/Box&gt;&#10;&#10;    &lt;Box style={{ height: 540, flexDirection: 'column', justifyContent: 'center', gap: 10 }}&gt;&#10;&#10;        &lt;Box style={{ flexDirection: 'row', gap: 10, padding: '0 4px' }}&gt;&#10;            &lt;Text style={{ fontSize: 15, fontWeight: 'bold', color: '#546779', width: 280 }}&gt;指标&lt;/Text&gt;&#10;            &lt;Text style={{ fontSize: 15, fontWeight: 'bold', color: '#546779', width: 852 }}&gt;分子与分母边界&lt;/Text&gt;&#10;        &lt;/Box&gt;&#10;&#10;        &lt;Box style={{ width: 1152, height: 96, background: '#FFF4E6', borderRadius: 10, flexDirection: 'row', alignItems: 'center', gap: 10, padding: '0 16px' }}&gt;&#10;            &lt;Box style={{ width: 4, height: 68, background: '#CB6B28' }} /&gt;&#10;            &lt;Text style={{ fontSize: 17, fontWeight: 'bold', color: '#CB6B28', width: 266 }}&gt;已完成事项重复执行率&lt;/Text&gt;&#10;            &lt;Text style={{ fontSize: 15, color: '#20344B', flex: 1, lineHeight: 1.55 }}&gt;首次完成后无新需求又启动的重复实例 ÷ 全部已提交的一次性任务实例&lt;/Text&gt;&#10;        &lt;/Box&gt;&#10;&#10;        &lt;Box style={{ width: 1152, height: 96, background: '#EDF4FC', borderRadius: 10, flexDirection: 'row', alignItems: 'center', gap: 10, padding: '0 16px' }}&gt;&#10;            &lt;Box style={{ width: 4, height: 68, background: '#276FBF' }} /&gt;&#10;            &lt;Text style={{ fontSize: 17, fontWeight: 'bold', color: '#276FBF', width: 266 }}&gt;初始任务闭环率&lt;/Text&gt;&#10;            &lt;Text style={{ fontSize: 15, color: '#20344B', flex: 1, lineHeight: 1.55 }}&gt;W 内完整证据成立的 A／B／C 数 ÷ 3&lt;/Text&gt;&#10;        &lt;/Box&gt;&#10;&#10;        &lt;Box style={{ width: 1152, height: 96, background: '#ECF7F2', borderRadius: 10, flexDirection: 'row', alignItems: 'center', gap: 10, padding: '0 16px' }}&gt;&#10;            &lt;Box style={{ width: 4, height: 68, background: '#26816B' }} /&gt;&#10;            &lt;Text style={{ fontSize: 17, fontWeight: 'bold', color: '#26816B', width: 266 }}&gt;承诺按期兑现率&lt;/Text&gt;&#10;            &lt;Text style={{ fontSize: 15, color: '#20344B', flex: 1, lineHeight: 1.55 }}&gt;按事实标准兑现数 ÷ 已明确接受且截止落在 W 内的承诺数&lt;/Text&gt;&#10;        &lt;/Box&gt;&#10;&#10;        &lt;Box style={{ width: 1152, height: 96, background: '#F4F7FA', borderRadius: 10, flexDirection: 'row', alignItems: 'center', gap: 10, padding: '0 16px' }}&gt;&#10;            &lt;Box style={{ width: 4, height: 68, background: '#546779' }} /&gt;&#10;            &lt;Text style={{ fontSize: 17, fontWeight: 'bold', color: '#20344B', width: 266 }}&gt;整理事实保真率&lt;/Text&gt;&#10;            &lt;Text style={{ fontSize: 15, color: '#20344B', flex: 1, lineHeight: 1.55 }}&gt;有此前事实或有效来源支持的可核验声明 ÷ 全部可核验整理声明&lt;/Text&gt;&#10;        &lt;/Box&gt;&#10;&#10;        &lt;Box style={{ width: 1152, height: 72, background: '#EDF4FC', borderRadius: 10, padding: '0 22px', flexDirection: 'row', alignItems: 'center', gap: 16 }}&gt;&#10;            &lt;Text style={{ fontSize: 15, color: '#546779', flex: 1, lineHeight: 1.55 }}&gt;零任务、零承诺或零整理时，相应比率不适用；重复率须配闭环率，避免不行动也得好分。&lt;/Text&gt;&#10;        &lt;/Box&gt;&#10;&#10;    &lt;/Box&gt;&#10;&#10;    &lt;Box style={{ height: 40, flexDirection: 'row', justifyContent: 'space-between', alignItems: 'center' }}&gt;&#10;        &lt;Text style={{ fontSize: 14, color: '#546779' }}&gt;4.8 长时程校园生活&lt;/Text&gt;&#10;        &lt;Text style={{ fontSize: 14, color: '#546779' }}&gt;18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4.8.5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指标与人工练习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四个指标，四种分母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647700" y="1219200"/>
            <a:ext cx="2667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指标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3409950" y="1219200"/>
            <a:ext cx="811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分子与分母边界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609600" y="1485900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37" name=""/>
          <p:cNvSpPr/>
          <p:nvPr/>
        </p:nvSpPr>
        <p:spPr>
          <a:xfrm rot="0" flipH="0" flipV="0">
            <a:off x="762000" y="1619250"/>
            <a:ext cx="38100" cy="6477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895350" y="1847850"/>
            <a:ext cx="2533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已完成事项重复执行率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3524250" y="1809750"/>
            <a:ext cx="79057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首次完成后无新需求又启动的重复实例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÷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全部已提交的一次性任务实例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609600" y="2495550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41" name=""/>
          <p:cNvSpPr/>
          <p:nvPr/>
        </p:nvSpPr>
        <p:spPr>
          <a:xfrm rot="0" flipH="0" flipV="0">
            <a:off x="762000" y="2628900"/>
            <a:ext cx="38100" cy="6477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895350" y="2857500"/>
            <a:ext cx="2533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初始任务闭环率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3524250" y="2819400"/>
            <a:ext cx="79057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W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内完整证据成立的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A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／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B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／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C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数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÷ 3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609600" y="3505200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45" name=""/>
          <p:cNvSpPr/>
          <p:nvPr/>
        </p:nvSpPr>
        <p:spPr>
          <a:xfrm rot="0" flipH="0" flipV="0">
            <a:off x="762000" y="3638550"/>
            <a:ext cx="38100" cy="6477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895350" y="3867150"/>
            <a:ext cx="2533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承诺按期兑现率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3524250" y="3829050"/>
            <a:ext cx="79057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按事实标准兑现数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÷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已明确接受且截止落在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W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内的承诺数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609600" y="4514850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49" name=""/>
          <p:cNvSpPr/>
          <p:nvPr/>
        </p:nvSpPr>
        <p:spPr>
          <a:xfrm rot="0" flipH="0" flipV="0">
            <a:off x="762000" y="4648200"/>
            <a:ext cx="38100" cy="64770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895350" y="4876800"/>
            <a:ext cx="2533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整理事实保真率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3524250" y="4838700"/>
            <a:ext cx="79057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有此前事实或有效来源支持的可核验声明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÷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全部可核验整理声明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609600" y="5524500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819150" y="5734050"/>
            <a:ext cx="105537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零任务、零承诺或零整理时，相应比率不适用；重复率须配闭环率，避免不行动也得好分。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长时程校园生活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27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256" name="" descr="&lt;Slide notes={`这一组数字全部是人工判分和算术的结果，不是某次真实运行跑出来的，我先把这一点说在前头。&#10;&#10;左边这一支数的是执行实例：A 一次、C 一次、B 三次，一共五个实例。其中 B 首次确认之后又提交了两次，后来两次都算重复，所以重复率是二除以五，等于百分之四十。三件任务首次都闭环，闭环率是三除以三，等于百分之百。&#10;&#10;中间这一支数的是整理声明：一共八项，六项有证据，两项有问题，一项虚构完成、一项来源不明，严格保真就是六除以八，等于百分之七十五，两种问题还要分列。&#10;&#10;右边这一支数的是调用：全部尝试合起来一千四百四十次逻辑调用，其中对象占了三百六十次。用一千四百四十除以三人乘二十四小时，得到每人每虚拟小时二十次。三支的单位不同，不能互相推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8.5　人工判分与算术（非 Run 结果）&lt;/Text&gt;&#10;            &lt;Text style={{ fontSize: 34, fontWeight: 'bold', color: '#20344B' }}&gt;5 个实例、8 项声明、1440 次调用&lt;/Text&gt;&#10;        &lt;/Box&gt;&#10;    &lt;/Box&gt;&#10;&#10;    &lt;Box style={{ height: 540, flexDirection: 'column', justifyContent: 'center', gap: 16 }}&gt;&#10;&#10;        &lt;Box style={{ width: 1152, height: 376, background: '#F4F7FA', borderRadius: 12, padding: '16px 20px', flexDirection: 'row', gap: 16 }}&gt;&#10;&#10;            &lt;Box style={{ width: 360, flexDirection: 'column', gap: 8 }}&gt;&#10;                &lt;Box style={{ width: 360, height: 40, background: '#276FBF', borderRadius: 8, justifyContent: 'center', alignItems: 'center' }}&gt;&#10;                    &lt;Text style={{ fontSize: 15, fontWeight: 'bold', color: '#FFFFFF' }}&gt;执行实例 · 5 个&lt;/Text&gt;&#10;                &lt;/Box&gt;&#10;                &lt;Box style={{ width: 360, height: 72, background: '#FFFFFF', borderRadius: 8, padding: '0 14px', flexDirection: 'column', gap: 3, justifyContent: 'center' }}&gt;&#10;                    &lt;Text style={{ fontSize: 14, color: '#546779' }}&gt;A 一次 ＋ C 一次 ＋ B 三次&lt;/Text&gt;&#10;                    &lt;Text style={{ fontSize: 14, color: '#546779' }}&gt;B 首次确认后再提交两次&lt;/Text&gt;&#10;                &lt;/Box&gt;&#10;                &lt;Box style={{ width: 360, height: 96, background: '#FFF4E6', borderRadius: 8, padding: '0 16px', flexDirection: 'column', gap: 4, justifyContent: 'center' }}&gt;&#10;                    &lt;Text style={{ fontSize: 15, color: '#CB6B28' }}&gt;后两次计重复&lt;/Text&gt;&#10;                    &lt;Text style={{ fontSize: 30, fontWeight: 'bold', color: '#CB6B28' }}&gt;2 / 5 ＝ 40%&lt;/Text&gt;&#10;                &lt;/Box&gt;&#10;                &lt;Box style={{ width: 360, height: 108, background: '#ECF7F2', borderRadius: 8, padding: '0 16px', flexDirection: 'column', gap: 4, justifyContent: 'center' }}&gt;&#10;                    &lt;Text style={{ fontSize: 15, color: '#26816B' }}&gt;A、B、C 首次均闭环&lt;/Text&gt;&#10;                    &lt;Text style={{ fontSize: 30, fontWeight: 'bold', color: '#26816B' }}&gt;3 / 3 ＝ 100%&lt;/Text&gt;&#10;                &lt;/Box&gt;&#10;            &lt;/Box&gt;&#10;&#10;            &lt;Box style={{ width: 360, flexDirection: 'column', gap: 8 }}&gt;&#10;                &lt;Box style={{ width: 360, height: 40, background: '#276FBF', borderRadius: 8, justifyContent: 'center', alignItems: 'center' }}&gt;&#10;                    &lt;Text style={{ fontSize: 15, fontWeight: 'bold', color: '#FFFFFF' }}&gt;整理声明 · 8 项&lt;/Text&gt;&#10;                &lt;/Box&gt;&#10;                &lt;Box style={{ width: 360, height: 72, background: '#FFFFFF', borderRadius: 8, padding: '0 14px', flexDirection: 'column', gap: 3, justifyContent: 'center' }}&gt;&#10;                    &lt;Text style={{ fontSize: 14, color: '#546779' }}&gt;6 项有证据&lt;/Text&gt;&#10;                    &lt;Text style={{ fontSize: 14, color: '#546779' }}&gt;2 项有问题：1 虚构完成、1 来源不明&lt;/Text&gt;&#10;                &lt;/Box&gt;&#10;                &lt;Box style={{ width: 360, height: 96, background: '#FFF4E6', borderRadius: 8, padding: '0 16px', flexDirection: 'column', gap: 4, justifyContent: 'center' }}&gt;&#10;                    &lt;Text style={{ fontSize: 15, color: '#CB6B28' }}&gt;两种问题分列&lt;/Text&gt;&#10;                    &lt;Text style={{ fontSize: 30, fontWeight: 'bold', color: '#CB6B28' }}&gt;6 / 8 ＝ 75%&lt;/Text&gt;&#10;                &lt;/Box&gt;&#10;                &lt;Box style={{ width: 360, height: 108, background: '#FFFFFF', borderRadius: 8, padding: '0 16px', flexDirection: 'column', gap: 4, justifyContent: 'center' }}&gt;&#10;                    &lt;Text style={{ fontSize: 14, color: '#546779', lineHeight: 1.5 }}&gt;保真率不由闭环率推得：任务全闭环，声明仍可能失真。&lt;/Text&gt;&#10;                &lt;/Box&gt;&#10;            &lt;/Box&gt;&#10;&#10;            &lt;Box style={{ width: 360, flexDirection: 'column', gap: 8 }}&gt;&#10;                &lt;Box style={{ width: 360, height: 40, background: '#276FBF', borderRadius: 8, justifyContent: 'center', alignItems: 'center' }}&gt;&#10;                    &lt;Text style={{ fontSize: 15, fontWeight: 'bold', color: '#FFFFFF' }}&gt;逻辑调用 · 3 人 × 24 小时&lt;/Text&gt;&#10;                &lt;/Box&gt;&#10;                &lt;Box style={{ width: 360, height: 72, background: '#FFFFFF', borderRadius: 8, padding: '0 14px', flexDirection: 'column', gap: 3, justifyContent: 'center' }}&gt;&#10;                    &lt;Text style={{ fontSize: 14, color: '#546779' }}&gt;L ＝ 1440，其中对象 360，含全部 Attempt&lt;/Text&gt;&#10;                &lt;/Box&gt;&#10;                &lt;Box style={{ width: 360, height: 96, background: '#EDF4FC', borderRadius: 8, padding: '0 16px', flexDirection: 'column', gap: 4, justifyContent: 'center' }}&gt;&#10;                    &lt;Text style={{ fontSize: 15, color: '#276FBF' }}&gt;L ÷（3 人 × 24 小时）&lt;/Text&gt;&#10;                    &lt;Text style={{ fontSize: 30, fontWeight: 'bold', color: '#276FBF' }}&gt;20 次／人·虚拟小时&lt;/Text&gt;&#10;                &lt;/Box&gt;&#10;                &lt;Box style={{ width: 360, height: 108, background: '#FFFFFF', borderRadius: 8, padding: '0 16px', flexDirection: 'column', gap: 4, justifyContent: 'center' }}&gt;&#10;                    &lt;Text style={{ fontSize: 14, color: '#546779', lineHeight: 1.5 }}&gt;对象成本进分子，不冒充第四个人；监控阈值不是界面自动硬限额。&lt;/Text&gt;&#10;                &lt;/Box&gt;&#10;            &lt;/Box&gt;&#10;&#10;        &lt;/Box&gt;&#10;&#10;        &lt;Box style={{ width: 1152, height: 92, background: '#EDF4FC', borderRadius: 10, padding: '0 22px', flexDirection: 'row', alignItems: 'center', gap: 18 }}&gt;&#10;            &lt;Box style={{ width: 4, height: 56, background: '#276FBF' }} /&gt;&#10;            &lt;Text style={{ fontSize: 16, color: '#546779', lineHeight: 1.6, flex: 1 }}&gt;三个分支数的单位不同：5 个执行实例与 3 项初始任务、8 项声明、3 人 × 24 虚拟小时。一次性任务全部闭环，仍可能反复重做。&lt;/Text&gt;&#10;        &lt;/Box&gt;&#10;&#10;    &lt;/Box&gt;&#10;&#10;    &lt;Box style={{ height: 40, flexDirection: 'row', justifyContent: 'space-between', alignItems: 'center' }}&gt;&#10;        &lt;Text style={{ fontSize: 14, color: '#546779' }}&gt;4.8 长时程校园生活&lt;/Text&gt;&#10;        &lt;Text style={{ fontSize: 14, color: '#546779' }}&gt;19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505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4.8.5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人工判分与算术（非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结果）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50577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5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个实例、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8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项声明、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1440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次调用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609600" y="1409700"/>
            <a:ext cx="10972800" cy="3581400"/>
          </a:xfrm>
          <a:prstGeom prst="roundRect">
            <a:avLst>
              <a:gd name="adj" fmla="val 31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62" name=""/>
          <p:cNvSpPr/>
          <p:nvPr/>
        </p:nvSpPr>
        <p:spPr>
          <a:xfrm rot="0" flipH="0" flipV="0">
            <a:off x="800100" y="1562100"/>
            <a:ext cx="3429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2019300" y="1666875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执行实例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5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个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800100" y="2019300"/>
            <a:ext cx="34290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933450" y="2190750"/>
            <a:ext cx="3162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一次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＋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C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一次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＋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B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三次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933450" y="2381250"/>
            <a:ext cx="3162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首次确认后再提交两次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800100" y="2781300"/>
            <a:ext cx="3429000" cy="914400"/>
          </a:xfrm>
          <a:prstGeom prst="roundRect">
            <a:avLst>
              <a:gd name="adj" fmla="val 833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952500" y="2962275"/>
            <a:ext cx="3124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后两次计重复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952500" y="3171825"/>
            <a:ext cx="31242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2 / 5 </a:t>
            </a:r>
            <a:r>
              <a:rPr lang="zh-CN" sz="2250" b="1">
                <a:solidFill>
                  <a:srgbClr val="CB6B28"/>
                </a:solidFill>
                <a:latin typeface="Microsoft YaHei"/>
                <a:ea typeface="Microsoft YaHei"/>
              </a:rPr>
              <a:t>＝</a:t>
            </a:r>
            <a:r>
              <a:rPr lang="en-US" sz="225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40%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800100" y="3771900"/>
            <a:ext cx="3429000" cy="1028700"/>
          </a:xfrm>
          <a:prstGeom prst="roundRect">
            <a:avLst>
              <a:gd name="adj" fmla="val 740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952500" y="4010025"/>
            <a:ext cx="3124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>A</a:t>
            </a: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>B</a:t>
            </a: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 xml:space="preserve">C </a:t>
            </a: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首次均闭环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952500" y="4219575"/>
            <a:ext cx="31242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3 / 3 </a:t>
            </a:r>
            <a:r>
              <a:rPr lang="zh-CN" sz="2250" b="1">
                <a:solidFill>
                  <a:srgbClr val="26816B"/>
                </a:solidFill>
                <a:latin typeface="Microsoft YaHei"/>
                <a:ea typeface="Microsoft YaHei"/>
              </a:rPr>
              <a:t>＝</a:t>
            </a:r>
            <a:r>
              <a:rPr lang="en-US" sz="22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100%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4381500" y="1562100"/>
            <a:ext cx="3429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5600700" y="1666875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整理声明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8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4381500" y="2019300"/>
            <a:ext cx="34290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4514850" y="2190750"/>
            <a:ext cx="3162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项有证据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4514850" y="2381250"/>
            <a:ext cx="3162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项有问题：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虚构完成、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来源不明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4381500" y="2781300"/>
            <a:ext cx="3429000" cy="914400"/>
          </a:xfrm>
          <a:prstGeom prst="roundRect">
            <a:avLst>
              <a:gd name="adj" fmla="val 833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4533900" y="2962275"/>
            <a:ext cx="3124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两种问题分列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4533900" y="3171825"/>
            <a:ext cx="31242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6 / 8 </a:t>
            </a:r>
            <a:r>
              <a:rPr lang="zh-CN" sz="2250" b="1">
                <a:solidFill>
                  <a:srgbClr val="CB6B28"/>
                </a:solidFill>
                <a:latin typeface="Microsoft YaHei"/>
                <a:ea typeface="Microsoft YaHei"/>
              </a:rPr>
              <a:t>＝</a:t>
            </a:r>
            <a:r>
              <a:rPr lang="en-US" sz="225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75%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4381500" y="3771900"/>
            <a:ext cx="342900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4533900" y="4048125"/>
            <a:ext cx="31242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保真率不由闭环率推得：任务全闭环，声明仍可能失真。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7962900" y="1562100"/>
            <a:ext cx="3429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8829675" y="1666875"/>
            <a:ext cx="1695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逻辑调用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3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人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× 24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小时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7962900" y="2019300"/>
            <a:ext cx="34290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8096250" y="2286000"/>
            <a:ext cx="3162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＝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1440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，其中对象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360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，含全部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Attempt</a:t>
            </a:r>
            <a:endParaRPr/>
          </a:p>
        </p:txBody>
      </p:sp>
      <p:sp>
        <p:nvSpPr>
          <p:cNvPr id="287" name=""/>
          <p:cNvSpPr/>
          <p:nvPr/>
        </p:nvSpPr>
        <p:spPr>
          <a:xfrm rot="0" flipH="0" flipV="0">
            <a:off x="7962900" y="2781300"/>
            <a:ext cx="3429000" cy="914400"/>
          </a:xfrm>
          <a:prstGeom prst="roundRect">
            <a:avLst>
              <a:gd name="adj" fmla="val 8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8115300" y="2962275"/>
            <a:ext cx="3124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L ÷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（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人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 xml:space="preserve"> × 24 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小时）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8115300" y="3171825"/>
            <a:ext cx="31242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20 </a:t>
            </a:r>
            <a:r>
              <a:rPr lang="zh-CN" sz="2250" b="1">
                <a:solidFill>
                  <a:srgbClr val="276FBF"/>
                </a:solidFill>
                <a:latin typeface="Microsoft YaHei"/>
                <a:ea typeface="Microsoft YaHei"/>
              </a:rPr>
              <a:t>次／人·虚拟小时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7962900" y="3771900"/>
            <a:ext cx="342900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8115300" y="4048125"/>
            <a:ext cx="31242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对象成本进分子，不冒充第四个人；监控阈值不是界面自动硬限额。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609600" y="5143500"/>
            <a:ext cx="10972800" cy="876300"/>
          </a:xfrm>
          <a:prstGeom prst="roundRect">
            <a:avLst>
              <a:gd name="adj" fmla="val 1087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93" name=""/>
          <p:cNvSpPr/>
          <p:nvPr/>
        </p:nvSpPr>
        <p:spPr>
          <a:xfrm rot="0" flipH="0" flipV="0">
            <a:off x="819150" y="5314950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1028700" y="5438775"/>
            <a:ext cx="103441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三个分支数的单位不同：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5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个执行实例与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项初始任务、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8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项声明、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人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× 24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虚拟小时。一次性任务全部闭环，仍可能反复重做。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长时程校园生活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27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28" name="" descr="&lt;Slide notes={`比率算出来以后，还有几条口径要交代清楚，否则很容易得出荒唐的结论。&#10;&#10;如果某一次运行里没有任务被执行、没有承诺、也没有整理，那么对应的比率就不适用，不能拿零除以零，也不能写成百分之零。更要注意的是，重复率必须和闭环率一起报：只看重复率的话，一个什么都不做的角色反而显得干净，因为他一次重复都没有。&#10;&#10;声明也要拆开算。“已经报名，而且罗予同意同行”这句话必须拆成两条声明，因为它们是两件不同的事实，一条成立不代表另一条成立。&#10;&#10;还有一条：预测和建议不能混进历史声明。整理里写“预计他会同意”，那是推测，不是已发生的事实，不能算进有证据的那一类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8.5　比率的分母口径&lt;/Text&gt;&#10;            &lt;Text style={{ fontSize: 34, fontWeight: 'bold', color: '#20344B' }}&gt;零任务、零承诺时怎么说&lt;/Text&gt;&#10;        &lt;/Box&gt;&#10;    &lt;/Box&gt;&#10;&#10;    &lt;Box style={{ height: 540, flexDirection: 'row', alignItems: 'center', gap: 32 }}&gt;&#10;&#10;        &lt;Box style={{ width: 620, flexDirection: 'column', gap: 16 }}&gt;&#10;            &lt;Text style={{ fontSize: 16, fontWeight: 'bold', color: '#546779' }}&gt;比率不适用时就写不适用&lt;/Text&gt;&#10;&#10;            &lt;Box style={{ width: 620, height: 152, background: '#FFF4E6', borderRadius: 10, padding: '18px 22px', flexDirection: 'column', gap: 8, justifyContent: 'center' }}&gt;&#10;                &lt;Text style={{ fontSize: 19, fontWeight: 'bold', color: '#CB6B28' }}&gt;零任务、零承诺、零整理&lt;/Text&gt;&#10;                &lt;Text style={{ fontSize: 15, color: '#546779', lineHeight: 1.6 }}&gt;相应比率不适用，不能写成 0%。分母为零的比率没有含义，硬报一个数字只会误导读者。&lt;/Text&gt;&#10;            &lt;/Box&gt;&#10;&#10;            &lt;Box style={{ width: 620, height: 152, background: '#EDF4FC', borderRadius: 10, padding: '18px 22px', flexDirection: 'column', gap: 8, justifyContent: 'center' }}&gt;&#10;                &lt;Text style={{ fontSize: 19, fontWeight: 'bold', color: '#276FBF' }}&gt;重复率须配闭环率&lt;/Text&gt;&#10;                &lt;Text style={{ fontSize: 15, color: '#546779', lineHeight: 1.6 }}&gt;只看重复率，不行动的角色反而最好看。两个数一起报，才看得出是真在办事还是干脆不动。&lt;/Text&gt;&#10;            &lt;/Box&gt;&#10;        &lt;/Box&gt;&#10;&#10;        &lt;Box style={{ width: 500, flexDirection: 'column', gap: 16 }}&gt;&#10;            &lt;Text style={{ fontSize: 16, fontWeight: 'bold', color: '#546779' }}&gt;声明要拆开、要去推测&lt;/Text&gt;&#10;&#10;            &lt;Box style={{ width: 500, height: 122, background: '#F4F7FA', borderRadius: 10, padding: '16px 20px', flexDirection: 'column', gap: 6, justifyContent: 'center' }}&gt;&#10;                &lt;Text style={{ fontSize: 17, fontWeight: 'bold', color: '#20344B' }}&gt;一句合并的话拆两条&lt;/Text&gt;&#10;                &lt;Text style={{ fontSize: 14, color: '#546779', lineHeight: 1.5 }}&gt;“已报名且罗予同意同行”拆成两条声明，分别核验各自来源。&lt;/Text&gt;&#10;            &lt;/Box&gt;&#10;&#10;            &lt;Box style={{ width: 500, height: 122, background: '#F4F7FA', borderRadius: 10, padding: '16px 20px', flexDirection: 'column', gap: 6, justifyContent: 'center' }}&gt;&#10;                &lt;Text style={{ fontSize: 17, fontWeight: 'bold', color: '#20344B' }}&gt;预测与建议不进历史声明&lt;/Text&gt;&#10;                &lt;Text style={{ fontSize: 14, color: '#546779', lineHeight: 1.5 }}&gt;“预计他会同意”是推测，不混入有证据支持的已发生事实。&lt;/Text&gt;&#10;            &lt;/Box&gt;&#10;&#10;            &lt;Box style={{ width: 500, height: 92, background: '#ECF7F2', borderRadius: 10, padding: '14px 20px', flexDirection: 'column', gap: 4, justifyContent: 'center' }}&gt;&#10;                &lt;Text style={{ fontSize: 14, color: '#546779', lineHeight: 1.5 }}&gt;可核验的才算进保真率的分母；不可核验的只能另列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8 长时程校园生活&lt;/Text&gt;&#10;        &lt;Text style={{ fontSize: 14, color: '#546779' }}&gt;20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4.8.5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比率的分母口径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零任务、零承诺时怎么说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609600" y="2019300"/>
            <a:ext cx="5905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546779"/>
                </a:solidFill>
                <a:latin typeface="Microsoft YaHei"/>
                <a:ea typeface="Microsoft YaHei"/>
              </a:rPr>
              <a:t>比率不适用时就写不适用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609600" y="2362200"/>
            <a:ext cx="5905500" cy="1447800"/>
          </a:xfrm>
          <a:prstGeom prst="roundRect">
            <a:avLst>
              <a:gd name="adj" fmla="val 657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819150" y="2667000"/>
            <a:ext cx="5486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零任务、零承诺、零整理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819150" y="2962275"/>
            <a:ext cx="54864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相应比率不适用，不能写成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0%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。分母为零的比率没有含义，硬报一个数字只会误导读者。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609600" y="3962400"/>
            <a:ext cx="5905500" cy="1447800"/>
          </a:xfrm>
          <a:prstGeom prst="roundRect">
            <a:avLst>
              <a:gd name="adj" fmla="val 657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819150" y="4267200"/>
            <a:ext cx="5486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重复率须配闭环率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819150" y="4562475"/>
            <a:ext cx="54864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只看重复率，不行动的角色反而最好看。两个数一起报，才看得出是真在办事还是干脆不动。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6819900" y="1790700"/>
            <a:ext cx="4762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546779"/>
                </a:solidFill>
                <a:latin typeface="Microsoft YaHei"/>
                <a:ea typeface="Microsoft YaHei"/>
              </a:rPr>
              <a:t>声明要拆开、要去推测</a:t>
            </a:r>
            <a:endParaRPr/>
          </a:p>
        </p:txBody>
      </p:sp>
      <p:sp>
        <p:nvSpPr>
          <p:cNvPr id="341" name=""/>
          <p:cNvSpPr/>
          <p:nvPr/>
        </p:nvSpPr>
        <p:spPr>
          <a:xfrm rot="0" flipH="0" flipV="0">
            <a:off x="6819900" y="2133600"/>
            <a:ext cx="4762500" cy="1162050"/>
          </a:xfrm>
          <a:prstGeom prst="roundRect">
            <a:avLst>
              <a:gd name="adj" fmla="val 819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7010400" y="2466975"/>
            <a:ext cx="438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一句合并的话拆两条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7010400" y="2724150"/>
            <a:ext cx="4381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“已报名且罗予同意同行”拆成两条声明，分别核验各自来源。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6819900" y="3448050"/>
            <a:ext cx="4762500" cy="1162050"/>
          </a:xfrm>
          <a:prstGeom prst="roundRect">
            <a:avLst>
              <a:gd name="adj" fmla="val 819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7010400" y="3781425"/>
            <a:ext cx="438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预测与建议不进历史声明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7010400" y="4038600"/>
            <a:ext cx="4381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“预计他会同意”是推测，不混入有证据支持的已发生事实。</a:t>
            </a:r>
            <a:endParaRPr/>
          </a:p>
        </p:txBody>
      </p:sp>
      <p:sp>
        <p:nvSpPr>
          <p:cNvPr id="347" name=""/>
          <p:cNvSpPr/>
          <p:nvPr/>
        </p:nvSpPr>
        <p:spPr>
          <a:xfrm rot="0" flipH="0" flipV="0">
            <a:off x="6819900" y="4762500"/>
            <a:ext cx="4762500" cy="876300"/>
          </a:xfrm>
          <a:prstGeom prst="roundRect">
            <a:avLst>
              <a:gd name="adj" fmla="val 1087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7010400" y="5076825"/>
            <a:ext cx="4381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可核验的才算进保真率的分母；不可核验的只能另列。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长时程校园生活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27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351" name="" descr="&lt;Slide notes={`最后讲成本口径里最容易被偷换的一处：分母是谁。&#10;&#10;全覆盖小时是 H，等于最后提交的步数 k 减一，乘以步长，再除以六十，单位是小时。把全部尝试里三人加咨询台的逻辑调用记作 L，那么单位值就是 L 除以三倍的 H，读作“每人每虚拟小时多少次调用”。&#10;&#10;拿例子说：一千四百四十次调用，三人乘二十四小时等于七十二个虚拟人时，于是得到每人每虚拟小时二十次。&#10;&#10;关键是那三百六十次对象调用要算进分子，但不能在分母里多算一个人。咨询台不是第四个学习者，把它塞进分母会把单位值压低，看起来就便宜了。&#10;&#10;另外，如果只有第一步，H 就是零，这个单位值不可计算，要如实写不可计算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8.6　调用单位值的分母&lt;/Text&gt;&#10;            &lt;Text style={{ fontSize: 34, fontWeight: 'bold', color: '#20344B' }}&gt;对象进分子，不冒充第四个人&lt;/Text&gt;&#10;        &lt;/Box&gt;&#10;    &lt;/Box&gt;&#10;&#10;    &lt;Box style={{ height: 540, flexDirection: 'row', alignItems: 'center', gap: 36 }}&gt;&#10;&#10;        &lt;Box style={{ width: 440, flexDirection: 'column', gap: 8, justifyContent: 'center' }}&gt;&#10;            &lt;Text style={{ fontSize: 17, color: '#546779' }}&gt;调用／人 · 虚拟小时&lt;/Text&gt;&#10;            &lt;Box style={{ flexDirection: 'row', alignItems: 'flex-end', gap: 10 }}&gt;&#10;                &lt;Text style={{ fontSize: 96, fontWeight: 'bold', color: '#276FBF', lineHeight: 1.0 }}&gt;20&lt;/Text&gt;&#10;                &lt;Text style={{ fontSize: 22, color: '#546779', marginBottom: 14 }}&gt;次&lt;/Text&gt;&#10;            &lt;/Box&gt;&#10;            &lt;Box style={{ width: 380, height: 66, background: '#EDF4FC', borderRadius: 10, justifyContent: 'center', alignItems: 'center' }}&gt;&#10;                &lt;Text style={{ fontSize: 20, fontWeight: 'bold', color: '#276FBF' }}&gt;L ÷（3 × H）&lt;/Text&gt;&#10;            &lt;/Box&gt;&#10;            &lt;Text style={{ fontSize: 14, color: '#546779', lineHeight: 1.5, width: 420 }}&gt;H ＝（k−1）× Δ ÷ 60，k 为实际最后提交步数，Δ 为步长分钟数。&lt;/Text&gt;&#10;        &lt;/Box&gt;&#10;&#10;        &lt;Box style={{ width: 676, flexDirection: 'column', gap: 14 }}&gt;&#10;&#10;            &lt;Box style={{ width: 676, height: 104, background: '#F4F7FA', borderRadius: 10, padding: '0 20px', flexDirection: 'row', alignItems: 'center', gap: 16 }}&gt;&#10;                &lt;Text style={{ fontSize: 22, fontWeight: 'bold', color: '#546779', width: 130 }}&gt;1440&lt;/Text&gt;&#10;                &lt;Text style={{ fontSize: 15, color: '#20344B', flex: 1, lineHeight: 1.55 }}&gt;全部 Attempt 中三人和咨询台的逻辑调用 L；对象 360 次另列。&lt;/Text&gt;&#10;            &lt;/Box&gt;&#10;&#10;            &lt;Box style={{ width: 676, height: 104, background: '#FFF4E6', borderRadius: 10, padding: '0 20px', flexDirection: 'row', alignItems: 'center', gap: 16 }}&gt;&#10;                &lt;Text style={{ fontSize: 22, fontWeight: 'bold', color: '#CB6B28', width: 130 }}&gt;360&lt;/Text&gt;&#10;                &lt;Text style={{ fontSize: 15, color: '#20344B', flex: 1, lineHeight: 1.55 }}&gt;对象成本进分子，但不增加人物分母，不冒充第四个人。&lt;/Text&gt;&#10;            &lt;/Box&gt;&#10;&#10;            &lt;Box style={{ width: 676, height: 104, background: '#EDF4FC', borderRadius: 10, padding: '0 20px', flexDirection: 'row', alignItems: 'center', gap: 16 }}&gt;&#10;                &lt;Text style={{ fontSize: 22, fontWeight: 'bold', color: '#276FBF', width: 130 }}&gt;1 / 0&lt;/Text&gt;&#10;                &lt;Text style={{ fontSize: 15, color: '#20344B', flex: 1, lineHeight: 1.55 }}&gt;仅 Step1 时 H＝0，单位值不可计算；另报人物／对象／物理尝试。&lt;/Text&gt;&#10;            &lt;/Box&gt;&#10;&#10;            &lt;Box style={{ width: 676, height: 84, background: '#ECF7F2', borderRadius: 10, padding: '0 20px', flexDirection: 'row', alignItems: 'center', gap: 16 }}&gt;&#10;                &lt;Text style={{ fontSize: 15, color: '#546779', flex: 1, lineHeight: 1.55 }}&gt;失败与恢复前的消耗都保留在成本里，不被清理掉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8 长时程校园生活&lt;/Text&gt;&#10;        &lt;Text style={{ fontSize: 14, color: '#546779' }}&gt;21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4.8.6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调用单位值的分母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对象进分子，不冒充第四个人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609600" y="2390775"/>
            <a:ext cx="4191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调用／人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虚拟小时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609600" y="2667000"/>
            <a:ext cx="113347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276FBF"/>
                </a:solidFill>
                <a:latin typeface="Microsoft YaHei"/>
                <a:ea typeface="Microsoft YaHei"/>
              </a:rPr>
              <a:t>20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1838325" y="338137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546779"/>
                </a:solidFill>
                <a:latin typeface="Microsoft YaHei"/>
                <a:ea typeface="Microsoft YaHei"/>
              </a:rPr>
              <a:t>次</a:t>
            </a:r>
            <a:endParaRPr/>
          </a:p>
        </p:txBody>
      </p:sp>
      <p:sp>
        <p:nvSpPr>
          <p:cNvPr id="359" name=""/>
          <p:cNvSpPr/>
          <p:nvPr/>
        </p:nvSpPr>
        <p:spPr>
          <a:xfrm rot="0" flipH="0" flipV="0">
            <a:off x="609600" y="3848100"/>
            <a:ext cx="3619500" cy="628650"/>
          </a:xfrm>
          <a:prstGeom prst="roundRect">
            <a:avLst>
              <a:gd name="adj" fmla="val 1515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1809750" y="4048125"/>
            <a:ext cx="12287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>L ÷</a:t>
            </a: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（</a:t>
            </a: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>3 × H</a:t>
            </a: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609600" y="4552950"/>
            <a:ext cx="40005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H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＝（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k−1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）×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Δ ÷ 60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k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为实际最后提交步数，Δ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为步长分钟数。</a:t>
            </a:r>
            <a:endParaRPr/>
          </a:p>
        </p:txBody>
      </p:sp>
      <p:sp>
        <p:nvSpPr>
          <p:cNvPr id="362" name=""/>
          <p:cNvSpPr/>
          <p:nvPr/>
        </p:nvSpPr>
        <p:spPr>
          <a:xfrm rot="0" flipH="0" flipV="0">
            <a:off x="5143500" y="1628775"/>
            <a:ext cx="643890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5334000" y="2000250"/>
            <a:ext cx="1238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546779"/>
                </a:solidFill>
                <a:latin typeface="Microsoft YaHei"/>
                <a:ea typeface="Microsoft YaHei"/>
              </a:rPr>
              <a:t>1440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6724650" y="1990725"/>
            <a:ext cx="46672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全部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Attempt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中三人和咨询台的逻辑调用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L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；对象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360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次另列。</a:t>
            </a:r>
            <a:endParaRPr/>
          </a:p>
        </p:txBody>
      </p:sp>
      <p:sp>
        <p:nvSpPr>
          <p:cNvPr id="365" name=""/>
          <p:cNvSpPr/>
          <p:nvPr/>
        </p:nvSpPr>
        <p:spPr>
          <a:xfrm rot="0" flipH="0" flipV="0">
            <a:off x="5143500" y="2752725"/>
            <a:ext cx="6438900" cy="990600"/>
          </a:xfrm>
          <a:prstGeom prst="roundRect">
            <a:avLst>
              <a:gd name="adj" fmla="val 961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5334000" y="3124200"/>
            <a:ext cx="1238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CB6B28"/>
                </a:solidFill>
                <a:latin typeface="Microsoft YaHei"/>
                <a:ea typeface="Microsoft YaHei"/>
              </a:rPr>
              <a:t>360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6724650" y="3114675"/>
            <a:ext cx="46672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对象成本进分子，但不增加人物分母，不冒充第四个人。</a:t>
            </a:r>
            <a:endParaRPr/>
          </a:p>
        </p:txBody>
      </p:sp>
      <p:sp>
        <p:nvSpPr>
          <p:cNvPr id="368" name=""/>
          <p:cNvSpPr/>
          <p:nvPr/>
        </p:nvSpPr>
        <p:spPr>
          <a:xfrm rot="0" flipH="0" flipV="0">
            <a:off x="5143500" y="3876675"/>
            <a:ext cx="6438900" cy="990600"/>
          </a:xfrm>
          <a:prstGeom prst="roundRect">
            <a:avLst>
              <a:gd name="adj" fmla="val 961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5334000" y="4248150"/>
            <a:ext cx="1238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76FBF"/>
                </a:solidFill>
                <a:latin typeface="Microsoft YaHei"/>
                <a:ea typeface="Microsoft YaHei"/>
              </a:rPr>
              <a:t>1 / 0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6724650" y="4238625"/>
            <a:ext cx="46672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仅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Step1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时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H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＝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0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，单位值不可计算；另报人物／对象／物理尝试。</a:t>
            </a:r>
            <a:endParaRPr/>
          </a:p>
        </p:txBody>
      </p:sp>
      <p:sp>
        <p:nvSpPr>
          <p:cNvPr id="371" name=""/>
          <p:cNvSpPr/>
          <p:nvPr/>
        </p:nvSpPr>
        <p:spPr>
          <a:xfrm rot="0" flipH="0" flipV="0">
            <a:off x="5143500" y="5000625"/>
            <a:ext cx="6438900" cy="800100"/>
          </a:xfrm>
          <a:prstGeom prst="roundRect">
            <a:avLst>
              <a:gd name="adj" fmla="val 1190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5334000" y="5267325"/>
            <a:ext cx="60579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失败与恢复前的消耗都保留在成本里，不被清理掉。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长时程校园生活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27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375" name="" descr="&lt;Slide notes={`第四块要解决的是“什么时候停下来”。这件事必须在开跑之前定好，不能跑着跑着再改。&#10;&#10;我会先算清楚覆盖了多少小时，再拿调用除以人时，得到单位成本。同时把轮次数和请求数分开报，把估算和真实用量分开报。&#10;&#10;然后设定停下来重评的条件。我给每组的第一个运行准备了一组可选的预算草案，达到其中任何一个阈值，就计划暂停、记录边界、重新评估。&#10;&#10;需要强调的是，这是我作为作者的监控规则，不是软件界面上自动执行的硬限额。跑到一半或者正在收尾的时候，仍然可能继续消耗资源。事前把规则写清楚、两组一致，才能避免事后挑对自己有利的口径。`} style={{ width: 1280, height: 720, background: '#FFFFFF', flexDirection: 'column', padding: '20px 64px' }}&gt;&#10;&#10;    &lt;Box style={{ height: 640, flexDirection: 'column', justifyContent: 'center', gap: 20 }}&gt;&#10;&#10;        &lt;Text style={{ fontSize: 15, color: '#276FBF' }}&gt;4　　4.8.6 — 4.8.7&lt;/Text&gt;&#10;&#10;        &lt;Text style={{ fontSize: 56, fontWeight: 'bold', color: '#20344B', lineHeight: 1.15 }}&gt;预算在长跑之前固定，{'\n'}失败沿五步定位&lt;/Text&gt;&#10;&#10;        &lt;Box style={{ width: 72, height: 4, background: '#276FBF' }} /&gt;&#10;&#10;        &lt;Text style={{ fontSize: 18, color: '#546779', lineHeight: 1.7, width: 940 }}&gt;先定好停下来的条件，再开始跑；出了问题，沿记忆链路一段一段往回查。&lt;/Text&gt;&#10;&#10;        &lt;Box style={{ flexDirection: 'row', alignItems: 'center', gap: 16, marginTop: 10 }}&gt;&#10;            &lt;Box style={{ width: 340, height: 68, background: '#EDF4FC', borderRadius: 8, justifyContent: 'center', alignItems: 'center' }}&gt;&#10;                &lt;Text style={{ fontSize: 17, color: '#276FBF' }}&gt;2000 物理尝试&lt;/Text&gt;&#10;            &lt;/Box&gt;&#10;            &lt;Box style={{ width: 340, height: 68, background: '#FFF4E6', borderRadius: 8, justifyContent: 'center', alignItems: 'center' }}&gt;&#10;                &lt;Text style={{ fontSize: 17, color: '#CB6B28' }}&gt;400 万 Token&lt;/Text&gt;&#10;            &lt;/Box&gt;&#10;            &lt;Box style={{ width: 340, height: 68, background: '#ECF7F2', borderRadius: 8, justifyContent: 'center', alignItems: 'center' }}&gt;&#10;                &lt;Text style={{ fontSize: 17, color: '#26816B' }}&gt;2 小时执行墙钟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8 长时程校园生活&lt;/Text&gt;&#10;        &lt;Text style={{ fontSize: 14, color: '#546779' }}&gt;22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609600" y="14668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4.8.6 — 4.8.7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609600" y="1828800"/>
            <a:ext cx="10972800" cy="14763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预算在长跑之前固定，</a:t>
            </a:r>
            <a:endParaRPr/>
          </a:p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失败沿五步定位</a:t>
            </a:r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609600" y="34956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609600" y="3724275"/>
            <a:ext cx="8953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先定好停下来的条件，再开始跑；出了问题，沿记忆链路一段一段往回查。</a:t>
            </a:r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609600" y="4362450"/>
            <a:ext cx="3238500" cy="647700"/>
          </a:xfrm>
          <a:prstGeom prst="roundRect">
            <a:avLst>
              <a:gd name="adj" fmla="val 1176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1695450" y="4591050"/>
            <a:ext cx="1076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276FBF"/>
                </a:solidFill>
                <a:latin typeface="Microsoft YaHei"/>
                <a:ea typeface="Microsoft YaHei"/>
              </a:rPr>
              <a:t xml:space="preserve">2000 </a:t>
            </a: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物理尝试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4000500" y="4362450"/>
            <a:ext cx="3238500" cy="647700"/>
          </a:xfrm>
          <a:prstGeom prst="roundRect">
            <a:avLst>
              <a:gd name="adj" fmla="val 1176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5124450" y="4591050"/>
            <a:ext cx="10001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CB6B28"/>
                </a:solidFill>
                <a:latin typeface="Microsoft YaHei"/>
                <a:ea typeface="Microsoft YaHei"/>
              </a:rPr>
              <a:t xml:space="preserve">400 </a:t>
            </a:r>
            <a:r>
              <a:rPr lang="zh-CN" sz="1275">
                <a:solidFill>
                  <a:srgbClr val="CB6B28"/>
                </a:solidFill>
                <a:latin typeface="Microsoft YaHei"/>
                <a:ea typeface="Microsoft YaHei"/>
              </a:rPr>
              <a:t>万</a:t>
            </a:r>
            <a:r>
              <a:rPr lang="en-US" sz="1275">
                <a:solidFill>
                  <a:srgbClr val="CB6B28"/>
                </a:solidFill>
                <a:latin typeface="Microsoft YaHei"/>
                <a:ea typeface="Microsoft YaHei"/>
              </a:rPr>
              <a:t xml:space="preserve"> Token</a:t>
            </a:r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7391400" y="4362450"/>
            <a:ext cx="3238500" cy="647700"/>
          </a:xfrm>
          <a:prstGeom prst="roundRect">
            <a:avLst>
              <a:gd name="adj" fmla="val 1176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8458200" y="4591050"/>
            <a:ext cx="1114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26816B"/>
                </a:solidFill>
                <a:latin typeface="Microsoft YaHei"/>
                <a:ea typeface="Microsoft YaHei"/>
              </a:rPr>
              <a:t xml:space="preserve">2 </a:t>
            </a:r>
            <a:r>
              <a:rPr lang="zh-CN" sz="1275">
                <a:solidFill>
                  <a:srgbClr val="26816B"/>
                </a:solidFill>
                <a:latin typeface="Microsoft YaHei"/>
                <a:ea typeface="Microsoft YaHei"/>
              </a:rPr>
              <a:t>小时执行墙钟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长时程校园生活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27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389" name="" descr="&lt;Slide notes={`这几行人工算术，数字不多，但每一个都容易被记错。&#10;&#10;第一行，完整一百四十五步，三人乘二十四小时，等于七十二个虚拟人时，这是分母。&#10;&#10;第二行，调用一千四百四十次，其中对象三百六十次，除以七十二，得到每人每虚拟小时二十次；对象那三百六十次另外列出来。&#10;&#10;第三行，一百四十五步乘以四个参与者——三个人加咨询台——等于五百八十个轮次。这里要注意，五百八十是轮次，不是五百八十个请求，一个轮次里可能包含多次调用。&#10;&#10;第四行，四十八小时窗口二百八十九步，乘以四个参与者，等于一千一百五十六个轮次，同样不是请求数。&#10;&#10;如果只是跑了一半就停，我要报告实际覆盖到哪儿、还有哪些没完成，而不是拿单位值直接说便宜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8.6　覆盖小时与单位值&lt;/Text&gt;&#10;            &lt;Text style={{ fontSize: 34, fontWeight: 'bold', color: '#20344B' }}&gt;先算覆盖小时，再除以它&lt;/Text&gt;&#10;        &lt;/Box&gt;&#10;    &lt;/Box&gt;&#10;&#10;    &lt;Box style={{ height: 540, flexDirection: 'column', justifyContent: 'center', gap: 10 }}&gt;&#10;&#10;        &lt;Box style={{ flexDirection: 'row', gap: 10, padding: '0 4px' }}&gt;&#10;            &lt;Text style={{ fontSize: 15, fontWeight: 'bold', color: '#546779', width: 520 }}&gt;人工算术&lt;/Text&gt;&#10;            &lt;Text style={{ fontSize: 15, fontWeight: 'bold', color: '#546779', width: 616 }}&gt;结果&lt;/Text&gt;&#10;        &lt;/Box&gt;&#10;&#10;        &lt;Box style={{ width: 1152, height: 96, background: '#EDF4FC', borderRadius: 10, flexDirection: 'row', alignItems: 'center', gap: 10, padding: '0 16px' }}&gt;&#10;            &lt;Box style={{ width: 4, height: 64, background: '#276FBF' }} /&gt;&#10;            &lt;Text style={{ fontSize: 16, color: '#20344B', width: 506 }}&gt;完整 145 步，3 人 × 24 小时&lt;/Text&gt;&#10;            &lt;Text style={{ fontSize: 16, fontWeight: 'bold', color: '#276FBF', flex: 1 }}&gt;72 人 · 虚拟小时&lt;/Text&gt;&#10;        &lt;/Box&gt;&#10;&#10;        &lt;Box style={{ width: 1152, height: 96, background: '#FFF4E6', borderRadius: 10, flexDirection: 'row', alignItems: 'center', gap: 10, padding: '0 16px' }}&gt;&#10;            &lt;Box style={{ width: 4, height: 64, background: '#CB6B28' }} /&gt;&#10;            &lt;Text style={{ fontSize: 16, color: '#20344B', width: 506 }}&gt;L ＝ 1440，其中对象 360&lt;/Text&gt;&#10;            &lt;Text style={{ fontSize: 16, fontWeight: 'bold', color: '#CB6B28', flex: 1 }}&gt;20 调用／人·虚拟小时；对象 360 另列&lt;/Text&gt;&#10;        &lt;/Box&gt;&#10;&#10;        &lt;Box style={{ width: 1152, height: 96, background: '#F4F7FA', borderRadius: 10, flexDirection: 'row', alignItems: 'center', gap: 10, padding: '0 16px' }}&gt;&#10;            &lt;Box style={{ width: 4, height: 64, background: '#546779' }} /&gt;&#10;            &lt;Text style={{ fontSize: 16, color: '#20344B', width: 506 }}&gt;145 步 × 4 参与者&lt;/Text&gt;&#10;            &lt;Text style={{ fontSize: 16, fontWeight: 'bold', color: '#20344B', flex: 1 }}&gt;580 轮次，不是 580 请求&lt;/Text&gt;&#10;        &lt;/Box&gt;&#10;&#10;        &lt;Box style={{ width: 1152, height: 96, background: '#F4F7FA', borderRadius: 10, flexDirection: 'row', alignItems: 'center', gap: 10, padding: '0 16px' }}&gt;&#10;            &lt;Box style={{ width: 4, height: 64, background: '#546779' }} /&gt;&#10;            &lt;Text style={{ fontSize: 16, color: '#20344B', width: 506 }}&gt;289 步 × 4 参与者&lt;/Text&gt;&#10;            &lt;Text style={{ fontSize: 16, fontWeight: 'bold', color: '#20344B', flex: 1 }}&gt;1156 轮次，不是 1156 请求&lt;/Text&gt;&#10;        &lt;/Box&gt;&#10;&#10;        &lt;Box style={{ width: 1152, height: 72, background: '#EDF4FC', borderRadius: 10, padding: '0 22px', flexDirection: 'row', alignItems: 'center', gap: 16 }}&gt;&#10;            &lt;Text style={{ fontSize: 15, color: '#546779', flex: 1, lineHeight: 1.55 }}&gt;H ＝（k−1）× Δ ÷ 60；长上下文、整理与重试可增成本，估算与真实用量分开报。&lt;/Text&gt;&#10;        &lt;/Box&gt;&#10;&#10;    &lt;/Box&gt;&#10;&#10;    &lt;Box style={{ height: 40, flexDirection: 'row', justifyContent: 'space-between', alignItems: 'center' }}&gt;&#10;        &lt;Text style={{ fontSize: 14, color: '#546779' }}&gt;4.8 长时程校园生活&lt;/Text&gt;&#10;        &lt;Text style={{ fontSize: 14, color: '#546779' }}&gt;23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4.8.6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覆盖小时与单位值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先算覆盖小时，再除以它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647700" y="1219200"/>
            <a:ext cx="4943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人工算术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5686425" y="1219200"/>
            <a:ext cx="5857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结果</a:t>
            </a:r>
            <a:endParaRPr/>
          </a:p>
        </p:txBody>
      </p:sp>
      <p:sp>
        <p:nvSpPr>
          <p:cNvPr id="396" name=""/>
          <p:cNvSpPr/>
          <p:nvPr/>
        </p:nvSpPr>
        <p:spPr>
          <a:xfrm rot="0" flipH="0" flipV="0">
            <a:off x="609600" y="1485900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97" name=""/>
          <p:cNvSpPr/>
          <p:nvPr/>
        </p:nvSpPr>
        <p:spPr>
          <a:xfrm rot="0" flipH="0" flipV="0">
            <a:off x="762000" y="1638300"/>
            <a:ext cx="38100" cy="6096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895350" y="1847850"/>
            <a:ext cx="4819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完整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145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步，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人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× 24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小时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5810250" y="1847850"/>
            <a:ext cx="561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72 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人</a:t>
            </a: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虚拟小时</a:t>
            </a:r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609600" y="2495550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01" name=""/>
          <p:cNvSpPr/>
          <p:nvPr/>
        </p:nvSpPr>
        <p:spPr>
          <a:xfrm rot="0" flipH="0" flipV="0">
            <a:off x="762000" y="2647950"/>
            <a:ext cx="38100" cy="6096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895350" y="2857500"/>
            <a:ext cx="4819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L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＝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1440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，其中对象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360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5810250" y="2857500"/>
            <a:ext cx="561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20 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调用／人·虚拟小时；对象</a:t>
            </a: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360 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另列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609600" y="3505200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05" name=""/>
          <p:cNvSpPr/>
          <p:nvPr/>
        </p:nvSpPr>
        <p:spPr>
          <a:xfrm rot="0" flipH="0" flipV="0">
            <a:off x="762000" y="3657600"/>
            <a:ext cx="38100" cy="60960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895350" y="3867150"/>
            <a:ext cx="4819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145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步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× 4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参与者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5810250" y="3867150"/>
            <a:ext cx="561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580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轮次，不是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580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请求</a:t>
            </a:r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609600" y="4514850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09" name=""/>
          <p:cNvSpPr/>
          <p:nvPr/>
        </p:nvSpPr>
        <p:spPr>
          <a:xfrm rot="0" flipH="0" flipV="0">
            <a:off x="762000" y="4667250"/>
            <a:ext cx="38100" cy="60960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895350" y="4876800"/>
            <a:ext cx="4819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289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步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× 4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参与者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5810250" y="4876800"/>
            <a:ext cx="561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1156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轮次，不是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1156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请求</a:t>
            </a:r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609600" y="5524500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819150" y="5734050"/>
            <a:ext cx="105537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H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＝（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k−1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）×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Δ ÷ 60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；长上下文、整理与重试可增成本，估算与真实用量分开报。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长时程校园生活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23 / 27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416" name="" descr="&lt;Slide notes={`我把停下来重评的条件写成三个阈值，达到其中任何一个就暂停。&#10;&#10;第一，单个运行达到两千次物理尝试。第二，累计达到四百万 Token。第三，执行墙钟超过两小时。&#10;&#10;这三个条件是事前按负担能力定好的，而且两组完全一致，不能只给其中一组设限。达到阈值时要做三件事：计划暂停、记录当前边界、重新评估要不要继续。&#10;&#10;还要强调，这是我作为作者的监控规则，不是界面上会自动执行的硬限额。所以在途的调用和收尾的动作仍然可能继续消耗；它不是一堵墙，只是一条提醒线。&#10;&#10;如果 Token 用量缺失，就如实记为未知，不能写成“已经控制住了”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8.6　可选预算草案&lt;/Text&gt;&#10;            &lt;Text style={{ fontSize: 34, fontWeight: 'bold', color: '#20344B' }}&gt;三个阈值，谁来叫停&lt;/Text&gt;&#10;        &lt;/Box&gt;&#10;    &lt;/Box&gt;&#10;&#10;    &lt;Box style={{ height: 540, flexDirection: 'column', justifyContent: 'center', gap: 18 }}&gt;&#10;&#10;        &lt;Box style={{ flexDirection: 'row', gap: 24 }}&gt;&#10;            &lt;Box style={{ width: 368, height: 236, background: '#EDF4FC', borderRadius: 12, padding: '20px 22px', flexDirection: 'column', gap: 8, justifyContent: 'center' }}&gt;&#10;                &lt;Text style={{ fontSize: 16, color: '#546779' }}&gt;阈值一 · 物理尝试&lt;/Text&gt;&#10;                &lt;Text style={{ fontSize: 76, fontWeight: 'bold', color: '#276FBF', lineHeight: 1.0 }}&gt;2000&lt;/Text&gt;&#10;                &lt;Text style={{ fontSize: 15, color: '#546779', lineHeight: 1.5 }}&gt;单个运行累计达到两千次物理尝试，就计划暂停。&lt;/Text&gt;&#10;            &lt;/Box&gt;&#10;            &lt;Box style={{ width: 368, height: 236, background: '#FFF4E6', borderRadius: 12, padding: '20px 22px', flexDirection: 'column', gap: 8, justifyContent: 'center' }}&gt;&#10;                &lt;Text style={{ fontSize: 16, color: '#546779' }}&gt;阈值二 · 上下文用量&lt;/Text&gt;&#10;                &lt;Text style={{ fontSize: 76, fontWeight: 'bold', color: '#CB6B28', lineHeight: 1.0 }}&gt;400&lt;span style={{ fontSize: 30 }}&gt;万&lt;/span&gt;&lt;/Text&gt;&#10;                &lt;Text style={{ fontSize: 15, color: '#546779', lineHeight: 1.5 }}&gt;Token 用量达到四百万即触发；缺失时记未知，不称已控。&lt;/Text&gt;&#10;            &lt;/Box&gt;&#10;            &lt;Box style={{ width: 368, height: 236, background: '#ECF7F2', borderRadius: 12, padding: '20px 22px', flexDirection: 'column', gap: 8, justifyContent: 'center' }}&gt;&#10;                &lt;Text style={{ fontSize: 16, color: '#546779' }}&gt;阈值三 · 执行墙钟&lt;/Text&gt;&#10;                &lt;Text style={{ fontSize: 76, fontWeight: 'bold', color: '#26816B', lineHeight: 1.0 }}&gt;2&lt;span style={{ fontSize: 30 }}&gt;小时&lt;/span&gt;&lt;/Text&gt;&#10;                &lt;Text style={{ fontSize: 15, color: '#546779', lineHeight: 1.5 }}&gt;真实墙钟两小时为上限，与虚拟时间分开计算。&lt;/Text&gt;&#10;            &lt;/Box&gt;&#10;        &lt;/Box&gt;&#10;&#10;        &lt;Box style={{ width: 1152, height: 104, background: '#FFF4E6', borderRadius: 10, padding: '0 22px', flexDirection: 'row', alignItems: 'center', gap: 18 }}&gt;&#10;            &lt;Box style={{ width: 4, height: 72, background: '#CB6B28' }} /&gt;&#10;            &lt;Box style={{ flexDirection: 'column', gap: 4 }}&gt;&#10;                &lt;Text style={{ fontSize: 18, fontWeight: 'bold', color: '#CB6B28' }}&gt;作者监控规则，不是 UI 自动硬限额&lt;/Text&gt;&#10;                &lt;Text style={{ fontSize: 15, color: '#546779', lineHeight: 1.5 }}&gt;事前按负担能力调整、两组一致；在途与收尾仍可耗费，达到阈值后记边界再评估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8 长时程校园生活&lt;/Text&gt;&#10;        &lt;Text style={{ fontSize: 14, color: '#546779' }}&gt;24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4.8.6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可选预算草案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三个阈值，谁来叫停</a:t>
            </a:r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609600" y="2009775"/>
            <a:ext cx="3505200" cy="2247900"/>
          </a:xfrm>
          <a:prstGeom prst="roundRect">
            <a:avLst>
              <a:gd name="adj" fmla="val 508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819150" y="2266950"/>
            <a:ext cx="3086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阈值一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物理尝试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819150" y="2533650"/>
            <a:ext cx="308610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276FBF"/>
                </a:solidFill>
                <a:latin typeface="Microsoft YaHei"/>
                <a:ea typeface="Microsoft YaHei"/>
              </a:rPr>
              <a:t>2000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819150" y="3486150"/>
            <a:ext cx="30861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单个运行累计达到两千次物理尝试，就计划暂停。</a:t>
            </a:r>
            <a:endParaRPr/>
          </a:p>
        </p:txBody>
      </p:sp>
      <p:sp>
        <p:nvSpPr>
          <p:cNvPr id="425" name=""/>
          <p:cNvSpPr/>
          <p:nvPr/>
        </p:nvSpPr>
        <p:spPr>
          <a:xfrm rot="0" flipH="0" flipV="0">
            <a:off x="4343400" y="2009775"/>
            <a:ext cx="3505200" cy="2247900"/>
          </a:xfrm>
          <a:prstGeom prst="roundRect">
            <a:avLst>
              <a:gd name="adj" fmla="val 508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4552950" y="2266950"/>
            <a:ext cx="3086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阈值二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上下文用量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4552950" y="2533650"/>
            <a:ext cx="308610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CB6B28"/>
                </a:solidFill>
                <a:latin typeface="Microsoft YaHei"/>
                <a:ea typeface="Microsoft YaHei"/>
              </a:rPr>
              <a:t>400</a:t>
            </a:r>
            <a:r>
              <a:rPr lang="zh-CN" sz="2250" b="1">
                <a:solidFill>
                  <a:srgbClr val="CB6B28"/>
                </a:solidFill>
                <a:latin typeface="Microsoft YaHei"/>
                <a:ea typeface="Microsoft YaHei"/>
              </a:rPr>
              <a:t>万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4552950" y="3486150"/>
            <a:ext cx="30861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Token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用量达到四百万即触发；缺失时记未知，不称已控。</a:t>
            </a:r>
            <a:endParaRPr/>
          </a:p>
        </p:txBody>
      </p:sp>
      <p:sp>
        <p:nvSpPr>
          <p:cNvPr id="429" name=""/>
          <p:cNvSpPr/>
          <p:nvPr/>
        </p:nvSpPr>
        <p:spPr>
          <a:xfrm rot="0" flipH="0" flipV="0">
            <a:off x="8077200" y="2009775"/>
            <a:ext cx="3505200" cy="2247900"/>
          </a:xfrm>
          <a:prstGeom prst="roundRect">
            <a:avLst>
              <a:gd name="adj" fmla="val 508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8286750" y="2400300"/>
            <a:ext cx="3086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阈值三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执行墙钟</a:t>
            </a:r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8286750" y="2667000"/>
            <a:ext cx="308610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26816B"/>
                </a:solidFill>
                <a:latin typeface="Microsoft YaHei"/>
                <a:ea typeface="Microsoft YaHei"/>
              </a:rPr>
              <a:t>2</a:t>
            </a:r>
            <a:r>
              <a:rPr lang="zh-CN" sz="2250" b="1">
                <a:solidFill>
                  <a:srgbClr val="26816B"/>
                </a:solidFill>
                <a:latin typeface="Microsoft YaHei"/>
                <a:ea typeface="Microsoft YaHei"/>
              </a:rPr>
              <a:t>小时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8286750" y="3619500"/>
            <a:ext cx="30861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真实墙钟两小时为上限，与虚拟时间分开计算。</a:t>
            </a:r>
            <a:endParaRPr/>
          </a:p>
        </p:txBody>
      </p:sp>
      <p:sp>
        <p:nvSpPr>
          <p:cNvPr id="433" name=""/>
          <p:cNvSpPr/>
          <p:nvPr/>
        </p:nvSpPr>
        <p:spPr>
          <a:xfrm rot="0" flipH="0" flipV="0">
            <a:off x="609600" y="4429125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34" name=""/>
          <p:cNvSpPr/>
          <p:nvPr/>
        </p:nvSpPr>
        <p:spPr>
          <a:xfrm rot="0" flipH="0" flipV="0">
            <a:off x="819150" y="4581525"/>
            <a:ext cx="38100" cy="6858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1028700" y="4676775"/>
            <a:ext cx="5286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作者监控规则，不是</a:t>
            </a:r>
            <a:r>
              <a:rPr lang="en-US" sz="135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UI </a:t>
            </a: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自动硬限额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1028700" y="4924425"/>
            <a:ext cx="52863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事前按负担能力调整、两组一致；在途与收尾仍可耗费，达到阈值后记边界再评估。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长时程校园生活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24 / 27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439" name="" descr="&lt;Slide notes={`如果发现角色反复重办同一件事，我不建议先去改模型，而是沿一条链往回查。&#10;&#10;第一站看完成证据：这件事到底有没有留下完成的凭据。第二站看有效记忆：凭据有没有写进能被后续用到的记录里。第三站看检索：轮到该想起它的时候，有没有真的把它检索出来。第四站看整理输出：整理后的文本是不是还在，有没有被改写或丢掉。第五站看下一动作：拿到这些记录之后，角色实际做了什么。&#10;&#10;这条链上要分清两种完全不同的错：一种是输入里根本没有提供这个事实，那是上游没给；另一种是输入里有、但整理的时候把它丢了。前者不该怪记忆，后者才是记忆环节的问题。&#10;&#10;另外，编造完成会直接拉低保真率；运行状态显示成功或者未评估，都不能替代业务层面的判分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8.7　失败定位&lt;/Text&gt;&#10;            &lt;Text style={{ fontSize: 34, fontWeight: 'bold', color: '#20344B' }}&gt;反复重办，沿这条链查&lt;/Text&gt;&#10;        &lt;/Box&gt;&#10;    &lt;/Box&gt;&#10;&#10;    &lt;Box style={{ height: 540, flexDirection: 'column', justifyContent: 'center', gap: 12 }}&gt;&#10;&#10;        &lt;Box style={{ flexDirection: 'row', alignItems: 'center', gap: 12 }}&gt;&#10;            &lt;Box style={{ width: 44, height: 44, background: '#276FBF', borderRadius: 8, justifyContent: 'center', alignItems: 'center' }}&gt;&#10;                &lt;Text style={{ fontSize: 18, fontWeight: 'bold', color: '#FFFFFF' }}&gt;1&lt;/Text&gt;&#10;            &lt;/Box&gt;&#10;            &lt;Box style={{ width: 1096, height: 80, background: '#EDF4FC', borderRadius: 10, padding: '0 20px', flexDirection: 'row', alignItems: 'center', gap: 16 }}&gt;&#10;                &lt;Text style={{ fontSize: 17, fontWeight: 'bold', color: '#276FBF', width: 160 }}&gt;完成证据&lt;/Text&gt;&#10;                &lt;Text style={{ fontSize: 15, color: '#546779', flex: 1, lineHeight: 1.5 }}&gt;这件事有没有留下真实回复、完成便签等可供核对的凭据。&lt;/Text&gt;&#10;            &lt;/Box&gt;&#10;        &lt;/Box&gt;&#10;&#10;        &lt;Box style={{ flexDirection: 'row', alignItems: 'center', gap: 12 }}&gt;&#10;            &lt;Box style={{ width: 44, height: 44, background: '#276FBF', borderRadius: 8, justifyContent: 'center', alignItems: 'center' }}&gt;&#10;                &lt;Text style={{ fontSize: 18, fontWeight: 'bold', color: '#FFFFFF' }}&gt;2&lt;/Text&gt;&#10;            &lt;/Box&gt;&#10;            &lt;Box style={{ width: 1096, height: 80, background: '#EDF4FC', borderRadius: 10, padding: '0 20px', flexDirection: 'row', alignItems: 'center', gap: 16 }}&gt;&#10;                &lt;Text style={{ fontSize: 17, fontWeight: 'bold', color: '#276FBF', width: 160 }}&gt;有效记忆&lt;/Text&gt;&#10;                &lt;Text style={{ fontSize: 15, color: '#546779', flex: 1, lineHeight: 1.5 }}&gt;凭据有没有写进后续轮次真正会读取的那部分记录。&lt;/Text&gt;&#10;            &lt;/Box&gt;&#10;        &lt;/Box&gt;&#10;&#10;        &lt;Box style={{ flexDirection: 'row', alignItems: 'center', gap: 12 }}&gt;&#10;            &lt;Box style={{ width: 44, height: 44, background: '#CB6B28', borderRadius: 8, justifyContent: 'center', alignItems: 'center' }}&gt;&#10;                &lt;Text style={{ fontSize: 18, fontWeight: 'bold', color: '#FFFFFF' }}&gt;3&lt;/Text&gt;&#10;            &lt;/Box&gt;&#10;            &lt;Box style={{ width: 1096, height: 80, background: '#FFF4E6', borderRadius: 10, padding: '0 20px', flexDirection: 'row', alignItems: 'center', gap: 16 }}&gt;&#10;                &lt;Text style={{ fontSize: 17, fontWeight: 'bold', color: '#CB6B28', width: 160 }}&gt;检索&lt;/Text&gt;&#10;                &lt;Text style={{ fontSize: 15, color: '#546779', flex: 1, lineHeight: 1.5 }}&gt;该想起它的时候，这次检索有没有把这条记录取回来。&lt;/Text&gt;&#10;            &lt;/Box&gt;&#10;        &lt;/Box&gt;&#10;&#10;        &lt;Box style={{ flexDirection: 'row', alignItems: 'center', gap: 12 }}&gt;&#10;            &lt;Box style={{ width: 44, height: 44, background: '#CB6B28', borderRadius: 8, justifyContent: 'center', alignItems: 'center' }}&gt;&#10;                &lt;Text style={{ fontSize: 18, fontWeight: 'bold', color: '#FFFFFF' }}&gt;4&lt;/Text&gt;&#10;            &lt;/Box&gt;&#10;            &lt;Box style={{ width: 1096, height: 80, background: '#FFF4E6', borderRadius: 10, padding: '0 20px', flexDirection: 'row', alignItems: 'center', gap: 16 }}&gt;&#10;                &lt;Text style={{ fontSize: 17, fontWeight: 'bold', color: '#CB6B28', width: 160 }}&gt;整理输出&lt;/Text&gt;&#10;                &lt;Text style={{ fontSize: 15, color: '#546779', flex: 1, lineHeight: 1.5 }}&gt;整理后的文本是否仍在、是否被改写或遗漏；输入没提供 ≠ 总结丢失。&lt;/Text&gt;&#10;            &lt;/Box&gt;&#10;        &lt;/Box&gt;&#10;&#10;        &lt;Box style={{ flexDirection: 'row', alignItems: 'center', gap: 12 }}&gt;&#10;            &lt;Box style={{ width: 44, height: 44, background: '#276FBF', borderRadius: 8, justifyContent: 'center', alignItems: 'center' }}&gt;&#10;                &lt;Text style={{ fontSize: 18, fontWeight: 'bold', color: '#FFFFFF' }}&gt;5&lt;/Text&gt;&#10;            &lt;/Box&gt;&#10;            &lt;Box style={{ width: 1096, height: 80, background: '#EDF4FC', borderRadius: 10, padding: '0 20px', flexDirection: 'row', alignItems: 'center', gap: 16 }}&gt;&#10;                &lt;Text style={{ fontSize: 17, fontWeight: 'bold', color: '#276FBF', width: 160 }}&gt;下一动作&lt;/Text&gt;&#10;                &lt;Text style={{ fontSize: 15, color: '#546779', flex: 1, lineHeight: 1.5 }}&gt;拿到记录之后角色实际做了什么；编造完成会直接拉低保真率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8 长时程校园生活&lt;/Text&gt;&#10;        &lt;Text style={{ fontSize: 14, color: '#546779' }}&gt;25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4.8.7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失败定位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反复重办，沿这条链查</a:t>
            </a:r>
            <a:endParaRPr/>
          </a:p>
        </p:txBody>
      </p:sp>
      <p:sp>
        <p:nvSpPr>
          <p:cNvPr id="444" name=""/>
          <p:cNvSpPr/>
          <p:nvPr/>
        </p:nvSpPr>
        <p:spPr>
          <a:xfrm rot="0" flipH="0" flipV="0">
            <a:off x="609600" y="17526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762000" y="185737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446" name=""/>
          <p:cNvSpPr/>
          <p:nvPr/>
        </p:nvSpPr>
        <p:spPr>
          <a:xfrm rot="0" flipH="0" flipV="0">
            <a:off x="1143000" y="1581150"/>
            <a:ext cx="10439400" cy="7620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1333500" y="1866900"/>
            <a:ext cx="1524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完成证据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3009900" y="1838325"/>
            <a:ext cx="8382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这件事有没有留下真实回复、完成便签等可供核对的凭据。</a:t>
            </a:r>
            <a:endParaRPr/>
          </a:p>
        </p:txBody>
      </p:sp>
      <p:sp>
        <p:nvSpPr>
          <p:cNvPr id="449" name=""/>
          <p:cNvSpPr/>
          <p:nvPr/>
        </p:nvSpPr>
        <p:spPr>
          <a:xfrm rot="0" flipH="0" flipV="0">
            <a:off x="609600" y="26289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762000" y="273367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51" name=""/>
          <p:cNvSpPr/>
          <p:nvPr/>
        </p:nvSpPr>
        <p:spPr>
          <a:xfrm rot="0" flipH="0" flipV="0">
            <a:off x="1143000" y="2457450"/>
            <a:ext cx="10439400" cy="7620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1333500" y="2743200"/>
            <a:ext cx="1524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有效记忆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3009900" y="2714625"/>
            <a:ext cx="8382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凭据有没有写进后续轮次真正会读取的那部分记录。</a:t>
            </a:r>
            <a:endParaRPr/>
          </a:p>
        </p:txBody>
      </p:sp>
      <p:sp>
        <p:nvSpPr>
          <p:cNvPr id="454" name=""/>
          <p:cNvSpPr/>
          <p:nvPr/>
        </p:nvSpPr>
        <p:spPr>
          <a:xfrm rot="0" flipH="0" flipV="0">
            <a:off x="609600" y="35052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762000" y="360997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56" name=""/>
          <p:cNvSpPr/>
          <p:nvPr/>
        </p:nvSpPr>
        <p:spPr>
          <a:xfrm rot="0" flipH="0" flipV="0">
            <a:off x="1143000" y="3333750"/>
            <a:ext cx="10439400" cy="7620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1333500" y="3619500"/>
            <a:ext cx="1524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检索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3009900" y="3590925"/>
            <a:ext cx="8382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该想起它的时候，这次检索有没有把这条记录取回来。</a:t>
            </a:r>
            <a:endParaRPr/>
          </a:p>
        </p:txBody>
      </p:sp>
      <p:sp>
        <p:nvSpPr>
          <p:cNvPr id="459" name=""/>
          <p:cNvSpPr/>
          <p:nvPr/>
        </p:nvSpPr>
        <p:spPr>
          <a:xfrm rot="0" flipH="0" flipV="0">
            <a:off x="609600" y="43815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762000" y="448627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461" name=""/>
          <p:cNvSpPr/>
          <p:nvPr/>
        </p:nvSpPr>
        <p:spPr>
          <a:xfrm rot="0" flipH="0" flipV="0">
            <a:off x="1143000" y="4210050"/>
            <a:ext cx="10439400" cy="7620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1333500" y="4495800"/>
            <a:ext cx="1524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整理输出</a:t>
            </a:r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3009900" y="4467225"/>
            <a:ext cx="8382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整理后的文本是否仍在、是否被改写或遗漏；输入没提供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总结丢失。</a:t>
            </a:r>
            <a:endParaRPr/>
          </a:p>
        </p:txBody>
      </p:sp>
      <p:sp>
        <p:nvSpPr>
          <p:cNvPr id="464" name=""/>
          <p:cNvSpPr/>
          <p:nvPr/>
        </p:nvSpPr>
        <p:spPr>
          <a:xfrm rot="0" flipH="0" flipV="0">
            <a:off x="609600" y="52578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762000" y="536257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466" name=""/>
          <p:cNvSpPr/>
          <p:nvPr/>
        </p:nvSpPr>
        <p:spPr>
          <a:xfrm rot="0" flipH="0" flipV="0">
            <a:off x="1143000" y="5086350"/>
            <a:ext cx="10439400" cy="7620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1333500" y="5372100"/>
            <a:ext cx="1524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下一动作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3009900" y="5343525"/>
            <a:ext cx="8382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拿到记录之后角色实际做了什么；编造完成会直接拉低保真率。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长时程校园生活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25 / 27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471" name="" descr="&lt;Slide notes={`最后留一道练习，用来检验你有没有真的把身份分清。&#10;&#10;给你三句话，请分别写出它的实例身份和需要的证据。“昨天已经报名”，这是一次性任务，身份是同一个已提交实例，再提交就是重复。“今天再晨读”，这是周期活动，新日期就是新实例，不算重复昨天那一次。“明天早上八点半见面”，这是自愿承诺，得先有本人明确接受，才谈得上兑现。&#10;&#10;第二个问题更难一点：为什么四十八小时窗口可能把第三项纳入承诺分母？因为窗口拉长到二十一日早上八点以后，原本落在窗口外的那个截止时间就进了窗口；只要这个承诺已经明确接受、且截止落在窗口内，它就要进分母。&#10;&#10;后续如果要继续，可以只改整理频率或者摘要长度，一次只动一个因素。但要记住，这里只有三名虚构人物，不支持关于真实学生生活规律的结论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8.7　练习&lt;/Text&gt;&#10;            &lt;Text style={{ fontSize: 34, fontWeight: 'bold', color: '#20344B' }}&gt;练习：三句话，三种身份&lt;/Text&gt;&#10;        &lt;/Box&gt;&#10;    &lt;/Box&gt;&#10;&#10;    &lt;Box style={{ height: 540, flexDirection: 'column', justifyContent: 'center', gap: 16 }}&gt;&#10;&#10;        &lt;Box style={{ flexDirection: 'row', gap: 32 }}&gt;&#10;&#10;            &lt;Box style={{ width: 560, flexDirection: 'column', gap: 12 }}&gt;&#10;                &lt;Text style={{ fontSize: 16, fontWeight: 'bold', color: '#546779' }}&gt;写出实例身份与证据&lt;/Text&gt;&#10;&#10;                &lt;Box style={{ width: 560, height: 92, background: '#EDF4FC', borderRadius: 10, padding: '0 18px', flexDirection: 'row', alignItems: 'center', gap: 14 }}&gt;&#10;                    &lt;Text style={{ fontSize: 16, fontWeight: 'bold', color: '#276FBF', width: 118 }}&gt;昨天已报名&lt;/Text&gt;&#10;                    &lt;Text style={{ fontSize: 14, color: '#546779', flex: 1, lineHeight: 1.5 }}&gt;一次性任务：同一个已提交实例，再提交计重复。&lt;/Text&gt;&#10;                &lt;/Box&gt;&#10;&#10;                &lt;Box style={{ width: 560, height: 92, background: '#ECF7F2', borderRadius: 10, padding: '0 18px', flexDirection: 'row', alignItems: 'center', gap: 14 }}&gt;&#10;                    &lt;Text style={{ fontSize: 16, fontWeight: 'bold', color: '#26816B', width: 118 }}&gt;今天再晨读&lt;/Text&gt;&#10;                    &lt;Text style={{ fontSize: 14, color: '#546779', flex: 1, lineHeight: 1.5 }}&gt;周期活动：新日期即新实例，不算重复昨天的任务。&lt;/Text&gt;&#10;                &lt;/Box&gt;&#10;&#10;                &lt;Box style={{ width: 560, height: 92, background: '#FFF4E6', borderRadius: 10, padding: '0 18px', flexDirection: 'row', alignItems: 'center', gap: 14 }}&gt;&#10;                    &lt;Text style={{ fontSize: 16, fontWeight: 'bold', color: '#CB6B28', width: 118 }}&gt;明天 08:30&lt;/Text&gt;&#10;                    &lt;Text style={{ fontSize: 14, color: '#546779', flex: 1, lineHeight: 1.5 }}&gt;自愿承诺：先有本人明确接受，再看兑现证据。&lt;/Text&gt;&#10;                &lt;/Box&gt;&#10;            &lt;/Box&gt;&#10;&#10;            &lt;Box style={{ width: 560, flexDirection: 'column', gap: 12 }}&gt;&#10;                &lt;Text style={{ fontSize: 16, fontWeight: 'bold', color: '#546779' }}&gt;再想一步&lt;/Text&gt;&#10;&#10;                &lt;Box style={{ width: 560, height: 132, background: '#F4F7FA', borderRadius: 10, padding: '16px 20px', flexDirection: 'column', gap: 6, justifyContent: 'center' }}&gt;&#10;                    &lt;Text style={{ fontSize: 16, fontWeight: 'bold', color: '#20344B' }}&gt;48 小时窗口为何纳入第三项&lt;/Text&gt;&#10;                    &lt;Text style={{ fontSize: 14, color: '#546779', lineHeight: 1.55 }}&gt;窗口拉到 10-21 08:00 后，08:30 的截止进入窗口；只要已明确接受且截止落在窗口内，就进承诺分母。&lt;/Text&gt;&#10;                &lt;/Box&gt;&#10;&#10;                &lt;Box style={{ width: 560, height: 140, background: '#F4F7FA', borderRadius: 10, padding: '16px 20px', flexDirection: 'column', gap: 6, justifyContent: 'center' }}&gt;&#10;                    &lt;Text style={{ fontSize: 16, fontWeight: 'bold', color: '#20344B' }}&gt;后续只改一个因素&lt;/Text&gt;&#10;                    &lt;Text style={{ fontSize: 14, color: '#546779', lineHeight: 1.55 }}&gt;可以单改整理频率或摘要长度；每次只动一处，才能把差异归因到这一处。&lt;/Text&gt;&#10;                &lt;/Box&gt;&#10;            &lt;/Box&gt;&#10;&#10;        &lt;/Box&gt;&#10;&#10;        &lt;Box style={{ width: 1152, height: 92, background: '#FFF4E6', borderRadius: 10, padding: '0 22px', flexDirection: 'row', alignItems: 'center', gap: 18 }}&gt;&#10;            &lt;Box style={{ width: 4, height: 60, background: '#CB6B28' }} /&gt;&#10;            &lt;Text style={{ fontSize: 16, color: '#546779', lineHeight: 1.55, flex: 1 }}&gt;三名虚构人物、一组虚构设置，不支持关于真实学生生活规律的结论；不能先看结果再挑人。&lt;/Text&gt;&#10;        &lt;/Box&gt;&#10;&#10;    &lt;/Box&gt;&#10;&#10;    &lt;Box style={{ height: 40, flexDirection: 'row', justifyContent: 'space-between', alignItems: 'center' }}&gt;&#10;        &lt;Text style={{ fontSize: 14, color: '#546779' }}&gt;4.8 长时程校园生活&lt;/Text&gt;&#10;        &lt;Text style={{ fontSize: 14, color: '#546779' }}&gt;26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4.8.7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练习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练习：三句话，三种身份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609600" y="1619250"/>
            <a:ext cx="533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546779"/>
                </a:solidFill>
                <a:latin typeface="Microsoft YaHei"/>
                <a:ea typeface="Microsoft YaHei"/>
              </a:rPr>
              <a:t>写出实例身份与证据</a:t>
            </a:r>
            <a:endParaRPr/>
          </a:p>
        </p:txBody>
      </p:sp>
      <p:sp>
        <p:nvSpPr>
          <p:cNvPr id="477" name=""/>
          <p:cNvSpPr/>
          <p:nvPr/>
        </p:nvSpPr>
        <p:spPr>
          <a:xfrm rot="0" flipH="0" flipV="0">
            <a:off x="609600" y="1924050"/>
            <a:ext cx="5334000" cy="876300"/>
          </a:xfrm>
          <a:prstGeom prst="roundRect">
            <a:avLst>
              <a:gd name="adj" fmla="val 1087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781050" y="2266950"/>
            <a:ext cx="1123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昨天已报名</a:t>
            </a:r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2038350" y="2238375"/>
            <a:ext cx="37338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一次性任务：同一个已提交实例，再提交计重复。</a:t>
            </a:r>
            <a:endParaRPr/>
          </a:p>
        </p:txBody>
      </p:sp>
      <p:sp>
        <p:nvSpPr>
          <p:cNvPr id="480" name=""/>
          <p:cNvSpPr/>
          <p:nvPr/>
        </p:nvSpPr>
        <p:spPr>
          <a:xfrm rot="0" flipH="0" flipV="0">
            <a:off x="609600" y="2914650"/>
            <a:ext cx="5334000" cy="876300"/>
          </a:xfrm>
          <a:prstGeom prst="roundRect">
            <a:avLst>
              <a:gd name="adj" fmla="val 1087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781050" y="3257550"/>
            <a:ext cx="1123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今天再晨读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2038350" y="3228975"/>
            <a:ext cx="37338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周期活动：新日期即新实例，不算重复昨天的任务。</a:t>
            </a:r>
            <a:endParaRPr/>
          </a:p>
        </p:txBody>
      </p:sp>
      <p:sp>
        <p:nvSpPr>
          <p:cNvPr id="483" name=""/>
          <p:cNvSpPr/>
          <p:nvPr/>
        </p:nvSpPr>
        <p:spPr>
          <a:xfrm rot="0" flipH="0" flipV="0">
            <a:off x="609600" y="3905250"/>
            <a:ext cx="5334000" cy="876300"/>
          </a:xfrm>
          <a:prstGeom prst="roundRect">
            <a:avLst>
              <a:gd name="adj" fmla="val 1087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781050" y="4248150"/>
            <a:ext cx="1123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明天</a:t>
            </a: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08:30</a:t>
            </a:r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2038350" y="4219575"/>
            <a:ext cx="37338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自愿承诺：先有本人明确接受，再看兑现证据。</a:t>
            </a:r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6248400" y="1619250"/>
            <a:ext cx="533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546779"/>
                </a:solidFill>
                <a:latin typeface="Microsoft YaHei"/>
                <a:ea typeface="Microsoft YaHei"/>
              </a:rPr>
              <a:t>再想一步</a:t>
            </a:r>
            <a:endParaRPr/>
          </a:p>
        </p:txBody>
      </p:sp>
      <p:sp>
        <p:nvSpPr>
          <p:cNvPr id="487" name=""/>
          <p:cNvSpPr/>
          <p:nvPr/>
        </p:nvSpPr>
        <p:spPr>
          <a:xfrm rot="0" flipH="0" flipV="0">
            <a:off x="6248400" y="1924050"/>
            <a:ext cx="5334000" cy="1257300"/>
          </a:xfrm>
          <a:prstGeom prst="roundRect">
            <a:avLst>
              <a:gd name="adj" fmla="val 757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6438900" y="2181225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48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小时窗口为何纳入第三项</a:t>
            </a:r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6438900" y="2428875"/>
            <a:ext cx="49530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窗口拉到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10-21 08:00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后，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08:30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的截止进入窗口；只要已明确接受且截止落在窗口内，就进承诺分母。</a:t>
            </a:r>
            <a:endParaRPr/>
          </a:p>
        </p:txBody>
      </p:sp>
      <p:sp>
        <p:nvSpPr>
          <p:cNvPr id="490" name=""/>
          <p:cNvSpPr/>
          <p:nvPr/>
        </p:nvSpPr>
        <p:spPr>
          <a:xfrm rot="0" flipH="0" flipV="0">
            <a:off x="6248400" y="3295650"/>
            <a:ext cx="5334000" cy="133350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6438900" y="3714750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后续只改一个因素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6438900" y="3962400"/>
            <a:ext cx="49530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可以单改整理频率或摘要长度；每次只动一处，才能把差异归因到这一处。</a:t>
            </a:r>
            <a:endParaRPr/>
          </a:p>
        </p:txBody>
      </p:sp>
      <p:sp>
        <p:nvSpPr>
          <p:cNvPr id="493" name=""/>
          <p:cNvSpPr/>
          <p:nvPr/>
        </p:nvSpPr>
        <p:spPr>
          <a:xfrm rot="0" flipH="0" flipV="0">
            <a:off x="609600" y="4933950"/>
            <a:ext cx="10972800" cy="876300"/>
          </a:xfrm>
          <a:prstGeom prst="roundRect">
            <a:avLst>
              <a:gd name="adj" fmla="val 1087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94" name=""/>
          <p:cNvSpPr/>
          <p:nvPr/>
        </p:nvSpPr>
        <p:spPr>
          <a:xfrm rot="0" flipH="0" flipV="0">
            <a:off x="819150" y="5086350"/>
            <a:ext cx="38100" cy="571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1028700" y="5229225"/>
            <a:ext cx="103441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三名虚构人物、一组虚构设置，不支持关于真实学生生活规律的结论；不能先看结果再挑人。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长时程校园生活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26 / 27</a:t>
            </a:r>
            <a:endParaRPr/>
          </a:p>
        </p:txBody>
      </p:sp>
    </p:spTree>
  </p:cSld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498" name="" descr="&lt;Slide notes={`把这一节收一收，记住三件事。&#10;&#10;第一，身份先分清。一次性任务、周期活动、自愿承诺，它们对“结束”和“重复”的定义完全不同；承诺还要先有人明确接受，邀请本身不算数。&#10;&#10;第二，证据链跨日不能断。生成一份总结不等于它影响了决策，要看到整理之后的真实检索与使用，链条才算接上；日期和偏移也不能随手缩写成有歧义的“八点半”。&#10;&#10;第三，预算不因为跑得久就放宽。停下来的条件是开跑之前定好的，两组一致，达到阈值就记边界、再评估，而不是事后挑一个好看的口径。&#10;&#10;下一节我们把跨案例的比率、未完成任务和调用代价放在一起比较，看看哪些结论能站得住、哪些只能留在限定条件里。`} style={{ width: 1280, height: 720, background: '#FFFFFF', flexDirection: 'column', padding: '20px 64px' }}&gt;&#10;&#10;    &lt;Box style={{ height: 640, flexDirection: 'column', justifyContent: 'center', gap: 16 }}&gt;&#10;&#10;        &lt;Text style={{ fontSize: 15, color: '#546779' }}&gt;4.8　长时程校园生活&lt;/Text&gt;&#10;&#10;        &lt;Text style={{ fontSize: 56, fontWeight: 'bold', color: '#20344B', lineHeight: 1.15 }}&gt;记住三件事&lt;/Text&gt;&#10;&#10;        &lt;Box style={{ width: 72, height: 4, background: '#276FBF', marginBottom: 6 }} /&gt;&#10;&#10;        &lt;Box style={{ width: 1152, height: 100, background: '#EDF4FC', borderRadius: 10, padding: '0 22px', flexDirection: 'row', alignItems: 'center', gap: 18 }}&gt;&#10;            &lt;Text style={{ fontSize: 22, fontWeight: 'bold', color: '#276FBF' }}&gt;身份先分清&lt;/Text&gt;&#10;            &lt;Text style={{ fontSize: 16, color: '#546779', flex: 1 }}&gt;一次性、周期、承诺各有各的“结束”；承诺要先有明确接受。&lt;/Text&gt;&#10;        &lt;/Box&gt;&#10;&#10;        &lt;Box style={{ flexDirection: 'row', gap: 20 }}&gt;&#10;            &lt;Box style={{ width: 566, height: 118, background: '#FFF4E6', borderRadius: 10, padding: '0 22px', flexDirection: 'column', gap: 6, justifyContent: 'center' }}&gt;&#10;                &lt;Text style={{ fontSize: 20, fontWeight: 'bold', color: '#CB6B28' }}&gt;证据链跨日不断&lt;/Text&gt;&#10;                &lt;Text style={{ fontSize: 15, color: '#546779', lineHeight: 1.5 }}&gt;生成总结不算数，要看到整理之后的真实检索与使用。&lt;/Text&gt;&#10;            &lt;/Box&gt;&#10;            &lt;Box style={{ width: 566, height: 118, background: '#ECF7F2', borderRadius: 10, padding: '0 22px', flexDirection: 'column', gap: 6, justifyContent: 'center' }}&gt;&#10;                &lt;Text style={{ fontSize: 20, fontWeight: 'bold', color: '#26816B' }}&gt;预算不因跑得久放宽&lt;/Text&gt;&#10;                &lt;Text style={{ fontSize: 15, color: '#546779', lineHeight: 1.5 }}&gt;阈值事前定好、两组一致，达到就记边界再评估。&lt;/Text&gt;&#10;            &lt;/Box&gt;&#10;        &lt;/Box&gt;&#10;&#10;        &lt;Text style={{ fontSize: 15, color: '#546779', marginTop: 8 }}&gt;下一节：跨案例比较 —— 汇总比率、未完成任务与调用代价&lt;/Text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609600" y="119062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4.8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长时程校园生活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609600" y="15144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记住三件事</a:t>
            </a:r>
            <a:endParaRPr/>
          </a:p>
        </p:txBody>
      </p:sp>
      <p:sp>
        <p:nvSpPr>
          <p:cNvPr id="502" name=""/>
          <p:cNvSpPr/>
          <p:nvPr/>
        </p:nvSpPr>
        <p:spPr>
          <a:xfrm rot="0" flipH="0" flipV="0">
            <a:off x="609600" y="24098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03" name=""/>
          <p:cNvSpPr/>
          <p:nvPr/>
        </p:nvSpPr>
        <p:spPr>
          <a:xfrm rot="0" flipH="0" flipV="0">
            <a:off x="609600" y="2657475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819150" y="3009900"/>
            <a:ext cx="1047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身份先分清</a:t>
            </a:r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2038350" y="3038475"/>
            <a:ext cx="9334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一次性、周期、承诺各有各的“结束”；承诺要先有明确接受。</a:t>
            </a:r>
            <a:endParaRPr/>
          </a:p>
        </p:txBody>
      </p:sp>
      <p:sp>
        <p:nvSpPr>
          <p:cNvPr id="506" name=""/>
          <p:cNvSpPr/>
          <p:nvPr/>
        </p:nvSpPr>
        <p:spPr>
          <a:xfrm rot="0" flipH="0" flipV="0">
            <a:off x="609600" y="3762375"/>
            <a:ext cx="5391150" cy="1123950"/>
          </a:xfrm>
          <a:prstGeom prst="roundRect">
            <a:avLst>
              <a:gd name="adj" fmla="val 847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819150" y="4057650"/>
            <a:ext cx="4972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证据链跨日不断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819150" y="4343400"/>
            <a:ext cx="49720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生成总结不算数，要看到整理之后的真实检索与使用。</a:t>
            </a:r>
            <a:endParaRPr/>
          </a:p>
        </p:txBody>
      </p:sp>
      <p:sp>
        <p:nvSpPr>
          <p:cNvPr id="509" name=""/>
          <p:cNvSpPr/>
          <p:nvPr/>
        </p:nvSpPr>
        <p:spPr>
          <a:xfrm rot="0" flipH="0" flipV="0">
            <a:off x="6191250" y="3762375"/>
            <a:ext cx="5391150" cy="1123950"/>
          </a:xfrm>
          <a:prstGeom prst="roundRect">
            <a:avLst>
              <a:gd name="adj" fmla="val 847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6400800" y="4057650"/>
            <a:ext cx="4972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预算不因跑得久放宽</a:t>
            </a:r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6400800" y="4343400"/>
            <a:ext cx="49720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阈值事前定好、两组一致，达到就记边界再评估。</a:t>
            </a:r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609600" y="511492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下一节：跨案例比较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汇总比率、未完成任务与调用代价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2026-09-29T10:10:28Z</dcterms:created>
  <dcterms:modified xsi:type="dcterms:W3CDTF">2026-09-29T10:10:28Z</dcterms:modified>
</cp:coreProperties>
</file>