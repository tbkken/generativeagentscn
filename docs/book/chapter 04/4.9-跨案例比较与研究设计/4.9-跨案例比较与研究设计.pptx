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3" Type="http://schemas.openxmlformats.org/officeDocument/2006/relationships/slide" Target="slides/slide3.xml" /><Relationship Id="rId15" Type="http://schemas.openxmlformats.org/officeDocument/2006/relationships/slide" Target="slides/slide15.xml" /><Relationship Id="rId10" Type="http://schemas.openxmlformats.org/officeDocument/2006/relationships/slide" Target="slides/slide10.xml" /><Relationship Id="rId8" Type="http://schemas.openxmlformats.org/officeDocument/2006/relationships/slide" Target="slides/slide8.xml" /><Relationship Id="rId20" Type="http://schemas.openxmlformats.org/officeDocument/2006/relationships/slide" Target="slides/slide20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29" Type="http://schemas.openxmlformats.org/officeDocument/2006/relationships/viewProps" Target="viewProps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5" Type="http://schemas.openxmlformats.org/officeDocument/2006/relationships/slide" Target="slides/slide25.xml" /><Relationship Id="rId21" Type="http://schemas.openxmlformats.org/officeDocument/2006/relationships/slide" Target="slides/slide21.xml" /><Relationship Id="rId9" Type="http://schemas.openxmlformats.org/officeDocument/2006/relationships/slide" Target="slides/slide9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6" Type="http://schemas.openxmlformats.org/officeDocument/2006/relationships/notesMaster" Target="notesMasters/notesMaster1.xml" /><Relationship Id="rId27" Type="http://schemas.openxmlformats.org/officeDocument/2006/relationships/presProps" Target="presProps.xml" /><Relationship Id="rId28" Type="http://schemas.openxmlformats.org/officeDocument/2006/relationships/tableStyles" Target="tableStyles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7" Type="http://schemas.openxmlformats.org/officeDocument/2006/relationships/slide" Target="slides/slide7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我们从前面几个案例里各攒下了一串百分比：咨询闭环、关键事实到达、约束满足，看着都是百分数，其实不是同一种量。有的按任务算，有的按 Run 算，有的按请求次数算。</a:t>
            </a:r>
          </a:p>
          <a:p>
            <a:r>
              <a:rPr lang="zh-CN" dirty="0"/>
              <a:t>这一节先把口径摊开讲清楚：同一批数字，换一个分母、换一个权重，它回答的问题就换了。</a:t>
            </a:r>
          </a:p>
          <a:p>
            <a:r>
              <a:rPr lang="zh-CN" dirty="0"/>
              <a:t>我们手上会有一份六行人工教学数据，它是为了练习比较而编出来的，不是系统跑出来的结果，所以任何比较结论都不能往模型效果上推。</a:t>
            </a:r>
          </a:p>
          <a:p>
            <a:r>
              <a:rPr lang="zh-CN" dirty="0"/>
              <a:t>最后一步，把这套纪律写成自己的一页研究计划，让别人能照着判分。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这一节的四个动作是层层递进的，我按顺序说。</a:t>
            </a:r>
          </a:p>
          <a:p>
            <a:r>
              <a:rPr lang="zh-CN" dirty="0"/>
              <a:t>第一，把事实接成结果：一次 Run 里所有 Attempt 都要收齐，每项预登记任务单独占一行，闭环要逐条核对，不能拿一句描述当答复。</a:t>
            </a:r>
          </a:p>
          <a:p>
            <a:r>
              <a:rPr lang="zh-CN" dirty="0"/>
              <a:t>第二，先定分母再读百分比：每个 Run 同权和每项任务同权，算出来的是两个不同的数。</a:t>
            </a:r>
          </a:p>
          <a:p>
            <a:r>
              <a:rPr lang="zh-CN" dirty="0"/>
              <a:t>第三，代价要两面一起报：总量高和单位成功代价低可以同时成立，只报一个会误导。</a:t>
            </a:r>
          </a:p>
          <a:p>
            <a:r>
              <a:rPr lang="zh-CN" dirty="0"/>
              <a:t>第四，把上面这些写成别人能判分的一页计划。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先解决一个前提问题：一条链上少一环，后面的数字就都不可靠。</a:t>
            </a:r>
          </a:p>
          <a:p>
            <a:r>
              <a:rPr lang="zh-CN" dirty="0"/>
              <a:t>一次 Run 里可能有很多次 Attempt，也要收齐；业务事实上只看已经提交的部分，但失败的那一步如果真的调用过模型，成本照样要算进去。</a:t>
            </a:r>
          </a:p>
          <a:p>
            <a:r>
              <a:rPr lang="zh-CN" dirty="0"/>
              <a:t>每项预登记任务单独一行，这一行要能指回真实的人物、Step、Event、请求、会话和记忆身份。</a:t>
            </a:r>
          </a:p>
          <a:p>
            <a:r>
              <a:rPr lang="zh-CN" dirty="0"/>
              <a:t>最后才是判闭环：窗口适配、可执行答复已经收到、下一步真的确认了，三条都对上才算。</a:t>
            </a:r>
          </a:p>
          <a:p>
            <a:r>
              <a:rPr lang="zh-CN" dirty="0"/>
              <a:t>顺序不能颠倒。先有记录，再谈比率。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这五个动作有先后顺序，我按书稿讲。</a:t>
            </a:r>
          </a:p>
          <a:p>
            <a:r>
              <a:rPr lang="zh-CN" dirty="0"/>
              <a:t>先按 Run 把全部 Attempt 收齐。业务事实只认已经提交的边界，但失败那一步真的调用过模型，这笔成本要留着。</a:t>
            </a:r>
          </a:p>
          <a:p>
            <a:r>
              <a:rPr lang="zh-CN" dirty="0"/>
              <a:t>第二，每项预登记任务单独一行，要能指回真实人物、Step、Event、请求、会话与记忆身份；教学任务可以自己定键名，运行 UUID 绝不能编造。</a:t>
            </a:r>
          </a:p>
          <a:p>
            <a:r>
              <a:rPr lang="zh-CN" dirty="0"/>
              <a:t>第三，判闭环逐条核对：窗口适不适配、可执行答复收到没有、下一步是否真的确认。一句 ACT 描述不能替代真实回复。</a:t>
            </a:r>
          </a:p>
          <a:p>
            <a:r>
              <a:rPr lang="zh-CN" dirty="0"/>
              <a:t>第四，记录损坏导致判断不了的，单列出来，既不当成功，也不从分母里删掉。</a:t>
            </a:r>
          </a:p>
          <a:p>
            <a:r>
              <a:rPr lang="zh-CN" dirty="0"/>
              <a:t>第五，同一事件被截取、恢复后重现，不重复计成功。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一行数据到底要能指回什么？我用六个字段来说。</a:t>
            </a:r>
          </a:p>
          <a:p>
            <a:r>
              <a:rPr lang="zh-CN" dirty="0"/>
              <a:t>真实人物、Step、Event、请求、会话、记忆身份，这六类标识各指向现场的一条真实记录。缺任何一类，这一行就没法回头核对：不知道是谁的行为、不知道落在哪一步、不知道由哪次事件触发、不知道请求发给了谁、也不知道引用的是哪份私有记忆。</a:t>
            </a:r>
          </a:p>
          <a:p>
            <a:r>
              <a:rPr lang="zh-CN" dirty="0"/>
              <a:t>然后是键的规矩。教学任务允许自定义键名，只要同一批数据前后一致、能一一对上就行。</a:t>
            </a:r>
          </a:p>
          <a:p>
            <a:r>
              <a:rPr lang="zh-CN" dirty="0"/>
              <a:t>但运行 UUID 不允许编造。没有真实运行记录，就如实写「无」，不能生成一个看起来像真的编号串，那会让读者以为它真的跑过。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这六行数据是整节的地基，我逐列说清楚。</a:t>
            </a:r>
          </a:p>
          <a:p>
            <a:r>
              <a:rPr lang="zh-CN" dirty="0"/>
              <a:t>每行代表一次独立 Run，每次 Run 里有四项任务，统一从开始观察到第 60 虚拟分钟。A 组是基线，B 组加了澄清。</a:t>
            </a:r>
          </a:p>
          <a:p>
            <a:r>
              <a:rPr lang="zh-CN" dirty="0"/>
              <a:t>第三列是「闭环任务数除以四」：A01 两项、A02 三项、A03 一项；B 组分别是三项、三项、两项。</a:t>
            </a:r>
          </a:p>
          <a:p>
            <a:r>
              <a:rPr lang="zh-CN" dirty="0"/>
              <a:t>第四列是已经闭环的那些任务的用时，用逗号分开。注意这里的时延是从 Run 开始算到闭环，跟前面大厅案例里「首次咨询到有效回应」不是同一个起止点。</a:t>
            </a:r>
          </a:p>
          <a:p>
            <a:r>
              <a:rPr lang="zh-CN" dirty="0"/>
              <a:t>最后两列分别数逻辑调用和物理尝试，物理尝试永远不少于逻辑调用，因为一次调用可能重试。</a:t>
            </a:r>
          </a:p>
          <a:p>
            <a:r>
              <a:rPr lang="zh-CN" dirty="0"/>
              <a:t>六行总量：A 组 6 项闭环，B 组 8 项闭环。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时延这个词最容易被混着用，我把它拆开。</a:t>
            </a:r>
          </a:p>
          <a:p>
            <a:r>
              <a:rPr lang="zh-CN" dirty="0"/>
              <a:t>在大厅案例里，时延是从来访者第一次咨询算起，到收到第一条适配而且能执行的建议为止，任务最后有没有闭环并不进入这个数。</a:t>
            </a:r>
          </a:p>
          <a:p>
            <a:r>
              <a:rPr lang="zh-CN" dirty="0"/>
              <a:t>这一节的六行数据用的是另一个口径：从 Run 开始算，到这项任务闭环那一刻为止。它衡量的是整场多久走完，一次 Run 里快的和慢的任务都会被卷进同一个数。</a:t>
            </a:r>
          </a:p>
          <a:p>
            <a:r>
              <a:rPr lang="zh-CN" dirty="0"/>
              <a:t>所以两个时延不能放在一起比，先对齐起止点再说。</a:t>
            </a:r>
          </a:p>
          <a:p>
            <a:r>
              <a:rPr lang="zh-CN" dirty="0"/>
              <a:t>还有一层：这六行数据假设每项任务都完整观察到第 60 分钟，没有基础设施中断、没有缺失记录。真实报告要另列中断、缺失和任务未发起这三类情况。未闭环的任务没有完成时间，绝不能给它补一个 60。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接下来是这一节最关键的一层：分母和权重。</a:t>
            </a:r>
          </a:p>
          <a:p>
            <a:r>
              <a:rPr lang="zh-CN" dirty="0"/>
              <a:t>我举一个极端的反例。两次 Run，第一次只有一项任务而且成功了，就是 1/1；第二次有九项任务只成功一项，就是 1/9。</a:t>
            </a:r>
          </a:p>
          <a:p>
            <a:r>
              <a:rPr lang="zh-CN" dirty="0"/>
              <a:t>如果把每个 Run 看成同样重要，先各算比率再平均：100% 加上 11.1% 再除以 2，大约 55.6%。这时候是那场只有一项任务的 Run 说了算。</a:t>
            </a:r>
          </a:p>
          <a:p>
            <a:r>
              <a:rPr lang="zh-CN" dirty="0"/>
              <a:t>如果把每项任务看成同样重要，直接合并：一共十项任务成功两项，就是 20%。</a:t>
            </a:r>
          </a:p>
          <a:p>
            <a:r>
              <a:rPr lang="zh-CN" dirty="0"/>
              <a:t>两个数都能算对，但它们回答的问题不一样：一个是「平均一场怎么样」，另一个是「全部任务里有多少成功」。</a:t>
            </a:r>
          </a:p>
          <a:p>
            <a:r>
              <a:rPr lang="zh-CN" dirty="0"/>
              <a:t>关键在于，观察单位和权重必须在看结果之前就固定下来，不能等算完了挑一个好看的报出去。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我用一个极端的反例把权重讲透。</a:t>
            </a:r>
          </a:p>
          <a:p>
            <a:r>
              <a:rPr lang="zh-CN" dirty="0"/>
              <a:t>两次 Run：第一次一项任务、成功，1/1；第二次九项任务只成功一项，1/9。合起来十项任务成功两项。</a:t>
            </a:r>
          </a:p>
          <a:p>
            <a:r>
              <a:rPr lang="zh-CN" dirty="0"/>
              <a:t>第一条路，每个 Run 同权：先各算比率再平均，100% 加 11.1% 再除以 2，约 55.6%。它回答「平均一场 Run 怎样」，那场只有一项任务的 Run 因此被抬得很重。</a:t>
            </a:r>
          </a:p>
          <a:p>
            <a:r>
              <a:rPr lang="zh-CN" dirty="0"/>
              <a:t>第二条路，每项任务同权：合并后两项除以十项，正好 20%。它回答「全部任务里有多少成功」。</a:t>
            </a:r>
          </a:p>
          <a:p>
            <a:r>
              <a:rPr lang="zh-CN" dirty="0"/>
              <a:t>两个数都能算对，只是回答的问题不同，不能挑一个好看的报出去。</a:t>
            </a:r>
          </a:p>
          <a:p>
            <a:r>
              <a:rPr lang="zh-CN" dirty="0"/>
              <a:t>两组还要有相同的任务构成，否则提升可能只是构成差异。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回到六行数据，三组数的读法完全不同。</a:t>
            </a:r>
          </a:p>
          <a:p>
            <a:r>
              <a:rPr lang="zh-CN" dirty="0"/>
              <a:t>总闭环率：A 六除以十二是 50%，B 八除以十二约 66.7%，把所有任务平等合并。</a:t>
            </a:r>
          </a:p>
          <a:p>
            <a:r>
              <a:rPr lang="zh-CN" dirty="0"/>
              <a:t>每 Run 比率：A 是 50%、75%、25%，B 是 75%、75%、50%。三个数摆出来就能看到分布有重合。</a:t>
            </a:r>
          </a:p>
          <a:p>
            <a:r>
              <a:rPr lang="zh-CN" dirty="0"/>
              <a:t>两组之差：66.7% 减 50% 等于 16.7 个百分点，单位是百分点，不是百分比。</a:t>
            </a:r>
          </a:p>
          <a:p>
            <a:r>
              <a:rPr lang="zh-CN" dirty="0"/>
              <a:t>换成相对说法，(66.7% 减 50%) 除以 50% 约 33.3%，表示相对基线涨了三成。</a:t>
            </a:r>
          </a:p>
          <a:p>
            <a:r>
              <a:rPr lang="zh-CN" dirty="0"/>
              <a:t>三次样本还分布重合，说不了统计显著，更不能说稳定优越。各 Run 任务数相同时，平均 Run 比率才恰好等于汇总任务比率。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这两张图点数不一样，是故意的。</a:t>
            </a:r>
          </a:p>
          <a:p>
            <a:r>
              <a:rPr lang="zh-CN" dirty="0"/>
              <a:t>左边每一组只有三个点，因为每组只跑三次 Run，横线是汇总闭环率。</a:t>
            </a:r>
          </a:p>
          <a:p>
            <a:r>
              <a:rPr lang="zh-CN" dirty="0"/>
              <a:t>右边每个点是一项已经闭环的任务，A 组有六项、B 组有八项，一共十四个点，横线各自落在成功子集的中位数上：A 是 9.5 分钟，B 是 13.5 分钟。</a:t>
            </a:r>
          </a:p>
          <a:p>
            <a:r>
              <a:rPr lang="zh-CN" dirty="0"/>
              <a:t>为什么不能把右边的两点连起来当成配对任务的用时差？因为两组的成功子集可能不是同一批任务，连起来就等于假定了它们一一对应。</a:t>
            </a:r>
          </a:p>
          <a:p>
            <a:r>
              <a:rPr lang="zh-CN" dirty="0"/>
              <a:t>还有一点得说清楚：这里没有给未完成的任务估一个完成时间。60 分钟只是截止，把它填成完成时间会同时抬高平均值和时间分布。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右图为什么只有成功的任务？因为只有闭环了，我们才知道它用了多久。</a:t>
            </a:r>
          </a:p>
          <a:p>
            <a:r>
              <a:rPr lang="zh-CN" dirty="0"/>
              <a:t>A 组的闭环用时是 6、7、8、11、12、17，中位数 9.5 分钟，还有 6 项没完成；B 组是 9、10、12、13、14、16、18、19，中位数 13.5 分钟，还有 4 项没完成。</a:t>
            </a:r>
          </a:p>
          <a:p>
            <a:r>
              <a:rPr lang="zh-CN" dirty="0"/>
              <a:t>应该读成：B 组闭环更多，但在已经闭环的那部分里，典型用时更长。</a:t>
            </a:r>
          </a:p>
          <a:p>
            <a:r>
              <a:rPr lang="zh-CN" dirty="0"/>
              <a:t>这不能证明 B 对每个人更慢，因为两组的成功子集可能不是同一批任务。也不能说某个任务是因为澄清才成功的。</a:t>
            </a:r>
          </a:p>
          <a:p>
            <a:r>
              <a:rPr lang="zh-CN" dirty="0"/>
              <a:t>还有一个陷阱：右边两组不能一一连点。把 A 的一个点和 B 的一个点连起来，等于假定了它们是同一项任务的两次尝试，可数据里并没有这个对应关系。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还有一个坑：60 分钟是截止，不是终点。</a:t>
            </a:r>
          </a:p>
          <a:p>
            <a:r>
              <a:rPr lang="zh-CN" dirty="0"/>
              <a:t>窗口结束那一刻，没闭环的任务只是「还没完成」，不是「用了 60 分钟才完成」。当成完成时间填进去，平均值和整条分布会同时被抬高。</a:t>
            </a:r>
          </a:p>
          <a:p>
            <a:r>
              <a:rPr lang="zh-CN" dirty="0"/>
              <a:t>这类只知道「至少这么久还没完成」的数据叫删失数据，处理方式要先说清再谈中心值。本入门例不拟合生存模型，但至少要意识到它的存在。</a:t>
            </a:r>
          </a:p>
          <a:p>
            <a:r>
              <a:rPr lang="zh-CN" dirty="0"/>
              <a:t>真实提前停止时，报告要写清停在哪里、为什么停、影响多少任务。</a:t>
            </a:r>
          </a:p>
          <a:p>
            <a:r>
              <a:rPr lang="zh-CN" dirty="0"/>
              <a:t>一种做法是把预定四项任务全部留在计划分母，注明含中断影响；另一种是另做完整窗口分析，但必须同列被排除的 Run 与理由，不能只留漂亮的那部分。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接下来把代价摊开。</a:t>
            </a:r>
          </a:p>
          <a:p>
            <a:r>
              <a:rPr lang="zh-CN" dirty="0"/>
              <a:t>我只用一笔账来说明一件事：总投入高，单位成功代价未必也高。</a:t>
            </a:r>
          </a:p>
          <a:p>
            <a:r>
              <a:rPr lang="zh-CN" dirty="0"/>
              <a:t>A 组用了 370 次逻辑调用、411 次物理尝试，换来 6 项闭环；B 组用了 480 次逻辑调用、516 次物理尝试，换来 8 项闭环。</a:t>
            </a:r>
          </a:p>
          <a:p>
            <a:r>
              <a:rPr lang="zh-CN" dirty="0"/>
              <a:t>所以 B 组的总投入确实更高。</a:t>
            </a:r>
          </a:p>
          <a:p>
            <a:r>
              <a:rPr lang="zh-CN" dirty="0"/>
              <a:t>但把总数除以闭环数：A 是 370 除以 6，约 61.67；B 是 480 除以 8，正好 60。物理尝试那边，A 是 68.5，B 是 64.5。</a:t>
            </a:r>
          </a:p>
          <a:p>
            <a:r>
              <a:rPr lang="zh-CN" dirty="0"/>
              <a:t>B 反而略低。</a:t>
            </a:r>
          </a:p>
          <a:p>
            <a:r>
              <a:rPr lang="zh-CN" dirty="0"/>
              <a:t>这两个事实可以同时成立，一点都不矛盾：多花了一些总量，换来更多的成功，单位代价就下来了。</a:t>
            </a:r>
          </a:p>
          <a:p>
            <a:r>
              <a:rPr lang="zh-CN" dirty="0"/>
              <a:t>所以报代价必须两边一起报，只报一边都会误导。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我把代价分成上下两层来看。</a:t>
            </a:r>
          </a:p>
          <a:p>
            <a:r>
              <a:rPr lang="zh-CN" dirty="0"/>
              <a:t>上面是总量：A 用 370 次逻辑调用、411 次物理尝试，换来 6 项闭环；B 用 480 次逻辑调用、516 次物理尝试，换来 8 项闭环。B 总投入明显更高。</a:t>
            </a:r>
          </a:p>
          <a:p>
            <a:r>
              <a:rPr lang="zh-CN" dirty="0"/>
              <a:t>下面把总量除以闭环数。逻辑调用那边，A 是 370 除以 6 约 61.67，B 是 480 除以 8 正好 60；物理尝试那边，A 是 68.5，B 是 64.5。</a:t>
            </a:r>
          </a:p>
          <a:p>
            <a:r>
              <a:rPr lang="zh-CN" dirty="0"/>
              <a:t>B 总投入更高、单位成功代价却略低，这两句可以同时成立，不矛盾。</a:t>
            </a:r>
          </a:p>
          <a:p>
            <a:r>
              <a:rPr lang="zh-CN" dirty="0"/>
              <a:t>报的时候两边都要给：只报总量，B 看起来更贵；只报单位值，又把 B 说得更划算。</a:t>
            </a:r>
          </a:p>
          <a:p>
            <a:r>
              <a:rPr lang="zh-CN" dirty="0"/>
              <a:t>逻辑调用与物理尝试不能相加当成一个总调用；零成功时单位值算不出来，仍只报总投入。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最容易出错的地方是把调用数直接当成钱。这一条我要说重一点。</a:t>
            </a:r>
          </a:p>
          <a:p>
            <a:r>
              <a:rPr lang="zh-CN" dirty="0"/>
              <a:t>调用次数不是货币费用。真正的金额受两件事影响：上下文有多长，以及模型按什么价格计价。这两样都没有资料，就只能报调用次数或者 Token 数，不能编一个金额出来。</a:t>
            </a:r>
          </a:p>
          <a:p>
            <a:r>
              <a:rPr lang="zh-CN" dirty="0"/>
              <a:t>还有一种情况要提前想到：一项都没闭环的时候，单位成功代价没有定义。这时候不能写无穷大，也不能写零，只能报总投入，并说明单位值为什么算不出来。</a:t>
            </a:r>
          </a:p>
          <a:p>
            <a:r>
              <a:rPr lang="zh-CN" dirty="0"/>
              <a:t>另外，墙钟耗时和虚拟业务等待是两回事。挂着暂停、有人工排查的那段时间，不能拿来当模型的吞吐性能；虚拟世界里业务等待的时间，也不等于真实延迟。</a:t>
            </a:r>
          </a:p>
          <a:p>
            <a:r>
              <a:rPr lang="zh-CN" dirty="0"/>
              <a:t>有多少证据说多少话。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最后一块，是让结论站得住、让计划能判分。</a:t>
            </a:r>
          </a:p>
          <a:p>
            <a:r>
              <a:rPr lang="zh-CN" dirty="0"/>
              <a:t>首先要承认不确定性。三次演算的样本太少，中心值后面必须跟着范围和失败情况，不能只报一个好看的平均数。</a:t>
            </a:r>
          </a:p>
          <a:p>
            <a:r>
              <a:rPr lang="zh-CN" dirty="0"/>
              <a:t>其次，观察单位要独立。同一个 Run 里的角色和消息不是独立样本，要按 Run 重采样，保留成对批次的结构。</a:t>
            </a:r>
          </a:p>
          <a:p>
            <a:r>
              <a:rPr lang="zh-CN" dirty="0"/>
              <a:t>第三，跨场景比较之前先统一尺度，否则把两个名字相近的比率相减，算出来的差没有意义。</a:t>
            </a:r>
          </a:p>
          <a:p>
            <a:r>
              <a:rPr lang="zh-CN" dirty="0"/>
              <a:t>最后，把计划写成能被别人判分的一页。写完之后请另一个人按规则判一段示例，判不动就先改量表，而不是先改实验。</a:t>
            </a:r>
          </a:p>
          <a:p>
            <a:r>
              <a:rPr lang="zh-CN" dirty="0"/>
              <a:t>我用四组「应做」和「避免」把这些纪律列清楚。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不确定性这块的纪律，我列成四组对照。</a:t>
            </a:r>
          </a:p>
          <a:p>
            <a:r>
              <a:rPr lang="zh-CN" dirty="0"/>
              <a:t>第一，先把每次 Run 的结果单独列出，再给中心值、范围和失败情况；要避免把同一 Run 里的角色和消息当独立样本，那样等于凭空放大样本量。</a:t>
            </a:r>
          </a:p>
          <a:p>
            <a:r>
              <a:rPr lang="zh-CN" dirty="0"/>
              <a:t>第二，等有足够多独立 Run 之后按 Run 重采样，保留成对批次结构；要避免对三次演算就加显著性星号。</a:t>
            </a:r>
          </a:p>
          <a:p>
            <a:r>
              <a:rPr lang="zh-CN" dirty="0"/>
              <a:t>第三，同批里同时含 A 和 B，次序事先定好，记录服务与版本变化；要避免上午全跑 A、下午全跑 B，那样时间与组别混在一起。</a:t>
            </a:r>
          </a:p>
          <a:p>
            <a:r>
              <a:rPr lang="zh-CN" dirty="0"/>
              <a:t>第四，预算和停止规则要预登记，中途变更另立阶段；要避免重跑到满意为止、把原计划藏起来。</a:t>
            </a:r>
          </a:p>
          <a:p>
            <a:r>
              <a:rPr lang="zh-CN" dirty="0"/>
              <a:t>区间反映的是给定设计下的估计不确定性，它不保证模型设定真实。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跨场景比较最容易出错的地方，是把名字相似的两个指标直接相减。</a:t>
            </a:r>
          </a:p>
          <a:p>
            <a:r>
              <a:rPr lang="zh-CN" dirty="0"/>
              <a:t>交接案例关心关键事实有没有到达，学习案例关心约束有没有被满足，两边口径不一样，一个减去另一个得到的差没有意义。</a:t>
            </a:r>
          </a:p>
          <a:p>
            <a:r>
              <a:rPr lang="zh-CN" dirty="0"/>
              <a:t>能比较的是方法：两个案例的核对方法怎样保留来源，这一点可以互相参照。</a:t>
            </a:r>
          </a:p>
          <a:p>
            <a:r>
              <a:rPr lang="zh-CN" dirty="0"/>
              <a:t>所以要比之前先统一五件事：证据完整程度、开销、机制、鲁棒性、应用价值，分别看失败能否定位、模型与窗口是否一致、差异是否明确、扰动是否事前定义、目标与外部验证是否相同。</a:t>
            </a:r>
          </a:p>
          <a:p>
            <a:r>
              <a:rPr lang="zh-CN" dirty="0"/>
              <a:t>同名 Skill 迁移也要重验内容与工具条件；换模型、地图或视野属于新条件，不覆盖旧结果。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研究计划写在一页纸上，要让别人照着就能判分。六个问题必须回答。</a:t>
            </a:r>
          </a:p>
          <a:p>
            <a:r>
              <a:rPr lang="zh-CN" dirty="0"/>
              <a:t>第一，谁遇到什么问题，唯一的主要观察结果是什么。主指标只能有一个。</a:t>
            </a:r>
          </a:p>
          <a:p>
            <a:r>
              <a:rPr lang="zh-CN" dirty="0"/>
              <a:t>第二，作者、角色、对象、评阅者各知道什么，这决定信息边界是否公平。</a:t>
            </a:r>
          </a:p>
          <a:p>
            <a:r>
              <a:rPr lang="zh-CN" dirty="0"/>
              <a:t>第三，改哪一项、哪些条件两组保持相同。只改一处，其余全部冻结。</a:t>
            </a:r>
          </a:p>
          <a:p>
            <a:r>
              <a:rPr lang="zh-CN" dirty="0"/>
              <a:t>第四，单位是什么、跑几轮 Run、窗口多长、预算多少、什么条件停止，都要在开始前写下。</a:t>
            </a:r>
          </a:p>
          <a:p>
            <a:r>
              <a:rPr lang="zh-CN" dirty="0"/>
              <a:t>第五，什么算成立，未知、未完成和合理拒绝怎么记，四类都要在量表里有着落。</a:t>
            </a:r>
          </a:p>
          <a:p>
            <a:r>
              <a:rPr lang="zh-CN" dirty="0"/>
              <a:t>第六，成本、失败和没触发的条件怎样进入报告。</a:t>
            </a:r>
          </a:p>
          <a:p>
            <a:r>
              <a:rPr lang="zh-CN" dirty="0"/>
              <a:t>书稿给了实验计划与干预差异两份模板可以直接填。创建实验前请另一读者按规则判一段示例，判不动就先改量表。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在真正建实验之前，有一个动作花的力气最少、收益最大：请另一个人按你的评分规则，先判一段现成的示例。</a:t>
            </a:r>
          </a:p>
          <a:p>
            <a:r>
              <a:rPr lang="zh-CN" dirty="0"/>
              <a:t>他判得下来，说明量表清楚，可以开工；判不下来，就先改量表，别急着跑实验。很多时候不是设计得不好，而是规则写得含糊，两个人看同一段记录会得出不同结论。</a:t>
            </a:r>
          </a:p>
          <a:p>
            <a:r>
              <a:rPr lang="zh-CN" dirty="0"/>
              <a:t>还有一种情况要提前识别：如果你的问题需要真实库存锁、动态通路，或者物理故障会在场景里传播，这些能力在当前条件里可能并不具备。</a:t>
            </a:r>
          </a:p>
          <a:p>
            <a:r>
              <a:rPr lang="zh-CN" dirty="0"/>
              <a:t>这时不要硬撑，缩小问题，或者把它列成系统需求单独处理。</a:t>
            </a:r>
          </a:p>
          <a:p>
            <a:r>
              <a:rPr lang="zh-CN" dirty="0"/>
              <a:t>最后一句：把 Skill 的名字写进研究计划，不等于这个依赖已经具备。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实验做完，交什么上去？我按书稿里的三条纪律来说。</a:t>
            </a:r>
          </a:p>
          <a:p>
            <a:r>
              <a:rPr lang="zh-CN" dirty="0"/>
              <a:t>第一，每个案例的作者材料各自独立保存，界面上的操作按第三章的流程走，不要混在一起。</a:t>
            </a:r>
          </a:p>
          <a:p>
            <a:r>
              <a:rPr lang="zh-CN" dirty="0"/>
              <a:t>第二，想调参数就另开一个新的独立实验，既有的 Run 和原始导出保持不动。这一点很重要，改了参数又去覆盖旧数据，后面谁也复查不了。</a:t>
            </a:r>
          </a:p>
          <a:p>
            <a:r>
              <a:rPr lang="zh-CN" dirty="0"/>
              <a:t>第三，交上去的不只是一张跑得顺的回放。方法、全部结果、解释和局限，四样都要给。</a:t>
            </a:r>
          </a:p>
          <a:p>
            <a:r>
              <a:rPr lang="zh-CN" dirty="0"/>
              <a:t>方法里写条件、模型、窗口、评分口径和版本变化；全部结果包括失败、未触发的条件和未完成的样本；解释要分清哪些是证据支持的、哪些只是推断；局限要写清外推到哪里为止、还需要什么才能再进一步。</a:t>
            </a:r>
          </a:p>
          <a:p>
            <a:r>
              <a:rPr lang="zh-CN" dirty="0"/>
              <a:t>只挑一次顺利的记录交上去，别人无法复查你排除了什么。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现在动手重算，五个值都要算出来。</a:t>
            </a:r>
          </a:p>
          <a:p>
            <a:r>
              <a:rPr lang="zh-CN" dirty="0"/>
              <a:t>总闭环率：A 是 6/12 等于 50%，B 是 8/12 约 66.7%。</a:t>
            </a:r>
          </a:p>
          <a:p>
            <a:r>
              <a:rPr lang="zh-CN" dirty="0"/>
              <a:t>每 Run 比率：A 是 50%、75%、25%，B 是 75%、75%、50%。</a:t>
            </a:r>
          </a:p>
          <a:p>
            <a:r>
              <a:rPr lang="zh-CN" dirty="0"/>
              <a:t>已闭环时延中位数：A 是 9.5 分钟，B 是 13.5 分钟。</a:t>
            </a:r>
          </a:p>
          <a:p>
            <a:r>
              <a:rPr lang="zh-CN" dirty="0"/>
              <a:t>逻辑调用除以闭环数：A 约 61.67，B 是 60。</a:t>
            </a:r>
          </a:p>
          <a:p>
            <a:r>
              <a:rPr lang="zh-CN" dirty="0"/>
              <a:t>物理尝试除以闭环数：A 是 68.5，B 是 64.5。</a:t>
            </a:r>
          </a:p>
          <a:p>
            <a:r>
              <a:rPr lang="zh-CN" dirty="0"/>
              <a:t>算完停一下，问自己三句话：三次重复太少；两组进入中位数的是不同成功子集；六行数据没有经过任何现实校准。</a:t>
            </a:r>
          </a:p>
          <a:p>
            <a:r>
              <a:rPr lang="zh-CN" dirty="0"/>
              <a:t>所以这些数只能说明算术怎么算，不能推出普遍优越。计算脚本只核算算术，不验证现实结论。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再看一个典型的归因陷阱。</a:t>
            </a:r>
          </a:p>
          <a:p>
            <a:r>
              <a:rPr lang="zh-CN" dirty="0"/>
              <a:t>A 组 3 人、步长 1 分钟、没有清单；B 组 6 人、步长 5 分钟，还加了一张清单，结果 B 更好。能归因于清单吗？</a:t>
            </a:r>
          </a:p>
          <a:p>
            <a:r>
              <a:rPr lang="zh-CN" dirty="0"/>
              <a:t>不能。人数从 3 变到 6，改变的是互动机会和成本；步长从 1 分钟变到 5 分钟，改变的是反馈频率和移动速度。两处一起变，清单的作用就分不出来。</a:t>
            </a:r>
          </a:p>
          <a:p>
            <a:r>
              <a:rPr lang="zh-CN" dirty="0"/>
              <a:t>要归因，就得恢复共同条件；或者一开始就把这几件事当作因素，事先设计成多因素研究。</a:t>
            </a:r>
          </a:p>
          <a:p>
            <a:r>
              <a:rPr lang="zh-CN" dirty="0"/>
              <a:t>再做一个反向练习：给你偏爱的策略写一条反例，比如人人已经看到牌时移牌未必有用，事实少而清楚时清单可能只剩成本。</a:t>
            </a:r>
          </a:p>
          <a:p>
            <a:r>
              <a:rPr lang="zh-CN" dirty="0"/>
              <a:t>最后写一页结论，用报告模板把观察、解释和外推限制分开写。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第四章到这里就结束了。回看整章，我们做的其实是同一件事：每次只改一处，其余条件全部冻结。</a:t>
            </a:r>
          </a:p>
          <a:p>
            <a:r>
              <a:rPr lang="zh-CN" dirty="0"/>
              <a:t>4.0 先把问题缩到能被结果推翻；4.1 到 4.8 分别改了咨询策略、交接清单、导览牌位置、信念更新方式、子 Skill 核对、理由确认、通路开放和跨日整理，每一节都盯住一个观察对象。</a:t>
            </a:r>
          </a:p>
          <a:p>
            <a:r>
              <a:rPr lang="zh-CN" dirty="0"/>
              <a:t>4.9 把八个案例拉到一起比：分母怎么定、未完成怎么算、调用代价怎么报、结论能走多远。</a:t>
            </a:r>
          </a:p>
          <a:p>
            <a:r>
              <a:rPr lang="zh-CN" dirty="0"/>
              <a:t>贯穿始终的是四条纪律。第一，一次只改一处。第二，分母在跑之前就固定。第三，失败、重试和没闭环的任务都进分子。第四，结论停在证据能支持的位置。</a:t>
            </a:r>
          </a:p>
          <a:p>
            <a:r>
              <a:rPr lang="zh-CN" dirty="0"/>
              <a:t>下一章，我们把这些落成可交付的资源。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5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我们从前面几个案例里各攒下了一串百分比：咨询闭环、关键事实到达、约束满足，看着都是百分数，其实不是同一种量。有的按任务算，有的按 Run 算，有的按请求次数算。&#10;&#10;这一节先把口径摊开讲清楚：同一批数字，换一个分母、换一个权重，它回答的问题就换了。&#10;&#10;我们手上会有一份六行人工教学数据，它是为了练习比较而编出来的，不是系统跑出来的结果，所以任何比较结论都不能往模型效果上推。&#10;&#10;最后一步，把这套纪律写成自己的一页研究计划，让别人能照着判分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四章　面向问题的场景化应用　·　4.9　跨案例比较与研究设计&lt;/Text&gt;&#10;    &lt;/Box&gt;&#10;&#10;    &lt;Box style={{ height: 540, flexDirection: 'row', alignItems: 'center', gap: 32 }}&gt;&#10;&#10;        &lt;Box style={{ width: 500, flexDirection: 'column', justifyContent: 'center', gap: 14 }}&gt;&#10;            &lt;Text style={{ fontSize: 52, fontWeight: 'bold', color: '#20344B', lineHeight: 1.2 }}&gt;同一批数字，{'\n'}读成什么看口径&lt;/Text&gt;&#10;            &lt;Box style={{ width: 72, height: 4, background: '#276FBF' }} /&gt;&#10;            &lt;Text style={{ fontSize: 17, color: '#546779', lineHeight: 1.7, width: 500 }}&gt;四个案例各自留下一串比率。它们能不能放在一起比，取决于分母、权重与观察窗口是不是同一套。&lt;/Text&gt;&#10;            &lt;Box style={{ flexDirection: 'row', gap: 12, marginTop: 4 }}&gt;&#10;                &lt;Box style={{ width: 140, height: 42, background: '#EDF4FC', borderRadius: 8, justifyContent: 'center', alignItems: 'center' }}&gt;&#10;                    &lt;Text style={{ fontSize: 15, color: '#276FBF' }}&gt;六行人工数据&lt;/Text&gt;&#10;                &lt;/Box&gt;&#10;                &lt;Box style={{ width: 122, height: 42, background: '#ECF7F2', borderRadius: 8, justifyContent: 'center', alignItems: 'center' }}&gt;&#10;                    &lt;Text style={{ fontSize: 15, color: '#26816B' }}&gt;三种口径&lt;/Text&gt;&#10;                &lt;/Box&gt;&#10;                &lt;Box style={{ width: 150, height: 42, background: '#FFF4E6', borderRadius: 8, justifyContent: 'center', alignItems: 'center' }}&gt;&#10;                    &lt;Text style={{ fontSize: 15, color: '#CB6B28' }}&gt;一页研究计划&lt;/Text&gt;&#10;                &lt;/Box&gt;&#10;            &lt;/Box&gt;&#10;        &lt;/Box&gt;&#10;&#10;        &lt;Box style={{ width: 620, flexDirection: 'column', justifyContent: 'center' }}&gt;&#10;            &lt;Box style={{ width: 620, height: 70, background: '#F7F3E8', borderRadius: 10, padding: '0 22px', flexDirection: 'column', gap: 4, justifyContent: 'center' }}&gt;&#10;                &lt;Text style={{ fontSize: 14, color: '#546779' }}&gt;人工汇总，不是系统运行结果&lt;/Text&gt;&#10;                &lt;Text style={{ fontSize: 18, fontWeight: 'bold', color: '#20344B' }}&gt;六行比较数据：每行一次 Run，每次四项任务&lt;/Text&gt;&#10;            &lt;/Box&gt;&#10;&#10;            &lt;Box style={{ width: 620, height: 32, justifyContent: 'center', alignItems: 'center' }}&gt;&#10;                &lt;Text style={{ fontSize: 22, color: '#276FBF' }}&gt;↓&lt;/Text&gt;&#10;            &lt;/Box&gt;&#10;&#10;            &lt;Box style={{ width: 620, flexDirection: 'row', gap: 12 }}&gt;&#10;                &lt;Box style={{ width: 198, height: 96, background: '#EDF4FC', borderRadius: 10, padding: '0 16px', flexDirection: 'column', gap: 4, justifyContent: 'center' }}&gt;&#10;                    &lt;Text style={{ fontSize: 16, fontWeight: 'bold', color: '#276FBF' }}&gt;闭环率&lt;/Text&gt;&#10;                    &lt;Text style={{ fontSize: 14, color: '#546779', lineHeight: 1.4 }}&gt;分母是任务{'\n'}还是 Run&lt;/Text&gt;&#10;                &lt;/Box&gt;&#10;                &lt;Box style={{ width: 198, height: 96, background: '#EDF4FC', borderRadius: 10, padding: '0 16px', flexDirection: 'column', gap: 4, justifyContent: 'center' }}&gt;&#10;                    &lt;Text style={{ fontSize: 16, fontWeight: 'bold', color: '#276FBF' }}&gt;用时&lt;/Text&gt;&#10;                    &lt;Text style={{ fontSize: 14, color: '#546779', lineHeight: 1.4 }}&gt;只算成功子集{'\n'}还是全体&lt;/Text&gt;&#10;                &lt;/Box&gt;&#10;                &lt;Box style={{ width: 198, height: 96, background: '#EDF4FC', borderRadius: 10, padding: '0 16px', flexDirection: 'column', gap: 4, justifyContent: 'center' }}&gt;&#10;                    &lt;Text style={{ fontSize: 16, fontWeight: 'bold', color: '#276FBF' }}&gt;代价&lt;/Text&gt;&#10;                    &lt;Text style={{ fontSize: 14, color: '#546779', lineHeight: 1.4 }}&gt;总量与单位值{'\n'}一起报&lt;/Text&gt;&#10;                &lt;/Box&gt;&#10;            &lt;/Box&gt;&#10;&#10;            &lt;Box style={{ width: 620, height: 32, justifyContent: 'center', alignItems: 'center' }}&gt;&#10;                &lt;Text style={{ fontSize: 22, color: '#CB6B28' }}&gt;↓&lt;/Text&gt;&#10;            &lt;/Box&gt;&#10;&#10;            &lt;Box style={{ width: 620, height: 70, background: '#FFF4E6', borderRadius: 10, padding: '0 22px', flexDirection: 'column', gap: 4, justifyContent: 'center' }}&gt;&#10;                &lt;Text style={{ fontSize: 18, fontWeight: 'bold', color: '#CB6B28' }}&gt;一页研究计划&lt;/Text&gt;&#10;                &lt;Text style={{ fontSize: 14, color: '#546779' }}&gt;别人按规则判一段示例，就能给这份计划判分&lt;/Text&gt;&#10;            &lt;/Box&gt;&#10;&#10;            &lt;Box style={{ width: 620, height: 76, background: '#F4F7FA', borderRadius: 10, padding: '0 22px', flexDirection: 'row', alignItems: 'center', gap: 14, marginTop: 16 }}&gt;&#10;                &lt;Box style={{ width: 4, height: 48, background: '#276FBF' }} /&gt;&#10;                &lt;Text style={{ fontSize: 15, color: '#546779', lineHeight: 1.55, flex: 1 }}&gt;结论只能停在证据能支持的位置：少重复、不同成功子集、没有现实校准，都推不出普遍优越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9 跨案例比较与研究设计&lt;/Text&gt;&#10;        &lt;Text style={{ fontSize: 14, color: '#546779' }}&gt;01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409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第四章　面向问题的场景化应用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4.9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跨案例比较与研究设计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47625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同一批数字，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读成什么看口径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7909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962400"/>
            <a:ext cx="47625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四个案例各自留下一串比率。它们能不能放在一起比，取决于分母、权重与观察窗口是不是同一套。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800600"/>
            <a:ext cx="13335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47725" y="49149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六行人工数据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2057400" y="4800600"/>
            <a:ext cx="1162050" cy="400050"/>
          </a:xfrm>
          <a:prstGeom prst="roundRect">
            <a:avLst>
              <a:gd name="adj" fmla="val 1904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352675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三种口径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3333750" y="4800600"/>
            <a:ext cx="1428750" cy="400050"/>
          </a:xfrm>
          <a:prstGeom prst="roundRect">
            <a:avLst>
              <a:gd name="adj" fmla="val 1904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619500" y="49149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一页研究计划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5676900" y="1847850"/>
            <a:ext cx="5905500" cy="666750"/>
          </a:xfrm>
          <a:prstGeom prst="roundRect">
            <a:avLst>
              <a:gd name="adj" fmla="val 14286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886450" y="1981200"/>
            <a:ext cx="548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人工汇总，不是系统运行结果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5886450" y="2181225"/>
            <a:ext cx="5486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六行比较数据：每行一次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，每次四项任务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8582025" y="254317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5676900" y="2819400"/>
            <a:ext cx="188595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5829300" y="2933700"/>
            <a:ext cx="1581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闭环率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5829300" y="3162300"/>
            <a:ext cx="1581150" cy="457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分母是任务</a:t>
            </a:r>
            <a:endParaRPr/>
          </a:p>
          <a:p>
            <a:pPr>
              <a:lnSpc>
                <a:spcPct val="14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还是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7677150" y="2819400"/>
            <a:ext cx="188595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7829550" y="2933700"/>
            <a:ext cx="1581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用时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7829550" y="3162300"/>
            <a:ext cx="1581150" cy="457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只算成功子集</a:t>
            </a:r>
            <a:endParaRPr/>
          </a:p>
          <a:p>
            <a:pPr>
              <a:lnSpc>
                <a:spcPct val="14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还是全体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9677400" y="2819400"/>
            <a:ext cx="188595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9829800" y="2933700"/>
            <a:ext cx="1581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代价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9829800" y="3162300"/>
            <a:ext cx="1581150" cy="457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总量与单位值</a:t>
            </a:r>
            <a:endParaRPr/>
          </a:p>
          <a:p>
            <a:pPr>
              <a:lnSpc>
                <a:spcPct val="14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一起报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582025" y="376237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5676900" y="4038600"/>
            <a:ext cx="5905500" cy="66675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886450" y="4171950"/>
            <a:ext cx="5486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一页研究计划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886450" y="4419600"/>
            <a:ext cx="548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别人按规则判一段示例，就能给这份计划判分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5676900" y="4857750"/>
            <a:ext cx="59055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" name=""/>
          <p:cNvSpPr/>
          <p:nvPr/>
        </p:nvSpPr>
        <p:spPr>
          <a:xfrm rot="0" flipH="0" flipV="0">
            <a:off x="5886450" y="499110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057900" y="4953000"/>
            <a:ext cx="53149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结论只能停在证据能支持的位置：少重复、不同成功子集、没有现实校准，都推不出普遍优越。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跨案例比较与研究设计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01 / 25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72" name="" descr="&lt;Slide notes={`这一节的四个动作是层层递进的，我按顺序说。&#10;&#10;第一，把事实接成结果：一次 Run 里所有 Attempt 都要收齐，每项预登记任务单独占一行，闭环要逐条核对，不能拿一句描述当答复。&#10;&#10;第二，先定分母再读百分比：每个 Run 同权和每项任务同权，算出来的是两个不同的数。&#10;&#10;第三，代价要两面一起报：总量高和单位成功代价低可以同时成立，只报一个会误导。&#10;&#10;第四，把上面这些写成别人能判分的一页计划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9　本节地图&lt;/Text&gt;&#10;            &lt;Text style={{ fontSize: 34, fontWeight: 'bold', color: '#20344B' }}&gt;本节要看清的四件事&lt;/Text&gt;&#10;        &lt;/Box&gt;&#10;    &lt;/Box&gt;&#10;&#10;    &lt;Box style={{ height: 540, flexDirection: 'row', alignItems: 'center', gap: 36 }}&gt;&#10;&#10;        &lt;Box style={{ width: 340, flexDirection: 'column', justifyContent: 'center', gap: 14 }}&gt;&#10;            &lt;Text style={{ fontSize: 34, fontWeight: 'bold', color: '#20344B', lineHeight: 1.3 }}&gt;四个递进的{'\n'}比较动作&lt;/Text&gt;&#10;            &lt;Box style={{ width: 72, height: 4, background: '#276FBF' }} /&gt;&#10;            &lt;Text style={{ fontSize: 16, color: '#546779', lineHeight: 1.7, width: 340 }}&gt;先把事实接成结果，再定分母与权重，然后一起报总量与单位代价，最后写成一页能被别人判分的研究计划。&lt;/Text&gt;&#10;        &lt;/Box&gt;&#10;&#10;        &lt;Box style={{ width: 776, flexDirection: 'column', justifyContent: 'center', gap: 12 }}&gt;&#10;&#10;            &lt;Box style={{ width: 776, height: 108, background: '#F4F7FA', borderRadius: 10, padding: '0 20px', flexDirection: 'row', alignItems: 'center', gap: 16 }}&gt;&#10;                &lt;Box style={{ width: 4, height: 60, background: '#276FBF' }} /&gt;&#10;                &lt;Box style={{ width: 56, justifyContent: 'center' }}&gt;&#10;                    &lt;Text style={{ fontSize: 24, fontWeight: 'bold', color: '#276FBF' }}&gt;①&lt;/Text&gt;&#10;                &lt;/Box&gt;&#10;                &lt;Box style={{ flex: 1, flexDirection: 'column', gap: 4 }}&gt;&#10;                    &lt;Text style={{ fontSize: 18, fontWeight: 'bold', color: '#20344B' }}&gt;把事实接成结果&lt;/Text&gt;&#10;                    &lt;Text style={{ fontSize: 15, color: '#546779', lineHeight: 1.45 }}&gt;按 Run 收齐 Attempt，每项预登记任务一行，闭环逐条核对&lt;/Text&gt;&#10;                &lt;/Box&gt;&#10;            &lt;/Box&gt;&#10;&#10;            &lt;Box style={{ width: 776, height: 108, background: '#F4F7FA', borderRadius: 10, padding: '0 20px', flexDirection: 'row', alignItems: 'center', gap: 16 }}&gt;&#10;                &lt;Box style={{ width: 4, height: 60, background: '#276FBF' }} /&gt;&#10;                &lt;Box style={{ width: 56, justifyContent: 'center' }}&gt;&#10;                    &lt;Text style={{ fontSize: 24, fontWeight: 'bold', color: '#276FBF' }}&gt;②&lt;/Text&gt;&#10;                &lt;/Box&gt;&#10;                &lt;Box style={{ flex: 1, flexDirection: 'column', gap: 4 }}&gt;&#10;                    &lt;Text style={{ fontSize: 18, fontWeight: 'bold', color: '#20344B' }}&gt;先定分母，再读百分比&lt;/Text&gt;&#10;                    &lt;Text style={{ fontSize: 15, color: '#546779', lineHeight: 1.45 }}&gt;每 Run 同权与每项任务同权，是两道不同的问题&lt;/Text&gt;&#10;                &lt;/Box&gt;&#10;            &lt;/Box&gt;&#10;&#10;            &lt;Box style={{ width: 776, height: 108, background: '#F4F7FA', borderRadius: 10, padding: '0 20px', flexDirection: 'row', alignItems: 'center', gap: 16 }}&gt;&#10;                &lt;Box style={{ width: 4, height: 60, background: '#CB6B28' }} /&gt;&#10;                &lt;Box style={{ width: 56, justifyContent: 'center' }}&gt;&#10;                    &lt;Text style={{ fontSize: 24, fontWeight: 'bold', color: '#CB6B28' }}&gt;③&lt;/Text&gt;&#10;                &lt;/Box&gt;&#10;                &lt;Box style={{ flex: 1, flexDirection: 'column', gap: 4 }}&gt;&#10;                    &lt;Text style={{ fontSize: 18, fontWeight: 'bold', color: '#20344B' }}&gt;总量与单位代价一起报&lt;/Text&gt;&#10;                    &lt;Text style={{ fontSize: 15, color: '#546779', lineHeight: 1.45 }}&gt;分子含失败、重试与未闭环任务；调用数不等于费用&lt;/Text&gt;&#10;                &lt;/Box&gt;&#10;            &lt;/Box&gt;&#10;&#10;            &lt;Box style={{ width: 776, height: 108, background: '#F4F7FA', borderRadius: 10, padding: '0 20px', flexDirection: 'row', alignItems: 'center', gap: 16 }}&gt;&#10;                &lt;Box style={{ width: 4, height: 60, background: '#26816B' }} /&gt;&#10;                &lt;Box style={{ width: 56, justifyContent: 'center' }}&gt;&#10;                    &lt;Text style={{ fontSize: 24, fontWeight: 'bold', color: '#26816B' }}&gt;④&lt;/Text&gt;&#10;                &lt;/Box&gt;&#10;                &lt;Box style={{ flex: 1, flexDirection: 'column', gap: 4 }}&gt;&#10;                    &lt;Text style={{ fontSize: 18, fontWeight: 'bold', color: '#20344B' }}&gt;写成一页能被判分的计划&lt;/Text&gt;&#10;                    &lt;Text style={{ fontSize: 15, color: '#546779', lineHeight: 1.45 }}&gt;独立重复、统一尺度、六个问题、全部结果与局限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9 跨案例比较与研究设计&lt;/Text&gt;&#10;        &lt;Text style={{ fontSize: 14, color: '#546779' }}&gt;02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4.9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本节地图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本节要看清的四件事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609600" y="2590800"/>
            <a:ext cx="3238500" cy="1019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四个递进的</a:t>
            </a:r>
            <a:endParaRPr/>
          </a:p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比较动作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609600" y="37433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609600" y="3914775"/>
            <a:ext cx="32385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先把事实接成结果，再定分母与权重，然后一起报总量与单位代价，最后写成一页能被别人判分的研究计划。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4191000" y="1485900"/>
            <a:ext cx="73914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81" name=""/>
          <p:cNvSpPr/>
          <p:nvPr/>
        </p:nvSpPr>
        <p:spPr>
          <a:xfrm rot="0" flipH="0" flipV="0">
            <a:off x="4381500" y="171450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4572000" y="1866900"/>
            <a:ext cx="533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276FB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5257800" y="1752600"/>
            <a:ext cx="613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把事实接成结果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5257800" y="2000250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收齐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，每项预登记任务一行，闭环逐条核对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4191000" y="2628900"/>
            <a:ext cx="73914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86" name=""/>
          <p:cNvSpPr/>
          <p:nvPr/>
        </p:nvSpPr>
        <p:spPr>
          <a:xfrm rot="0" flipH="0" flipV="0">
            <a:off x="4381500" y="285750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4572000" y="3009900"/>
            <a:ext cx="533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276FB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5257800" y="2895600"/>
            <a:ext cx="613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先定分母，再读百分比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5257800" y="3143250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每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同权与每项任务同权，是两道不同的问题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4191000" y="3771900"/>
            <a:ext cx="73914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1" name=""/>
          <p:cNvSpPr/>
          <p:nvPr/>
        </p:nvSpPr>
        <p:spPr>
          <a:xfrm rot="0" flipH="0" flipV="0">
            <a:off x="4381500" y="400050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4572000" y="4152900"/>
            <a:ext cx="533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CB6B28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5257800" y="4038600"/>
            <a:ext cx="613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总量与单位代价一起报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5257800" y="4286250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分子含失败、重试与未闭环任务；调用数不等于费用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4191000" y="4914900"/>
            <a:ext cx="73914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6" name=""/>
          <p:cNvSpPr/>
          <p:nvPr/>
        </p:nvSpPr>
        <p:spPr>
          <a:xfrm rot="0" flipH="0" flipV="0">
            <a:off x="4381500" y="5143500"/>
            <a:ext cx="38100" cy="5715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4572000" y="5295900"/>
            <a:ext cx="533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26816B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5257800" y="5181600"/>
            <a:ext cx="613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写成一页能被判分的计划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5257800" y="5429250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独立重复、统一尺度、六个问题、全部结果与局限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跨案例比较与研究设计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97" name="" descr="&lt;Slide notes={`先解决一个前提问题：一条链上少一环，后面的数字就都不可靠。&#10;&#10;一次 Run 里可能有很多次 Attempt，也要收齐；业务事实上只看已经提交的部分，但失败的那一步如果真的调用过模型，成本照样要算进去。&#10;&#10;每项预登记任务单独一行，这一行要能指回真实的人物、Step、Event、请求、会话和记忆身份。&#10;&#10;最后才是判闭环：窗口适配、可执行答复已经收到、下一步真的确认了，三条都对上才算。&#10;&#10;顺序不能颠倒。先有记录，再谈比率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1　　4.9.1 — 4.9.2&lt;/Text&gt;&#10;&#10;        &lt;Text style={{ fontSize: 56, fontWeight: 'bold', color: '#20344B', lineHeight: 1.15 }}&gt;① 从事实到结果，一条链不能少&lt;/Text&gt;&#10;&#10;        &lt;Box style={{ width: 72, height: 4, background: '#276FBF' }} /&gt;&#10;&#10;        &lt;Text style={{ fontSize: 18, color: '#546779', lineHeight: 1.7, width: 1000 }}&gt;事实、任务、闭环三段都要落在真实记录上；缺一段，后面所有比率都悬空。&lt;/Text&gt;&#10;&#10;        &lt;Box style={{ flexDirection: 'row', alignItems: 'center', marginTop: 10 }}&gt;&#10;            &lt;Box style={{ width: 300, height: 72, background: '#EDF4FC', borderRadius: 10, justifyContent: 'center', alignItems: 'center' }}&gt;&#10;                &lt;Text style={{ fontSize: 18, color: '#276FBF' }}&gt;收齐全部 Attempt&lt;/Text&gt;&#10;            &lt;/Box&gt;&#10;            &lt;Box style={{ width: 44, height: 72, justifyContent: 'center', alignItems: 'center' }}&gt;&#10;                &lt;Text style={{ fontSize: 26, color: '#276FBF' }}&gt;›&lt;/Text&gt;&#10;            &lt;/Box&gt;&#10;            &lt;Box style={{ width: 300, height: 72, background: '#EDF4FC', borderRadius: 10, justifyContent: 'center', alignItems: 'center' }}&gt;&#10;                &lt;Text style={{ fontSize: 18, color: '#276FBF' }}&gt;每项任务一行&lt;/Text&gt;&#10;            &lt;/Box&gt;&#10;            &lt;Box style={{ width: 44, height: 72, justifyContent: 'center', alignItems: 'center' }}&gt;&#10;                &lt;Text style={{ fontSize: 26, color: '#26816B' }}&gt;›&lt;/Text&gt;&#10;            &lt;/Box&gt;&#10;            &lt;Box style={{ width: 300, height: 72, background: '#ECF7F2', borderRadius: 10, justifyContent: 'center', alignItems: 'center' }}&gt;&#10;                &lt;Text style={{ fontSize: 18, color: '#26816B' }}&gt;逐条核对闭环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9 跨案例比较与研究设计&lt;/Text&gt;&#10;        &lt;Text style={{ fontSize: 14, color: '#546779' }}&gt;03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609600" y="17811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4.9.1 — 4.9.2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609600" y="21621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从事实到结果，一条链不能少</a:t>
            </a:r>
            <a:endParaRPr/>
          </a:p>
        </p:txBody>
      </p:sp>
      <p:sp>
        <p:nvSpPr>
          <p:cNvPr id="601" name=""/>
          <p:cNvSpPr/>
          <p:nvPr/>
        </p:nvSpPr>
        <p:spPr>
          <a:xfrm rot="0" flipH="0" flipV="0">
            <a:off x="609600" y="31146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609600" y="3362325"/>
            <a:ext cx="95250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事实、任务、闭环三段都要落在真实记录上；缺一段，后面所有比率都悬空。</a:t>
            </a:r>
            <a:endParaRPr/>
          </a:p>
        </p:txBody>
      </p:sp>
      <p:sp>
        <p:nvSpPr>
          <p:cNvPr id="603" name=""/>
          <p:cNvSpPr/>
          <p:nvPr/>
        </p:nvSpPr>
        <p:spPr>
          <a:xfrm rot="0" flipH="0" flipV="0">
            <a:off x="609600" y="4019550"/>
            <a:ext cx="2857500" cy="685800"/>
          </a:xfrm>
          <a:prstGeom prst="roundRect">
            <a:avLst>
              <a:gd name="adj" fmla="val 1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1333500" y="4257675"/>
            <a:ext cx="14192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收齐全部</a:t>
            </a: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 xml:space="preserve"> Attempt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06" name=""/>
          <p:cNvSpPr/>
          <p:nvPr/>
        </p:nvSpPr>
        <p:spPr>
          <a:xfrm rot="0" flipH="0" flipV="0">
            <a:off x="3886200" y="4019550"/>
            <a:ext cx="2857500" cy="685800"/>
          </a:xfrm>
          <a:prstGeom prst="roundRect">
            <a:avLst>
              <a:gd name="adj" fmla="val 1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4800600" y="425767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每项任务一行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7162800" y="4019550"/>
            <a:ext cx="2857500" cy="685800"/>
          </a:xfrm>
          <a:prstGeom prst="roundRect">
            <a:avLst>
              <a:gd name="adj" fmla="val 1388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8077200" y="425767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逐条核对闭环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跨案例比较与研究设计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25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613" name="" descr="&lt;Slide notes={`我按书稿的顺序讲这五个动作。&#10;&#10;先按 Run 把全部 Attempt 收齐。业务事实只认已经提交的边界，但失败的那一步如果真的调用过模型，这笔成本要留着，不能因为它没成功就不算。&#10;&#10;第二，每项预登记任务单独一行，这一行要能指回真实的人物、Step、Event、请求、会话与记忆身份；教学任务允许自己定键名，但运行 UUID 绝不能编造。&#10;&#10;第三，判闭环要逐条核对：窗口适不适配、可执行的答复收到了没有、下一步是不是真的确认了。一句 ACT 描述不能替代真实回复。&#10;&#10;第四，记录损坏导致判断不了的，单列出来，既不当成功，也不从分母里悄悄删掉。&#10;&#10;第五，同一个事件被截取、恢复之后重新出现，不能重复计成成功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9.1　从事实到结果，一条链不能少&lt;/Text&gt;&#10;            &lt;Text style={{ fontSize: 34, fontWeight: 'bold', color: '#20344B' }}&gt;五个动作，把一次 Run 接成一条链&lt;/Text&gt;&#10;        &lt;/Box&gt;&#10;    &lt;/Box&gt;&#10;&#10;    &lt;Box style={{ height: 540, flexDirection: 'row', alignItems: 'center', gap: 36 }}&gt;&#10;&#10;        &lt;Box style={{ width: 700, flexDirection: 'column', justifyContent: 'center', gap: 10 }}&gt;&#10;&#10;            &lt;Box style={{ width: 700, height: 76, background: '#F4F7FA', borderRadius: 8, padding: '0 18px', flexDirection: 'row', alignItems: 'center', gap: 14 }}&gt;&#10;                &lt;Box style={{ width: 40, height: 40, background: '#276FBF', borderRadius: 20, justifyContent: 'center', alignItems: 'center' }}&gt;&#10;                    &lt;Text style={{ fontSize: 17, fontWeight: 'bold', color: '#FFFFFF' }}&gt;1&lt;/Text&gt;&#10;                &lt;/Box&gt;&#10;                &lt;Box style={{ width: 130 }}&gt;&lt;Text style={{ fontSize: 17, fontWeight: 'bold', color: '#20344B' }}&gt;收齐 Attempt&lt;/Text&gt;&lt;/Box&gt;&#10;                &lt;Text style={{ fontSize: 15, color: '#546779', lineHeight: 1.45, flex: 1 }}&gt;按 Run 收齐全部 Attempt；失败 Step 里已发生的真实模型尝试仍计成本&lt;/Text&gt;&#10;            &lt;/Box&gt;&#10;&#10;            &lt;Box style={{ width: 700, height: 76, background: '#F4F7FA', borderRadius: 8, padding: '0 18px', flexDirection: 'row', alignItems: 'center', gap: 14 }}&gt;&#10;                &lt;Box style={{ width: 40, height: 40, background: '#276FBF', borderRadius: 20, justifyContent: 'center', alignItems: 'center' }}&gt;&#10;                    &lt;Text style={{ fontSize: 17, fontWeight: 'bold', color: '#FFFFFF' }}&gt;2&lt;/Text&gt;&#10;                &lt;/Box&gt;&#10;                &lt;Box style={{ width: 130 }}&gt;&lt;Text style={{ fontSize: 17, fontWeight: 'bold', color: '#20344B' }}&gt;任务一行&lt;/Text&gt;&lt;/Box&gt;&#10;                &lt;Text style={{ fontSize: 15, color: '#546779', lineHeight: 1.45, flex: 1 }}&gt;每项预登记任务一行，关联真实人物、Step、Event、请求、会话、记忆身份&lt;/Text&gt;&#10;            &lt;/Box&gt;&#10;&#10;            &lt;Box style={{ width: 700, height: 76, background: '#F4F7FA', borderRadius: 8, padding: '0 18px', flexDirection: 'row', alignItems: 'center', gap: 14 }}&gt;&#10;                &lt;Box style={{ width: 40, height: 40, background: '#276FBF', borderRadius: 20, justifyContent: 'center', alignItems: 'center' }}&gt;&#10;                    &lt;Text style={{ fontSize: 17, fontWeight: 'bold', color: '#FFFFFF' }}&gt;3&lt;/Text&gt;&#10;                &lt;/Box&gt;&#10;                &lt;Box style={{ width: 130 }}&gt;&lt;Text style={{ fontSize: 17, fontWeight: 'bold', color: '#20344B' }}&gt;闭环核对&lt;/Text&gt;&lt;/Box&gt;&#10;                &lt;Text style={{ fontSize: 15, color: '#546779', lineHeight: 1.45, flex: 1 }}&gt;窗口适配、可执行答复已收到、下一步已确认，三条都对上才判闭环&lt;/Text&gt;&#10;            &lt;/Box&gt;&#10;&#10;            &lt;Box style={{ width: 700, height: 76, background: '#FFF4E6', borderRadius: 8, padding: '0 18px', flexDirection: 'row', alignItems: 'center', gap: 14 }}&gt;&#10;                &lt;Box style={{ width: 40, height: 40, background: '#CB6B28', borderRadius: 20, justifyContent: 'center', alignItems: 'center' }}&gt;&#10;                    &lt;Text style={{ fontSize: 17, fontWeight: 'bold', color: '#FFFFFF' }}&gt;4&lt;/Text&gt;&#10;                &lt;/Box&gt;&#10;                &lt;Box style={{ width: 130 }}&gt;&lt;Text style={{ fontSize: 17, fontWeight: 'bold', color: '#CB6B28' }}&gt;损坏单列&lt;/Text&gt;&lt;/Box&gt;&#10;                &lt;Text style={{ fontSize: 15, color: '#546779', lineHeight: 1.45, flex: 1 }}&gt;记录损坏导致无法判断的，单列出来，不当成功，也不从分母里删去&lt;/Text&gt;&#10;            &lt;/Box&gt;&#10;&#10;            &lt;Box style={{ width: 700, height: 76, background: '#F4F7FA', borderRadius: 8, padding: '0 18px', flexDirection: 'row', alignItems: 'center', gap: 14 }}&gt;&#10;                &lt;Box style={{ width: 40, height: 40, background: '#276FBF', borderRadius: 20, justifyContent: 'center', alignItems: 'center' }}&gt;&#10;                    &lt;Text style={{ fontSize: 17, fontWeight: 'bold', color: '#FFFFFF' }}&gt;5&lt;/Text&gt;&#10;                &lt;/Box&gt;&#10;                &lt;Box style={{ width: 130 }}&gt;&lt;Text style={{ fontSize: 17, fontWeight: 'bold', color: '#20344B' }}&gt;重现不重复&lt;/Text&gt;&lt;/Box&gt;&#10;                &lt;Text style={{ fontSize: 15, color: '#546779', lineHeight: 1.45, flex: 1 }}&gt;同事件截取或恢复后重现不重复计成功；先失败后成功可按预登记规则计闭环&lt;/Text&gt;&#10;            &lt;/Box&gt;&#10;&#10;        &lt;/Box&gt;&#10;&#10;        &lt;Box style={{ width: 416, flexDirection: 'column', justifyContent: 'center', gap: 20 }}&gt;&#10;&#10;            &lt;Box style={{ width: 416, height: 150, background: '#FFF4E6', borderRadius: 10, padding: '16px 20px', flexDirection: 'column', gap: 6, justifyContent: 'center' }}&gt;&#10;                &lt;Text style={{ fontSize: 17, fontWeight: 'bold', color: '#CB6B28' }}&gt;不能只数成功的路径&lt;/Text&gt;&#10;                &lt;Text style={{ fontSize: 15, color: '#546779', lineHeight: 1.55 }}&gt;分子要含未闭环任务、全部 Attempt、恢复前的失败与真实重试。去掉它们，代价一定被报低。&lt;/Text&gt;&#10;            &lt;/Box&gt;&#10;&#10;            &lt;Box style={{ width: 416, height: 150, background: '#ECF7F2', borderRadius: 10, padding: '16px 20px', flexDirection: 'column', gap: 6, justifyContent: 'center' }}&gt;&#10;                &lt;Text style={{ fontSize: 17, fontWeight: 'bold', color: '#26816B' }}&gt;可以补救，但成本留下&lt;/Text&gt;&#10;                &lt;Text style={{ fontSize: 15, color: '#546779', lineHeight: 1.55 }}&gt;先失败后成功仍可计闭环，前提是预登记规则里写清楚了；失败与重复访问照样计入代价。&lt;/Text&gt;&#10;            &lt;/Box&gt;&#10;&#10;            &lt;Box style={{ width: 416, height: 120, background: '#F4F7FA', borderRadius: 10, padding: '16px 20px', flexDirection: 'column', gap: 6, justifyContent: 'center' }}&gt;&#10;                &lt;Text style={{ fontSize: 17, fontWeight: 'bold', color: '#20344B' }}&gt;观察单位是 Run&lt;/Text&gt;&#10;                &lt;Text style={{ fontSize: 15, color: '#546779', lineHeight: 1.55 }}&gt;同一个 Run 里的多个角色与消息不是独立样本，算不确定度时要连成一批看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9 跨案例比较与研究设计&lt;/Text&gt;&#10;        &lt;Text style={{ fontSize: 14, color: '#546779' }}&gt;04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05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4.9.1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从事实到结果，一条链不能少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0577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五个动作，把一次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接成一条链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609600" y="1714500"/>
            <a:ext cx="66675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9" name=""/>
          <p:cNvSpPr/>
          <p:nvPr/>
        </p:nvSpPr>
        <p:spPr>
          <a:xfrm rot="0" flipH="0" flipV="0">
            <a:off x="781050" y="18859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923925" y="19812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1295400" y="198120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收齐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Attempt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2667000" y="1828800"/>
            <a:ext cx="44386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收齐全部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；失败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里已发生的真实模型尝试仍计成本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609600" y="2533650"/>
            <a:ext cx="66675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24" name=""/>
          <p:cNvSpPr/>
          <p:nvPr/>
        </p:nvSpPr>
        <p:spPr>
          <a:xfrm rot="0" flipH="0" flipV="0">
            <a:off x="781050" y="27051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923925" y="280035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1295400" y="280035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任务一行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2667000" y="2647950"/>
            <a:ext cx="44386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每项预登记任务一行，关联真实人物、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Step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Event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、请求、会话、记忆身份</a:t>
            </a:r>
            <a:endParaRPr/>
          </a:p>
        </p:txBody>
      </p:sp>
      <p:sp>
        <p:nvSpPr>
          <p:cNvPr id="628" name=""/>
          <p:cNvSpPr/>
          <p:nvPr/>
        </p:nvSpPr>
        <p:spPr>
          <a:xfrm rot="0" flipH="0" flipV="0">
            <a:off x="609600" y="3352800"/>
            <a:ext cx="66675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29" name=""/>
          <p:cNvSpPr/>
          <p:nvPr/>
        </p:nvSpPr>
        <p:spPr>
          <a:xfrm rot="0" flipH="0" flipV="0">
            <a:off x="781050" y="35242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923925" y="36195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1295400" y="361950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闭环核对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2667000" y="3590925"/>
            <a:ext cx="44386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窗口适配、可执行答复已收到、下一步已确认，三条都对上才判闭环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609600" y="4171950"/>
            <a:ext cx="6667500" cy="723900"/>
          </a:xfrm>
          <a:prstGeom prst="roundRect">
            <a:avLst>
              <a:gd name="adj" fmla="val 1052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34" name=""/>
          <p:cNvSpPr/>
          <p:nvPr/>
        </p:nvSpPr>
        <p:spPr>
          <a:xfrm rot="0" flipH="0" flipV="0">
            <a:off x="781050" y="43434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923925" y="443865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1295400" y="443865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损坏单列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2667000" y="4410075"/>
            <a:ext cx="44386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记录损坏导致无法判断的，单列出来，不当成功，也不从分母里删去</a:t>
            </a:r>
            <a:endParaRPr/>
          </a:p>
        </p:txBody>
      </p:sp>
      <p:sp>
        <p:nvSpPr>
          <p:cNvPr id="638" name=""/>
          <p:cNvSpPr/>
          <p:nvPr/>
        </p:nvSpPr>
        <p:spPr>
          <a:xfrm rot="0" flipH="0" flipV="0">
            <a:off x="609600" y="4991100"/>
            <a:ext cx="66675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39" name=""/>
          <p:cNvSpPr/>
          <p:nvPr/>
        </p:nvSpPr>
        <p:spPr>
          <a:xfrm rot="0" flipH="0" flipV="0">
            <a:off x="781050" y="51625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923925" y="52578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1295400" y="525780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重现不重复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2667000" y="5105400"/>
            <a:ext cx="44386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同事件截取或恢复后重现不重复计成功；先失败后成功可按预登记规则计闭环</a:t>
            </a:r>
            <a:endParaRPr/>
          </a:p>
        </p:txBody>
      </p:sp>
      <p:sp>
        <p:nvSpPr>
          <p:cNvPr id="643" name=""/>
          <p:cNvSpPr/>
          <p:nvPr/>
        </p:nvSpPr>
        <p:spPr>
          <a:xfrm rot="0" flipH="0" flipV="0">
            <a:off x="7620000" y="1524000"/>
            <a:ext cx="3962400" cy="142875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7810500" y="1847850"/>
            <a:ext cx="3581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不能只数成功的路径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7810500" y="2105025"/>
            <a:ext cx="35814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分子要含未闭环任务、全部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、恢复前的失败与真实重试。去掉它们，代价一定被报低。</a:t>
            </a:r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7620000" y="3143250"/>
            <a:ext cx="3962400" cy="1428750"/>
          </a:xfrm>
          <a:prstGeom prst="roundRect">
            <a:avLst>
              <a:gd name="adj" fmla="val 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7810500" y="3467100"/>
            <a:ext cx="3581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可以补救，但成本留下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7810500" y="3724275"/>
            <a:ext cx="35814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先失败后成功仍可计闭环，前提是预登记规则里写清楚了；失败与重复访问照样计入代价。</a:t>
            </a:r>
            <a:endParaRPr/>
          </a:p>
        </p:txBody>
      </p:sp>
      <p:sp>
        <p:nvSpPr>
          <p:cNvPr id="649" name=""/>
          <p:cNvSpPr/>
          <p:nvPr/>
        </p:nvSpPr>
        <p:spPr>
          <a:xfrm rot="0" flipH="0" flipV="0">
            <a:off x="7620000" y="4762500"/>
            <a:ext cx="3962400" cy="11430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7810500" y="4943475"/>
            <a:ext cx="3581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观察单位是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7810500" y="5200650"/>
            <a:ext cx="35814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同一个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里的多个角色与消息不是独立样本，算不确定度时要连成一批看。</a:t>
            </a:r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跨案例比较与研究设计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654" name="" descr="&lt;Slide notes={`一行数据到底要能指回什么？我用六个字段来说。&#10;&#10;真实人物、Step、Event、请求、会话、记忆身份，这六类标识各指向现场的一条真实记录。缺任何一类，这一行就没法回头核对：不知道是谁的行为、不知道落在哪一步、不知道由哪次事件触发、不知道请求发给了谁、也不知道引用的是哪份私有记忆。&#10;&#10;然后是键的规矩。教学任务允许自定义键名，只要同一批数据前后一致、能一一对上就行。&#10;&#10;但运行 UUID 不允许编造。没有真实运行记录，就如实写「无」，不能生成一个看起来像真的编号串，那会让读者以为它真的跑过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9.1　任务记录的关联字段&lt;/Text&gt;&#10;            &lt;Text style={{ fontSize: 34, fontWeight: 'bold', color: '#20344B' }}&gt;一行记录要能定位回现场&lt;/Text&gt;&#10;        &lt;/Box&gt;&#10;    &lt;/Box&gt;&#10;&#10;    &lt;Box style={{ height: 540, flexDirection: 'row', alignItems: 'center', gap: 36 }}&gt;&#10;&#10;        &lt;Box style={{ width: 438, flexDirection: 'column', justifyContent: 'center', gap: 14 }}&gt;&#10;&#10;            &lt;Box style={{ width: 438, height: 136, background: '#EDF4FC', borderRadius: 10, padding: '18px 20px', flexDirection: 'column', gap: 6, justifyContent: 'center' }}&gt;&#10;                &lt;Text style={{ fontSize: 17, fontWeight: 'bold', color: '#276FBF' }}&gt;键名可以自己定&lt;/Text&gt;&#10;                &lt;Text style={{ fontSize: 15, color: '#546779', lineHeight: 1.55 }}&gt;教学任务允许自定义键，只要同一批数据前后一致、能一一对上，就算合格。&lt;/Text&gt;&#10;            &lt;/Box&gt;&#10;&#10;            &lt;Box style={{ width: 438, height: 136, background: '#FFF4E6', borderRadius: 10, padding: '18px 20px', flexDirection: 'column', gap: 6, justifyContent: 'center' }}&gt;&#10;                &lt;Text style={{ fontSize: 17, fontWeight: 'bold', color: '#CB6B28' }}&gt;运行 UUID 不得编造&lt;/Text&gt;&#10;                &lt;Text style={{ fontSize: 15, color: '#546779', lineHeight: 1.55 }}&gt;没有真实运行记录就写「无」。编一个像真编号的串，读者会以为这份数据真的跑过。&lt;/Text&gt;&#10;            &lt;/Box&gt;&#10;&#10;            &lt;Box style={{ width: 438, height: 136, background: '#ECF7F2', borderRadius: 10, padding: '18px 20px', flexDirection: 'column', gap: 6, justifyContent: 'center' }}&gt;&#10;                &lt;Text style={{ fontSize: 17, fontWeight: 'bold', color: '#26816B' }}&gt;一行只对一项任务&lt;/Text&gt;&#10;                &lt;Text style={{ fontSize: 15, color: '#546779', lineHeight: 1.55 }}&gt;几项任务挤进一行再取平均，失败与成功就混在一起，谁也追不回来。&lt;/Text&gt;&#10;            &lt;/Box&gt;&#10;&#10;        &lt;/Box&gt;&#10;&#10;        &lt;Box style={{ width: 678, flexDirection: 'column', justifyContent: 'center', gap: 10 }}&gt;&#10;&#10;            &lt;Box style={{ width: 678, height: 72, background: '#F4F7FA', borderRadius: 8, padding: '0 18px', flexDirection: 'row', alignItems: 'center', gap: 14 }}&gt;&#10;                &lt;Box style={{ width: 4, height: 40, background: '#276FBF' }} /&gt;&#10;                &lt;Box style={{ width: 150 }}&gt;&lt;Text style={{ fontSize: 17, fontWeight: 'bold', color: '#20344B' }}&gt;真实人物&lt;/Text&gt;&lt;/Box&gt;&#10;                &lt;Text style={{ fontSize: 15, color: '#546779', lineHeight: 1.45, flex: 1 }}&gt;这一步是谁的行为，指向对象本身，不用代号顶替&lt;/Text&gt;&#10;            &lt;/Box&gt;&#10;&#10;            &lt;Box style={{ width: 678, height: 72, background: '#F4F7FA', borderRadius: 8, padding: '0 18px', flexDirection: 'row', alignItems: 'center', gap: 14 }}&gt;&#10;                &lt;Box style={{ width: 4, height: 40, background: '#276FBF' }} /&gt;&#10;                &lt;Box style={{ width: 150 }}&gt;&lt;Text style={{ fontSize: 17, fontWeight: 'bold', color: '#20344B' }}&gt;Step&lt;/Text&gt;&lt;/Box&gt;&#10;                &lt;Text style={{ fontSize: 15, color: '#546779', lineHeight: 1.45, flex: 1 }}&gt;落在哪一步上；一次行动不等于一次独立重复&lt;/Text&gt;&#10;            &lt;/Box&gt;&#10;&#10;            &lt;Box style={{ width: 678, height: 72, background: '#F4F7FA', borderRadius: 8, padding: '0 18px', flexDirection: 'row', alignItems: 'center', gap: 14 }}&gt;&#10;                &lt;Box style={{ width: 4, height: 40, background: '#276FBF' }} /&gt;&#10;                &lt;Box style={{ width: 150 }}&gt;&lt;Text style={{ fontSize: 17, fontWeight: 'bold', color: '#20344B' }}&gt;Event&lt;/Text&gt;&lt;/Box&gt;&#10;                &lt;Text style={{ fontSize: 15, color: '#546779', lineHeight: 1.45, flex: 1 }}&gt;由哪次世界事件触发；事件与请求不能互相顶替&lt;/Text&gt;&#10;            &lt;/Box&gt;&#10;&#10;            &lt;Box style={{ width: 678, height: 72, background: '#F4F7FA', borderRadius: 8, padding: '0 18px', flexDirection: 'row', alignItems: 'center', gap: 14 }}&gt;&#10;                &lt;Box style={{ width: 4, height: 40, background: '#276FBF' }} /&gt;&#10;                &lt;Box style={{ width: 150 }}&gt;&lt;Text style={{ fontSize: 17, fontWeight: 'bold', color: '#20344B' }}&gt;请求&lt;/Text&gt;&lt;/Box&gt;&#10;                &lt;Text style={{ fontSize: 15, color: '#546779', lineHeight: 1.45, flex: 1 }}&gt;向谁发出、发出几次；重复访问要逐次保留&lt;/Text&gt;&#10;            &lt;/Box&gt;&#10;&#10;            &lt;Box style={{ width: 678, height: 72, background: '#F4F7FA', borderRadius: 8, padding: '0 18px', flexDirection: 'row', alignItems: 'center', gap: 14 }}&gt;&#10;                &lt;Box style={{ width: 4, height: 40, background: '#276FBF' }} /&gt;&#10;                &lt;Box style={{ width: 150 }}&gt;&lt;Text style={{ fontSize: 17, fontWeight: 'bold', color: '#20344B' }}&gt;会话&lt;/Text&gt;&lt;/Box&gt;&#10;                &lt;Text style={{ fontSize: 15, color: '#546779', lineHeight: 1.45, flex: 1 }}&gt;同一次会话里的往返是一条连续过程，不该拆成独立样本&lt;/Text&gt;&#10;            &lt;/Box&gt;&#10;&#10;            &lt;Box style={{ width: 678, height: 72, background: '#F4F7FA', borderRadius: 8, padding: '0 18px', flexDirection: 'row', alignItems: 'center', gap: 14 }}&gt;&#10;                &lt;Box style={{ width: 4, height: 40, background: '#CB6B28' }} /&gt;&#10;                &lt;Box style={{ width: 150 }}&gt;&lt;Text style={{ fontSize: 17, fontWeight: 'bold', color: '#20344B' }}&gt;记忆身份&lt;/Text&gt;&lt;/Box&gt;&#10;                &lt;Text style={{ fontSize: 15, color: '#546779', lineHeight: 1.45, flex: 1 }}&gt;引用的是哪份角色私有记忆，不能与其他对象混用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9 跨案例比较与研究设计&lt;/Text&gt;&#10;        &lt;Text style={{ fontSize: 14, color: '#546779' }}&gt;05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4.9.1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任务记录的关联字段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一行记录要能定位回现场</a:t>
            </a:r>
            <a:endParaRPr/>
          </a:p>
        </p:txBody>
      </p:sp>
      <p:sp>
        <p:nvSpPr>
          <p:cNvPr id="659" name=""/>
          <p:cNvSpPr/>
          <p:nvPr/>
        </p:nvSpPr>
        <p:spPr>
          <a:xfrm rot="0" flipH="0" flipV="0">
            <a:off x="609600" y="1638300"/>
            <a:ext cx="4171950" cy="1295400"/>
          </a:xfrm>
          <a:prstGeom prst="roundRect">
            <a:avLst>
              <a:gd name="adj" fmla="val 735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800100" y="1895475"/>
            <a:ext cx="3790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键名可以自己定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800100" y="2152650"/>
            <a:ext cx="37909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教学任务允许自定义键，只要同一批数据前后一致、能一一对上，就算合格。</a:t>
            </a:r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609600" y="3067050"/>
            <a:ext cx="4171950" cy="1295400"/>
          </a:xfrm>
          <a:prstGeom prst="roundRect">
            <a:avLst>
              <a:gd name="adj" fmla="val 735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800100" y="3324225"/>
            <a:ext cx="3790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运行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UUID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不得编造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800100" y="3581400"/>
            <a:ext cx="37909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没有真实运行记录就写「无」。编一个像真编号的串，读者会以为这份数据真的跑过。</a:t>
            </a:r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609600" y="4495800"/>
            <a:ext cx="4171950" cy="1295400"/>
          </a:xfrm>
          <a:prstGeom prst="roundRect">
            <a:avLst>
              <a:gd name="adj" fmla="val 735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800100" y="4752975"/>
            <a:ext cx="3790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一行只对一项任务</a:t>
            </a:r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800100" y="5010150"/>
            <a:ext cx="37909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几项任务挤进一行再取平均，失败与成功就混在一起，谁也追不回来。</a:t>
            </a:r>
            <a:endParaRPr/>
          </a:p>
        </p:txBody>
      </p:sp>
      <p:sp>
        <p:nvSpPr>
          <p:cNvPr id="668" name=""/>
          <p:cNvSpPr/>
          <p:nvPr/>
        </p:nvSpPr>
        <p:spPr>
          <a:xfrm rot="0" flipH="0" flipV="0">
            <a:off x="5124450" y="1419225"/>
            <a:ext cx="645795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69" name=""/>
          <p:cNvSpPr/>
          <p:nvPr/>
        </p:nvSpPr>
        <p:spPr>
          <a:xfrm rot="0" flipH="0" flipV="0">
            <a:off x="5295900" y="15716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5467350" y="166687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真实人物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7029450" y="1638300"/>
            <a:ext cx="43815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这一步是谁的行为，指向对象本身，不用代号顶替</a:t>
            </a:r>
            <a:endParaRPr/>
          </a:p>
        </p:txBody>
      </p:sp>
      <p:sp>
        <p:nvSpPr>
          <p:cNvPr id="672" name=""/>
          <p:cNvSpPr/>
          <p:nvPr/>
        </p:nvSpPr>
        <p:spPr>
          <a:xfrm rot="0" flipH="0" flipV="0">
            <a:off x="5124450" y="2200275"/>
            <a:ext cx="645795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73" name=""/>
          <p:cNvSpPr/>
          <p:nvPr/>
        </p:nvSpPr>
        <p:spPr>
          <a:xfrm rot="0" flipH="0" flipV="0">
            <a:off x="5295900" y="23526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5467350" y="244792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Step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7029450" y="2419350"/>
            <a:ext cx="43815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落在哪一步上；一次行动不等于一次独立重复</a:t>
            </a:r>
            <a:endParaRPr/>
          </a:p>
        </p:txBody>
      </p:sp>
      <p:sp>
        <p:nvSpPr>
          <p:cNvPr id="676" name=""/>
          <p:cNvSpPr/>
          <p:nvPr/>
        </p:nvSpPr>
        <p:spPr>
          <a:xfrm rot="0" flipH="0" flipV="0">
            <a:off x="5124450" y="2981325"/>
            <a:ext cx="645795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77" name=""/>
          <p:cNvSpPr/>
          <p:nvPr/>
        </p:nvSpPr>
        <p:spPr>
          <a:xfrm rot="0" flipH="0" flipV="0">
            <a:off x="5295900" y="31337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5467350" y="322897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Event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7029450" y="3200400"/>
            <a:ext cx="43815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由哪次世界事件触发；事件与请求不能互相顶替</a:t>
            </a:r>
            <a:endParaRPr/>
          </a:p>
        </p:txBody>
      </p:sp>
      <p:sp>
        <p:nvSpPr>
          <p:cNvPr id="680" name=""/>
          <p:cNvSpPr/>
          <p:nvPr/>
        </p:nvSpPr>
        <p:spPr>
          <a:xfrm rot="0" flipH="0" flipV="0">
            <a:off x="5124450" y="3762375"/>
            <a:ext cx="645795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1" name=""/>
          <p:cNvSpPr/>
          <p:nvPr/>
        </p:nvSpPr>
        <p:spPr>
          <a:xfrm rot="0" flipH="0" flipV="0">
            <a:off x="5295900" y="39147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5467350" y="401002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请求</a:t>
            </a:r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7029450" y="3981450"/>
            <a:ext cx="43815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向谁发出、发出几次；重复访问要逐次保留</a:t>
            </a:r>
            <a:endParaRPr/>
          </a:p>
        </p:txBody>
      </p:sp>
      <p:sp>
        <p:nvSpPr>
          <p:cNvPr id="684" name=""/>
          <p:cNvSpPr/>
          <p:nvPr/>
        </p:nvSpPr>
        <p:spPr>
          <a:xfrm rot="0" flipH="0" flipV="0">
            <a:off x="5124450" y="4543425"/>
            <a:ext cx="645795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5" name=""/>
          <p:cNvSpPr/>
          <p:nvPr/>
        </p:nvSpPr>
        <p:spPr>
          <a:xfrm rot="0" flipH="0" flipV="0">
            <a:off x="5295900" y="46958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5467350" y="479107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会话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7029450" y="4762500"/>
            <a:ext cx="43815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同一次会话里的往返是一条连续过程，不该拆成独立样本</a:t>
            </a:r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5124450" y="5324475"/>
            <a:ext cx="645795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9" name=""/>
          <p:cNvSpPr/>
          <p:nvPr/>
        </p:nvSpPr>
        <p:spPr>
          <a:xfrm rot="0" flipH="0" flipV="0">
            <a:off x="5295900" y="5476875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5467350" y="557212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记忆身份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7029450" y="5543550"/>
            <a:ext cx="43815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引用的是哪份角色私有记忆，不能与其他对象混用</a:t>
            </a:r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跨案例比较与研究设计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694" name="" descr="&lt;Slide notes={`这六行数据是整节的地基，我逐列说清楚。&#10;&#10;每行代表一次独立 Run，每次 Run 里有四项任务，统一从开始观察到第 60 虚拟分钟。A 组是基线，B 组加了澄清。&#10;&#10;第三列是「闭环任务数除以四」：A01 两项、A02 三项、A03 一项；B 组分别是三项、三项、两项。&#10;&#10;第四列是已经闭环的那些任务的用时，用逗号分开。注意这里的时延是从 Run 开始算到闭环，跟前面大厅案例里「首次咨询到有效回应」不是同一个起止点。&#10;&#10;最后两列分别数逻辑调用和物理尝试，物理尝试永远不少于逻辑调用，因为一次调用可能重试。&#10;&#10;六行总量：A 组 6 项闭环，B 组 8 项闭环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9.2　完整人工比较数据&lt;/Text&gt;&#10;            &lt;Text style={{ fontSize: 34, fontWeight: 'bold', color: '#20344B' }}&gt;六行人工比较数据&lt;/Text&gt;&#10;        &lt;/Box&gt;&#10;    &lt;/Box&gt;&#10;&#10;    &lt;Box style={{ height: 540, flexDirection: 'column', gap: 10 }}&gt;&#10;&#10;        &lt;Box style={{ width: 1152, height: 60, background: '#F7F3E8', borderRadius: 8, padding: '0 20px', flexDirection: 'column', gap: 2, justifyContent: 'center' }}&gt;&#10;            &lt;Text style={{ fontSize: 15, fontWeight: 'bold', color: '#20344B' }}&gt;人工汇总，不是 Run 结果；每行一次独立 Run，每次四项任务，统一观察至第 60 虚拟分钟。&lt;/Text&gt;&#10;            &lt;Text style={{ fontSize: 14, color: '#546779' }}&gt;时延＝Run 开始 → 闭环；未闭环的任务没有完成时间，只单列数量，不补时点。&lt;/Text&gt;&#10;        &lt;/Box&gt;&#10;&#10;        &lt;Box style={{ width: 1152, flexDirection: 'row', padding: '0 18px', gap: 16, alignItems: 'center', height: 26 }}&gt;&#10;            &lt;Box style={{ width: 90 }}&gt;&lt;Text style={{ fontSize: 14, color: '#546779' }}&gt;教学行&lt;/Text&gt;&lt;/Box&gt;&#10;            &lt;Box style={{ width: 60 }}&gt;&lt;Text style={{ fontSize: 14, color: '#546779' }}&gt;组别&lt;/Text&gt;&lt;/Box&gt;&#10;            &lt;Box style={{ width: 130 }}&gt;&lt;Text style={{ fontSize: 14, color: '#546779' }}&gt;闭环／任务&lt;/Text&gt;&lt;/Box&gt;&#10;            &lt;Box style={{ width: 320 }}&gt;&lt;Text style={{ fontSize: 14, color: '#546779' }}&gt;已闭环时延（分钟）&lt;/Text&gt;&lt;/Box&gt;&#10;            &lt;Box style={{ width: 90 }}&gt;&lt;Text style={{ fontSize: 14, color: '#546779' }}&gt;未闭环&lt;/Text&gt;&lt;/Box&gt;&#10;            &lt;Box style={{ width: 110 }}&gt;&lt;Text style={{ fontSize: 14, color: '#546779' }}&gt;逻辑调用&lt;/Text&gt;&lt;/Box&gt;&#10;            &lt;Box style={{ width: 110 }}&gt;&lt;Text style={{ fontSize: 14, color: '#546779' }}&gt;物理尝试&lt;/Text&gt;&lt;/Box&gt;&#10;        &lt;/Box&gt;&#10;&#10;        &lt;Box style={{ width: 1152, height: 62, background: '#F4F7FA', borderRadius: 8, padding: '0 18px', flexDirection: 'row', alignItems: 'center', gap: 16 }}&gt;&#10;            &lt;Box style={{ width: 90 }}&gt;&lt;Text style={{ fontSize: 16, fontWeight: 'bold', color: '#20344B' }}&gt;A01&lt;/Text&gt;&lt;/Box&gt;&#10;            &lt;Box style={{ width: 60 }}&gt;&lt;Box style={{ width: 40, height: 28, background: '#EDF4FC', borderRadius: 6, justifyContent: 'center', alignItems: 'center' }}&gt;&lt;Text style={{ fontSize: 15, fontWeight: 'bold', color: '#276FBF' }}&gt;A&lt;/Text&gt;&lt;/Box&gt;&lt;/Box&gt;&#10;            &lt;Box style={{ width: 130 }}&gt;&lt;Text style={{ fontSize: 16, color: '#20344B' }}&gt;2 / 4&lt;/Text&gt;&lt;/Box&gt;&#10;            &lt;Box style={{ width: 320 }}&gt;&lt;Text style={{ fontSize: 16, color: '#20344B' }}&gt;8，12&lt;/Text&gt;&lt;/Box&gt;&#10;            &lt;Box style={{ width: 90 }}&gt;&lt;Text style={{ fontSize: 16, color: '#CB6B28' }}&gt;2&lt;/Text&gt;&lt;/Box&gt;&#10;            &lt;Box style={{ width: 110 }}&gt;&lt;Text style={{ fontSize: 16, color: '#20344B' }}&gt;120&lt;/Text&gt;&lt;/Box&gt;&#10;            &lt;Box style={{ width: 110 }}&gt;&lt;Text style={{ fontSize: 16, color: '#20344B' }}&gt;132&lt;/Text&gt;&lt;/Box&gt;&#10;        &lt;/Box&gt;&#10;&#10;        &lt;Box style={{ width: 1152, height: 62, background: '#F4F7FA', borderRadius: 8, padding: '0 18px', flexDirection: 'row', alignItems: 'center', gap: 16 }}&gt;&#10;            &lt;Box style={{ width: 90 }}&gt;&lt;Text style={{ fontSize: 16, fontWeight: 'bold', color: '#20344B' }}&gt;A02&lt;/Text&gt;&lt;/Box&gt;&#10;            &lt;Box style={{ width: 60 }}&gt;&lt;Box style={{ width: 40, height: 28, background: '#EDF4FC', borderRadius: 6, justifyContent: 'center', alignItems: 'center' }}&gt;&lt;Text style={{ fontSize: 15, fontWeight: 'bold', color: '#276FBF' }}&gt;A&lt;/Text&gt;&lt;/Box&gt;&lt;/Box&gt;&#10;            &lt;Box style={{ width: 130 }}&gt;&lt;Text style={{ fontSize: 16, color: '#20344B' }}&gt;3 / 4&lt;/Text&gt;&lt;/Box&gt;&#10;            &lt;Box style={{ width: 320 }}&gt;&lt;Text style={{ fontSize: 16, color: '#20344B' }}&gt;7，11，17&lt;/Text&gt;&lt;/Box&gt;&#10;            &lt;Box style={{ width: 90 }}&gt;&lt;Text style={{ fontSize: 16, color: '#CB6B28' }}&gt;1&lt;/Text&gt;&lt;/Box&gt;&#10;            &lt;Box style={{ width: 110 }}&gt;&lt;Text style={{ fontSize: 16, color: '#20344B' }}&gt;140&lt;/Text&gt;&lt;/Box&gt;&#10;            &lt;Box style={{ width: 110 }}&gt;&lt;Text style={{ fontSize: 16, color: '#20344B' }}&gt;154&lt;/Text&gt;&lt;/Box&gt;&#10;        &lt;/Box&gt;&#10;&#10;        &lt;Box style={{ width: 1152, height: 62, background: '#F4F7FA', borderRadius: 8, padding: '0 18px', flexDirection: 'row', alignItems: 'center', gap: 16 }}&gt;&#10;            &lt;Box style={{ width: 90 }}&gt;&lt;Text style={{ fontSize: 16, fontWeight: 'bold', color: '#20344B' }}&gt;A03&lt;/Text&gt;&lt;/Box&gt;&#10;            &lt;Box style={{ width: 60 }}&gt;&lt;Box style={{ width: 40, height: 28, background: '#EDF4FC', borderRadius: 6, justifyContent: 'center', alignItems: 'center' }}&gt;&lt;Text style={{ fontSize: 15, fontWeight: 'bold', color: '#276FBF' }}&gt;A&lt;/Text&gt;&lt;/Box&gt;&lt;/Box&gt;&#10;            &lt;Box style={{ width: 130 }}&gt;&lt;Text style={{ fontSize: 16, color: '#20344B' }}&gt;1 / 4&lt;/Text&gt;&lt;/Box&gt;&#10;            &lt;Box style={{ width: 320 }}&gt;&lt;Text style={{ fontSize: 16, color: '#20344B' }}&gt;6&lt;/Text&gt;&lt;/Box&gt;&#10;            &lt;Box style={{ width: 90 }}&gt;&lt;Text style={{ fontSize: 16, color: '#CB6B28' }}&gt;3&lt;/Text&gt;&lt;/Box&gt;&#10;            &lt;Box style={{ width: 110 }}&gt;&lt;Text style={{ fontSize: 16, color: '#20344B' }}&gt;110&lt;/Text&gt;&lt;/Box&gt;&#10;            &lt;Box style={{ width: 110 }}&gt;&lt;Text style={{ fontSize: 16, color: '#20344B' }}&gt;125&lt;/Text&gt;&lt;/Box&gt;&#10;        &lt;/Box&gt;&#10;&#10;        &lt;Box style={{ width: 1152, height: 62, background: '#ECF7F2', borderRadius: 8, padding: '0 18px', flexDirection: 'row', alignItems: 'center', gap: 16 }}&gt;&#10;            &lt;Box style={{ width: 90 }}&gt;&lt;Text style={{ fontSize: 16, fontWeight: 'bold', color: '#20344B' }}&gt;B01&lt;/Text&gt;&lt;/Box&gt;&#10;            &lt;Box style={{ width: 60 }}&gt;&lt;Box style={{ width: 40, height: 28, background: '#FFFFFF', borderRadius: 6, justifyContent: 'center', alignItems: 'center' }}&gt;&lt;Text style={{ fontSize: 15, fontWeight: 'bold', color: '#26816B' }}&gt;B&lt;/Text&gt;&lt;/Box&gt;&lt;/Box&gt;&#10;            &lt;Box style={{ width: 130 }}&gt;&lt;Text style={{ fontSize: 16, color: '#20344B' }}&gt;3 / 4&lt;/Text&gt;&lt;/Box&gt;&#10;            &lt;Box style={{ width: 320 }}&gt;&lt;Text style={{ fontSize: 16, color: '#20344B' }}&gt;10，14，19&lt;/Text&gt;&lt;/Box&gt;&#10;            &lt;Box style={{ width: 90 }}&gt;&lt;Text style={{ fontSize: 16, color: '#CB6B28' }}&gt;1&lt;/Text&gt;&lt;/Box&gt;&#10;            &lt;Box style={{ width: 110 }}&gt;&lt;Text style={{ fontSize: 16, color: '#20344B' }}&gt;160&lt;/Text&gt;&lt;/Box&gt;&#10;            &lt;Box style={{ width: 110 }}&gt;&lt;Text style={{ fontSize: 16, color: '#20344B' }}&gt;170&lt;/Text&gt;&lt;/Box&gt;&#10;        &lt;/Box&gt;&#10;&#10;        &lt;Box style={{ width: 1152, height: 62, background: '#ECF7F2', borderRadius: 8, padding: '0 18px', flexDirection: 'row', alignItems: 'center', gap: 16 }}&gt;&#10;            &lt;Box style={{ width: 90 }}&gt;&lt;Text style={{ fontSize: 16, fontWeight: 'bold', color: '#20344B' }}&gt;B02&lt;/Text&gt;&lt;/Box&gt;&#10;            &lt;Box style={{ width: 60 }}&gt;&lt;Box style={{ width: 40, height: 28, background: '#FFFFFF', borderRadius: 6, justifyContent: 'center', alignItems: 'center' }}&gt;&lt;Text style={{ fontSize: 15, fontWeight: 'bold', color: '#26816B' }}&gt;B&lt;/Text&gt;&lt;/Box&gt;&lt;/Box&gt;&#10;            &lt;Box style={{ width: 130 }}&gt;&lt;Text style={{ fontSize: 16, color: '#20344B' }}&gt;3 / 4&lt;/Text&gt;&lt;/Box&gt;&#10;            &lt;Box style={{ width: 320 }}&gt;&lt;Text style={{ fontSize: 16, color: '#20344B' }}&gt;9，13，18&lt;/Text&gt;&lt;/Box&gt;&#10;            &lt;Box style={{ width: 90 }}&gt;&lt;Text style={{ fontSize: 16, color: '#CB6B28' }}&gt;1&lt;/Text&gt;&lt;/Box&gt;&#10;            &lt;Box style={{ width: 110 }}&gt;&lt;Text style={{ fontSize: 16, color: '#20344B' }}&gt;155&lt;/Text&gt;&lt;/Box&gt;&#10;            &lt;Box style={{ width: 110 }}&gt;&lt;Text style={{ fontSize: 16, color: '#20344B' }}&gt;166&lt;/Text&gt;&lt;/Box&gt;&#10;        &lt;/Box&gt;&#10;&#10;        &lt;Box style={{ width: 1152, height: 62, background: '#ECF7F2', borderRadius: 8, padding: '0 18px', flexDirection: 'row', alignItems: 'center', gap: 16 }}&gt;&#10;            &lt;Box style={{ width: 90 }}&gt;&lt;Text style={{ fontSize: 16, fontWeight: 'bold', color: '#20344B' }}&gt;B03&lt;/Text&gt;&lt;/Box&gt;&#10;            &lt;Box style={{ width: 60 }}&gt;&lt;Box style={{ width: 40, height: 28, background: '#FFFFFF', borderRadius: 6, justifyContent: 'center', alignItems: 'center' }}&gt;&lt;Text style={{ fontSize: 15, fontWeight: 'bold', color: '#26816B' }}&gt;B&lt;/Text&gt;&lt;/Box&gt;&lt;/Box&gt;&#10;            &lt;Box style={{ width: 130 }}&gt;&lt;Text style={{ fontSize: 16, color: '#20344B' }}&gt;2 / 4&lt;/Text&gt;&lt;/Box&gt;&#10;            &lt;Box style={{ width: 320 }}&gt;&lt;Text style={{ fontSize: 16, color: '#20344B' }}&gt;12，16&lt;/Text&gt;&lt;/Box&gt;&#10;            &lt;Box style={{ width: 90 }}&gt;&lt;Text style={{ fontSize: 16, color: '#CB6B28' }}&gt;2&lt;/Text&gt;&lt;/Box&gt;&#10;            &lt;Box style={{ width: 110 }}&gt;&lt;Text style={{ fontSize: 16, color: '#20344B' }}&gt;165&lt;/Text&gt;&lt;/Box&gt;&#10;            &lt;Box style={{ width: 110 }}&gt;&lt;Text style={{ fontSize: 16, color: '#20344B' }}&gt;180&lt;/Text&gt;&lt;/Box&gt;&#10;        &lt;/Box&gt;&#10;&#10;    &lt;/Box&gt;&#10;&#10;    &lt;Box style={{ height: 40, flexDirection: 'row', justifyContent: 'space-between', alignItems: 'center' }}&gt;&#10;        &lt;Text style={{ fontSize: 14, color: '#546779' }}&gt;4.9 跨案例比较与研究设计&lt;/Text&gt;&#10;        &lt;Text style={{ fontSize: 14, color: '#546779' }}&gt;06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9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4.9.2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完整人工比较数据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六行人工比较数据</a:t>
            </a:r>
            <a:endParaRPr/>
          </a:p>
        </p:txBody>
      </p:sp>
      <p:sp>
        <p:nvSpPr>
          <p:cNvPr id="699" name=""/>
          <p:cNvSpPr/>
          <p:nvPr/>
        </p:nvSpPr>
        <p:spPr>
          <a:xfrm rot="0" flipH="0" flipV="0">
            <a:off x="609600" y="1143000"/>
            <a:ext cx="10972800" cy="571500"/>
          </a:xfrm>
          <a:prstGeom prst="roundRect">
            <a:avLst>
              <a:gd name="adj" fmla="val 13333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800100" y="1257300"/>
            <a:ext cx="1059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人工汇总，不是</a:t>
            </a: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结果；每行一次独立</a:t>
            </a: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，每次四项任务，统一观察至第</a:t>
            </a: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虚拟分钟。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800100" y="1447800"/>
            <a:ext cx="10591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时延＝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开始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闭环；未闭环的任务没有完成时间，只单列数量，不补时点。</a:t>
            </a:r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781050" y="1857375"/>
            <a:ext cx="857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教学行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1790700" y="1857375"/>
            <a:ext cx="57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组别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2514600" y="1857375"/>
            <a:ext cx="1238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闭环／任务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3905250" y="1857375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已闭环时延（分钟）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7105650" y="1857375"/>
            <a:ext cx="857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未闭环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8115300" y="1857375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逻辑调用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9315450" y="1857375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物理尝试</a:t>
            </a:r>
            <a:endParaRPr/>
          </a:p>
        </p:txBody>
      </p:sp>
      <p:sp>
        <p:nvSpPr>
          <p:cNvPr id="709" name=""/>
          <p:cNvSpPr/>
          <p:nvPr/>
        </p:nvSpPr>
        <p:spPr>
          <a:xfrm rot="0" flipH="0" flipV="0">
            <a:off x="609600" y="2152650"/>
            <a:ext cx="109728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781050" y="2352675"/>
            <a:ext cx="857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>A01</a:t>
            </a:r>
            <a:endParaRPr/>
          </a:p>
        </p:txBody>
      </p:sp>
      <p:sp>
        <p:nvSpPr>
          <p:cNvPr id="711" name=""/>
          <p:cNvSpPr/>
          <p:nvPr/>
        </p:nvSpPr>
        <p:spPr>
          <a:xfrm rot="0" flipH="0" flipV="0">
            <a:off x="1790700" y="2314575"/>
            <a:ext cx="381000" cy="266700"/>
          </a:xfrm>
          <a:prstGeom prst="roundRect">
            <a:avLst>
              <a:gd name="adj" fmla="val 214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1924050" y="2362200"/>
            <a:ext cx="11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2514600" y="2352675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2 / 4</a:t>
            </a:r>
            <a:endParaRPr/>
          </a:p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3905250" y="235267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8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7105650" y="2352675"/>
            <a:ext cx="857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8115300" y="2352675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120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9315450" y="2352675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132</a:t>
            </a:r>
            <a:endParaRPr/>
          </a:p>
        </p:txBody>
      </p:sp>
      <p:sp>
        <p:nvSpPr>
          <p:cNvPr id="718" name=""/>
          <p:cNvSpPr/>
          <p:nvPr/>
        </p:nvSpPr>
        <p:spPr>
          <a:xfrm rot="0" flipH="0" flipV="0">
            <a:off x="609600" y="2838450"/>
            <a:ext cx="109728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781050" y="3038475"/>
            <a:ext cx="857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>A02</a:t>
            </a:r>
            <a:endParaRPr/>
          </a:p>
        </p:txBody>
      </p:sp>
      <p:sp>
        <p:nvSpPr>
          <p:cNvPr id="720" name=""/>
          <p:cNvSpPr/>
          <p:nvPr/>
        </p:nvSpPr>
        <p:spPr>
          <a:xfrm rot="0" flipH="0" flipV="0">
            <a:off x="1790700" y="3000375"/>
            <a:ext cx="381000" cy="266700"/>
          </a:xfrm>
          <a:prstGeom prst="roundRect">
            <a:avLst>
              <a:gd name="adj" fmla="val 214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1924050" y="3048000"/>
            <a:ext cx="11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2514600" y="3038475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3 / 4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3905250" y="303847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7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11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17</a:t>
            </a:r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7105650" y="3038475"/>
            <a:ext cx="857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8115300" y="3038475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140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9315450" y="3038475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154</a:t>
            </a:r>
            <a:endParaRPr/>
          </a:p>
        </p:txBody>
      </p:sp>
      <p:sp>
        <p:nvSpPr>
          <p:cNvPr id="727" name=""/>
          <p:cNvSpPr/>
          <p:nvPr/>
        </p:nvSpPr>
        <p:spPr>
          <a:xfrm rot="0" flipH="0" flipV="0">
            <a:off x="609600" y="3524250"/>
            <a:ext cx="109728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781050" y="3724275"/>
            <a:ext cx="857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>A03</a:t>
            </a:r>
            <a:endParaRPr/>
          </a:p>
        </p:txBody>
      </p:sp>
      <p:sp>
        <p:nvSpPr>
          <p:cNvPr id="729" name=""/>
          <p:cNvSpPr/>
          <p:nvPr/>
        </p:nvSpPr>
        <p:spPr>
          <a:xfrm rot="0" flipH="0" flipV="0">
            <a:off x="1790700" y="3686175"/>
            <a:ext cx="381000" cy="266700"/>
          </a:xfrm>
          <a:prstGeom prst="roundRect">
            <a:avLst>
              <a:gd name="adj" fmla="val 214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1924050" y="3733800"/>
            <a:ext cx="11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2514600" y="3724275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 / 4</a:t>
            </a:r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3905250" y="372427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7105650" y="3724275"/>
            <a:ext cx="857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8115300" y="3724275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110</a:t>
            </a:r>
            <a:endParaRPr/>
          </a:p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9315450" y="3724275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125</a:t>
            </a:r>
            <a:endParaRPr/>
          </a:p>
        </p:txBody>
      </p:sp>
      <p:sp>
        <p:nvSpPr>
          <p:cNvPr id="736" name=""/>
          <p:cNvSpPr/>
          <p:nvPr/>
        </p:nvSpPr>
        <p:spPr>
          <a:xfrm rot="0" flipH="0" flipV="0">
            <a:off x="609600" y="4210050"/>
            <a:ext cx="10972800" cy="590550"/>
          </a:xfrm>
          <a:prstGeom prst="roundRect">
            <a:avLst>
              <a:gd name="adj" fmla="val 1290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781050" y="4410075"/>
            <a:ext cx="857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>B01</a:t>
            </a:r>
            <a:endParaRPr/>
          </a:p>
        </p:txBody>
      </p:sp>
      <p:sp>
        <p:nvSpPr>
          <p:cNvPr id="738" name=""/>
          <p:cNvSpPr/>
          <p:nvPr/>
        </p:nvSpPr>
        <p:spPr>
          <a:xfrm rot="0" flipH="0" flipV="0">
            <a:off x="1790700" y="4371975"/>
            <a:ext cx="381000" cy="2667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1933575" y="4419600"/>
            <a:ext cx="104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2514600" y="4410075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3 / 4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3905250" y="441007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10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14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19</a:t>
            </a:r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7105650" y="4410075"/>
            <a:ext cx="857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8115300" y="4410075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160</a:t>
            </a:r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9315450" y="4410075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170</a:t>
            </a:r>
            <a:endParaRPr/>
          </a:p>
        </p:txBody>
      </p:sp>
      <p:sp>
        <p:nvSpPr>
          <p:cNvPr id="745" name=""/>
          <p:cNvSpPr/>
          <p:nvPr/>
        </p:nvSpPr>
        <p:spPr>
          <a:xfrm rot="0" flipH="0" flipV="0">
            <a:off x="609600" y="4895850"/>
            <a:ext cx="10972800" cy="590550"/>
          </a:xfrm>
          <a:prstGeom prst="roundRect">
            <a:avLst>
              <a:gd name="adj" fmla="val 1290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781050" y="5095875"/>
            <a:ext cx="857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>B02</a:t>
            </a:r>
            <a:endParaRPr/>
          </a:p>
        </p:txBody>
      </p:sp>
      <p:sp>
        <p:nvSpPr>
          <p:cNvPr id="747" name=""/>
          <p:cNvSpPr/>
          <p:nvPr/>
        </p:nvSpPr>
        <p:spPr>
          <a:xfrm rot="0" flipH="0" flipV="0">
            <a:off x="1790700" y="5057775"/>
            <a:ext cx="381000" cy="2667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1933575" y="5105400"/>
            <a:ext cx="104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2514600" y="5095875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3 / 4</a:t>
            </a:r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3905250" y="509587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9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13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18</a:t>
            </a:r>
            <a:endParaRPr/>
          </a:p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7105650" y="5095875"/>
            <a:ext cx="857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8115300" y="5095875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155</a:t>
            </a:r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9315450" y="5095875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166</a:t>
            </a:r>
            <a:endParaRPr/>
          </a:p>
        </p:txBody>
      </p:sp>
      <p:sp>
        <p:nvSpPr>
          <p:cNvPr id="754" name=""/>
          <p:cNvSpPr/>
          <p:nvPr/>
        </p:nvSpPr>
        <p:spPr>
          <a:xfrm rot="0" flipH="0" flipV="0">
            <a:off x="609600" y="5581650"/>
            <a:ext cx="10972800" cy="590550"/>
          </a:xfrm>
          <a:prstGeom prst="roundRect">
            <a:avLst>
              <a:gd name="adj" fmla="val 1290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781050" y="5781675"/>
            <a:ext cx="857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>B03</a:t>
            </a:r>
            <a:endParaRPr/>
          </a:p>
        </p:txBody>
      </p:sp>
      <p:sp>
        <p:nvSpPr>
          <p:cNvPr id="756" name=""/>
          <p:cNvSpPr/>
          <p:nvPr/>
        </p:nvSpPr>
        <p:spPr>
          <a:xfrm rot="0" flipH="0" flipV="0">
            <a:off x="1790700" y="5743575"/>
            <a:ext cx="381000" cy="2667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1933575" y="5791200"/>
            <a:ext cx="104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2514600" y="5781675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2 / 4</a:t>
            </a:r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3905250" y="578167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12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16</a:t>
            </a:r>
            <a:endParaRPr/>
          </a:p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7105650" y="5781675"/>
            <a:ext cx="857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8115300" y="5781675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165</a:t>
            </a:r>
            <a:endParaRPr/>
          </a:p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9315450" y="5781675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180</a:t>
            </a:r>
            <a:endParaRPr/>
          </a:p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跨案例比较与研究设计</a:t>
            </a:r>
            <a:endParaRPr/>
          </a:p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765" name="" descr="&lt;Slide notes={`时延这个词最容易被混着用，我把它拆开。&#10;&#10;在大厅案例里，时延是从来访者第一次咨询算起，到收到第一条适配而且能执行的建议为止，任务最后有没有闭环并不进入这个数。&#10;&#10;这一节的六行数据用的是另一个口径：从 Run 开始算，到这项任务闭环那一刻为止。它衡量的是整场多久走完，一次 Run 里快的和慢的任务都会被卷进同一个数。&#10;&#10;所以两个时延不能放在一起比，先对齐起止点再说。&#10;&#10;还有一层：这六行数据假设每项任务都完整观察到第 60 分钟，没有基础设施中断、没有缺失记录。真实报告要另列中断、缺失和任务未发起这三类情况。未闭环的任务没有完成时间，绝不能给它补一个 60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9.2　观察窗口与两条边界&lt;/Text&gt;&#10;            &lt;Text style={{ fontSize: 34, fontWeight: 'bold', color: '#20344B' }}&gt;时延从哪算起，窗口到哪里&lt;/Text&gt;&#10;        &lt;/Box&gt;&#10;    &lt;/Box&gt;&#10;&#10;    &lt;Box style={{ height: 540, flexDirection: 'column', gap: 20 }}&gt;&#10;&#10;        &lt;Box style={{ width: 1152, flexDirection: 'row', gap: 36 }}&gt;&#10;&#10;            &lt;Box style={{ width: 500, flexDirection: 'column', gap: 12 }}&gt;&#10;                &lt;Box style={{ width: 500, height: 150, background: '#EDF4FC', borderRadius: 10, padding: '16px 20px', flexDirection: 'column', gap: 6, justifyContent: 'center' }}&gt;&#10;                    &lt;Text style={{ fontSize: 18, fontWeight: 'bold', color: '#276FBF' }}&gt;本节：Run 开始 → 闭环&lt;/Text&gt;&#10;                    &lt;Text style={{ fontSize: 15, color: '#546779', lineHeight: 1.55 }}&gt;整场走完花了多久。一次 Run 里最快和最慢的任务，都被卷进同一个数里。&lt;/Text&gt;&#10;                &lt;/Box&gt;&#10;                &lt;Box style={{ width: 500, height: 150, background: '#ECF7F2', borderRadius: 10, padding: '16px 20px', flexDirection: 'column', gap: 6, justifyContent: 'center' }}&gt;&#10;                    &lt;Text style={{ fontSize: 18, fontWeight: 'bold', color: '#26816B' }}&gt;4.1：首次咨询 → 有效回应&lt;/Text&gt;&#10;                    &lt;Text style={{ fontSize: 15, color: '#546779', lineHeight: 1.55 }}&gt;只看第一次有效回应，任务后来有没有闭环，不进入这个数。&lt;/Text&gt;&#10;                &lt;/Box&gt;&#10;            &lt;/Box&gt;&#10;&#10;            &lt;Box style={{ width: 616, flexDirection: 'column', gap: 12 }}&gt;&#10;                &lt;Box style={{ width: 616, height: 132, background: '#F4F7FA', borderRadius: 10, padding: '16px 20px', flexDirection: 'column', gap: 6, justifyContent: 'center' }}&gt;&#10;                    &lt;Text style={{ fontSize: 17, fontWeight: 'bold', color: '#20344B' }}&gt;窗口一致&lt;/Text&gt;&#10;                    &lt;Text style={{ fontSize: 15, color: '#546779', lineHeight: 1.55 }}&gt;六行数据假设每项任务都完整观察到第 60 分钟，没有基础设施中断，也没有缺失记录。&lt;/Text&gt;&#10;                &lt;/Box&gt;&#10;                &lt;Box style={{ width: 616, height: 132, background: '#FFF4E6', borderRadius: 10, padding: '16px 20px', flexDirection: 'column', gap: 6, justifyContent: 'center' }}&gt;&#10;                    &lt;Text style={{ fontSize: 17, fontWeight: 'bold', color: '#CB6B28' }}&gt;真实记录另列&lt;/Text&gt;&#10;                    &lt;Text style={{ fontSize: 15, color: '#546779', lineHeight: 1.55 }}&gt;真实报告要把中断、缺失与「任务未发起」单独列出来，不能拿人工假设顶上。&lt;/Text&gt;&#10;                &lt;/Box&gt;&#10;                &lt;Box style={{ width: 616, height: 132, background: '#F4F7FA', borderRadius: 10, padding: '16px 20px', flexDirection: 'column', gap: 6, justifyContent: 'center' }}&gt;&#10;                    &lt;Text style={{ fontSize: 17, fontWeight: 'bold', color: '#26816B' }}&gt;不补未完成时点&lt;/Text&gt;&#10;                    &lt;Text style={{ fontSize: 15, color: '#546779', lineHeight: 1.55 }}&gt;截止时还没闭环的任务没有完成时间，只统计数量，不替它估一个终点。&lt;/Text&gt;&#10;                &lt;/Box&gt;&#10;            &lt;/Box&gt;&#10;&#10;        &lt;/Box&gt;&#10;&#10;        &lt;Box style={{ width: 1152, height: 76, background: '#FFF4E6', borderRadius: 10, padding: '0 24px', flexDirection: 'row', alignItems: 'center', gap: 18 }}&gt;&#10;            &lt;Box style={{ width: 4, height: 52, background: '#CB6B28' }} /&gt;&#10;            &lt;Text style={{ fontSize: 15, color: '#546779', lineHeight: 1.6, flex: 1 }}&gt;两段时延起止点不同，数值不能直接放在一起比。先对齐起止点与观察窗口，再谈谁快谁慢；六行数据只用来练习算术，不构成模型效果结论。&lt;/Text&gt;&#10;        &lt;/Box&gt;&#10;&#10;    &lt;/Box&gt;&#10;&#10;    &lt;Box style={{ height: 40, flexDirection: 'row', justifyContent: 'space-between', alignItems: 'center' }}&gt;&#10;        &lt;Text style={{ fontSize: 14, color: '#546779' }}&gt;4.9 跨案例比较与研究设计&lt;/Text&gt;&#10;        &lt;Text style={{ fontSize: 14, color: '#546779' }}&gt;07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4.9.2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观察窗口与两条边界</a:t>
            </a:r>
            <a:endParaRPr/>
          </a:p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时延从哪算起，窗口到哪里</a:t>
            </a:r>
            <a:endParaRPr/>
          </a:p>
        </p:txBody>
      </p:sp>
      <p:sp>
        <p:nvSpPr>
          <p:cNvPr id="770" name=""/>
          <p:cNvSpPr/>
          <p:nvPr/>
        </p:nvSpPr>
        <p:spPr>
          <a:xfrm rot="0" flipH="0" flipV="0">
            <a:off x="609600" y="1143000"/>
            <a:ext cx="47625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800100" y="1457325"/>
            <a:ext cx="4381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本节：</a:t>
            </a: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开始</a:t>
            </a: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闭环</a:t>
            </a:r>
            <a:endParaRPr/>
          </a:p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800100" y="1724025"/>
            <a:ext cx="43815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整场走完花了多久。一次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里最快和最慢的任务，都被卷进同一个数里。</a:t>
            </a:r>
            <a:endParaRPr/>
          </a:p>
        </p:txBody>
      </p:sp>
      <p:sp>
        <p:nvSpPr>
          <p:cNvPr id="773" name=""/>
          <p:cNvSpPr/>
          <p:nvPr/>
        </p:nvSpPr>
        <p:spPr>
          <a:xfrm rot="0" flipH="0" flipV="0">
            <a:off x="609600" y="2686050"/>
            <a:ext cx="4762500" cy="1428750"/>
          </a:xfrm>
          <a:prstGeom prst="roundRect">
            <a:avLst>
              <a:gd name="adj" fmla="val 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800100" y="3133725"/>
            <a:ext cx="4381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>4.1</a:t>
            </a: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：首次咨询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有效回应</a:t>
            </a:r>
            <a:endParaRPr/>
          </a:p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800100" y="3400425"/>
            <a:ext cx="4381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只看第一次有效回应，任务后来有没有闭环，不进入这个数。</a:t>
            </a:r>
            <a:endParaRPr/>
          </a:p>
        </p:txBody>
      </p:sp>
      <p:sp>
        <p:nvSpPr>
          <p:cNvPr id="776" name=""/>
          <p:cNvSpPr/>
          <p:nvPr/>
        </p:nvSpPr>
        <p:spPr>
          <a:xfrm rot="0" flipH="0" flipV="0">
            <a:off x="5715000" y="1143000"/>
            <a:ext cx="5867400" cy="1257300"/>
          </a:xfrm>
          <a:prstGeom prst="roundRect">
            <a:avLst>
              <a:gd name="adj" fmla="val 75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5905500" y="1381125"/>
            <a:ext cx="5486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窗口一致</a:t>
            </a:r>
            <a:endParaRPr/>
          </a:p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5905500" y="1638300"/>
            <a:ext cx="54864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六行数据假设每项任务都完整观察到第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分钟，没有基础设施中断，也没有缺失记录。</a:t>
            </a:r>
            <a:endParaRPr/>
          </a:p>
        </p:txBody>
      </p:sp>
      <p:sp>
        <p:nvSpPr>
          <p:cNvPr id="779" name=""/>
          <p:cNvSpPr/>
          <p:nvPr/>
        </p:nvSpPr>
        <p:spPr>
          <a:xfrm rot="0" flipH="0" flipV="0">
            <a:off x="5715000" y="2514600"/>
            <a:ext cx="5867400" cy="1257300"/>
          </a:xfrm>
          <a:prstGeom prst="roundRect">
            <a:avLst>
              <a:gd name="adj" fmla="val 757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5905500" y="2886075"/>
            <a:ext cx="5486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真实记录另列</a:t>
            </a:r>
            <a:endParaRPr/>
          </a:p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5905500" y="3143250"/>
            <a:ext cx="54864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真实报告要把中断、缺失与「任务未发起」单独列出来，不能拿人工假设顶上。</a:t>
            </a:r>
            <a:endParaRPr/>
          </a:p>
        </p:txBody>
      </p:sp>
      <p:sp>
        <p:nvSpPr>
          <p:cNvPr id="782" name=""/>
          <p:cNvSpPr/>
          <p:nvPr/>
        </p:nvSpPr>
        <p:spPr>
          <a:xfrm rot="0" flipH="0" flipV="0">
            <a:off x="5715000" y="3886200"/>
            <a:ext cx="5867400" cy="1257300"/>
          </a:xfrm>
          <a:prstGeom prst="roundRect">
            <a:avLst>
              <a:gd name="adj" fmla="val 75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5905500" y="4257675"/>
            <a:ext cx="5486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不补未完成时点</a:t>
            </a:r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5905500" y="4514850"/>
            <a:ext cx="54864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截止时还没闭环的任务没有完成时间，只统计数量，不替它估一个终点。</a:t>
            </a:r>
            <a:endParaRPr/>
          </a:p>
        </p:txBody>
      </p:sp>
      <p:sp>
        <p:nvSpPr>
          <p:cNvPr id="785" name=""/>
          <p:cNvSpPr/>
          <p:nvPr/>
        </p:nvSpPr>
        <p:spPr>
          <a:xfrm rot="0" flipH="0" flipV="0">
            <a:off x="609600" y="533400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86" name=""/>
          <p:cNvSpPr/>
          <p:nvPr/>
        </p:nvSpPr>
        <p:spPr>
          <a:xfrm rot="0" flipH="0" flipV="0">
            <a:off x="838200" y="5448300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1047750" y="5562600"/>
            <a:ext cx="103060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两段时延起止点不同，数值不能直接放在一起比。先对齐起止点与观察窗口，再谈谁快谁慢；六行数据只用来练习算术，不构成模型效果结论。</a:t>
            </a:r>
            <a:endParaRPr/>
          </a:p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跨案例比较与研究设计</a:t>
            </a:r>
            <a:endParaRPr/>
          </a:p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790" name="" descr="&lt;Slide notes={`接下来是这一节最关键的一层：分母和权重。&#10;&#10;我举一个极端的反例。两次 Run，第一次只有一项任务而且成功了，就是 1/1；第二次有九项任务只成功一项，就是 1/9。&#10;&#10;如果把每个 Run 看成同样重要，先各算比率再平均：100% 加上 11.1% 再除以 2，大约 55.6%。这时候是那场只有一项任务的 Run 说了算。&#10;&#10;如果把每项任务看成同样重要，直接合并：一共十项任务成功两项，就是 20%。&#10;&#10;两个数都能算对，但它们回答的问题不一样：一个是「平均一场怎么样」，另一个是「全部任务里有多少成功」。&#10;&#10;关键在于，观察单位和权重必须在看结果之前就固定下来，不能等算完了挑一个好看的报出去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2　　4.9.3 — 4.9.4&lt;/Text&gt;&#10;&#10;        &lt;Text style={{ fontSize: 56, fontWeight: 'bold', color: '#20344B', lineHeight: 1.15 }}&gt;② 分母与权重，同一个数回答不同问题&lt;/Text&gt;&#10;&#10;        &lt;Box style={{ width: 72, height: 4, background: '#276FBF' }} /&gt;&#10;&#10;        &lt;Text style={{ fontSize: 18, color: '#546779', lineHeight: 1.7, width: 1000 }}&gt;观察单位和权重，必须在看结果之前固定；事后挑一个好看的，结论就不可复查。&lt;/Text&gt;&#10;&#10;        &lt;Box style={{ flexDirection: 'row', alignItems: 'center', marginTop: 10 }}&gt;&#10;            &lt;Box style={{ width: 320, height: 72, background: '#EDF4FC', borderRadius: 10, justifyContent: 'center', alignItems: 'center' }}&gt;&#10;                &lt;Text style={{ fontSize: 18, color: '#276FBF' }}&gt;一次 Run：1 / 1&lt;/Text&gt;&#10;            &lt;/Box&gt;&#10;            &lt;Box style={{ width: 44, height: 72, justifyContent: 'center', alignItems: 'center' }}&gt;&#10;                &lt;Text style={{ fontSize: 26, color: '#276FBF' }}&gt;›&lt;/Text&gt;&#10;            &lt;/Box&gt;&#10;            &lt;Box style={{ width: 320, height: 72, background: '#EDF4FC', borderRadius: 10, justifyContent: 'center', alignItems: 'center' }}&gt;&#10;                &lt;Text style={{ fontSize: 18, color: '#276FBF' }}&gt;一次 Run：1 / 9&lt;/Text&gt;&#10;            &lt;/Box&gt;&#10;            &lt;Box style={{ width: 44, height: 72, justifyContent: 'center', alignItems: 'center' }}&gt;&#10;                &lt;Text style={{ fontSize: 26, color: '#CB6B28' }}&gt;›&lt;/Text&gt;&#10;            &lt;/Box&gt;&#10;            &lt;Box style={{ width: 300, height: 72, background: '#FFF4E6', borderRadius: 10, justifyContent: 'center', alignItems: 'center' }}&gt;&#10;                &lt;Text style={{ fontSize: 18, color: '#CB6B28' }}&gt;权重事先选定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9 跨案例比较与研究设计&lt;/Text&gt;&#10;        &lt;Text style={{ fontSize: 14, color: '#546779' }}&gt;08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2" name="" descr="{&quot;isTemplate&quot;:true,&quot;type&quot;:&quot;text&quot;}"/>
          <p:cNvSpPr txBox="1"/>
          <p:nvPr/>
        </p:nvSpPr>
        <p:spPr>
          <a:xfrm rot="0" flipH="0" flipV="0">
            <a:off x="609600" y="17811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4.9.3 — 4.9.4</a:t>
            </a:r>
            <a:endParaRPr/>
          </a:p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609600" y="21621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分母与权重，同一个数回答不同问题</a:t>
            </a:r>
            <a:endParaRPr/>
          </a:p>
        </p:txBody>
      </p:sp>
      <p:sp>
        <p:nvSpPr>
          <p:cNvPr id="794" name=""/>
          <p:cNvSpPr/>
          <p:nvPr/>
        </p:nvSpPr>
        <p:spPr>
          <a:xfrm rot="0" flipH="0" flipV="0">
            <a:off x="609600" y="31146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609600" y="3362325"/>
            <a:ext cx="95250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观察单位和权重，必须在看结果之前固定；事后挑一个好看的，结论就不可复查。</a:t>
            </a:r>
            <a:endParaRPr/>
          </a:p>
        </p:txBody>
      </p:sp>
      <p:sp>
        <p:nvSpPr>
          <p:cNvPr id="796" name=""/>
          <p:cNvSpPr/>
          <p:nvPr/>
        </p:nvSpPr>
        <p:spPr>
          <a:xfrm rot="0" flipH="0" flipV="0">
            <a:off x="609600" y="4019550"/>
            <a:ext cx="3048000" cy="685800"/>
          </a:xfrm>
          <a:prstGeom prst="roundRect">
            <a:avLst>
              <a:gd name="adj" fmla="val 1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1504950" y="4257675"/>
            <a:ext cx="1266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一次</a:t>
            </a: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：</a:t>
            </a: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>1 / 1</a:t>
            </a:r>
            <a:endParaRPr/>
          </a:p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38290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99" name=""/>
          <p:cNvSpPr/>
          <p:nvPr/>
        </p:nvSpPr>
        <p:spPr>
          <a:xfrm rot="0" flipH="0" flipV="0">
            <a:off x="4076700" y="4019550"/>
            <a:ext cx="3048000" cy="685800"/>
          </a:xfrm>
          <a:prstGeom prst="roundRect">
            <a:avLst>
              <a:gd name="adj" fmla="val 1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00" name="" descr="{&quot;isTemplate&quot;:true,&quot;type&quot;:&quot;text&quot;}"/>
          <p:cNvSpPr txBox="1"/>
          <p:nvPr/>
        </p:nvSpPr>
        <p:spPr>
          <a:xfrm rot="0" flipH="0" flipV="0">
            <a:off x="4972050" y="4257675"/>
            <a:ext cx="1266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一次</a:t>
            </a: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：</a:t>
            </a: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>1 / 9</a:t>
            </a:r>
            <a:endParaRPr/>
          </a:p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7296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02" name=""/>
          <p:cNvSpPr/>
          <p:nvPr/>
        </p:nvSpPr>
        <p:spPr>
          <a:xfrm rot="0" flipH="0" flipV="0">
            <a:off x="7543800" y="4019550"/>
            <a:ext cx="2857500" cy="685800"/>
          </a:xfrm>
          <a:prstGeom prst="roundRect">
            <a:avLst>
              <a:gd name="adj" fmla="val 1388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8458200" y="425767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B6B28"/>
                </a:solidFill>
                <a:latin typeface="Microsoft YaHei"/>
                <a:ea typeface="Microsoft YaHei"/>
              </a:rPr>
              <a:t>权重事先选定</a:t>
            </a:r>
            <a:endParaRPr/>
          </a:p>
        </p:txBody>
      </p:sp>
      <p:sp>
        <p:nvSpPr>
          <p:cNvPr id="80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跨案例比较与研究设计</a:t>
            </a:r>
            <a:endParaRPr/>
          </a:p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806" name="" descr="&lt;Slide notes={`我用一个极端的反例把权重讲透。&#10;&#10;两次 Run：第一次一项任务，成功了，1/1；第二次九项任务只成功一项，1/9。合计十项任务成功两项。&#10;&#10;第一条路，每个 Run 同权：先各算比率再平均，100% 加 11.1% 再除以 2，大约 55.6%。这条路回答的是「平均一场 Run 表现怎样」，那场只有一项任务的 Run 因此被抬得很重。&#10;&#10;第二条路，每项任务同权：一比一合并，两项成功除以十项，正好 20%。这条路回答的是「全部任务里有多少成功」。&#10;&#10;两个数都能算对，不能说哪个是错的，只能说它们回答的问题不同，不能挑一个好看的报出去。&#10;&#10;最后提醒一句：两组还要有相同的任务构成。如果 B 组多的是简单任务，那点提升可能只是构成差异。小组里每类只有两个人的时候，直接列原始情况，比给一个装饰性的公平分数更清楚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9.3　比率与权重分别说清&lt;/Text&gt;&#10;            &lt;Text style={{ fontSize: 34, fontWeight: 'bold', color: '#20344B' }}&gt;一次 1/1，一次 1/9&lt;/Text&gt;&#10;        &lt;/Box&gt;&#10;    &lt;/Box&gt;&#10;&#10;    &lt;Box style={{ height: 540, flexDirection: 'column', gap: 16 }}&gt;&#10;&#10;        &lt;Box style={{ width: 1152, height: 72, background: '#F7F3E8', borderRadius: 10, padding: '0 24px', flexDirection: 'row', alignItems: 'center', gap: 18 }}&gt;&#10;            &lt;Box style={{ width: 4, height: 44, background: '#CB6B28' }} /&gt;&#10;            &lt;Box style={{ flexDirection: 'column', gap: 2 }}&gt;&#10;                &lt;Text style={{ fontSize: 14, color: '#546779' }}&gt;人工反例，不是 Run 结果&lt;/Text&gt;&#10;                &lt;Text style={{ fontSize: 18, fontWeight: 'bold', color: '#20344B' }}&gt;两个 Run：一个 1/1，一个 1/9；合起来 2/10&lt;/Text&gt;&#10;            &lt;/Box&gt;&#10;        &lt;/Box&gt;&#10;&#10;        &lt;Box style={{ width: 1152, height: 32, justifyContent: 'center', alignItems: 'center' }}&gt;&#10;            &lt;Text style={{ fontSize: 22, color: '#276FBF' }}&gt;↓&lt;/Text&gt;&#10;        &lt;/Box&gt;&#10;&#10;        &lt;Box style={{ width: 1152, flexDirection: 'row', gap: 24 }}&gt;&#10;            &lt;Box style={{ width: 564, height: 136, background: '#EDF4FC', borderRadius: 10, padding: '0 22px', flexDirection: 'column', gap: 4, justifyContent: 'center' }}&gt;&#10;                &lt;Text style={{ fontSize: 15, color: '#276FBF' }}&gt;每个 Run 同权&lt;/Text&gt;&#10;                &lt;Text style={{ fontSize: 24, fontWeight: 'bold', color: '#20344B' }}&gt;（100% ＋ 11.1%）÷ 2 ≈ 55.6%&lt;/Text&gt;&#10;                &lt;Text style={{ fontSize: 14, color: '#546779' }}&gt;回答「平均一场 Run 怎样」&lt;/Text&gt;&#10;            &lt;/Box&gt;&#10;            &lt;Box style={{ width: 564, height: 136, background: '#ECF7F2', borderRadius: 10, padding: '0 22px', flexDirection: 'column', gap: 4, justifyContent: 'center' }}&gt;&#10;                &lt;Text style={{ fontSize: 15, color: '#26816B' }}&gt;每项任务同权&lt;/Text&gt;&#10;                &lt;Text style={{ fontSize: 24, fontWeight: 'bold', color: '#20344B' }}&gt;（1 ＋ 1）÷（1 ＋ 9）＝ 20%&lt;/Text&gt;&#10;                &lt;Text style={{ fontSize: 14, color: '#546779' }}&gt;回答「全部任务里多少成功」&lt;/Text&gt;&#10;            &lt;/Box&gt;&#10;        &lt;/Box&gt;&#10;&#10;        &lt;Box style={{ width: 1152, height: 84, background: '#FFF4E6', borderRadius: 10, padding: '0 24px', flexDirection: 'row', alignItems: 'center', gap: 18 }}&gt;&#10;            &lt;Box style={{ width: 4, height: 56, background: '#CB6B28' }} /&gt;&#10;            &lt;Text style={{ fontSize: 15, color: '#546779', lineHeight: 1.6, flex: 1 }}&gt;两个数都能算对，回答的问题不同，不能择高报告。观察单位和权重必须在看结果之前固定下来。&lt;/Text&gt;&#10;        &lt;/Box&gt;&#10;&#10;        &lt;Box style={{ width: 1152, height: 64, background: '#F4F7FA', borderRadius: 10, padding: '0 24px', flexDirection: 'row', alignItems: 'center', gap: 18 }}&gt;&#10;            &lt;Box style={{ width: 4, height: 44, background: '#276FBF' }} /&gt;&#10;            &lt;Text style={{ fontSize: 15, color: '#546779', lineHeight: 1.6, flex: 1 }}&gt;两组还须有相同的任务构成：若 B 组多的是简单任务，那点提升可能只是构成差异。小组每类只有两人时，直接列原始情况更清楚。&lt;/Text&gt;&#10;        &lt;/Box&gt;&#10;&#10;    &lt;/Box&gt;&#10;&#10;    &lt;Box style={{ height: 40, flexDirection: 'row', justifyContent: 'space-between', alignItems: 'center' }}&gt;&#10;        &lt;Text style={{ fontSize: 14, color: '#546779' }}&gt;4.9 跨案例比较与研究设计&lt;/Text&gt;&#10;        &lt;Text style={{ fontSize: 14, color: '#546779' }}&gt;09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0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4.9.3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比率与权重分别说清</a:t>
            </a:r>
            <a:endParaRPr/>
          </a:p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24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一次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1/1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，一次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1/9</a:t>
            </a:r>
            <a:endParaRPr/>
          </a:p>
        </p:txBody>
      </p:sp>
      <p:sp>
        <p:nvSpPr>
          <p:cNvPr id="811" name=""/>
          <p:cNvSpPr/>
          <p:nvPr/>
        </p:nvSpPr>
        <p:spPr>
          <a:xfrm rot="0" flipH="0" flipV="0">
            <a:off x="609600" y="114300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812" name=""/>
          <p:cNvSpPr/>
          <p:nvPr/>
        </p:nvSpPr>
        <p:spPr>
          <a:xfrm rot="0" flipH="0" flipV="0">
            <a:off x="838200" y="127635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1047750" y="1295400"/>
            <a:ext cx="3590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人工反例，不是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结果</a:t>
            </a:r>
            <a:endParaRPr/>
          </a:p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1047750" y="1476375"/>
            <a:ext cx="35909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两个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：一个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1/1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，一个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1/9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；合起来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2/10</a:t>
            </a:r>
            <a:endParaRPr/>
          </a:p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6048375" y="200977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816" name=""/>
          <p:cNvSpPr/>
          <p:nvPr/>
        </p:nvSpPr>
        <p:spPr>
          <a:xfrm rot="0" flipH="0" flipV="0">
            <a:off x="609600" y="2438400"/>
            <a:ext cx="5372100" cy="1295400"/>
          </a:xfrm>
          <a:prstGeom prst="roundRect">
            <a:avLst>
              <a:gd name="adj" fmla="val 735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819150" y="2743200"/>
            <a:ext cx="495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每个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同权</a:t>
            </a:r>
            <a:endParaRPr/>
          </a:p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819150" y="2952750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0344B"/>
                </a:solidFill>
                <a:latin typeface="Microsoft YaHei"/>
                <a:ea typeface="Microsoft YaHei"/>
              </a:rPr>
              <a:t>（</a:t>
            </a:r>
            <a:r>
              <a:rPr lang="en-US" sz="18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100% </a:t>
            </a:r>
            <a:r>
              <a:rPr lang="zh-CN" sz="1800" b="1">
                <a:solidFill>
                  <a:srgbClr val="20344B"/>
                </a:solidFill>
                <a:latin typeface="Microsoft YaHei"/>
                <a:ea typeface="Microsoft YaHei"/>
              </a:rPr>
              <a:t>＋</a:t>
            </a:r>
            <a:r>
              <a:rPr lang="en-US" sz="18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11.1%</a:t>
            </a:r>
            <a:r>
              <a:rPr lang="zh-CN" sz="1800" b="1">
                <a:solidFill>
                  <a:srgbClr val="20344B"/>
                </a:solidFill>
                <a:latin typeface="Microsoft YaHei"/>
                <a:ea typeface="Microsoft YaHei"/>
              </a:rPr>
              <a:t>）÷</a:t>
            </a:r>
            <a:r>
              <a:rPr lang="en-US" sz="18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2 ≈ 55.6%</a:t>
            </a:r>
            <a:endParaRPr/>
          </a:p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819150" y="3267075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回答「平均一场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怎样」</a:t>
            </a:r>
            <a:endParaRPr/>
          </a:p>
        </p:txBody>
      </p:sp>
      <p:sp>
        <p:nvSpPr>
          <p:cNvPr id="820" name=""/>
          <p:cNvSpPr/>
          <p:nvPr/>
        </p:nvSpPr>
        <p:spPr>
          <a:xfrm rot="0" flipH="0" flipV="0">
            <a:off x="6210300" y="2438400"/>
            <a:ext cx="5372100" cy="1295400"/>
          </a:xfrm>
          <a:prstGeom prst="roundRect">
            <a:avLst>
              <a:gd name="adj" fmla="val 735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21" name="" descr="{&quot;isTemplate&quot;:true,&quot;type&quot;:&quot;text&quot;}"/>
          <p:cNvSpPr txBox="1"/>
          <p:nvPr/>
        </p:nvSpPr>
        <p:spPr>
          <a:xfrm rot="0" flipH="0" flipV="0">
            <a:off x="6419850" y="2743200"/>
            <a:ext cx="495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每项任务同权</a:t>
            </a:r>
            <a:endParaRPr/>
          </a:p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6419850" y="2952750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0344B"/>
                </a:solidFill>
                <a:latin typeface="Microsoft YaHei"/>
                <a:ea typeface="Microsoft YaHei"/>
              </a:rPr>
              <a:t>（</a:t>
            </a:r>
            <a:r>
              <a:rPr lang="en-US" sz="18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800" b="1">
                <a:solidFill>
                  <a:srgbClr val="20344B"/>
                </a:solidFill>
                <a:latin typeface="Microsoft YaHei"/>
                <a:ea typeface="Microsoft YaHei"/>
              </a:rPr>
              <a:t>＋</a:t>
            </a:r>
            <a:r>
              <a:rPr lang="en-US" sz="18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1</a:t>
            </a:r>
            <a:r>
              <a:rPr lang="zh-CN" sz="1800" b="1">
                <a:solidFill>
                  <a:srgbClr val="20344B"/>
                </a:solidFill>
                <a:latin typeface="Microsoft YaHei"/>
                <a:ea typeface="Microsoft YaHei"/>
              </a:rPr>
              <a:t>）÷（</a:t>
            </a:r>
            <a:r>
              <a:rPr lang="en-US" sz="18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800" b="1">
                <a:solidFill>
                  <a:srgbClr val="20344B"/>
                </a:solidFill>
                <a:latin typeface="Microsoft YaHei"/>
                <a:ea typeface="Microsoft YaHei"/>
              </a:rPr>
              <a:t>＋</a:t>
            </a:r>
            <a:r>
              <a:rPr lang="en-US" sz="18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9</a:t>
            </a:r>
            <a:r>
              <a:rPr lang="zh-CN" sz="1800" b="1">
                <a:solidFill>
                  <a:srgbClr val="20344B"/>
                </a:solidFill>
                <a:latin typeface="Microsoft YaHei"/>
                <a:ea typeface="Microsoft YaHei"/>
              </a:rPr>
              <a:t>）＝</a:t>
            </a:r>
            <a:r>
              <a:rPr lang="en-US" sz="18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20%</a:t>
            </a:r>
            <a:endParaRPr/>
          </a:p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6419850" y="3267075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回答「全部任务里多少成功」</a:t>
            </a:r>
            <a:endParaRPr/>
          </a:p>
        </p:txBody>
      </p:sp>
      <p:sp>
        <p:nvSpPr>
          <p:cNvPr id="824" name=""/>
          <p:cNvSpPr/>
          <p:nvPr/>
        </p:nvSpPr>
        <p:spPr>
          <a:xfrm rot="0" flipH="0" flipV="0">
            <a:off x="609600" y="388620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25" name=""/>
          <p:cNvSpPr/>
          <p:nvPr/>
        </p:nvSpPr>
        <p:spPr>
          <a:xfrm rot="0" flipH="0" flipV="0">
            <a:off x="838200" y="401955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1047750" y="4152900"/>
            <a:ext cx="103060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两个数都能算对，回答的问题不同，不能择高报告。观察单位和权重必须在看结果之前固定下来。</a:t>
            </a:r>
            <a:endParaRPr/>
          </a:p>
        </p:txBody>
      </p:sp>
      <p:sp>
        <p:nvSpPr>
          <p:cNvPr id="827" name=""/>
          <p:cNvSpPr/>
          <p:nvPr/>
        </p:nvSpPr>
        <p:spPr>
          <a:xfrm rot="0" flipH="0" flipV="0">
            <a:off x="609600" y="4838700"/>
            <a:ext cx="10972800" cy="609600"/>
          </a:xfrm>
          <a:prstGeom prst="roundRect">
            <a:avLst>
              <a:gd name="adj" fmla="val 1562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28" name=""/>
          <p:cNvSpPr/>
          <p:nvPr/>
        </p:nvSpPr>
        <p:spPr>
          <a:xfrm rot="0" flipH="0" flipV="0">
            <a:off x="838200" y="49339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1047750" y="5010150"/>
            <a:ext cx="103060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两组还须有相同的任务构成：若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B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组多的是简单任务，那点提升可能只是构成差异。小组每类只有两人时，直接列原始情况更清楚。</a:t>
            </a:r>
            <a:endParaRPr/>
          </a:p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跨案例比较与研究设计</a:t>
            </a:r>
            <a:endParaRPr/>
          </a:p>
        </p:txBody>
      </p:sp>
      <p:sp>
        <p:nvSpPr>
          <p:cNvPr id="83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6" name="" descr="&lt;Slide notes={`回到六行数据，我把三组数分开说，因为它们的读法完全不同。&#10;&#10;第一组是总闭环率：A 组六除以十二等于 50%，B 组八除以十二约等于 66.7%。这是把所有任务平等地合并在一起。&#10;&#10;第二组是每一次 Run 自己的比率：A 组是 50%、75%、25%，B 组是 75%、75%、50%。三个数摆出来，明显能看到分布有重合，A02 的 75% 和 B 组一样高。&#10;&#10;第三组是两组之间的差：66.7% 减 50%，等于 16.7 个百分点。注意单位是百分点，不是百分比。&#10;&#10;如果换成相对的说法，(66.7% 减 50%) 除以 50%，大约 33.3%，意思是相对基线涨了三成。&#10;&#10;三次小样本，分布还重合，所以说不了统计显著，更不能说稳定优越。各 Run 任务数相同时，平均 Run 比率恰好等于汇总任务比率，换一个分母就未必如此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9.3　比率与权重分别说清&lt;/Text&gt;&#10;            &lt;Text style={{ fontSize: 34, fontWeight: 'bold', color: '#20344B' }}&gt;三组数，三种问法&lt;/Text&gt;&#10;        &lt;/Box&gt;&#10;    &lt;/Box&gt;&#10;&#10;    &lt;Box style={{ height: 540, flexDirection: 'row', alignItems: 'center', gap: 36 }}&gt;&#10;&#10;        &lt;Box style={{ width: 380, flexDirection: 'column', justifyContent: 'center', gap: 14 }}&gt;&#10;            &lt;Text style={{ fontSize: 22, fontWeight: 'bold', color: '#20344B' }}&gt;同一个提升，{'\n'}三种说法&lt;/Text&gt;&#10;            &lt;Box style={{ width: 72, height: 4, background: '#276FBF' }} /&gt;&#10;            &lt;Text style={{ fontSize: 16, color: '#546779', lineHeight: 1.7, width: 380 }}&gt;B 比 A 好，可以写成高出 16.7 个百分点，也可以写成相对提升 33.3%。两个说法都对，但回答的是不同问题。&lt;/Text&gt;&#10;        &lt;/Box&gt;&#10;&#10;        &lt;Box style={{ width: 736, flexDirection: 'column', justifyContent: 'center', gap: 10 }}&gt;&#10;&#10;            &lt;Box style={{ width: 736, flexDirection: 'row', padding: '0 18px', gap: 16, alignItems: 'center', height: 26 }}&gt;&#10;                &lt;Box style={{ width: 180 }}&gt;&lt;Text style={{ fontSize: 14, color: '#546779' }}&gt;计算&lt;/Text&gt;&lt;/Box&gt;&#10;                &lt;Box style={{ flex: 1 }}&gt;&lt;Text style={{ fontSize: 14, color: '#546779' }}&gt;数值与它回答的问题&lt;/Text&gt;&lt;/Box&gt;&#10;            &lt;/Box&gt;&#10;&#10;            &lt;Box style={{ width: 736, height: 88, background: '#EDF4FC', borderRadius: 8, padding: '0 18px', flexDirection: 'row', alignItems: 'center', gap: 16 }}&gt;&#10;                &lt;Box style={{ width: 4, height: 56, background: '#276FBF' }} /&gt;&#10;                &lt;Box style={{ width: 160 }}&gt;&lt;Text style={{ fontSize: 17, fontWeight: 'bold', color: '#276FBF' }}&gt;总闭环率&lt;/Text&gt;&lt;/Box&gt;&#10;                &lt;Box style={{ flex: 1 }}&gt;&lt;Text style={{ fontSize: 16, color: '#20344B', lineHeight: 1.45 }}&gt;A 6/12＝50%；B 8/12≈66.7% —— 全部任务等权合并&lt;/Text&gt;&lt;/Box&gt;&#10;            &lt;/Box&gt;&#10;&#10;            &lt;Box style={{ width: 736, height: 88, background: '#F4F7FA', borderRadius: 8, padding: '0 18px', flexDirection: 'row', alignItems: 'center', gap: 16 }}&gt;&#10;                &lt;Box style={{ width: 4, height: 56, background: '#276FBF' }} /&gt;&#10;                &lt;Box style={{ width: 160 }}&gt;&lt;Text style={{ fontSize: 17, fontWeight: 'bold', color: '#20344B' }}&gt;每 Run 比率&lt;/Text&gt;&lt;/Box&gt;&#10;                &lt;Box style={{ flex: 1 }}&gt;&lt;Text style={{ fontSize: 16, color: '#20344B', lineHeight: 1.45 }}&gt;A 50%、75%、25%；B 75%、75%、50% —— 三次分布先摆出来&lt;/Text&gt;&lt;/Box&gt;&#10;            &lt;/Box&gt;&#10;&#10;            &lt;Box style={{ width: 736, height: 88, background: '#F4F7FA', borderRadius: 8, padding: '0 18px', flexDirection: 'row', alignItems: 'center', gap: 16 }}&gt;&#10;                &lt;Box style={{ width: 4, height: 56, background: '#CB6B28' }} /&gt;&#10;                &lt;Box style={{ width: 160 }}&gt;&lt;Text style={{ fontSize: 17, fontWeight: 'bold', color: '#20344B' }}&gt;B − A&lt;/Text&gt;&lt;/Box&gt;&#10;                &lt;Box style={{ flex: 1 }}&gt;&lt;Text style={{ fontSize: 16, color: '#20344B', lineHeight: 1.45 }}&gt;约 16.7 个百分点 —— 差值的单位是百分点，不是百分比&lt;/Text&gt;&lt;/Box&gt;&#10;            &lt;/Box&gt;&#10;&#10;            &lt;Box style={{ width: 736, height: 88, background: '#F4F7FA', borderRadius: 8, padding: '0 18px', flexDirection: 'row', alignItems: 'center', gap: 16 }}&gt;&#10;                &lt;Box style={{ width: 4, height: 56, background: '#26816B' }} /&gt;&#10;                &lt;Box style={{ width: 160 }}&gt;&lt;Text style={{ fontSize: 17, fontWeight: 'bold', color: '#26816B' }}&gt;相对 A 的变化&lt;/Text&gt;&lt;/Box&gt;&#10;                &lt;Box style={{ flex: 1 }}&gt;&lt;Text style={{ fontSize: 16, color: '#20344B', lineHeight: 1.45 }}&gt;（66.7% − 50%）÷ 50% ≈ 33.3% —— 问「相对基线涨了百分之几」&lt;/Text&gt;&lt;/Box&gt;&#10;            &lt;/Box&gt;&#10;&#10;            &lt;Box style={{ width: 736, height: 76, background: '#FFF4E6', borderRadius: 8, padding: '0 20px', flexDirection: 'row', alignItems: 'center', gap: 16 }}&gt;&#10;                &lt;Box style={{ width: 4, height: 48, background: '#CB6B28' }} /&gt;&#10;                &lt;Text style={{ fontSize: 15, color: '#546779', lineHeight: 1.5, flex: 1 }}&gt;三次分布有重合，不能据均值较高就说统计显著或稳定优越；各 Run 任务数相同时，平均 Run 比率才恰好等于汇总任务比率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9 跨案例比较与研究设计&lt;/Text&gt;&#10;        &lt;Text style={{ fontSize: 14, color: '#546779' }}&gt;10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4.9.3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比率与权重分别说清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三组数，三种问法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09600" y="2847975"/>
            <a:ext cx="36195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同一个提升，</a:t>
            </a:r>
            <a:endParaRPr/>
          </a:p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三种说法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09600" y="34861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09600" y="3657600"/>
            <a:ext cx="36195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比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好，可以写成高出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16.7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个百分点，也可以写成相对提升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33.3%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。两个说法都对，但回答的是不同问题。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4743450" y="13620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计算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610350" y="1362075"/>
            <a:ext cx="480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数值与它回答的问题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4572000" y="1657350"/>
            <a:ext cx="701040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4743450" y="180975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4933950" y="1981200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总闭环率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610350" y="1943100"/>
            <a:ext cx="48006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A 6/12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＝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50%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；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B 8/12≈66.7% ——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全部任务等权合并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4572000" y="2590800"/>
            <a:ext cx="70104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4743450" y="274320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933950" y="2914650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每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比率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610350" y="2876550"/>
            <a:ext cx="48006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A 50%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75%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25%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；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B 75%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75%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50% ——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三次分布先摆出来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4572000" y="3524250"/>
            <a:ext cx="70104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4743450" y="367665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4933950" y="3848100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B − A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610350" y="3810000"/>
            <a:ext cx="48006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约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16.7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个百分点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差值的单位是百分点，不是百分比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4572000" y="4457700"/>
            <a:ext cx="70104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4743450" y="4610100"/>
            <a:ext cx="38100" cy="5334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933950" y="4781550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相对</a:t>
            </a: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的变化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610350" y="4743450"/>
            <a:ext cx="48006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66.7% − 50%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）÷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50% ≈ 33.3% ——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问「相对基线涨了百分之几」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4572000" y="5391150"/>
            <a:ext cx="7010400" cy="723900"/>
          </a:xfrm>
          <a:prstGeom prst="roundRect">
            <a:avLst>
              <a:gd name="adj" fmla="val 1052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3" name=""/>
          <p:cNvSpPr/>
          <p:nvPr/>
        </p:nvSpPr>
        <p:spPr>
          <a:xfrm rot="0" flipH="0" flipV="0">
            <a:off x="4762500" y="552450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953000" y="5495925"/>
            <a:ext cx="6438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三次分布有重合，不能据均值较高就说统计显著或稳定优越；各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任务数相同时，平均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比率才恰好等于汇总任务比率。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跨案例比较与研究设计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7" name="" descr="&lt;Slide notes={`这两张图点数不一样，是故意的。&#10;&#10;左边每一组只有三个点，因为每组只跑三次 Run，横线是汇总闭环率。&#10;&#10;右边每个点是一项已经闭环的任务，A 组有六项、B 组有八项，一共十四个点，横线各自落在成功子集的中位数上：A 是 9.5 分钟，B 是 13.5 分钟。&#10;&#10;为什么不能把右边的两点连起来当成配对任务的用时差？因为两组的成功子集可能不是同一批任务，连起来就等于假定了它们一一对应。&#10;&#10;还有一点得说清楚：这里没有给未完成的任务估一个完成时间。60 分钟只是截止，把它填成完成时间会同时抬高平均值和时间分布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9.4　成功子集的用时&lt;/Text&gt;&#10;            &lt;Text style={{ fontSize: 34, fontWeight: 'bold', color: '#20344B' }}&gt;闭环率与时延，点数为什么不同&lt;/Text&gt;&#10;        &lt;/Box&gt;&#10;    &lt;/Box&gt;&#10;&#10;    &lt;Box style={{ height: 540, flexDirection: 'column', gap: 16 }}&gt;&#10;&#10;        &lt;Box style={{ width: 1152, height: 40, background: '#F4F7FA', borderRadius: 8, padding: '0 20px', flexDirection: 'row', alignItems: 'center', gap: 16 }}&gt;&#10;            &lt;Box style={{ width: 4, height: 28, background: '#276FBF' }} /&gt;&#10;            &lt;Text style={{ fontSize: 14, color: '#546779' }}&gt;左：每一点是一次 Run 的闭环率　·　右：每一点是一项已闭环任务的时延　·　未完成的任务没有完成时间&lt;/Text&gt;&#10;        &lt;/Box&gt;&#10;&#10;        &lt;Box style={{ width: 1152, flexDirection: 'row', gap: 24 }}&gt;&#10;&#10;            &lt;Box style={{ width: 564, height: 300, background: '#F4F7FA', borderRadius: 10, padding: '18px 20px', flexDirection: 'column', gap: 10 }}&gt;&#10;                &lt;Text style={{ fontSize: 15, fontWeight: 'bold', color: '#276FBF' }}&gt;每组 3 次 Run，每次 4 项任务（示意）&lt;/Text&gt;&#10;&#10;                &lt;Box style={{ width: 524, height: 52, flexDirection: 'row', alignItems: 'center', gap: 12 }}&gt;&#10;                    &lt;Box style={{ width: 48 }}&gt;&lt;Text style={{ fontSize: 15, fontWeight: 'bold', color: '#20344B' }}&gt;A01&lt;/Text&gt;&lt;/Box&gt;&#10;                    &lt;Box style={{ width: 44, height: 44, background: '#276FBF', borderRadius: 6 }} /&gt;&#10;                    &lt;Box style={{ width: 44, height: 44, background: '#276FBF', borderRadius: 6 }} /&gt;&#10;                    &lt;Box style={{ width: 44, height: 44, background: '#D7E2EC', borderRadius: 6 }} /&gt;&#10;                    &lt;Box style={{ width: 44, height: 44, background: '#D7E2EC', borderRadius: 6 }} /&gt;&#10;                    &lt;Text style={{ fontSize: 15, color: '#546779' }}&gt;2 / 4 ＝ 50%&lt;/Text&gt;&#10;                &lt;/Box&gt;&#10;&#10;                &lt;Box style={{ width: 524, height: 52, flexDirection: 'row', alignItems: 'center', gap: 12 }}&gt;&#10;                    &lt;Box style={{ width: 48 }}&gt;&lt;Text style={{ fontSize: 15, fontWeight: 'bold', color: '#20344B' }}&gt;A02&lt;/Text&gt;&lt;/Box&gt;&#10;                    &lt;Box style={{ width: 44, height: 44, background: '#276FBF', borderRadius: 6 }} /&gt;&#10;                    &lt;Box style={{ width: 44, height: 44, background: '#276FBF', borderRadius: 6 }} /&gt;&#10;                    &lt;Box style={{ width: 44, height: 44, background: '#276FBF', borderRadius: 6 }} /&gt;&#10;                    &lt;Box style={{ width: 44, height: 44, background: '#D7E2EC', borderRadius: 6 }} /&gt;&#10;                    &lt;Text style={{ fontSize: 15, color: '#546779' }}&gt;3 / 4 ＝ 75%&lt;/Text&gt;&#10;                &lt;/Box&gt;&#10;&#10;                &lt;Box style={{ width: 524, height: 52, flexDirection: 'row', alignItems: 'center', gap: 12 }}&gt;&#10;                    &lt;Box style={{ width: 48 }}&gt;&lt;Text style={{ fontSize: 15, fontWeight: 'bold', color: '#20344B' }}&gt;A03&lt;/Text&gt;&lt;/Box&gt;&#10;                    &lt;Box style={{ width: 44, height: 44, background: '#276FBF', borderRadius: 6 }} /&gt;&#10;                    &lt;Box style={{ width: 44, height: 44, background: '#D7E2EC', borderRadius: 6 }} /&gt;&#10;                    &lt;Box style={{ width: 44, height: 44, background: '#D7E2EC', borderRadius: 6 }} /&gt;&#10;                    &lt;Box style={{ width: 44, height: 44, background: '#D7E2EC', borderRadius: 6 }} /&gt;&#10;                    &lt;Text style={{ fontSize: 15, color: '#546779' }}&gt;1 / 4 ＝ 25%&lt;/Text&gt;&#10;                &lt;/Box&gt;&#10;&#10;                &lt;Text style={{ fontSize: 14, color: '#546779', lineHeight: 1.5 }}&gt;实心＝该项任务闭环。横线＝汇总闭环率 50%；B 组三次为 75%、75%、50%，汇总约 66.7%。&lt;/Text&gt;&#10;            &lt;/Box&gt;&#10;&#10;            &lt;Box style={{ width: 564, height: 300, background: '#F4F7FA', borderRadius: 10, padding: '18px 20px', flexDirection: 'column', gap: 8 }}&gt;&#10;                &lt;Text style={{ fontSize: 15, fontWeight: 'bold', color: '#26816B' }}&gt;已闭环任务：A 6 项，B 8 项&lt;/Text&gt;&#10;&#10;                &lt;Box style={{ width: 524, height: 44, flexDirection: 'row', alignItems: 'flex-end' }}&gt;&#10;                    &lt;Box style={{ width: 48, height: 44, justifyContent: 'flex-end' }}&gt;&lt;Text style={{ fontSize: 15, fontWeight: 'bold', color: '#20344B' }}&gt;A&lt;/Text&gt;&lt;/Box&gt;&#10;                    &lt;Box style={{ width: 34, height: 44, justifyContent: 'flex-end' }}&gt;&lt;Box style={{ width: 34, height: 36, background: '#276FBF', borderRadius: 3 }} /&gt;&lt;/Box&gt;&#10;                    &lt;Box style={{ width: 34, height: 44, justifyContent: 'flex-end' }}&gt;&lt;Box style={{ width: 34, height: 36, background: '#276FBF', borderRadius: 3 }} /&gt;&lt;/Box&gt;&#10;                    &lt;Box style={{ width: 34, height: 44, justifyContent: 'flex-end' }}&gt;&lt;Box style={{ width: 34, height: 36, background: '#276FBF', borderRadius: 3 }} /&gt;&lt;/Box&gt;&#10;                    &lt;Box style={{ width: 34, height: 44, justifyContent: 'flex-end' }}&gt;&lt;Box style={{ width: 34, height: 6, background: '#D7E2EC', borderRadius: 3 }} /&gt;&lt;/Box&gt;&#10;                    &lt;Box style={{ width: 34, height: 44, justifyContent: 'flex-end' }}&gt;&lt;Box style={{ width: 34, height: 6, background: '#D7E2EC', borderRadius: 3 }} /&gt;&lt;/Box&gt;&#10;                    &lt;Box style={{ width: 34, height: 44, justifyContent: 'flex-end' }}&gt;&lt;Box style={{ width: 34, height: 36, background: '#276FBF', borderRadius: 3 }} /&gt;&lt;/Box&gt;&#10;                    &lt;Box style={{ width: 34, height: 44, justifyContent: 'flex-end' }}&gt;&lt;Box style={{ width: 34, height: 36, background: '#276FBF', borderRadius: 3 }} /&gt;&lt;/Box&gt;&#10;                    &lt;Box style={{ width: 34, height: 44, justifyContent: 'flex-end' }}&gt;&lt;Box style={{ width: 34, height: 6, background: '#D7E2EC', borderRadius: 3 }} /&gt;&lt;/Box&gt;&#10;                    &lt;Box style={{ width: 34, height: 44, justifyContent: 'flex-end' }}&gt;&lt;Box style={{ width: 34, height: 6, background: '#D7E2EC', borderRadius: 3 }} /&gt;&lt;/Box&gt;&#10;                    &lt;Box style={{ width: 34, height: 44, justifyContent: 'flex-end' }}&gt;&lt;Box style={{ width: 34, height: 6, background: '#D7E2EC', borderRadius: 3 }} /&gt;&lt;/Box&gt;&#10;                    &lt;Box style={{ width: 34, height: 44, justifyContent: 'flex-end' }}&gt;&lt;Box style={{ width: 34, height: 6, background: '#D7E2EC', borderRadius: 3 }} /&gt;&lt;/Box&gt;&#10;                    &lt;Box style={{ width: 34, height: 44, justifyContent: 'flex-end' }}&gt;&lt;Box style={{ width: 34, height: 36, background: '#276FBF', borderRadius: 3 }} /&gt;&lt;/Box&gt;&#10;                    &lt;Box style={{ width: 34, height: 44, justifyContent: 'flex-end' }}&gt;&lt;Box style={{ width: 34, height: 6, background: '#D7E2EC', borderRadius: 3 }} /&gt;&lt;/Box&gt;&#10;                    &lt;Box style={{ width: 34, height: 44, justifyContent: 'flex-end' }}&gt;&lt;Box style={{ width: 34, height: 6, background: '#D7E2EC', borderRadius: 3 }} /&gt;&lt;/Box&gt;&#10;                &lt;/Box&gt;&#10;&#10;                &lt;Box style={{ width: 524, height: 44, flexDirection: 'row', alignItems: 'flex-end' }}&gt;&#10;                    &lt;Box style={{ width: 48, height: 44, justifyContent: 'flex-end' }}&gt;&lt;Text style={{ fontSize: 15, fontWeight: 'bold', color: '#20344B' }}&gt;B&lt;/Text&gt;&lt;/Box&gt;&#10;                    &lt;Box style={{ width: 34, height: 44, justifyContent: 'flex-end' }}&gt;&lt;Box style={{ width: 34, height: 6, background: '#D7E2EC', borderRadius: 3 }} /&gt;&lt;/Box&gt;&#10;                    &lt;Box style={{ width: 34, height: 44, justifyContent: 'flex-end' }}&gt;&lt;Box style={{ width: 34, height: 6, background: '#D7E2EC', borderRadius: 3 }} /&gt;&lt;/Box&gt;&#10;                    &lt;Box style={{ width: 34, height: 44, justifyContent: 'flex-end' }}&gt;&lt;Box style={{ width: 34, height: 6, background: '#D7E2EC', borderRadius: 3 }} /&gt;&lt;/Box&gt;&#10;                    &lt;Box style={{ width: 34, height: 44, justifyContent: 'flex-end' }}&gt;&lt;Box style={{ width: 34, height: 36, background: '#26816B', borderRadius: 3 }} /&gt;&lt;/Box&gt;&#10;                    &lt;Box style={{ width: 34, height: 44, justifyContent: 'flex-end' }}&gt;&lt;Box style={{ width: 34, height: 36, background: '#26816B', borderRadius: 3 }} /&gt;&lt;/Box&gt;&#10;                    &lt;Box style={{ width: 34, height: 44, justifyContent: 'flex-end' }}&gt;&lt;Box style={{ width: 34, height: 6, background: '#D7E2EC', borderRadius: 3 }} /&gt;&lt;/Box&gt;&#10;                    &lt;Box style={{ width: 34, height: 44, justifyContent: 'flex-end' }}&gt;&lt;Box style={{ width: 34, height: 36, background: '#26816B', borderRadius: 3 }} /&gt;&lt;/Box&gt;&#10;                    &lt;Box style={{ width: 34, height: 44, justifyContent: 'flex-end' }}&gt;&lt;Box style={{ width: 34, height: 36, background: '#26816B', borderRadius: 3 }} /&gt;&lt;/Box&gt;&#10;                    &lt;Box style={{ width: 34, height: 44, justifyContent: 'flex-end' }}&gt;&lt;Box style={{ width: 34, height: 36, background: '#26816B', borderRadius: 3 }} /&gt;&lt;/Box&gt;&#10;                    &lt;Box style={{ width: 34, height: 44, justifyContent: 'flex-end' }}&gt;&lt;Box style={{ width: 34, height: 6, background: '#D7E2EC', borderRadius: 3 }} /&gt;&lt;/Box&gt;&#10;                    &lt;Box style={{ width: 34, height: 44, justifyContent: 'flex-end' }}&gt;&lt;Box style={{ width: 34, height: 36, background: '#26816B', borderRadius: 3 }} /&gt;&lt;/Box&gt;&#10;                    &lt;Box style={{ width: 34, height: 44, justifyContent: 'flex-end' }}&gt;&lt;Box style={{ width: 34, height: 6, background: '#D7E2EC', borderRadius: 3 }} /&gt;&lt;/Box&gt;&#10;                    &lt;Box style={{ width: 34, height: 44, justifyContent: 'flex-end' }}&gt;&lt;Box style={{ width: 34, height: 36, background: '#26816B', borderRadius: 3 }} /&gt;&lt;/Box&gt;&#10;                    &lt;Box style={{ width: 34, height: 44, justifyContent: 'flex-end' }}&gt;&lt;Box style={{ width: 34, height: 36, background: '#26816B', borderRadius: 3 }} /&gt;&lt;/Box&gt;&#10;                &lt;/Box&gt;&#10;&#10;                &lt;Box style={{ width: 524, height: 16, flexDirection: 'row' }}&gt;&#10;                    &lt;Box style={{ width: 48 }} /&gt;&#10;                    &lt;Box style={{ width: 34 }}&gt;&lt;Text style={{ fontSize: 11, color: '#546779' }}&gt;6&lt;/Text&gt;&lt;/Box&gt;&#10;                    &lt;Box style={{ width: 34 }}&gt;&lt;Text style={{ fontSize: 11, color: '#546779' }}&gt;7&lt;/Text&gt;&lt;/Box&gt;&#10;                    &lt;Box style={{ width: 34 }}&gt;&lt;Text style={{ fontSize: 11, color: '#546779' }}&gt;8&lt;/Text&gt;&lt;/Box&gt;&#10;                    &lt;Box style={{ width: 34 }}&gt;&lt;Text style={{ fontSize: 11, color: '#546779' }}&gt;9&lt;/Text&gt;&lt;/Box&gt;&#10;                    &lt;Box style={{ width: 34 }}&gt;&lt;Text style={{ fontSize: 11, color: '#546779' }}&gt;10&lt;/Text&gt;&lt;/Box&gt;&#10;                    &lt;Box style={{ width: 34 }}&gt;&lt;Text style={{ fontSize: 11, color: '#546779' }}&gt;11&lt;/Text&gt;&lt;/Box&gt;&#10;                    &lt;Box style={{ width: 34 }}&gt;&lt;Text style={{ fontSize: 11, color: '#546779' }}&gt;12&lt;/Text&gt;&lt;/Box&gt;&#10;                    &lt;Box style={{ width: 34 }}&gt;&lt;Text style={{ fontSize: 11, color: '#546779' }}&gt;13&lt;/Text&gt;&lt;/Box&gt;&#10;                    &lt;Box style={{ width: 34 }}&gt;&lt;Text style={{ fontSize: 11, color: '#546779' }}&gt;14&lt;/Text&gt;&lt;/Box&gt;&#10;                    &lt;Box style={{ width: 34 }}&gt;&lt;Text style={{ fontSize: 11, color: '#546779' }}&gt;15&lt;/Text&gt;&lt;/Box&gt;&#10;                    &lt;Box style={{ width: 34 }}&gt;&lt;Text style={{ fontSize: 11, color: '#546779' }}&gt;16&lt;/Text&gt;&lt;/Box&gt;&#10;                    &lt;Box style={{ width: 34 }}&gt;&lt;Text style={{ fontSize: 11, color: '#546779' }}&gt;17&lt;/Text&gt;&lt;/Box&gt;&#10;                    &lt;Box style={{ width: 34 }}&gt;&lt;Text style={{ fontSize: 11, color: '#546779' }}&gt;18&lt;/Text&gt;&lt;/Box&gt;&#10;                    &lt;Box style={{ width: 34 }}&gt;&lt;Text style={{ fontSize: 11, color: '#546779' }}&gt;19&lt;/Text&gt;&lt;/Box&gt;&#10;                &lt;/Box&gt;&#10;&#10;                &lt;Text style={{ fontSize: 14, color: '#546779', lineHeight: 1.5 }}&gt;一格一分钟，实心＝该分钟有一项任务闭环。中位数 A＝9.5 分钟，B＝13.5 分钟；未闭环 A 6 项、B 4 项。&lt;/Text&gt;&#10;            &lt;/Box&gt;&#10;&#10;        &lt;/Box&gt;&#10;&#10;        &lt;Box style={{ width: 1152, height: 80, background: '#FFF4E6', borderRadius: 10, padding: '0 24px', flexDirection: 'row', alignItems: 'center', gap: 18 }}&gt;&#10;            &lt;Box style={{ width: 4, height: 56, background: '#CB6B28' }} /&gt;&#10;            &lt;Text style={{ fontSize: 15, color: '#546779', lineHeight: 1.6, flex: 1 }}&gt;B 闭环更多，已经闭环的那部分任务典型用时反而更长。这不能证明 B 对每个人都更慢，也不能说某个任务因为澄清才成功，因为两组的成功子集本来就可能不是同一批任务。&lt;/Text&gt;&#10;        &lt;/Box&gt;&#10;&#10;    &lt;/Box&gt;&#10;&#10;    &lt;Box style={{ height: 40, flexDirection: 'row', justifyContent: 'space-between', alignItems: 'center' }}&gt;&#10;        &lt;Text style={{ fontSize: 14, color: '#546779' }}&gt;4.9 跨案例比较与研究设计&lt;/Text&gt;&#10;        &lt;Text style={{ fontSize: 14, color: '#546779' }}&gt;11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4.9.4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成功子集的用时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闭环率与时延，点数为什么不同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09600" y="1143000"/>
            <a:ext cx="10972800" cy="381000"/>
          </a:xfrm>
          <a:prstGeom prst="roundRect">
            <a:avLst>
              <a:gd name="adj" fmla="val 2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800100" y="1200150"/>
            <a:ext cx="38100" cy="2667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990600" y="1257300"/>
            <a:ext cx="626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左：每一点是一次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的闭环率　·　右：每一点是一项已闭环任务的时延　·　未完成的任务没有完成时间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609600" y="1676400"/>
            <a:ext cx="5372100" cy="285750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00100" y="1847850"/>
            <a:ext cx="4991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每组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次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，每次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项任务（示意）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00100" y="2276475"/>
            <a:ext cx="45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>A01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1371600" y="2152650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1905000" y="2152650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2438400" y="2152650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D7E2EC"/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2971800" y="2152650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D7E2EC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3505200" y="2276475"/>
            <a:ext cx="83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2 / 4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＝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50%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00100" y="2867025"/>
            <a:ext cx="45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>A02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1371600" y="2743200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1905000" y="2743200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2438400" y="2743200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2971800" y="2743200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D7E2EC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3505200" y="2867025"/>
            <a:ext cx="83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3 / 4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＝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75%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00100" y="3457575"/>
            <a:ext cx="45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>A03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1371600" y="3333750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1" name=""/>
          <p:cNvSpPr/>
          <p:nvPr/>
        </p:nvSpPr>
        <p:spPr>
          <a:xfrm rot="0" flipH="0" flipV="0">
            <a:off x="1905000" y="3333750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D7E2EC"/>
          </a:solidFill>
          <a:ln/>
        </p:spPr>
        <p:txBody>
          <a:bodyPr/>
          <a:p/>
        </p:txBody>
      </p:sp>
      <p:sp>
        <p:nvSpPr>
          <p:cNvPr id="92" name=""/>
          <p:cNvSpPr/>
          <p:nvPr/>
        </p:nvSpPr>
        <p:spPr>
          <a:xfrm rot="0" flipH="0" flipV="0">
            <a:off x="2438400" y="3333750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D7E2EC"/>
          </a:solidFill>
          <a:ln/>
        </p:spPr>
        <p:txBody>
          <a:bodyPr/>
          <a:p/>
        </p:txBody>
      </p:sp>
      <p:sp>
        <p:nvSpPr>
          <p:cNvPr id="93" name=""/>
          <p:cNvSpPr/>
          <p:nvPr/>
        </p:nvSpPr>
        <p:spPr>
          <a:xfrm rot="0" flipH="0" flipV="0">
            <a:off x="2971800" y="3333750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D7E2EC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3505200" y="3457575"/>
            <a:ext cx="83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1 / 4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＝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25%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00100" y="3886200"/>
            <a:ext cx="49911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实心＝该项任务闭环。横线＝汇总闭环率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50%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组三次为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75%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75%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50%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，汇总约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66.7%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6210300" y="1676400"/>
            <a:ext cx="5372100" cy="285750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400800" y="1847850"/>
            <a:ext cx="4991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已闭环任务：</a:t>
            </a: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A 6 </a:t>
            </a: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项，</a:t>
            </a: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B 8 </a:t>
            </a: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400800" y="2343150"/>
            <a:ext cx="45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6858000" y="2171700"/>
            <a:ext cx="323850" cy="342900"/>
          </a:xfrm>
          <a:prstGeom prst="roundRect">
            <a:avLst>
              <a:gd name="adj" fmla="val 8824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0" name=""/>
          <p:cNvSpPr/>
          <p:nvPr/>
        </p:nvSpPr>
        <p:spPr>
          <a:xfrm rot="0" flipH="0" flipV="0">
            <a:off x="7181850" y="2171700"/>
            <a:ext cx="323850" cy="342900"/>
          </a:xfrm>
          <a:prstGeom prst="roundRect">
            <a:avLst>
              <a:gd name="adj" fmla="val 8824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7505700" y="2171700"/>
            <a:ext cx="323850" cy="342900"/>
          </a:xfrm>
          <a:prstGeom prst="roundRect">
            <a:avLst>
              <a:gd name="adj" fmla="val 8824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2" name=""/>
          <p:cNvSpPr/>
          <p:nvPr/>
        </p:nvSpPr>
        <p:spPr>
          <a:xfrm rot="0" flipH="0" flipV="0">
            <a:off x="7829550" y="2457450"/>
            <a:ext cx="323850" cy="57150"/>
          </a:xfrm>
          <a:prstGeom prst="roundRect">
            <a:avLst>
              <a:gd name="adj" fmla="val 50000"/>
            </a:avLst>
          </a:prstGeom>
          <a:solidFill>
            <a:srgbClr val="D7E2EC"/>
          </a:solidFill>
          <a:ln/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8153400" y="2457450"/>
            <a:ext cx="323850" cy="57150"/>
          </a:xfrm>
          <a:prstGeom prst="roundRect">
            <a:avLst>
              <a:gd name="adj" fmla="val 50000"/>
            </a:avLst>
          </a:prstGeom>
          <a:solidFill>
            <a:srgbClr val="D7E2EC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8477250" y="2171700"/>
            <a:ext cx="323850" cy="342900"/>
          </a:xfrm>
          <a:prstGeom prst="roundRect">
            <a:avLst>
              <a:gd name="adj" fmla="val 8824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8801100" y="2171700"/>
            <a:ext cx="323850" cy="342900"/>
          </a:xfrm>
          <a:prstGeom prst="roundRect">
            <a:avLst>
              <a:gd name="adj" fmla="val 8824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9124950" y="2457450"/>
            <a:ext cx="323850" cy="57150"/>
          </a:xfrm>
          <a:prstGeom prst="roundRect">
            <a:avLst>
              <a:gd name="adj" fmla="val 50000"/>
            </a:avLst>
          </a:prstGeom>
          <a:solidFill>
            <a:srgbClr val="D7E2EC"/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9448800" y="2457450"/>
            <a:ext cx="323850" cy="57150"/>
          </a:xfrm>
          <a:prstGeom prst="roundRect">
            <a:avLst>
              <a:gd name="adj" fmla="val 50000"/>
            </a:avLst>
          </a:prstGeom>
          <a:solidFill>
            <a:srgbClr val="D7E2EC"/>
          </a:solidFill>
          <a:ln/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9772650" y="2457450"/>
            <a:ext cx="323850" cy="57150"/>
          </a:xfrm>
          <a:prstGeom prst="roundRect">
            <a:avLst>
              <a:gd name="adj" fmla="val 50000"/>
            </a:avLst>
          </a:prstGeom>
          <a:solidFill>
            <a:srgbClr val="D7E2EC"/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10096500" y="2457450"/>
            <a:ext cx="323850" cy="57150"/>
          </a:xfrm>
          <a:prstGeom prst="roundRect">
            <a:avLst>
              <a:gd name="adj" fmla="val 50000"/>
            </a:avLst>
          </a:prstGeom>
          <a:solidFill>
            <a:srgbClr val="D7E2EC"/>
          </a:solidFill>
          <a:ln/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10420350" y="2171700"/>
            <a:ext cx="323850" cy="342900"/>
          </a:xfrm>
          <a:prstGeom prst="roundRect">
            <a:avLst>
              <a:gd name="adj" fmla="val 8824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10744200" y="2457450"/>
            <a:ext cx="323850" cy="57150"/>
          </a:xfrm>
          <a:prstGeom prst="roundRect">
            <a:avLst>
              <a:gd name="adj" fmla="val 50000"/>
            </a:avLst>
          </a:prstGeom>
          <a:solidFill>
            <a:srgbClr val="D7E2EC"/>
          </a:solidFill>
          <a:ln/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11068050" y="2457450"/>
            <a:ext cx="323850" cy="57150"/>
          </a:xfrm>
          <a:prstGeom prst="roundRect">
            <a:avLst>
              <a:gd name="adj" fmla="val 50000"/>
            </a:avLst>
          </a:prstGeom>
          <a:solidFill>
            <a:srgbClr val="D7E2EC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400800" y="2838450"/>
            <a:ext cx="45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6858000" y="2952750"/>
            <a:ext cx="323850" cy="57150"/>
          </a:xfrm>
          <a:prstGeom prst="roundRect">
            <a:avLst>
              <a:gd name="adj" fmla="val 50000"/>
            </a:avLst>
          </a:prstGeom>
          <a:solidFill>
            <a:srgbClr val="D7E2EC"/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7181850" y="2952750"/>
            <a:ext cx="323850" cy="57150"/>
          </a:xfrm>
          <a:prstGeom prst="roundRect">
            <a:avLst>
              <a:gd name="adj" fmla="val 50000"/>
            </a:avLst>
          </a:prstGeom>
          <a:solidFill>
            <a:srgbClr val="D7E2EC"/>
          </a:solidFill>
          <a:ln/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7505700" y="2952750"/>
            <a:ext cx="323850" cy="57150"/>
          </a:xfrm>
          <a:prstGeom prst="roundRect">
            <a:avLst>
              <a:gd name="adj" fmla="val 50000"/>
            </a:avLst>
          </a:prstGeom>
          <a:solidFill>
            <a:srgbClr val="D7E2EC"/>
          </a:solidFill>
          <a:ln/>
        </p:spPr>
        <p:txBody>
          <a:bodyPr/>
          <a:p/>
        </p:txBody>
      </p:sp>
      <p:sp>
        <p:nvSpPr>
          <p:cNvPr id="117" name=""/>
          <p:cNvSpPr/>
          <p:nvPr/>
        </p:nvSpPr>
        <p:spPr>
          <a:xfrm rot="0" flipH="0" flipV="0">
            <a:off x="7829550" y="2667000"/>
            <a:ext cx="323850" cy="342900"/>
          </a:xfrm>
          <a:prstGeom prst="roundRect">
            <a:avLst>
              <a:gd name="adj" fmla="val 8824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18" name=""/>
          <p:cNvSpPr/>
          <p:nvPr/>
        </p:nvSpPr>
        <p:spPr>
          <a:xfrm rot="0" flipH="0" flipV="0">
            <a:off x="8153400" y="2667000"/>
            <a:ext cx="323850" cy="342900"/>
          </a:xfrm>
          <a:prstGeom prst="roundRect">
            <a:avLst>
              <a:gd name="adj" fmla="val 8824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19" name=""/>
          <p:cNvSpPr/>
          <p:nvPr/>
        </p:nvSpPr>
        <p:spPr>
          <a:xfrm rot="0" flipH="0" flipV="0">
            <a:off x="8477250" y="2952750"/>
            <a:ext cx="323850" cy="57150"/>
          </a:xfrm>
          <a:prstGeom prst="roundRect">
            <a:avLst>
              <a:gd name="adj" fmla="val 50000"/>
            </a:avLst>
          </a:prstGeom>
          <a:solidFill>
            <a:srgbClr val="D7E2EC"/>
          </a:solidFill>
          <a:ln/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8801100" y="2667000"/>
            <a:ext cx="323850" cy="342900"/>
          </a:xfrm>
          <a:prstGeom prst="roundRect">
            <a:avLst>
              <a:gd name="adj" fmla="val 8824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9124950" y="2667000"/>
            <a:ext cx="323850" cy="342900"/>
          </a:xfrm>
          <a:prstGeom prst="roundRect">
            <a:avLst>
              <a:gd name="adj" fmla="val 8824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22" name=""/>
          <p:cNvSpPr/>
          <p:nvPr/>
        </p:nvSpPr>
        <p:spPr>
          <a:xfrm rot="0" flipH="0" flipV="0">
            <a:off x="9448800" y="2667000"/>
            <a:ext cx="323850" cy="342900"/>
          </a:xfrm>
          <a:prstGeom prst="roundRect">
            <a:avLst>
              <a:gd name="adj" fmla="val 8824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9772650" y="2952750"/>
            <a:ext cx="323850" cy="57150"/>
          </a:xfrm>
          <a:prstGeom prst="roundRect">
            <a:avLst>
              <a:gd name="adj" fmla="val 50000"/>
            </a:avLst>
          </a:prstGeom>
          <a:solidFill>
            <a:srgbClr val="D7E2EC"/>
          </a:solidFill>
          <a:ln/>
        </p:spPr>
        <p:txBody>
          <a:bodyPr/>
          <a:p/>
        </p:txBody>
      </p:sp>
      <p:sp>
        <p:nvSpPr>
          <p:cNvPr id="124" name=""/>
          <p:cNvSpPr/>
          <p:nvPr/>
        </p:nvSpPr>
        <p:spPr>
          <a:xfrm rot="0" flipH="0" flipV="0">
            <a:off x="10096500" y="2667000"/>
            <a:ext cx="323850" cy="342900"/>
          </a:xfrm>
          <a:prstGeom prst="roundRect">
            <a:avLst>
              <a:gd name="adj" fmla="val 8824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10420350" y="2952750"/>
            <a:ext cx="323850" cy="57150"/>
          </a:xfrm>
          <a:prstGeom prst="roundRect">
            <a:avLst>
              <a:gd name="adj" fmla="val 50000"/>
            </a:avLst>
          </a:prstGeom>
          <a:solidFill>
            <a:srgbClr val="D7E2EC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10744200" y="2667000"/>
            <a:ext cx="323850" cy="342900"/>
          </a:xfrm>
          <a:prstGeom prst="roundRect">
            <a:avLst>
              <a:gd name="adj" fmla="val 8824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11068050" y="2667000"/>
            <a:ext cx="323850" cy="342900"/>
          </a:xfrm>
          <a:prstGeom prst="roundRect">
            <a:avLst>
              <a:gd name="adj" fmla="val 8824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858000" y="3086100"/>
            <a:ext cx="323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546779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181850" y="3086100"/>
            <a:ext cx="323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546779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7505700" y="3086100"/>
            <a:ext cx="323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546779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829550" y="3086100"/>
            <a:ext cx="323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546779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153400" y="3086100"/>
            <a:ext cx="323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546779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8477250" y="3086100"/>
            <a:ext cx="323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546779"/>
                </a:solidFill>
                <a:latin typeface="Microsoft YaHei"/>
                <a:ea typeface="Microsoft YaHei"/>
              </a:rPr>
              <a:t>11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801100" y="3086100"/>
            <a:ext cx="323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546779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9124950" y="3086100"/>
            <a:ext cx="323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546779"/>
                </a:solidFill>
                <a:latin typeface="Microsoft YaHei"/>
                <a:ea typeface="Microsoft YaHei"/>
              </a:rPr>
              <a:t>13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9448800" y="3086100"/>
            <a:ext cx="323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546779"/>
                </a:solidFill>
                <a:latin typeface="Microsoft YaHei"/>
                <a:ea typeface="Microsoft YaHei"/>
              </a:rPr>
              <a:t>14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9772650" y="3086100"/>
            <a:ext cx="323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546779"/>
                </a:solidFill>
                <a:latin typeface="Microsoft YaHei"/>
                <a:ea typeface="Microsoft YaHei"/>
              </a:rPr>
              <a:t>15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0096500" y="3086100"/>
            <a:ext cx="323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546779"/>
                </a:solidFill>
                <a:latin typeface="Microsoft YaHei"/>
                <a:ea typeface="Microsoft YaHei"/>
              </a:rPr>
              <a:t>16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0420350" y="3086100"/>
            <a:ext cx="323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546779"/>
                </a:solidFill>
                <a:latin typeface="Microsoft YaHei"/>
                <a:ea typeface="Microsoft YaHei"/>
              </a:rPr>
              <a:t>17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0744200" y="3086100"/>
            <a:ext cx="323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546779"/>
                </a:solidFill>
                <a:latin typeface="Microsoft YaHei"/>
                <a:ea typeface="Microsoft YaHei"/>
              </a:rPr>
              <a:t>18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1068050" y="3086100"/>
            <a:ext cx="323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546779"/>
                </a:solidFill>
                <a:latin typeface="Microsoft YaHei"/>
                <a:ea typeface="Microsoft YaHei"/>
              </a:rPr>
              <a:t>19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400800" y="3314700"/>
            <a:ext cx="49911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一格一分钟，实心＝该分钟有一项任务闭环。中位数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＝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9.5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分钟，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B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＝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13.5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分钟；未闭环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 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B 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项。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09600" y="4686300"/>
            <a:ext cx="10972800" cy="7620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838200" y="480060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047750" y="4791075"/>
            <a:ext cx="103060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闭环更多，已经闭环的那部分任务典型用时反而更长。这不能证明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B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对每个人都更慢，也不能说某个任务因为澄清才成功，因为两组的成功子集本来就可能不是同一批任务。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跨案例比较与研究设计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25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48" name="" descr="&lt;Slide notes={`右图为什么只有成功的任务？因为只有闭环了，我们才知道它用了多久。&#10;&#10;A 组的闭环用时是 6、7、8、11、12、17，中位数 9.5 分钟，还有 6 项没完成；B 组是 9、10、12、13、14、16、18、19，中位数 13.5 分钟，还有 4 项没完成。&#10;&#10;应该读成：B 组闭环更多，但在已经闭环的那部分里，典型用时更长。&#10;&#10;这不能证明 B 对每个人更慢，因为两组的成功子集可能不是同一批任务。也不能说某个任务是因为澄清才成功的。&#10;&#10;还有一个陷阱：右边两组不能一一连点。把 A 的一个点和 B 的一个点连起来，等于假定了它们是同一项任务的两次尝试，可数据里并没有这个对应关系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9.4　成功子集的用时&lt;/Text&gt;&#10;            &lt;Text style={{ fontSize: 34, fontWeight: 'bold', color: '#20344B' }}&gt;成功子集的用时不是全体完成时间&lt;/Text&gt;&#10;        &lt;/Box&gt;&#10;    &lt;/Box&gt;&#10;&#10;    &lt;Box style={{ height: 540, flexDirection: 'row', alignItems: 'center', gap: 36 }}&gt;&#10;&#10;        &lt;Box style={{ width: 468, flexDirection: 'column', justifyContent: 'center', gap: 14 }}&gt;&#10;&#10;            &lt;Box style={{ width: 468, height: 140, background: '#EDF4FC', borderRadius: 10, padding: '16px 20px', flexDirection: 'column', gap: 6, justifyContent: 'center' }}&gt;&#10;                &lt;Text style={{ fontSize: 17, fontWeight: 'bold', color: '#276FBF' }}&gt;点数为什么不同&lt;/Text&gt;&#10;                &lt;Text style={{ fontSize: 15, color: '#546779', lineHeight: 1.55 }}&gt;左图每组固定 3 次 Run，所以只有 3 个点；右图 A 有 6 项、B 有 8 项已闭环任务，一共 14 个点。&lt;/Text&gt;&#10;            &lt;/Box&gt;&#10;&#10;            &lt;Box style={{ width: 468, height: 140, background: '#FFF4E6', borderRadius: 10, padding: '16px 20px', flexDirection: 'column', gap: 6, justifyContent: 'center' }}&gt;&#10;                &lt;Text style={{ fontSize: 17, fontWeight: 'bold', color: '#CB6B28' }}&gt;不能一一连点&lt;/Text&gt;&#10;                &lt;Text style={{ fontSize: 15, color: '#546779', lineHeight: 1.55 }}&gt;两组的成功子集可能不是同一批任务，连点就等于假定了它们一一对应，数据里没有这个关系。&lt;/Text&gt;&#10;            &lt;/Box&gt;&#10;&#10;            &lt;Box style={{ width: 468, height: 140, background: '#ECF7F2', borderRadius: 10, padding: '16px 20px', flexDirection: 'column', gap: 6, justifyContent: 'center' }}&gt;&#10;                &lt;Text style={{ fontSize: 17, fontWeight: 'bold', color: '#26816B' }}&gt;两条横线不一样&lt;/Text&gt;&#10;                &lt;Text style={{ fontSize: 15, color: '#546779', lineHeight: 1.55 }}&gt;左图横线是汇总闭环率，右图横线是各自成功子集的中位数，两个横线的含义不同。&lt;/Text&gt;&#10;            &lt;/Box&gt;&#10;&#10;        &lt;/Box&gt;&#10;&#10;        &lt;Box style={{ width: 648, flexDirection: 'column', justifyContent: 'center', gap: 12 }}&gt;&#10;&#10;            &lt;Box style={{ width: 648, height: 92, background: '#EDF4FC', borderRadius: 10, padding: '0 20px', flexDirection: 'row', alignItems: 'center', gap: 16 }}&gt;&#10;                &lt;Box style={{ width: 48, height: 48, background: '#276FBF', borderRadius: 24, justifyContent: 'center', alignItems: 'center' }}&gt;&#10;                    &lt;Text style={{ fontSize: 20, fontWeight: 'bold', color: '#FFFFFF' }}&gt;A&lt;/Text&gt;&#10;                &lt;/Box&gt;&#10;                &lt;Box style={{ flex: 1, flexDirection: 'column', gap: 2 }}&gt;&#10;                    &lt;Text style={{ fontSize: 16, color: '#20344B' }}&gt;6，7，8，11，12，17&lt;/Text&gt;&#10;                    &lt;Text style={{ fontSize: 15, color: '#546779' }}&gt;中位数 9.5 分钟　·　未闭环 6 项&lt;/Text&gt;&#10;                &lt;/Box&gt;&#10;            &lt;/Box&gt;&#10;&#10;            &lt;Box style={{ width: 648, height: 92, background: '#ECF7F2', borderRadius: 10, padding: '0 20px', flexDirection: 'row', alignItems: 'center', gap: 16 }}&gt;&#10;                &lt;Box style={{ width: 48, height: 48, background: '#26816B', borderRadius: 24, justifyContent: 'center', alignItems: 'center' }}&gt;&#10;                    &lt;Text style={{ fontSize: 20, fontWeight: 'bold', color: '#FFFFFF' }}&gt;B&lt;/Text&gt;&#10;                &lt;/Box&gt;&#10;                &lt;Box style={{ flex: 1, flexDirection: 'column', gap: 2 }}&gt;&#10;                    &lt;Text style={{ fontSize: 16, color: '#20344B' }}&gt;9，10，12，13，14，16，18，19&lt;/Text&gt;&#10;                    &lt;Text style={{ fontSize: 15, color: '#546779' }}&gt;中位数 13.5 分钟　·　未闭环 4 项&lt;/Text&gt;&#10;                &lt;/Box&gt;&#10;            &lt;/Box&gt;&#10;&#10;            &lt;Box style={{ width: 648, height: 140, background: '#F4F7FA', borderRadius: 10, padding: '16px 20px', flexDirection: 'row', alignItems: 'center', gap: 16 }}&gt;&#10;                &lt;Box style={{ width: 4, height: 100, background: '#CB6B28' }} /&gt;&#10;                &lt;Text style={{ fontSize: 15, color: '#546779', lineHeight: 1.6, flex: 1 }}&gt;应读为：B 闭环更多，已闭环子集典型时间更长。不能证明 B 对每人更慢，也不能说某任务因澄清才成功，两组成功子集可能不同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9 跨案例比较与研究设计&lt;/Text&gt;&#10;        &lt;Text style={{ fontSize: 14, color: '#546779' }}&gt;12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4.9.4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成功子集的用时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成功子集的用时不是全体完成时间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609600" y="1581150"/>
            <a:ext cx="4457700" cy="13335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00100" y="1857375"/>
            <a:ext cx="4076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点数为什么不同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00100" y="2114550"/>
            <a:ext cx="40767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左图每组固定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次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，所以只有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个点；右图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项、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项已闭环任务，一共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14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个点。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609600" y="3048000"/>
            <a:ext cx="4457700" cy="13335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00100" y="3324225"/>
            <a:ext cx="4076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不能一一连点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800100" y="3581400"/>
            <a:ext cx="40767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两组的成功子集可能不是同一批任务，连点就等于假定了它们一一对应，数据里没有这个关系。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609600" y="4514850"/>
            <a:ext cx="4457700" cy="1333500"/>
          </a:xfrm>
          <a:prstGeom prst="roundRect">
            <a:avLst>
              <a:gd name="adj" fmla="val 71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00100" y="4791075"/>
            <a:ext cx="4076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两条横线不一样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800100" y="5048250"/>
            <a:ext cx="40767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左图横线是汇总闭环率，右图横线是各自成功子集的中位数，两个横线的含义不同。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5410200" y="2057400"/>
            <a:ext cx="61722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5600700" y="22669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753100" y="2381250"/>
            <a:ext cx="152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210300" y="2305050"/>
            <a:ext cx="518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6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7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8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11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12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17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210300" y="2514600"/>
            <a:ext cx="518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中位数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9.5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分钟　·　未闭环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5410200" y="3048000"/>
            <a:ext cx="6172200" cy="876300"/>
          </a:xfrm>
          <a:prstGeom prst="roundRect">
            <a:avLst>
              <a:gd name="adj" fmla="val 1087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5600700" y="32575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5762625" y="3371850"/>
            <a:ext cx="133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210300" y="3295650"/>
            <a:ext cx="518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9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10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12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13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14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16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18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19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210300" y="3505200"/>
            <a:ext cx="518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中位数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13.5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分钟　·　未闭环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5410200" y="4038600"/>
            <a:ext cx="6172200" cy="13335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3" name=""/>
          <p:cNvSpPr/>
          <p:nvPr/>
        </p:nvSpPr>
        <p:spPr>
          <a:xfrm rot="0" flipH="0" flipV="0">
            <a:off x="5600700" y="4229100"/>
            <a:ext cx="38100" cy="952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5791200" y="4429125"/>
            <a:ext cx="56007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应读为：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闭环更多，已闭环子集典型时间更长。不能证明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B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对每人更慢，也不能说某任务因澄清才成功，两组成功子集可能不同。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跨案例比较与研究设计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77" name="" descr="&lt;Slide notes={`还有一个必须说清的坑：60 分钟是截止，不是终点。&#10;&#10;观察窗口结束的那一刻，没闭环的任务只是「还没有完成」，不是「用了 60 分钟才完成」。如果把它当成完成时间填进数据，平均值和时间分布会同时被抬高，而且抬的方向是随意的。&#10;&#10;这类只知道「至少这么长时间还没完成」的数据，处理方式要先说清楚再谈中心值。这种数据叫删失数据，本入门例不拟合生存模型，但至少要意识到它的存在。&#10;&#10;真实发生提前停止的时候，报告要写清停在哪里、为什么停、影响多少任务。&#10;&#10;一种做法是把预定的四项任务全部保留在计划分母里，同时注明里面有中断的影响。另一种是另做完整窗口样本分析，但必须同时列出被排除的 Run 和理由，不能只留下漂亮的那一部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9.4　截止、删失与提前停止&lt;/Text&gt;&#10;            &lt;Text style={{ fontSize: 34, fontWeight: 'bold', color: '#20344B' }}&gt;60 分钟是截止，不是终点&lt;/Text&gt;&#10;        &lt;/Box&gt;&#10;    &lt;/Box&gt;&#10;&#10;    &lt;Box style={{ height: 540, flexDirection: 'row', alignItems: 'center', gap: 36 }}&gt;&#10;&#10;        &lt;Box style={{ width: 476, flexDirection: 'column', justifyContent: 'center', gap: 14 }}&gt;&#10;            &lt;Text style={{ fontSize: 20, fontWeight: 'bold', color: '#20344B', lineHeight: 1.4 }}&gt;没有完成时间，{'\n'}就不写完成时间&lt;/Text&gt;&#10;            &lt;Text style={{ fontSize: 16, color: '#546779', lineHeight: 1.7, width: 476 }}&gt;窗口结束那一刻，没闭环的任务只是「还没完成」。把它当成「用了 60 分钟」，会同时抬高平均值和整条时间分布。&lt;/Text&gt;&#10;            &lt;Box style={{ width: 476, height: 150, background: '#FFF4E6', borderRadius: 10, padding: '16px 20px', flexDirection: 'column', gap: 6, justifyContent: 'center' }}&gt;&#10;                &lt;Text style={{ fontSize: 17, fontWeight: 'bold', color: '#CB6B28' }}&gt;删失：只知道「至少这么久」&lt;/Text&gt;&#10;                &lt;Text style={{ fontSize: 15, color: '#546779', lineHeight: 1.55 }}&gt;任务可能在窗口外才完成，也可能永远不会完成。处理方式要先说清，再谈中心值；本入门例不拟合生存模型。&lt;/Text&gt;&#10;            &lt;/Box&gt;&#10;        &lt;/Box&gt;&#10;&#10;        &lt;Box style={{ width: 640, flexDirection: 'column', justifyContent: 'center', gap: 12 }}&gt;&#10;&#10;            &lt;Box style={{ width: 640, height: 140, background: '#FFF4E6', borderRadius: 10, padding: '16px 20px', flexDirection: 'row', alignItems: 'center', gap: 16 }}&gt;&#10;                &lt;Box style={{ width: 4, height: 100, background: '#CB6B28' }} /&gt;&#10;                &lt;Box style={{ flex: 1, flexDirection: 'column', gap: 6 }}&gt;&#10;                    &lt;Text style={{ fontSize: 17, fontWeight: 'bold', color: '#CB6B28' }}&gt;提前停止要报覆盖与原因&lt;/Text&gt;&#10;                    &lt;Text style={{ fontSize: 15, color: '#546779', lineHeight: 1.55 }}&gt;真实发生提前停止时，写清停在哪里、为什么停、影响了多少任务。&lt;/Text&gt;&#10;                &lt;/Box&gt;&#10;            &lt;/Box&gt;&#10;&#10;            &lt;Box style={{ width: 640, height: 140, background: '#EDF4FC', borderRadius: 10, padding: '16px 20px', flexDirection: 'row', alignItems: 'center', gap: 16 }}&gt;&#10;                &lt;Box style={{ width: 4, height: 100, background: '#276FBF' }} /&gt;&#10;                &lt;Box style={{ flex: 1, flexDirection: 'column', gap: 6 }}&gt;&#10;                    &lt;Text style={{ fontSize: 17, fontWeight: 'bold', color: '#276FBF' }}&gt;预定任务留在计划分母里&lt;/Text&gt;&#10;                    &lt;Text style={{ fontSize: 15, color: '#546779', lineHeight: 1.55 }}&gt;把预定的四项任务全部保留在计划分母中，同时注明其中含有中断带来的影响。&lt;/Text&gt;&#10;                &lt;/Box&gt;&#10;            &lt;/Box&gt;&#10;&#10;            &lt;Box style={{ width: 640, height: 140, background: '#ECF7F2', borderRadius: 10, padding: '16px 20px', flexDirection: 'row', alignItems: 'center', gap: 16 }}&gt;&#10;                &lt;Box style={{ width: 4, height: 100, background: '#26816B' }} /&gt;&#10;                &lt;Box style={{ flex: 1, flexDirection: 'column', gap: 6 }}&gt;&#10;                    &lt;Text style={{ fontSize: 17, fontWeight: 'bold', color: '#26816B' }}&gt;另做完整窗口分析要同列排除项&lt;/Text&gt;&#10;                    &lt;Text style={{ fontSize: 15, color: '#546779', lineHeight: 1.55 }}&gt;若要单独分析完整窗口样本，必须同时展示被排除的 Run 与理由，不能只留漂亮的分析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9 跨案例比较与研究设计&lt;/Text&gt;&#10;        &lt;Text style={{ fontSize: 14, color: '#546779' }}&gt;13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743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4.9.4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截止、删失与提前停止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7433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60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分钟是截止，不是终点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4533900" cy="6477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没有完成时间，</a:t>
            </a:r>
            <a:endParaRPr/>
          </a:p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就不写完成时间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09600" y="3009900"/>
            <a:ext cx="45339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窗口结束那一刻，没闭环的任务只是「还没完成」。把它当成「用了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分钟」，会同时抬高平均值和整条时间分布。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09600" y="3771900"/>
            <a:ext cx="4533900" cy="142875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00100" y="4095750"/>
            <a:ext cx="4152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删失：只知道「至少这么久」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00100" y="4352925"/>
            <a:ext cx="4152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任务可能在窗口外才完成，也可能永远不会完成。处理方式要先说清，再谈中心值；本入门例不拟合生存模型。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5486400" y="1600200"/>
            <a:ext cx="6096000" cy="13335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88" name=""/>
          <p:cNvSpPr/>
          <p:nvPr/>
        </p:nvSpPr>
        <p:spPr>
          <a:xfrm rot="0" flipH="0" flipV="0">
            <a:off x="5676900" y="1790700"/>
            <a:ext cx="38100" cy="952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5867400" y="2009775"/>
            <a:ext cx="5524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提前停止要报覆盖与原因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5867400" y="2266950"/>
            <a:ext cx="5524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真实发生提前停止时，写清停在哪里、为什么停、影响了多少任务。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5486400" y="3048000"/>
            <a:ext cx="6096000" cy="13335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2" name=""/>
          <p:cNvSpPr/>
          <p:nvPr/>
        </p:nvSpPr>
        <p:spPr>
          <a:xfrm rot="0" flipH="0" flipV="0">
            <a:off x="5676900" y="3238500"/>
            <a:ext cx="38100" cy="952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5867400" y="3457575"/>
            <a:ext cx="5524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预定任务留在计划分母里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5867400" y="3714750"/>
            <a:ext cx="5524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把预定的四项任务全部保留在计划分母中，同时注明其中含有中断带来的影响。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5486400" y="4495800"/>
            <a:ext cx="6096000" cy="1333500"/>
          </a:xfrm>
          <a:prstGeom prst="roundRect">
            <a:avLst>
              <a:gd name="adj" fmla="val 71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96" name=""/>
          <p:cNvSpPr/>
          <p:nvPr/>
        </p:nvSpPr>
        <p:spPr>
          <a:xfrm rot="0" flipH="0" flipV="0">
            <a:off x="5676900" y="4686300"/>
            <a:ext cx="38100" cy="9525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867400" y="4772025"/>
            <a:ext cx="5524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另做完整窗口分析要同列排除项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5867400" y="5029200"/>
            <a:ext cx="55245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若要单独分析完整窗口样本，必须同时展示被排除的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与理由，不能只留漂亮的分析。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跨案例比较与研究设计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201" name="" descr="&lt;Slide notes={`接下来把代价摊开。&#10;&#10;我只用一笔账来说明一件事：总投入高，单位成功代价未必也高。&#10;&#10;A 组用了 370 次逻辑调用、411 次物理尝试，换来 6 项闭环；B 组用了 480 次逻辑调用、516 次物理尝试，换来 8 项闭环。&#10;&#10;所以 B 组的总投入确实更高。&#10;&#10;但把总数除以闭环数：A 是 370 除以 6，约 61.67；B 是 480 除以 8，正好 60。物理尝试那边，A 是 68.5，B 是 64.5。&#10;&#10;B 反而略低。&#10;&#10;这两个事实可以同时成立，一点都不矛盾：多花了一些总量，换来更多的成功，单位代价就下来了。&#10;&#10;所以报代价必须两边一起报，只报一边都会误导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3　　4.9.5&lt;/Text&gt;&#10;&#10;        &lt;Text style={{ fontSize: 56, fontWeight: 'bold', color: '#20344B', lineHeight: 1.15 }}&gt;③ 代价：总量与单位成功代价一起报&lt;/Text&gt;&#10;&#10;        &lt;Box style={{ width: 72, height: 4, background: '#276FBF' }} /&gt;&#10;&#10;        &lt;Text style={{ fontSize: 18, color: '#546779', lineHeight: 1.7, width: 1000 }}&gt;多花一些总量、换来更多成功，单位成功代价反而更低；只报一边都会误导。&lt;/Text&gt;&#10;&#10;        &lt;Box style={{ flexDirection: 'row', alignItems: 'center', marginTop: 10 }}&gt;&#10;            &lt;Box style={{ width: 320, height: 72, background: '#EDF4FC', borderRadius: 10, justifyContent: 'center', alignItems: 'center' }}&gt;&#10;                &lt;Text style={{ fontSize: 18, color: '#276FBF' }}&gt;总投入&lt;/Text&gt;&#10;            &lt;/Box&gt;&#10;            &lt;Box style={{ width: 44, height: 72, justifyContent: 'center', alignItems: 'center' }}&gt;&#10;                &lt;Text style={{ fontSize: 26, color: '#276FBF' }}&gt;›&lt;/Text&gt;&#10;            &lt;/Box&gt;&#10;            &lt;Box style={{ width: 320, height: 72, background: '#EDF4FC', borderRadius: 10, justifyContent: 'center', alignItems: 'center' }}&gt;&#10;                &lt;Text style={{ fontSize: 18, color: '#276FBF' }}&gt;已闭环任务数&lt;/Text&gt;&#10;            &lt;/Box&gt;&#10;            &lt;Box style={{ width: 44, height: 72, justifyContent: 'center', alignItems: 'center' }}&gt;&#10;                &lt;Text style={{ fontSize: 26, color: '#26816B' }}&gt;›&lt;/Text&gt;&#10;            &lt;/Box&gt;&#10;            &lt;Box style={{ width: 300, height: 72, background: '#ECF7F2', borderRadius: 10, justifyContent: 'center', alignItems: 'center' }}&gt;&#10;                &lt;Text style={{ fontSize: 18, color: '#26816B' }}&gt;单位成功代价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9 跨案例比较与研究设计&lt;/Text&gt;&#10;        &lt;Text style={{ fontSize: 14, color: '#546779' }}&gt;14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09600" y="17811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4.9.5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609600" y="21621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代价：总量与单位成功代价一起报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609600" y="31146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09600" y="3362325"/>
            <a:ext cx="95250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多花一些总量、换来更多成功，单位成功代价反而更低；只报一边都会误导。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609600" y="4019550"/>
            <a:ext cx="3048000" cy="685800"/>
          </a:xfrm>
          <a:prstGeom prst="roundRect">
            <a:avLst>
              <a:gd name="adj" fmla="val 1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876425" y="425767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总投入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38290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4076700" y="4019550"/>
            <a:ext cx="3048000" cy="685800"/>
          </a:xfrm>
          <a:prstGeom prst="roundRect">
            <a:avLst>
              <a:gd name="adj" fmla="val 1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5086350" y="425767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已闭环任务数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7296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7543800" y="4019550"/>
            <a:ext cx="2857500" cy="685800"/>
          </a:xfrm>
          <a:prstGeom prst="roundRect">
            <a:avLst>
              <a:gd name="adj" fmla="val 1388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458200" y="425767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单位成功代价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跨案例比较与研究设计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17" name="" descr="&lt;Slide notes={`我把代价分成上下两层来看。&#10;&#10;先看上面：A 组用了 370 次逻辑调用、411 次物理尝试，换来 6 项闭环；B 组用了 480 次逻辑调用、516 次物理尝试，换来 8 项闭环。B 组的总投入明显更高。&#10;&#10;再看下面，把总量除以闭环数。逻辑调用这边，A 是 370 除以 6，约 61.67；B 是 480 除以 8，正好 60。物理尝试这边，A 是 411 除以 6，68.5；B 是 516 除以 8，64.5。&#10;&#10;所以 B 组总投入更高，单位成功代价却略低。这两句话可以同时成立，不矛盾。&#10;&#10;报的时候两边都要给：只报总量，看起来 B 更贵；只报单位值，又把 B 说得更划算。&#10;&#10;最后一个提醒：逻辑调用和物理尝试是两个子列，分别数不同的东西，不能加起来当成一个「总调用」。还有，一次都没成功的时候，单位值没法计算，仍然只报总投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9.5　总投入与单位成功代价&lt;/Text&gt;&#10;            &lt;Text style={{ fontSize: 34, fontWeight: 'bold', color: '#20344B' }}&gt;总投入高，单位代价未必高&lt;/Text&gt;&#10;        &lt;/Box&gt;&#10;    &lt;/Box&gt;&#10;&#10;    &lt;Box style={{ height: 540, flexDirection: 'column', gap: 16 }}&gt;&#10;&#10;        &lt;Box style={{ width: 1152, height: 64, background: '#F7F3E8', borderRadius: 10, padding: '0 24px', flexDirection: 'row', alignItems: 'center', gap: 18 }}&gt;&#10;            &lt;Box style={{ width: 4, height: 40, background: '#CB6B28' }} /&gt;&#10;            &lt;Box style={{ flexDirection: 'column', gap: 2 }}&gt;&#10;                &lt;Text style={{ fontSize: 14, color: '#546779' }}&gt;六行人工数据的算术，不是费用，也不是真实耗时&lt;/Text&gt;&#10;                &lt;Text style={{ fontSize: 18, fontWeight: 'bold', color: '#20344B' }}&gt;分子包含失败、重试与未闭环任务的全部消耗&lt;/Text&gt;&#10;            &lt;/Box&gt;&#10;        &lt;/Box&gt;&#10;&#10;        &lt;Box style={{ width: 1152, flexDirection: 'row', gap: 24 }}&gt;&#10;            &lt;Box style={{ width: 564, height: 150, background: '#EDF4FC', borderRadius: 10, padding: '0 22px', flexDirection: 'column', gap: 5, justifyContent: 'center' }}&gt;&#10;                &lt;Text style={{ fontSize: 18, fontWeight: 'bold', color: '#276FBF' }}&gt;基线 A&lt;/Text&gt;&#10;                &lt;Text style={{ fontSize: 26, fontWeight: 'bold', color: '#20344B' }}&gt;370 逻辑调用　·　411 物理尝试&lt;/Text&gt;&#10;                &lt;Text style={{ fontSize: 15, color: '#546779' }}&gt;取得 6 项闭环&lt;/Text&gt;&#10;            &lt;/Box&gt;&#10;            &lt;Box style={{ width: 564, height: 150, background: '#ECF7F2', borderRadius: 10, padding: '0 22px', flexDirection: 'column', gap: 5, justifyContent: 'center' }}&gt;&#10;                &lt;Text style={{ fontSize: 18, fontWeight: 'bold', color: '#26816B' }}&gt;对照 B&lt;/Text&gt;&#10;                &lt;Text style={{ fontSize: 26, fontWeight: 'bold', color: '#20344B' }}&gt;480 逻辑调用　·　516 物理尝试&lt;/Text&gt;&#10;                &lt;Text style={{ fontSize: 15, color: '#546779' }}&gt;取得 8 项闭环&lt;/Text&gt;&#10;            &lt;/Box&gt;&#10;        &lt;/Box&gt;&#10;&#10;        &lt;Box style={{ width: 1152, flexDirection: 'row', gap: 24 }}&gt;&#10;            &lt;Box style={{ width: 564, height: 116, background: '#EDF4FC', borderRadius: 10, padding: '0 22px', flexDirection: 'column', gap: 8, justifyContent: 'center' }}&gt;&#10;                &lt;Box style={{ flexDirection: 'row', alignItems: 'center' }}&gt;&#10;                    &lt;Text style={{ fontSize: 16, color: '#546779', flex: 1 }}&gt;逻辑调用／闭环&lt;/Text&gt;&#10;                    &lt;Text style={{ fontSize: 20, fontWeight: 'bold', color: '#276FBF' }}&gt;370 ÷ 6 ≈ 61.67&lt;/Text&gt;&#10;                &lt;/Box&gt;&#10;                &lt;Box style={{ flexDirection: 'row', alignItems: 'center' }}&gt;&#10;                    &lt;Text style={{ fontSize: 16, color: '#546779', flex: 1 }}&gt;物理尝试／闭环&lt;/Text&gt;&#10;                    &lt;Text style={{ fontSize: 20, fontWeight: 'bold', color: '#276FBF' }}&gt;411 ÷ 6 ＝ 68.5&lt;/Text&gt;&#10;                &lt;/Box&gt;&#10;            &lt;/Box&gt;&#10;            &lt;Box style={{ width: 564, height: 116, background: '#ECF7F2', borderRadius: 10, padding: '0 22px', flexDirection: 'column', gap: 8, justifyContent: 'center' }}&gt;&#10;                &lt;Box style={{ flexDirection: 'row', alignItems: 'center' }}&gt;&#10;                    &lt;Text style={{ fontSize: 16, color: '#546779', flex: 1 }}&gt;逻辑调用／闭环&lt;/Text&gt;&#10;                    &lt;Text style={{ fontSize: 20, fontWeight: 'bold', color: '#26816B' }}&gt;480 ÷ 8 ＝ 60&lt;/Text&gt;&#10;                &lt;/Box&gt;&#10;                &lt;Box style={{ flexDirection: 'row', alignItems: 'center' }}&gt;&#10;                    &lt;Text style={{ fontSize: 16, color: '#546779', flex: 1 }}&gt;物理尝试／闭环&lt;/Text&gt;&#10;                    &lt;Text style={{ fontSize: 20, fontWeight: 'bold', color: '#26816B' }}&gt;516 ÷ 8 ＝ 64.5&lt;/Text&gt;&#10;                &lt;/Box&gt;&#10;            &lt;/Box&gt;&#10;        &lt;/Box&gt;&#10;&#10;        &lt;Box style={{ width: 1152, height: 72, background: '#FFF4E6', borderRadius: 10, padding: '0 24px', flexDirection: 'row', alignItems: 'center', gap: 18 }}&gt;&#10;            &lt;Box style={{ width: 4, height: 48, background: '#CB6B28' }} /&gt;&#10;            &lt;Text style={{ fontSize: 15, color: '#546779', lineHeight: 1.55, flex: 1 }}&gt;B 总投入高、单位成功代价略低，两者可同时成立。逻辑调用与物理尝试分别计数，不能相加成一种「总调用」；零成功时单位值不可计算，仍列总投入。&lt;/Text&gt;&#10;        &lt;/Box&gt;&#10;&#10;    &lt;/Box&gt;&#10;&#10;    &lt;Box style={{ height: 40, flexDirection: 'row', justifyContent: 'space-between', alignItems: 'center' }}&gt;&#10;        &lt;Text style={{ fontSize: 14, color: '#546779' }}&gt;4.9 跨案例比较与研究设计&lt;/Text&gt;&#10;        &lt;Text style={{ fontSize: 14, color: '#546779' }}&gt;15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4.9.5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总投入与单位成功代价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总投入高，单位代价未必高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09600" y="1143000"/>
            <a:ext cx="10972800" cy="609600"/>
          </a:xfrm>
          <a:prstGeom prst="roundRect">
            <a:avLst>
              <a:gd name="adj" fmla="val 15625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223" name=""/>
          <p:cNvSpPr/>
          <p:nvPr/>
        </p:nvSpPr>
        <p:spPr>
          <a:xfrm rot="0" flipH="0" flipV="0">
            <a:off x="838200" y="125730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047750" y="1257300"/>
            <a:ext cx="342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六行人工数据的算术，不是费用，也不是真实耗时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047750" y="1438275"/>
            <a:ext cx="3429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分子包含失败、重试与未闭环任务的全部消耗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609600" y="1905000"/>
            <a:ext cx="53721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19150" y="2228850"/>
            <a:ext cx="495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基线</a:t>
            </a: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A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819150" y="2486025"/>
            <a:ext cx="4953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370 </a:t>
            </a:r>
            <a:r>
              <a:rPr lang="zh-CN" sz="1950" b="1">
                <a:solidFill>
                  <a:srgbClr val="20344B"/>
                </a:solidFill>
                <a:latin typeface="Microsoft YaHei"/>
                <a:ea typeface="Microsoft YaHei"/>
              </a:rPr>
              <a:t>逻辑调用　·　</a:t>
            </a:r>
            <a:r>
              <a:rPr lang="en-US" sz="19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411 </a:t>
            </a:r>
            <a:r>
              <a:rPr lang="zh-CN" sz="1950" b="1">
                <a:solidFill>
                  <a:srgbClr val="20344B"/>
                </a:solidFill>
                <a:latin typeface="Microsoft YaHei"/>
                <a:ea typeface="Microsoft YaHei"/>
              </a:rPr>
              <a:t>物理尝试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19150" y="2838450"/>
            <a:ext cx="495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取得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项闭环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6210300" y="1905000"/>
            <a:ext cx="5372100" cy="1428750"/>
          </a:xfrm>
          <a:prstGeom prst="roundRect">
            <a:avLst>
              <a:gd name="adj" fmla="val 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419850" y="2228850"/>
            <a:ext cx="495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对照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B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419850" y="2486025"/>
            <a:ext cx="4953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480 </a:t>
            </a:r>
            <a:r>
              <a:rPr lang="zh-CN" sz="1950" b="1">
                <a:solidFill>
                  <a:srgbClr val="20344B"/>
                </a:solidFill>
                <a:latin typeface="Microsoft YaHei"/>
                <a:ea typeface="Microsoft YaHei"/>
              </a:rPr>
              <a:t>逻辑调用　·　</a:t>
            </a:r>
            <a:r>
              <a:rPr lang="en-US" sz="19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516 </a:t>
            </a:r>
            <a:r>
              <a:rPr lang="zh-CN" sz="1950" b="1">
                <a:solidFill>
                  <a:srgbClr val="20344B"/>
                </a:solidFill>
                <a:latin typeface="Microsoft YaHei"/>
                <a:ea typeface="Microsoft YaHei"/>
              </a:rPr>
              <a:t>物理尝试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419850" y="2838450"/>
            <a:ext cx="495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取得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项闭环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609600" y="3486150"/>
            <a:ext cx="5372100" cy="1104900"/>
          </a:xfrm>
          <a:prstGeom prst="roundRect">
            <a:avLst>
              <a:gd name="adj" fmla="val 86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19150" y="3790950"/>
            <a:ext cx="3438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逻辑调用／闭环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4257675" y="3771900"/>
            <a:ext cx="1514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370 ÷ 6 ≈ 61.67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819150" y="4095750"/>
            <a:ext cx="3505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物理尝试／闭环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4324350" y="4076700"/>
            <a:ext cx="1447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411 ÷ 6 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＝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68.5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210300" y="3486150"/>
            <a:ext cx="5372100" cy="1104900"/>
          </a:xfrm>
          <a:prstGeom prst="roundRect">
            <a:avLst>
              <a:gd name="adj" fmla="val 862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419850" y="3790950"/>
            <a:ext cx="3676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逻辑调用／闭环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10096500" y="3771900"/>
            <a:ext cx="1276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480 ÷ 8 </a:t>
            </a: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＝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60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419850" y="4095750"/>
            <a:ext cx="3505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物理尝试／闭环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9925050" y="4076700"/>
            <a:ext cx="1447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516 ÷ 8 </a:t>
            </a: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＝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64.5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609600" y="474345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838200" y="485775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047750" y="4953000"/>
            <a:ext cx="103060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总投入高、单位成功代价略低，两者可同时成立。逻辑调用与物理尝试分别计数，不能相加成一种「总调用」；零成功时单位值不可计算，仍列总投入。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跨案例比较与研究设计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25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49" name="" descr="&lt;Slide notes={`最容易出错的地方是把调用数直接当成钱。这一条我要说重一点。&#10;&#10;调用次数不是货币费用。真正的金额受两件事影响：上下文有多长，以及模型按什么价格计价。这两样都没有资料，就只能报调用次数或者 Token 数，不能编一个金额出来。&#10;&#10;还有一种情况要提前想到：一项都没闭环的时候，单位成功代价没有定义。这时候不能写无穷大，也不能写零，只能报总投入，并说明单位值为什么算不出来。&#10;&#10;另外，墙钟耗时和虚拟业务等待是两回事。挂着暂停、有人工排查的那段时间，不能拿来当模型的吞吐性能；虚拟世界里业务等待的时间，也不等于真实延迟。&#10;&#10;有多少证据说多少话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9.5　调用数、金额与耗时&lt;/Text&gt;&#10;            &lt;Text style={{ fontSize: 34, fontWeight: 'bold', color: '#20344B' }}&gt;调用数不是货币费用&lt;/Text&gt;&#10;        &lt;/Box&gt;&#10;    &lt;/Box&gt;&#10;&#10;    &lt;Box style={{ height: 540, flexDirection: 'row', alignItems: 'center', gap: 36 }}&gt;&#10;&#10;        &lt;Box style={{ width: 396, flexDirection: 'column', justifyContent: 'center', gap: 14 }}&gt;&#10;&#10;            &lt;Box style={{ width: 396, height: 150, background: '#EDF4FC', borderRadius: 10, padding: '16px 20px', flexDirection: 'column', gap: 6, justifyContent: 'center' }}&gt;&#10;                &lt;Text style={{ fontSize: 17, fontWeight: 'bold', color: '#276FBF' }}&gt;分子包含什么&lt;/Text&gt;&#10;                &lt;Text style={{ fontSize: 15, color: '#546779', lineHeight: 1.55 }}&gt;未闭环任务、全部 Attempt、恢复前的失败和真实重试都不剔除。只算成功路径，代价一定报低。&lt;/Text&gt;&#10;            &lt;/Box&gt;&#10;&#10;            &lt;Box style={{ width: 396, height: 150, background: '#FFF4E6', borderRadius: 10, padding: '16px 20px', flexDirection: 'column', gap: 6, justifyContent: 'center' }}&gt;&#10;                &lt;Text style={{ fontSize: 17, fontWeight: 'bold', color: '#CB6B28' }}&gt;零成功怎么办&lt;/Text&gt;&#10;                &lt;Text style={{ fontSize: 15, color: '#546779', lineHeight: 1.55 }}&gt;一项都没闭环时，单位成功代价没有定义，不能写成无穷大或零，只报总投入。&lt;/Text&gt;&#10;            &lt;/Box&gt;&#10;&#10;        &lt;/Box&gt;&#10;&#10;        &lt;Box style={{ width: 720, flexDirection: 'column', justifyContent: 'center', gap: 10 }}&gt;&#10;&#10;            &lt;Box style={{ width: 720, flexDirection: 'row', padding: '0 18px', gap: 16, alignItems: 'center', height: 26 }}&gt;&#10;                &lt;Box style={{ width: 190 }}&gt;&lt;Text style={{ fontSize: 14, color: '#546779' }}&gt;要报什么&lt;/Text&gt;&lt;/Box&gt;&#10;                &lt;Box style={{ flex: 1 }}&gt;&lt;Text style={{ fontSize: 14, color: '#546779' }}&gt;需要什么证据&lt;/Text&gt;&lt;/Box&gt;&#10;            &lt;/Box&gt;&#10;&#10;            &lt;Box style={{ width: 720, height: 92, background: '#F4F7FA', borderRadius: 8, padding: '0 18px', flexDirection: 'row', alignItems: 'center', gap: 16 }}&gt;&#10;                &lt;Box style={{ width: 4, height: 60, background: '#276FBF' }} /&gt;&#10;                &lt;Box style={{ width: 170 }}&gt;&lt;Text style={{ fontSize: 17, fontWeight: 'bold', color: '#20344B' }}&gt;调用与 Token&lt;/Text&gt;&lt;/Box&gt;&#10;                &lt;Box style={{ flex: 1 }}&gt;&lt;Text style={{ fontSize: 15, color: '#546779', lineHeight: 1.5 }}&gt;有真实用量记录时，报调用次数与 Token 数，并注明统计口径与时间范围&lt;/Text&gt;&lt;/Box&gt;&#10;            &lt;/Box&gt;&#10;&#10;            &lt;Box style={{ width: 720, height: 92, background: '#FFF4E6', borderRadius: 8, padding: '0 18px', flexDirection: 'row', alignItems: 'center', gap: 16 }}&gt;&#10;                &lt;Box style={{ width: 4, height: 60, background: '#CB6B28' }} /&gt;&#10;                &lt;Box style={{ width: 170 }}&gt;&lt;Text style={{ fontSize: 17, fontWeight: 'bold', color: '#CB6B28' }}&gt;金额&lt;/Text&gt;&lt;/Box&gt;&#10;                &lt;Box style={{ flex: 1 }}&gt;&lt;Text style={{ fontSize: 15, color: '#546779', lineHeight: 1.5 }}&gt;需要真实用量加上对应时间的计价，缺任何一样就不写金额&lt;/Text&gt;&lt;/Box&gt;&#10;            &lt;/Box&gt;&#10;&#10;            &lt;Box style={{ width: 720, height: 92, background: '#F4F7FA', borderRadius: 8, padding: '0 18px', flexDirection: 'row', alignItems: 'center', gap: 16 }}&gt;&#10;                &lt;Box style={{ width: 4, height: 60, background: '#276FBF' }} /&gt;&#10;                &lt;Box style={{ width: 170 }}&gt;&lt;Text style={{ fontSize: 17, fontWeight: 'bold', color: '#20344B' }}&gt;墙钟耗时&lt;/Text&gt;&lt;/Box&gt;&#10;                &lt;Box style={{ flex: 1 }}&gt;&lt;Text style={{ fontSize: 15, color: '#546779', lineHeight: 1.5 }}&gt;含暂停与人工排查的挂钟时间，要说明它受了哪些人工介入影响&lt;/Text&gt;&lt;/Box&gt;&#10;            &lt;/Box&gt;&#10;&#10;            &lt;Box style={{ width: 720, height: 92, background: '#F4F7FA', borderRadius: 8, padding: '0 18px', flexDirection: 'row', alignItems: 'center', gap: 16 }}&gt;&#10;                &lt;Box style={{ width: 4, height: 60, background: '#276FBF' }} /&gt;&#10;                &lt;Box style={{ width: 170 }}&gt;&lt;Text style={{ fontSize: 17, fontWeight: 'bold', color: '#20344B' }}&gt;虚拟业务等待&lt;/Text&gt;&lt;/Box&gt;&#10;                &lt;Box style={{ flex: 1 }}&gt;&lt;Text style={{ fontSize: 15, color: '#546779', lineHeight: 1.5 }}&gt;与墙钟时间不是一回事，不能拿来代替模型吞吐或真实业务延迟&lt;/Text&gt;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9 跨案例比较与研究设计&lt;/Text&gt;&#10;        &lt;Text style={{ fontSize: 14, color: '#546779' }}&gt;16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4.9.5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调用数、金额与耗时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调用数不是货币费用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609600" y="2219325"/>
            <a:ext cx="37719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00100" y="2543175"/>
            <a:ext cx="3390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分子包含什么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00100" y="2800350"/>
            <a:ext cx="3390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未闭环任务、全部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、恢复前的失败和真实重试都不剔除。只算成功路径，代价一定报低。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609600" y="3781425"/>
            <a:ext cx="3771900" cy="142875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800100" y="4105275"/>
            <a:ext cx="3390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零成功怎么办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800100" y="4362450"/>
            <a:ext cx="3390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一项都没闭环时，单位成功代价没有定义，不能写成无穷大或零，只报总投入。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4895850" y="1695450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要报什么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858000" y="1695450"/>
            <a:ext cx="455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需要什么证据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4724400" y="1990725"/>
            <a:ext cx="68580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63" name=""/>
          <p:cNvSpPr/>
          <p:nvPr/>
        </p:nvSpPr>
        <p:spPr>
          <a:xfrm rot="0" flipH="0" flipV="0">
            <a:off x="4895850" y="2143125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5086350" y="2333625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调用与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Token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6858000" y="2171700"/>
            <a:ext cx="4552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有真实用量记录时，报调用次数与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数，并注明统计口径与时间范围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4724400" y="2962275"/>
            <a:ext cx="6858000" cy="876300"/>
          </a:xfrm>
          <a:prstGeom prst="roundRect">
            <a:avLst>
              <a:gd name="adj" fmla="val 869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67" name=""/>
          <p:cNvSpPr/>
          <p:nvPr/>
        </p:nvSpPr>
        <p:spPr>
          <a:xfrm rot="0" flipH="0" flipV="0">
            <a:off x="4895850" y="3114675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5086350" y="3305175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金额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6858000" y="3276600"/>
            <a:ext cx="45529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需要真实用量加上对应时间的计价，缺任何一样就不写金额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4724400" y="3933825"/>
            <a:ext cx="68580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71" name=""/>
          <p:cNvSpPr/>
          <p:nvPr/>
        </p:nvSpPr>
        <p:spPr>
          <a:xfrm rot="0" flipH="0" flipV="0">
            <a:off x="4895850" y="4086225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5086350" y="4276725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墙钟耗时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858000" y="4248150"/>
            <a:ext cx="45529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含暂停与人工排查的挂钟时间，要说明它受了哪些人工介入影响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4724400" y="4905375"/>
            <a:ext cx="68580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75" name=""/>
          <p:cNvSpPr/>
          <p:nvPr/>
        </p:nvSpPr>
        <p:spPr>
          <a:xfrm rot="0" flipH="0" flipV="0">
            <a:off x="4895850" y="5057775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5086350" y="5248275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虚拟业务等待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858000" y="5219700"/>
            <a:ext cx="45529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与墙钟时间不是一回事，不能拿来代替模型吞吐或真实业务延迟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跨案例比较与研究设计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25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80" name="" descr="&lt;Slide notes={`最后一块，是让结论站得住、让计划能判分。&#10;&#10;首先要承认不确定性。三次演算的样本太少，中心值后面必须跟着范围和失败情况，不能只报一个好看的平均数。&#10;&#10;其次，观察单位要独立。同一个 Run 里的角色和消息不是独立样本，要按 Run 重采样，保留成对批次的结构。&#10;&#10;第三，跨场景比较之前先统一尺度，否则把两个名字相近的比率相减，算出来的差没有意义。&#10;&#10;最后，把计划写成能被别人判分的一页。写完之后请另一个人按规则判一段示例，判不动就先改量表，而不是先改实验。&#10;&#10;我用四组「应做」和「避免」把这些纪律列清楚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4　　4.9.6 — 4.9.9&lt;/Text&gt;&#10;&#10;        &lt;Text style={{ fontSize: 56, fontWeight: 'bold', color: '#20344B', lineHeight: 1.15 }}&gt;④ 让结论站得住，让计划能判分&lt;/Text&gt;&#10;&#10;        &lt;Box style={{ width: 72, height: 4, background: '#276FBF' }} /&gt;&#10;&#10;        &lt;Text style={{ fontSize: 18, color: '#546779', lineHeight: 1.7, width: 1000 }}&gt;重复要独立，尺度要先统一，计划要能被别人按规则判分。&lt;/Text&gt;&#10;&#10;        &lt;Box style={{ flexDirection: 'row', alignItems: 'center', marginTop: 10 }}&gt;&#10;            &lt;Box style={{ width: 240, height: 72, background: '#EDF4FC', borderRadius: 10, justifyContent: 'center', alignItems: 'center' }}&gt;&#10;                &lt;Text style={{ fontSize: 18, color: '#276FBF' }}&gt;独立重复&lt;/Text&gt;&#10;            &lt;/Box&gt;&#10;            &lt;Box style={{ width: 44, height: 72, justifyContent: 'center', alignItems: 'center' }}&gt;&#10;                &lt;Text style={{ fontSize: 26, color: '#276FBF' }}&gt;›&lt;/Text&gt;&#10;            &lt;/Box&gt;&#10;            &lt;Box style={{ width: 240, height: 72, background: '#EDF4FC', borderRadius: 10, justifyContent: 'center', alignItems: 'center' }}&gt;&#10;                &lt;Text style={{ fontSize: 18, color: '#276FBF' }}&gt;统一尺度&lt;/Text&gt;&#10;            &lt;/Box&gt;&#10;            &lt;Box style={{ width: 44, height: 72, justifyContent: 'center', alignItems: 'center' }}&gt;&#10;                &lt;Text style={{ fontSize: 26, color: '#276FBF' }}&gt;›&lt;/Text&gt;&#10;            &lt;/Box&gt;&#10;            &lt;Box style={{ width: 240, height: 72, background: '#EDF4FC', borderRadius: 10, justifyContent: 'center', alignItems: 'center' }}&gt;&#10;                &lt;Text style={{ fontSize: 18, color: '#276FBF' }}&gt;六个问题&lt;/Text&gt;&#10;            &lt;/Box&gt;&#10;            &lt;Box style={{ width: 44, height: 72, justifyContent: 'center', alignItems: 'center' }}&gt;&#10;                &lt;Text style={{ fontSize: 26, color: '#26816B' }}&gt;›&lt;/Text&gt;&#10;            &lt;/Box&gt;&#10;            &lt;Box style={{ width: 240, height: 72, background: '#ECF7F2', borderRadius: 10, justifyContent: 'center', alignItems: 'center' }}&gt;&#10;                &lt;Text style={{ fontSize: 18, color: '#26816B' }}&gt;结果与局限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9 跨案例比较与研究设计&lt;/Text&gt;&#10;        &lt;Text style={{ fontSize: 14, color: '#546779' }}&gt;17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09600" y="17811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4.9.6 — 4.9.9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09600" y="21621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让结论站得住，让计划能判分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609600" y="31146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609600" y="3362325"/>
            <a:ext cx="95250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重复要独立，尺度要先统一，计划要能被别人按规则判分。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609600" y="4019550"/>
            <a:ext cx="2286000" cy="685800"/>
          </a:xfrm>
          <a:prstGeom prst="roundRect">
            <a:avLst>
              <a:gd name="adj" fmla="val 1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140970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独立重复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30670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3314700" y="4019550"/>
            <a:ext cx="2286000" cy="685800"/>
          </a:xfrm>
          <a:prstGeom prst="roundRect">
            <a:avLst>
              <a:gd name="adj" fmla="val 1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411480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统一尺度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5772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6019800" y="4019550"/>
            <a:ext cx="2286000" cy="685800"/>
          </a:xfrm>
          <a:prstGeom prst="roundRect">
            <a:avLst>
              <a:gd name="adj" fmla="val 1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81990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六个问题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84772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8724900" y="4019550"/>
            <a:ext cx="2286000" cy="685800"/>
          </a:xfrm>
          <a:prstGeom prst="roundRect">
            <a:avLst>
              <a:gd name="adj" fmla="val 1388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9439275" y="425767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结果与局限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跨案例比较与研究设计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25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99" name="" descr="&lt;Slide notes={`我把不确定性这块的纪律列成四组对照。&#10;&#10;第一组，先把每次 Run 的结果单独列出来，然后才给中心值、范围和失败情况；要避免的是把同一个 Run 里的角色和消息当成独立样本，那样会把样本量凭空放大。&#10;&#10;第二组，要等到有足够多的独立 Run 之后，再按 Run 做重采样，同时保留成对批次的结构；要避免的是对三次演算就加上显著性星号，三次根本撑不起这种判断。&#10;&#10;第三组，同一批里要同时包含 A 和 B，次序事先定好，并且记录服务和版本的变化；要避免上午全跑 A、下午全跑 B，那样时间和组别就混在一起了，涨落到底是版本还是时段，说不清。&#10;&#10;第四组，预算和停止规则要预登记，中途变更就另立一个阶段；要避免跑一次不满意就重跑到满意为止，把原来的计划和结果藏起来。&#10;&#10;最后一句：区间反映的是给定设计下的估计不确定性，它不保证模型设定是对的，也不会把角色变成现实的随机样本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9.6　独立重复、随机条件与不确定性&lt;/Text&gt;&#10;            &lt;Text style={{ fontSize: 34, fontWeight: 'bold', color: '#20344B' }}&gt;四组「应做」与「避免」&lt;/Text&gt;&#10;        &lt;/Box&gt;&#10;    &lt;/Box&gt;&#10;&#10;    &lt;Box style={{ height: 540, flexDirection: 'column', gap: 12 }}&gt;&#10;&#10;        &lt;Box style={{ width: 1152, flexDirection: 'row', gap: 24, height: 30 }}&gt;&#10;            &lt;Box style={{ width: 564, flexDirection: 'row', alignItems: 'center', gap: 10 }}&gt;&#10;                &lt;Box style={{ width: 4, height: 20, background: '#26816B' }} /&gt;&#10;                &lt;Text style={{ fontSize: 15, fontWeight: 'bold', color: '#26816B' }}&gt;应做&lt;/Text&gt;&#10;            &lt;/Box&gt;&#10;            &lt;Box style={{ width: 564, flexDirection: 'row', alignItems: 'center', gap: 10 }}&gt;&#10;                &lt;Box style={{ width: 4, height: 20, background: '#CB6B28' }} /&gt;&#10;                &lt;Text style={{ fontSize: 15, fontWeight: 'bold', color: '#CB6B28' }}&gt;避免&lt;/Text&gt;&#10;            &lt;/Box&gt;&#10;        &lt;/Box&gt;&#10;&#10;        &lt;Box style={{ width: 1152, flexDirection: 'row', gap: 24 }}&gt;&#10;            &lt;Box style={{ width: 564, height: 84, background: '#ECF7F2', borderRadius: 8, padding: '0 18px', flexDirection: 'row', alignItems: 'center', gap: 14 }}&gt;&#10;                &lt;Box style={{ width: 4, height: 52, background: '#26816B' }} /&gt;&#10;                &lt;Text style={{ fontSize: 15, color: '#20344B', lineHeight: 1.5, flex: 1 }}&gt;先列每 Run 结果，再中心值、范围、失败&lt;/Text&gt;&#10;            &lt;/Box&gt;&#10;            &lt;Box style={{ width: 564, height: 84, background: '#FFF4E6', borderRadius: 8, padding: '0 18px', flexDirection: 'row', alignItems: 'center', gap: 14 }}&gt;&#10;                &lt;Box style={{ width: 4, height: 52, background: '#CB6B28' }} /&gt;&#10;                &lt;Text style={{ fontSize: 15, color: '#20344B', lineHeight: 1.5, flex: 1 }}&gt;将同 Run 角色、消息当独立样本&lt;/Text&gt;&#10;            &lt;/Box&gt;&#10;        &lt;/Box&gt;&#10;&#10;        &lt;Box style={{ width: 1152, flexDirection: 'row', gap: 24 }}&gt;&#10;            &lt;Box style={{ width: 564, height: 84, background: '#ECF7F2', borderRadius: 8, padding: '0 18px', flexDirection: 'row', alignItems: 'center', gap: 14 }}&gt;&#10;                &lt;Box style={{ width: 4, height: 52, background: '#26816B' }} /&gt;&#10;                &lt;Text style={{ fontSize: 15, color: '#20344B', lineHeight: 1.5, flex: 1 }}&gt;足够独立 Run 后按 Run 重采样，保留成对批次结构&lt;/Text&gt;&#10;            &lt;/Box&gt;&#10;            &lt;Box style={{ width: 564, height: 84, background: '#FFF4E6', borderRadius: 8, padding: '0 18px', flexDirection: 'row', alignItems: 'center', gap: 14 }}&gt;&#10;                &lt;Box style={{ width: 4, height: 52, background: '#CB6B28' }} /&gt;&#10;                &lt;Text style={{ fontSize: 15, color: '#20344B', lineHeight: 1.5, flex: 1 }}&gt;对三次演算加显著性星号&lt;/Text&gt;&#10;            &lt;/Box&gt;&#10;        &lt;/Box&gt;&#10;&#10;        &lt;Box style={{ width: 1152, flexDirection: 'row', gap: 24 }}&gt;&#10;            &lt;Box style={{ width: 564, height: 84, background: '#ECF7F2', borderRadius: 8, padding: '0 18px', flexDirection: 'row', alignItems: 'center', gap: 14 }}&gt;&#10;                &lt;Box style={{ width: 4, height: 52, background: '#26816B' }} /&gt;&#10;                &lt;Text style={{ fontSize: 15, color: '#20344B', lineHeight: 1.5, flex: 1 }}&gt;同批含 A/B，事先确定次序，记录服务与版本变化&lt;/Text&gt;&#10;            &lt;/Box&gt;&#10;            &lt;Box style={{ width: 564, height: 84, background: '#FFF4E6', borderRadius: 8, padding: '0 18px', flexDirection: 'row', alignItems: 'center', gap: 14 }}&gt;&#10;                &lt;Box style={{ width: 4, height: 52, background: '#CB6B28' }} /&gt;&#10;                &lt;Text style={{ fontSize: 15, color: '#20344B', lineHeight: 1.5, flex: 1 }}&gt;上午全 A、下午全 B，把时间混为组别&lt;/Text&gt;&#10;            &lt;/Box&gt;&#10;        &lt;/Box&gt;&#10;&#10;        &lt;Box style={{ width: 1152, flexDirection: 'row', gap: 24 }}&gt;&#10;            &lt;Box style={{ width: 564, height: 84, background: '#ECF7F2', borderRadius: 8, padding: '0 18px', flexDirection: 'row', alignItems: 'center', gap: 14 }}&gt;&#10;                &lt;Box style={{ width: 4, height: 52, background: '#26816B' }} /&gt;&#10;                &lt;Text style={{ fontSize: 15, color: '#20344B', lineHeight: 1.5, flex: 1 }}&gt;预登记预算与停止规则，变更另立阶段&lt;/Text&gt;&#10;            &lt;/Box&gt;&#10;            &lt;Box style={{ width: 564, height: 84, background: '#FFF4E6', borderRadius: 8, padding: '0 18px', flexDirection: 'row', alignItems: 'center', gap: 14 }}&gt;&#10;                &lt;Box style={{ width: 4, height: 52, background: '#CB6B28' }} /&gt;&#10;                &lt;Text style={{ fontSize: 15, color: '#20344B', lineHeight: 1.5, flex: 1 }}&gt;重跑到满意为止，隐藏原计划与原结果&lt;/Text&gt;&#10;            &lt;/Box&gt;&#10;        &lt;/Box&gt;&#10;&#10;        &lt;Box style={{ width: 1152, height: 76, background: '#F4F7FA', borderRadius: 10, padding: '0 24px', flexDirection: 'row', alignItems: 'center', gap: 18 }}&gt;&#10;            &lt;Box style={{ width: 4, height: 48, background: '#276FBF' }} /&gt;&#10;            &lt;Text style={{ fontSize: 15, color: '#546779', lineHeight: 1.55, flex: 1 }}&gt;区间反映给定设计下的估计不确定性，不保证模型设定真实，也不把角色变成现实随机样本。&lt;/Text&gt;&#10;        &lt;/Box&gt;&#10;&#10;    &lt;/Box&gt;&#10;&#10;    &lt;Box style={{ height: 40, flexDirection: 'row', justifyContent: 'space-between', alignItems: 'center' }}&gt;&#10;        &lt;Text style={{ fontSize: 14, color: '#546779' }}&gt;4.9 跨案例比较与研究设计&lt;/Text&gt;&#10;        &lt;Text style={{ fontSize: 14, color: '#546779' }}&gt;18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4.9.6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独立重复、随机条件与不确定性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四组「应做」与「避免」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609600" y="1190625"/>
            <a:ext cx="38100" cy="1905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742950" y="12001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应做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6210300" y="1190625"/>
            <a:ext cx="38100" cy="190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343650" y="12001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避免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609600" y="1543050"/>
            <a:ext cx="5372100" cy="800100"/>
          </a:xfrm>
          <a:prstGeom prst="roundRect">
            <a:avLst>
              <a:gd name="adj" fmla="val 952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09" name=""/>
          <p:cNvSpPr/>
          <p:nvPr/>
        </p:nvSpPr>
        <p:spPr>
          <a:xfrm rot="0" flipH="0" flipV="0">
            <a:off x="781050" y="1695450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952500" y="1819275"/>
            <a:ext cx="4857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先列每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结果，再中心值、范围、失败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6210300" y="1543050"/>
            <a:ext cx="5372100" cy="80010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12" name=""/>
          <p:cNvSpPr/>
          <p:nvPr/>
        </p:nvSpPr>
        <p:spPr>
          <a:xfrm rot="0" flipH="0" flipV="0">
            <a:off x="6381750" y="1695450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553200" y="1819275"/>
            <a:ext cx="4857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将同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角色、消息当独立样本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609600" y="2457450"/>
            <a:ext cx="5372100" cy="800100"/>
          </a:xfrm>
          <a:prstGeom prst="roundRect">
            <a:avLst>
              <a:gd name="adj" fmla="val 952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15" name=""/>
          <p:cNvSpPr/>
          <p:nvPr/>
        </p:nvSpPr>
        <p:spPr>
          <a:xfrm rot="0" flipH="0" flipV="0">
            <a:off x="781050" y="2609850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952500" y="2733675"/>
            <a:ext cx="4857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足够独立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后按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重采样，保留成对批次结构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6210300" y="2457450"/>
            <a:ext cx="5372100" cy="80010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18" name=""/>
          <p:cNvSpPr/>
          <p:nvPr/>
        </p:nvSpPr>
        <p:spPr>
          <a:xfrm rot="0" flipH="0" flipV="0">
            <a:off x="6381750" y="2609850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553200" y="2733675"/>
            <a:ext cx="4857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对三次演算加显著性星号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609600" y="3371850"/>
            <a:ext cx="5372100" cy="800100"/>
          </a:xfrm>
          <a:prstGeom prst="roundRect">
            <a:avLst>
              <a:gd name="adj" fmla="val 952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781050" y="3524250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952500" y="3648075"/>
            <a:ext cx="4857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同批含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A/B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，事先确定次序，记录服务与版本变化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6210300" y="3371850"/>
            <a:ext cx="5372100" cy="80010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24" name=""/>
          <p:cNvSpPr/>
          <p:nvPr/>
        </p:nvSpPr>
        <p:spPr>
          <a:xfrm rot="0" flipH="0" flipV="0">
            <a:off x="6381750" y="3524250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553200" y="3648075"/>
            <a:ext cx="4857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上午全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A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、下午全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B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，把时间混为组别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609600" y="4286250"/>
            <a:ext cx="5372100" cy="800100"/>
          </a:xfrm>
          <a:prstGeom prst="roundRect">
            <a:avLst>
              <a:gd name="adj" fmla="val 952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27" name=""/>
          <p:cNvSpPr/>
          <p:nvPr/>
        </p:nvSpPr>
        <p:spPr>
          <a:xfrm rot="0" flipH="0" flipV="0">
            <a:off x="781050" y="4438650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952500" y="4562475"/>
            <a:ext cx="4857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预登记预算与停止规则，变更另立阶段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6210300" y="4286250"/>
            <a:ext cx="5372100" cy="80010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30" name=""/>
          <p:cNvSpPr/>
          <p:nvPr/>
        </p:nvSpPr>
        <p:spPr>
          <a:xfrm rot="0" flipH="0" flipV="0">
            <a:off x="6381750" y="4438650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6553200" y="4562475"/>
            <a:ext cx="4857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重跑到满意为止，隐藏原计划与原结果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609600" y="520065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3" name=""/>
          <p:cNvSpPr/>
          <p:nvPr/>
        </p:nvSpPr>
        <p:spPr>
          <a:xfrm rot="0" flipH="0" flipV="0">
            <a:off x="838200" y="533400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1047750" y="5429250"/>
            <a:ext cx="103060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区间反映给定设计下的估计不确定性，不保证模型设定真实，也不把角色变成现实随机样本。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跨案例比较与研究设计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25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37" name="" descr="&lt;Slide notes={`跨场景比较最容易出错的地方，是把名字相似的两个指标直接相减。&#10;&#10;比如说，交接案例关心关键事实有没有到达，学习案例关心约束有没有被满足。这两个东西背后的口径完全不一样，你拿一个减去另一个，得到的差没有意义。&#10;&#10;能比较的是方法：两个案例的核对方法怎样保留来源，这一点可以互相参照。&#10;&#10;所以要比之前，先统一五件事。&#10;&#10;第一，证据完整程度：输入、提交、评分、失败，是不是都能定位。第二，开销：模型、计价、窗口、参与者规模是否一致。第三，机制：是不是同类任务、有没有共同基线、差异是否明确。第四，鲁棒性：扰动是不是事前定义好的，是不是逐条件报告。第五，应用价值：业务目标、现实约束和外部验证是否相同。&#10;&#10;还有一点，同名 Skill 迁移到新场景也要重新验证内容与工具条件；换模型、换地图、换视野范围，都属于新条件，不能用它去覆盖旧结果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9.7　跨场景先统一尺度&lt;/Text&gt;&#10;            &lt;Text style={{ fontSize: 34, fontWeight: 'bold', color: '#20344B' }}&gt;跨场景比较，先统一五件事&lt;/Text&gt;&#10;        &lt;/Box&gt;&#10;    &lt;/Box&gt;&#10;&#10;    &lt;Box style={{ height: 540, flexDirection: 'row', alignItems: 'center', gap: 36 }}&gt;&#10;&#10;        &lt;Box style={{ width: 356, flexDirection: 'column', justifyContent: 'center', gap: 14 }}&gt;&#10;            &lt;Text style={{ fontSize: 22, fontWeight: 'bold', color: '#20344B', lineHeight: 1.4 }}&gt;界面相似，{'\n'}不等于可比&lt;/Text&gt;&#10;            &lt;Box style={{ width: 72, height: 4, background: '#276FBF' }} /&gt;&#10;            &lt;Text style={{ fontSize: 16, color: '#546779', lineHeight: 1.7, width: 356 }}&gt;交接与学习两个案例可以互相核对「方法怎样保留来源」，但不能直接把「信息到达率」减去「约束满足率」。&lt;/Text&gt;&#10;            &lt;Box style={{ width: 356, height: 150, background: '#FFF4E6', borderRadius: 10, padding: '16px 20px', flexDirection: 'column', gap: 6, justifyContent: 'center' }}&gt;&#10;                &lt;Text style={{ fontSize: 17, fontWeight: 'bold', color: '#CB6B28' }}&gt;同名 Skill 也要重验&lt;/Text&gt;&#10;                &lt;Text style={{ fontSize: 15, color: '#546779', lineHeight: 1.55 }}&gt;迁移到新场景要重新验证内容与工具条件；换模型、地图或视野属于新条件，不覆盖旧结果。&lt;/Text&gt;&#10;            &lt;/Box&gt;&#10;        &lt;/Box&gt;&#10;&#10;        &lt;Box style={{ width: 760, flexDirection: 'column', justifyContent: 'center', gap: 10 }}&gt;&#10;&#10;            &lt;Box style={{ width: 760, flexDirection: 'row', padding: '0 18px', gap: 16, alignItems: 'center', height: 26 }}&gt;&#10;                &lt;Box style={{ width: 170 }}&gt;&lt;Text style={{ fontSize: 14, color: '#546779' }}&gt;可比方面&lt;/Text&gt;&lt;/Box&gt;&#10;                &lt;Box style={{ flex: 1 }}&gt;&lt;Text style={{ fontSize: 14, color: '#546779' }}&gt;先统一什么&lt;/Text&gt;&lt;/Box&gt;&#10;            &lt;/Box&gt;&#10;&#10;            &lt;Box style={{ width: 760, height: 76, background: '#F4F7FA', borderRadius: 8, padding: '0 18px', flexDirection: 'row', alignItems: 'center', gap: 16 }}&gt;&#10;                &lt;Box style={{ width: 4, height: 48, background: '#276FBF' }} /&gt;&#10;                &lt;Box style={{ width: 150 }}&gt;&lt;Text style={{ fontSize: 17, fontWeight: 'bold', color: '#20344B' }}&gt;证据完整程度&lt;/Text&gt;&lt;/Box&gt;&#10;                &lt;Box style={{ flex: 1 }}&gt;&lt;Text style={{ fontSize: 15, color: '#546779', lineHeight: 1.5 }}&gt;输入、提交、评分、失败是否都能定位&lt;/Text&gt;&lt;/Box&gt;&#10;            &lt;/Box&gt;&#10;&#10;            &lt;Box style={{ width: 760, height: 76, background: '#F4F7FA', borderRadius: 8, padding: '0 18px', flexDirection: 'row', alignItems: 'center', gap: 16 }}&gt;&#10;                &lt;Box style={{ width: 4, height: 48, background: '#276FBF' }} /&gt;&#10;                &lt;Box style={{ width: 150 }}&gt;&lt;Text style={{ fontSize: 17, fontWeight: 'bold', color: '#20344B' }}&gt;开销&lt;/Text&gt;&lt;/Box&gt;&#10;                &lt;Box style={{ flex: 1 }}&gt;&lt;Text style={{ fontSize: 15, color: '#546779', lineHeight: 1.5 }}&gt;模型、计价、窗口、参与者规模是否一致&lt;/Text&gt;&lt;/Box&gt;&#10;            &lt;/Box&gt;&#10;&#10;            &lt;Box style={{ width: 760, height: 76, background: '#F4F7FA', borderRadius: 8, padding: '0 18px', flexDirection: 'row', alignItems: 'center', gap: 16 }}&gt;&#10;                &lt;Box style={{ width: 4, height: 48, background: '#276FBF' }} /&gt;&#10;                &lt;Box style={{ width: 150 }}&gt;&lt;Text style={{ fontSize: 17, fontWeight: 'bold', color: '#20344B' }}&gt;一种机制&lt;/Text&gt;&lt;/Box&gt;&#10;                &lt;Box style={{ flex: 1 }}&gt;&lt;Text style={{ fontSize: 15, color: '#546779', lineHeight: 1.5 }}&gt;同类任务、共同基线、差异是否明确&lt;/Text&gt;&lt;/Box&gt;&#10;            &lt;/Box&gt;&#10;&#10;            &lt;Box style={{ width: 760, height: 76, background: '#F4F7FA', borderRadius: 8, padding: '0 18px', flexDirection: 'row', alignItems: 'center', gap: 16 }}&gt;&#10;                &lt;Box style={{ width: 4, height: 48, background: '#276FBF' }} /&gt;&#10;                &lt;Box style={{ width: 150 }}&gt;&lt;Text style={{ fontSize: 17, fontWeight: 'bold', color: '#20344B' }}&gt;鲁棒性&lt;/Text&gt;&lt;/Box&gt;&#10;                &lt;Box style={{ flex: 1 }}&gt;&lt;Text style={{ fontSize: 15, color: '#546779', lineHeight: 1.5 }}&gt;事前定义模型、布局、事实扰动，逐条件报告&lt;/Text&gt;&lt;/Box&gt;&#10;            &lt;/Box&gt;&#10;&#10;            &lt;Box style={{ width: 760, height: 76, background: '#ECF7F2', borderRadius: 8, padding: '0 18px', flexDirection: 'row', alignItems: 'center', gap: 16 }}&gt;&#10;                &lt;Box style={{ width: 4, height: 48, background: '#26816B' }} /&gt;&#10;                &lt;Box style={{ width: 150 }}&gt;&lt;Text style={{ fontSize: 17, fontWeight: 'bold', color: '#26816B' }}&gt;应用价值&lt;/Text&gt;&lt;/Box&gt;&#10;                &lt;Box style={{ flex: 1 }}&gt;&lt;Text style={{ fontSize: 15, color: '#546779', lineHeight: 1.5 }}&gt;共同业务目标、现实约束、外部验证&lt;/Text&gt;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9 跨案例比较与研究设计&lt;/Text&gt;&#10;        &lt;Text style={{ fontSize: 14, color: '#546779' }}&gt;19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4.9.7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跨场景先统一尺度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跨场景比较，先统一五件事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609600" y="1962150"/>
            <a:ext cx="3390900" cy="704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界面相似，</a:t>
            </a:r>
            <a:endParaRPr/>
          </a:p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不等于可比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609600" y="28003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609600" y="2971800"/>
            <a:ext cx="33909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交接与学习两个案例可以互相核对「方法怎样保留来源」，但不能直接把「信息到达率」减去「约束满足率」。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609600" y="4038600"/>
            <a:ext cx="3390900" cy="142875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800100" y="4362450"/>
            <a:ext cx="3009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同名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也要重验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800100" y="4619625"/>
            <a:ext cx="3009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迁移到新场景要重新验证内容与工具条件；换模型、地图或视野属于新条件，不覆盖旧结果。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4514850" y="1590675"/>
            <a:ext cx="1619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可比方面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6286500" y="1590675"/>
            <a:ext cx="512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先统一什么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4343400" y="1885950"/>
            <a:ext cx="72390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1" name=""/>
          <p:cNvSpPr/>
          <p:nvPr/>
        </p:nvSpPr>
        <p:spPr>
          <a:xfrm rot="0" flipH="0" flipV="0">
            <a:off x="4514850" y="201930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4705350" y="2152650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证据完整程度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286500" y="2124075"/>
            <a:ext cx="5124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输入、提交、评分、失败是否都能定位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4343400" y="2705100"/>
            <a:ext cx="72390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5" name=""/>
          <p:cNvSpPr/>
          <p:nvPr/>
        </p:nvSpPr>
        <p:spPr>
          <a:xfrm rot="0" flipH="0" flipV="0">
            <a:off x="4514850" y="283845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4705350" y="2971800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开销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6286500" y="2943225"/>
            <a:ext cx="5124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模型、计价、窗口、参与者规模是否一致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4343400" y="3524250"/>
            <a:ext cx="72390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9" name=""/>
          <p:cNvSpPr/>
          <p:nvPr/>
        </p:nvSpPr>
        <p:spPr>
          <a:xfrm rot="0" flipH="0" flipV="0">
            <a:off x="4514850" y="365760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4705350" y="3790950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一种机制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6286500" y="3762375"/>
            <a:ext cx="5124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同类任务、共同基线、差异是否明确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4343400" y="4343400"/>
            <a:ext cx="72390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63" name=""/>
          <p:cNvSpPr/>
          <p:nvPr/>
        </p:nvSpPr>
        <p:spPr>
          <a:xfrm rot="0" flipH="0" flipV="0">
            <a:off x="4514850" y="447675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4705350" y="4610100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鲁棒性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6286500" y="4581525"/>
            <a:ext cx="5124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事前定义模型、布局、事实扰动，逐条件报告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4343400" y="5162550"/>
            <a:ext cx="72390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67" name=""/>
          <p:cNvSpPr/>
          <p:nvPr/>
        </p:nvSpPr>
        <p:spPr>
          <a:xfrm rot="0" flipH="0" flipV="0">
            <a:off x="4514850" y="5295900"/>
            <a:ext cx="38100" cy="4572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4705350" y="5429250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应用价值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6286500" y="5400675"/>
            <a:ext cx="5124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共同业务目标、现实约束、外部验证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跨案例比较与研究设计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25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402" name="" descr="&lt;Slide notes={`研究计划写在一页纸上，要让别人能照着判分。我把它拆成六个必须回答的问题。&#10;&#10;第一，谁遇到了什么问题，唯一的主要观察结果是什么？注意「唯一」这个词，主指标只能有一个。&#10;&#10;第二，作者、角色、对象、评阅者各知道什么？这个决定信息边界，也决定了实验是不是公平。&#10;&#10;第三，改哪一项，哪些条件两组保持相同？只能改一处，其余全部冻结。&#10;&#10;第四，单位是什么、跑几轮 Run、观察窗口多长、预算多少、什么条件下停止？这些都要在开始之前写下来。&#10;&#10;第五，什么样的结果算成立，未知、未完成和合理拒绝怎么记？这四类都要在量表里有着落。&#10;&#10;第六，成本、失败和没有触发的条件，怎样进入报告？不能只报成功的那部分。&#10;&#10;书稿里给了两份模板可以直接填：实验计划和干预差异表。干预差异表的作用是精确保存两组不同的那一段文本或布局，避免改动没留档。&#10;&#10;最后一句很关键：请别人先按规则判一段示例，判不动就先改量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9.8　一页研究计划应能让别人判分&lt;/Text&gt;&#10;            &lt;Text style={{ fontSize: 34, fontWeight: 'bold', color: '#20344B' }}&gt;六个问题写完，别人才能判分&lt;/Text&gt;&#10;        &lt;/Box&gt;&#10;    &lt;/Box&gt;&#10;&#10;    &lt;Box style={{ height: 540, flexDirection: 'row', alignItems: 'center', gap: 36 }}&gt;&#10;&#10;        &lt;Box style={{ width: 612, flexDirection: 'column', justifyContent: 'center', gap: 8 }}&gt;&#10;&#10;            &lt;Box style={{ width: 612, height: 66, flexDirection: 'row', alignItems: 'center', gap: 14 }}&gt;&#10;                &lt;Box style={{ width: 38, height: 38, background: '#276FBF', borderRadius: 19, justifyContent: 'center', alignItems: 'center' }}&gt;&#10;                    &lt;Text style={{ fontSize: 16, fontWeight: 'bold', color: '#FFFFFF' }}&gt;1&lt;/Text&gt;&#10;                &lt;/Box&gt;&#10;                &lt;Text style={{ fontSize: 16, color: '#20344B', lineHeight: 1.45, flex: 1 }}&gt;谁遇到什么问题，唯一的主要观察结果是什么？&lt;/Text&gt;&#10;            &lt;/Box&gt;&#10;&#10;            &lt;Box style={{ width: 612, height: 66, flexDirection: 'row', alignItems: 'center', gap: 14 }}&gt;&#10;                &lt;Box style={{ width: 38, height: 38, background: '#276FBF', borderRadius: 19, justifyContent: 'center', alignItems: 'center' }}&gt;&#10;                    &lt;Text style={{ fontSize: 16, fontWeight: 'bold', color: '#FFFFFF' }}&gt;2&lt;/Text&gt;&#10;                &lt;/Box&gt;&#10;                &lt;Text style={{ fontSize: 16, color: '#20344B', lineHeight: 1.45, flex: 1 }}&gt;作者、角色、对象、评阅者各知道什么？&lt;/Text&gt;&#10;            &lt;/Box&gt;&#10;&#10;            &lt;Box style={{ width: 612, height: 66, flexDirection: 'row', alignItems: 'center', gap: 14 }}&gt;&#10;                &lt;Box style={{ width: 38, height: 38, background: '#276FBF', borderRadius: 19, justifyContent: 'center', alignItems: 'center' }}&gt;&#10;                    &lt;Text style={{ fontSize: 16, fontWeight: 'bold', color: '#FFFFFF' }}&gt;3&lt;/Text&gt;&#10;                &lt;/Box&gt;&#10;                &lt;Text style={{ fontSize: 16, color: '#20344B', lineHeight: 1.45, flex: 1 }}&gt;改哪一项，哪些条件两组保持相同？&lt;/Text&gt;&#10;            &lt;/Box&gt;&#10;&#10;            &lt;Box style={{ width: 612, height: 66, flexDirection: 'row', alignItems: 'center', gap: 14 }}&gt;&#10;                &lt;Box style={{ width: 38, height: 38, background: '#276FBF', borderRadius: 19, justifyContent: 'center', alignItems: 'center' }}&gt;&#10;                    &lt;Text style={{ fontSize: 16, fontWeight: 'bold', color: '#FFFFFF' }}&gt;4&lt;/Text&gt;&#10;                &lt;/Box&gt;&#10;                &lt;Text style={{ fontSize: 16, color: '#20344B', lineHeight: 1.45, flex: 1 }}&gt;单位、Run 数、窗口、预算与停止规则是什么？&lt;/Text&gt;&#10;            &lt;/Box&gt;&#10;&#10;            &lt;Box style={{ width: 612, height: 66, flexDirection: 'row', alignItems: 'center', gap: 14 }}&gt;&#10;                &lt;Box style={{ width: 38, height: 38, background: '#CB6B28', borderRadius: 19, justifyContent: 'center', alignItems: 'center' }}&gt;&#10;                    &lt;Text style={{ fontSize: 16, fontWeight: 'bold', color: '#FFFFFF' }}&gt;5&lt;/Text&gt;&#10;                &lt;/Box&gt;&#10;                &lt;Text style={{ fontSize: 16, color: '#20344B', lineHeight: 1.45, flex: 1 }}&gt;什么算成立，未知、未完成与合理拒绝怎么记？&lt;/Text&gt;&#10;            &lt;/Box&gt;&#10;&#10;            &lt;Box style={{ width: 612, height: 66, flexDirection: 'row', alignItems: 'center', gap: 14 }}&gt;&#10;                &lt;Box style={{ width: 38, height: 38, background: '#26816B', borderRadius: 19, justifyContent: 'center', alignItems: 'center' }}&gt;&#10;                    &lt;Text style={{ fontSize: 16, fontWeight: 'bold', color: '#FFFFFF' }}&gt;6&lt;/Text&gt;&#10;                &lt;/Box&gt;&#10;                &lt;Text style={{ fontSize: 16, color: '#20344B', lineHeight: 1.45, flex: 1 }}&gt;成本、失败与未触发的条件怎样进入报告？&lt;/Text&gt;&#10;            &lt;/Box&gt;&#10;&#10;        &lt;/Box&gt;&#10;&#10;        &lt;Box style={{ width: 504, flexDirection: 'column', justifyContent: 'center', gap: 14 }}&gt;&#10;&#10;            &lt;Box style={{ width: 504, height: 88, background: '#EDF4FC', borderRadius: 10, padding: '14px 20px', flexDirection: 'column', gap: 4, justifyContent: 'center' }}&gt;&#10;                &lt;Text style={{ fontSize: 17, fontWeight: 'bold', color: '#276FBF' }}&gt;实验计划&lt;/Text&gt;&#10;                &lt;Text style={{ fontSize: 14, color: '#546779' }}&gt;templates/study-plan.md —— 问题、角色知识、空间、组别、窗口与评分&lt;/Text&gt;&#10;            &lt;/Box&gt;&#10;&#10;            &lt;Box style={{ width: 504, height: 88, background: '#ECF7F2', borderRadius: 10, padding: '14px 20px', flexDirection: 'column', gap: 4, justifyContent: 'center' }}&gt;&#10;                &lt;Text style={{ fontSize: 17, fontWeight: 'bold', color: '#26816B' }}&gt;干预差异&lt;/Text&gt;&#10;                &lt;Text style={{ fontSize: 14, color: '#546779' }}&gt;templates/intervention-diff.md —— 精确保存两组不同的那一段文本或布局&lt;/Text&gt;&#10;            &lt;/Box&gt;&#10;&#10;            &lt;Box style={{ width: 504, height: 140, background: '#FFF4E6', borderRadius: 10, padding: '16px 20px', flexDirection: 'column', gap: 6, justifyContent: 'center' }}&gt;&#10;                &lt;Text style={{ fontSize: 17, fontWeight: 'bold', color: '#CB6B28' }}&gt;判不动，就先改量表&lt;/Text&gt;&#10;                &lt;Text style={{ fontSize: 15, color: '#546779', lineHeight: 1.55 }}&gt;创建实验前请另一读者按规则判一段示例。判不下来，问题多半出在量表上，不在实验上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9 跨案例比较与研究设计&lt;/Text&gt;&#10;        &lt;Text style={{ fontSize: 14, color: '#546779' }}&gt;20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4.9.8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一页研究计划应能让别人判分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六个问题写完，别人才能判分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609600" y="17716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742950" y="18573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1104900" y="1819275"/>
            <a:ext cx="53340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谁遇到什么问题，唯一的主要观察结果是什么？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609600" y="24765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742950" y="25622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1104900" y="2524125"/>
            <a:ext cx="53340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作者、角色、对象、评阅者各知道什么？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609600" y="31813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742950" y="32670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1104900" y="3228975"/>
            <a:ext cx="53340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改哪一项，哪些条件两组保持相同？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609600" y="38862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742950" y="39719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1104900" y="3933825"/>
            <a:ext cx="53340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单位、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数、窗口、预算与停止规则是什么？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609600" y="45910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742950" y="46767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1104900" y="4638675"/>
            <a:ext cx="53340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什么算成立，未知、未完成与合理拒绝怎么记？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609600" y="52959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742950" y="53816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1104900" y="5343525"/>
            <a:ext cx="53340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成本、失败与未触发的条件怎样进入报告？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6781800" y="2076450"/>
            <a:ext cx="480060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6972300" y="2219325"/>
            <a:ext cx="4419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实验计划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6972300" y="2457450"/>
            <a:ext cx="441960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templates/study-plan.md ——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问题、角色知识、空间、组别、窗口与评分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6781800" y="3048000"/>
            <a:ext cx="4800600" cy="838200"/>
          </a:xfrm>
          <a:prstGeom prst="roundRect">
            <a:avLst>
              <a:gd name="adj" fmla="val 1136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6972300" y="3190875"/>
            <a:ext cx="4419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干预差异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6972300" y="3429000"/>
            <a:ext cx="441960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templates/intervention-diff.md ——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精确保存两组不同的那一段文本或布局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6781800" y="4019550"/>
            <a:ext cx="4800600" cy="13335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6972300" y="4295775"/>
            <a:ext cx="4419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判不动，就先改量表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6972300" y="4552950"/>
            <a:ext cx="44196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创建实验前请另一读者按规则判一段示例。判不下来，问题多半出在量表上，不在实验上。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跨案例比较与研究设计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25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436" name="" descr="&lt;Slide notes={`在真正动手建实验之前，有一个动作花的力气最少、收益却最大：请另一个人按你的评分规则，先判一段现成的示例。&#10;&#10;如果他判得下来，说明量表是清楚的，实验可以开工。如果他判不下来，那就先改量表，别急着去跑实验。很多时候不是实验设计得不好，而是规则写得含糊，两个人看同一段记录会得出不同结论。&#10;&#10;还有一种情况要提前识别：如果你的问题需要真实库存锁、动态通路，或者物理故障会在场景里传播，这些能力在当前条件里可能并不具备。&#10;&#10;这时候我不建议硬撑，而是缩小问题，或者干脆把它列成一条系统需求单独处理。&#10;&#10;最后一句要记住：把 Skill 的名字写进研究计划，不等于这个依赖已经具备。名字只是名字，工具、身份和条件才是实现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9.8　判分示例与能力边界&lt;/Text&gt;&#10;            &lt;Text style={{ fontSize: 34, fontWeight: 'bold', color: '#20344B' }}&gt;先让别人判一段示例&lt;/Text&gt;&#10;        &lt;/Box&gt;&#10;    &lt;/Box&gt;&#10;&#10;    &lt;Box style={{ height: 540, flexDirection: 'column', gap: 20 }}&gt;&#10;&#10;        &lt;Box style={{ width: 1152, height: 240, background: '#F4F7FA', borderRadius: 12, padding: '22px 24px', flexDirection: 'column', justifyContent: 'center', gap: 12 }}&gt;&#10;&#10;            &lt;Text style={{ fontSize: 15, fontWeight: 'bold', color: '#276FBF' }}&gt;创建实验之前&lt;/Text&gt;&#10;&#10;            &lt;Box style={{ width: 1104, height: 64, background: '#EDF4FC', borderRadius: 8, justifyContent: 'center', alignItems: 'center' }}&gt;&#10;                &lt;Text style={{ fontSize: 18, color: '#276FBF' }}&gt;请另一读者，按规则判一段示例&lt;/Text&gt;&#10;            &lt;/Box&gt;&#10;&#10;            &lt;Box style={{ width: 1104, flexDirection: 'row', gap: 24 }}&gt;&#10;                &lt;Box style={{ width: 540, height: 76, background: '#ECF7F2', borderRadius: 8, justifyContent: 'center', alignItems: 'center' }}&gt;&#10;                    &lt;Text style={{ fontSize: 18, color: '#26816B' }}&gt;能判：实验可以开工&lt;/Text&gt;&#10;                &lt;/Box&gt;&#10;                &lt;Box style={{ width: 540, height: 76, background: '#FFF4E6', borderRadius: 8, justifyContent: 'center', alignItems: 'center' }}&gt;&#10;                    &lt;Text style={{ fontSize: 18, color: '#CB6B28' }}&gt;不能判：先改量表&lt;/Text&gt;&#10;                &lt;/Box&gt;&#10;            &lt;/Box&gt;&#10;&#10;        &lt;/Box&gt;&#10;&#10;        &lt;Box style={{ width: 1152, flexDirection: 'row', gap: 24 }}&gt;&#10;&#10;            &lt;Box style={{ width: 564, height: 130, background: '#FFF4E6', borderRadius: 10, padding: '16px 20px', flexDirection: 'column', gap: 6, justifyContent: 'center' }}&gt;&#10;                &lt;Text style={{ fontSize: 17, fontWeight: 'bold', color: '#CB6B28' }}&gt;Skill 写名称不构成实现&lt;/Text&gt;&#10;                &lt;Text style={{ fontSize: 15, color: '#546779', lineHeight: 1.55 }}&gt;把 Skill 名字写进计划，不等于依赖、工具与身份条件已经具备；名称只是名称。&lt;/Text&gt;&#10;            &lt;/Box&gt;&#10;&#10;            &lt;Box style={{ width: 564, height: 130, background: '#EDF4FC', borderRadius: 10, padding: '16px 20px', flexDirection: 'column', gap: 6, justifyContent: 'center' }}&gt;&#10;                &lt;Text style={{ fontSize: 17, fontWeight: 'bold', color: '#276FBF' }}&gt;需要真实系统的能力，先缩小问题&lt;/Text&gt;&#10;                &lt;Text style={{ fontSize: 15, color: '#546779', lineHeight: 1.55 }}&gt;需要真实库存锁、动态通路或物理故障传播时，缩小问题，或单独列为系统需求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9 跨案例比较与研究设计&lt;/Text&gt;&#10;        &lt;Text style={{ fontSize: 14, color: '#546779' }}&gt;21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4.9.8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判分示例与能力边界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先让别人判一段示例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609600" y="1143000"/>
            <a:ext cx="10972800" cy="22860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838200" y="1419225"/>
            <a:ext cx="1051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创建实验之前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838200" y="1704975"/>
            <a:ext cx="105156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4895850" y="1905000"/>
            <a:ext cx="2400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请另一读者，按规则判一段示例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838200" y="2428875"/>
            <a:ext cx="51435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2638425" y="2686050"/>
            <a:ext cx="1543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能判：实验可以开工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6210300" y="2428875"/>
            <a:ext cx="5143500" cy="723900"/>
          </a:xfrm>
          <a:prstGeom prst="roundRect">
            <a:avLst>
              <a:gd name="adj" fmla="val 1052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8096250" y="2686050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B6B28"/>
                </a:solidFill>
                <a:latin typeface="Microsoft YaHei"/>
                <a:ea typeface="Microsoft YaHei"/>
              </a:rPr>
              <a:t>不能判：先改量表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609600" y="3619500"/>
            <a:ext cx="5372100" cy="123825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800100" y="3848100"/>
            <a:ext cx="4991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写名称不构成实现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800100" y="4105275"/>
            <a:ext cx="49911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把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名字写进计划，不等于依赖、工具与身份条件已经具备；名称只是名称。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6210300" y="3619500"/>
            <a:ext cx="5372100" cy="123825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6400800" y="3848100"/>
            <a:ext cx="4991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需要真实系统的能力，先缩小问题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6400800" y="4105275"/>
            <a:ext cx="49911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需要真实库存锁、动态通路或物理故障传播时，缩小问题，或单独列为系统需求。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跨案例比较与研究设计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25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57" name="" descr="&lt;Slide notes={`实验做完，交什么上去？我按书稿里的三条纪律来说。&#10;&#10;第一，每个案例的作者材料各自独立保存，界面上的操作按第三章的流程走，不要混在一起。&#10;&#10;第二，想调参数就另开一个新的独立实验，既有的 Run 和原始导出保持不动。这一点很重要，改了参数又去覆盖旧数据，后面谁也复查不了。&#10;&#10;第三，交上去的不只是一张跑得顺的回放。方法、全部结果、解释和局限，四样都要给。&#10;&#10;方法里写条件、模型、窗口、评分口径和版本变化；全部结果包括失败、未触发的条件和未完成的样本；解释要分清哪些是证据支持的、哪些只是推断；局限要写清外推到哪里为止、还需要什么才能再进一步。&#10;&#10;只挑一次顺利的记录交上去，别人无法复查你排除了什么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9.8　交付口径&lt;/Text&gt;&#10;            &lt;Text style={{ fontSize: 34, fontWeight: 'bold', color: '#20344B' }}&gt;交方法、全部结果、解释与局限&lt;/Text&gt;&#10;        &lt;/Box&gt;&#10;    &lt;/Box&gt;&#10;&#10;    &lt;Box style={{ height: 540, flexDirection: 'row', alignItems: 'center', gap: 36 }}&gt;&#10;&#10;        &lt;Box style={{ width: 444, flexDirection: 'column', justifyContent: 'center', gap: 12 }}&gt;&#10;&#10;            &lt;Box style={{ width: 444, height: 140, background: '#EDF4FC', borderRadius: 10, padding: '16px 20px', flexDirection: 'column', gap: 6, justifyContent: 'center' }}&gt;&#10;                &lt;Text style={{ fontSize: 17, fontWeight: 'bold', color: '#276FBF' }}&gt;作者材料各案独立保存&lt;/Text&gt;&#10;                &lt;Text style={{ fontSize: 15, color: '#546779', lineHeight: 1.55 }}&gt;每个案例各自保存自己的作者材料，界面操作按第三章的流程走，不与其他案例混放。&lt;/Text&gt;&#10;            &lt;/Box&gt;&#10;&#10;            &lt;Box style={{ width: 444, height: 140, background: '#ECF7F2', borderRadius: 10, padding: '16px 20px', flexDirection: 'column', gap: 6, justifyContent: 'center' }}&gt;&#10;                &lt;Text style={{ fontSize: 17, fontWeight: 'bold', color: '#26816B' }}&gt;参数调整另立实验&lt;/Text&gt;&#10;                &lt;Text style={{ fontSize: 15, color: '#546779', lineHeight: 1.55 }}&gt;想改参数就开一个新的独立实验，既有的 Run 与原始导出保持不动。&lt;/Text&gt;&#10;            &lt;/Box&gt;&#10;&#10;            &lt;Box style={{ width: 444, height: 140, background: '#FFF4E6', borderRadius: 10, padding: '16px 20px', flexDirection: 'column', gap: 6, justifyContent: 'center' }}&gt;&#10;                &lt;Text style={{ fontSize: 17, fontWeight: 'bold', color: '#CB6B28' }}&gt;不只交一张顺利回放&lt;/Text&gt;&#10;                &lt;Text style={{ fontSize: 15, color: '#546779', lineHeight: 1.55 }}&gt;只挑一次跑得顺的记录交上去，别人无法复查你排除了什么、改过什么。&lt;/Text&gt;&#10;            &lt;/Box&gt;&#10;&#10;        &lt;/Box&gt;&#10;&#10;        &lt;Box style={{ width: 672, flexDirection: 'column', justifyContent: 'center', gap: 10 }}&gt;&#10;&#10;            &lt;Box style={{ width: 672, flexDirection: 'row', padding: '0 18px', gap: 16, alignItems: 'center', height: 26 }}&gt;&#10;                &lt;Box style={{ width: 140 }}&gt;&lt;Text style={{ fontSize: 14, color: '#546779' }}&gt;交付项&lt;/Text&gt;&lt;/Box&gt;&#10;                &lt;Box style={{ flex: 1 }}&gt;&lt;Text style={{ fontSize: 14, color: '#546779' }}&gt;里面要写清什么&lt;/Text&gt;&lt;/Box&gt;&#10;            &lt;/Box&gt;&#10;&#10;            &lt;Box style={{ width: 672, height: 88, background: '#EDF4FC', borderRadius: 8, padding: '0 18px', flexDirection: 'row', alignItems: 'center', gap: 16 }}&gt;&#10;                &lt;Box style={{ width: 4, height: 56, background: '#276FBF' }} /&gt;&#10;                &lt;Box style={{ width: 120 }}&gt;&lt;Text style={{ fontSize: 17, fontWeight: 'bold', color: '#276FBF' }}&gt;方法&lt;/Text&gt;&lt;/Box&gt;&#10;                &lt;Box style={{ flex: 1 }}&gt;&lt;Text style={{ fontSize: 15, color: '#546779', lineHeight: 1.5 }}&gt;条件、模型、窗口、评分口径与版本变化&lt;/Text&gt;&lt;/Box&gt;&#10;            &lt;/Box&gt;&#10;&#10;            &lt;Box style={{ width: 672, height: 88, background: '#F4F7FA', borderRadius: 8, padding: '0 18px', flexDirection: 'row', alignItems: 'center', gap: 16 }}&gt;&#10;                &lt;Box style={{ width: 4, height: 56, background: '#276FBF' }} /&gt;&#10;                &lt;Box style={{ width: 120 }}&gt;&lt;Text style={{ fontSize: 17, fontWeight: 'bold', color: '#20344B' }}&gt;全部结果&lt;/Text&gt;&lt;/Box&gt;&#10;                &lt;Box style={{ flex: 1 }}&gt;&lt;Text style={{ fontSize: 15, color: '#546779', lineHeight: 1.5 }}&gt;包括失败、未触发的条件与未完成的样本&lt;/Text&gt;&lt;/Box&gt;&#10;            &lt;/Box&gt;&#10;&#10;            &lt;Box style={{ width: 672, height: 88, background: '#F4F7FA', borderRadius: 8, padding: '0 18px', flexDirection: 'row', alignItems: 'center', gap: 16 }}&gt;&#10;                &lt;Box style={{ width: 4, height: 56, background: '#276FBF' }} /&gt;&#10;                &lt;Box style={{ width: 120 }}&gt;&lt;Text style={{ fontSize: 17, fontWeight: 'bold', color: '#20344B' }}&gt;解释&lt;/Text&gt;&lt;/Box&gt;&#10;                &lt;Box style={{ flex: 1 }}&gt;&lt;Text style={{ fontSize: 15, color: '#546779', lineHeight: 1.5 }}&gt;哪些结论由证据支持，哪些只是推断&lt;/Text&gt;&lt;/Box&gt;&#10;            &lt;/Box&gt;&#10;&#10;            &lt;Box style={{ width: 672, height: 88, background: '#FFF4E6', borderRadius: 8, padding: '0 18px', flexDirection: 'row', alignItems: 'center', gap: 16 }}&gt;&#10;                &lt;Box style={{ width: 4, height: 56, background: '#CB6B28' }} /&gt;&#10;                &lt;Box style={{ width: 120 }}&gt;&lt;Text style={{ fontSize: 17, fontWeight: 'bold', color: '#CB6B28' }}&gt;局限&lt;/Text&gt;&lt;/Box&gt;&#10;                &lt;Box style={{ flex: 1 }}&gt;&lt;Text style={{ fontSize: 15, color: '#546779', lineHeight: 1.5 }}&gt;外推到哪里为止，还需要什么才能再进一步&lt;/Text&gt;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9 跨案例比较与研究设计&lt;/Text&gt;&#10;        &lt;Text style={{ fontSize: 14, color: '#546779' }}&gt;22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4.9.8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交付口径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交方法、全部结果、解释与局限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609600" y="1600200"/>
            <a:ext cx="4229100" cy="13335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800100" y="1876425"/>
            <a:ext cx="3848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作者材料各案独立保存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800100" y="2133600"/>
            <a:ext cx="38481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每个案例各自保存自己的作者材料，界面操作按第三章的流程走，不与其他案例混放。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609600" y="3048000"/>
            <a:ext cx="4229100" cy="1333500"/>
          </a:xfrm>
          <a:prstGeom prst="roundRect">
            <a:avLst>
              <a:gd name="adj" fmla="val 71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800100" y="3324225"/>
            <a:ext cx="3848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参数调整另立实验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800100" y="3581400"/>
            <a:ext cx="38481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想改参数就开一个新的独立实验，既有的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与原始导出保持不动。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609600" y="4495800"/>
            <a:ext cx="4229100" cy="13335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800100" y="4772025"/>
            <a:ext cx="3848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不只交一张顺利回放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800100" y="5029200"/>
            <a:ext cx="38481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只挑一次跑得顺的记录交上去，别人无法复查你排除了什么、改过什么。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5353050" y="17716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交付项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6838950" y="1771650"/>
            <a:ext cx="457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里面要写清什么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5181600" y="2066925"/>
            <a:ext cx="640080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4" name=""/>
          <p:cNvSpPr/>
          <p:nvPr/>
        </p:nvSpPr>
        <p:spPr>
          <a:xfrm rot="0" flipH="0" flipV="0">
            <a:off x="5353050" y="221932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5543550" y="2390775"/>
            <a:ext cx="114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方法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6838950" y="2362200"/>
            <a:ext cx="4572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条件、模型、窗口、评分口径与版本变化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5181600" y="3000375"/>
            <a:ext cx="64008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78" name=""/>
          <p:cNvSpPr/>
          <p:nvPr/>
        </p:nvSpPr>
        <p:spPr>
          <a:xfrm rot="0" flipH="0" flipV="0">
            <a:off x="5353050" y="315277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5543550" y="3324225"/>
            <a:ext cx="114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全部结果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6838950" y="3295650"/>
            <a:ext cx="4572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包括失败、未触发的条件与未完成的样本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5181600" y="3933825"/>
            <a:ext cx="64008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82" name=""/>
          <p:cNvSpPr/>
          <p:nvPr/>
        </p:nvSpPr>
        <p:spPr>
          <a:xfrm rot="0" flipH="0" flipV="0">
            <a:off x="5353050" y="408622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5543550" y="4257675"/>
            <a:ext cx="114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解释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6838950" y="4229100"/>
            <a:ext cx="4572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哪些结论由证据支持，哪些只是推断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5181600" y="4867275"/>
            <a:ext cx="6400800" cy="83820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86" name=""/>
          <p:cNvSpPr/>
          <p:nvPr/>
        </p:nvSpPr>
        <p:spPr>
          <a:xfrm rot="0" flipH="0" flipV="0">
            <a:off x="5353050" y="5019675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5543550" y="5191125"/>
            <a:ext cx="114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局限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6838950" y="5162550"/>
            <a:ext cx="4572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外推到哪里为止，还需要什么才能再进一步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跨案例比较与研究设计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25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91" name="" descr="&lt;Slide notes={`现在动手重算一遍，五个值都要算出来。&#10;&#10;第一项，总闭环率：A 是 6/12 等于 50%，B 是 8/12 约 66.7%。&#10;&#10;第二项，每一次 Run 的比率：A 是 50%、75%、25%，B 是 75%、75%、50%。&#10;&#10;第三项，已闭环时延的中位数：A 是 9.5 分钟，B 是 13.5 分钟。&#10;&#10;第四项，逻辑调用除以闭环数：A 约 61.67，B 是 60。&#10;&#10;第五项，物理尝试除以闭环数：A 是 68.5，B 是 64.5。&#10;&#10;算完之后要停一下，问自己这三句话：三次演算重复太少；两组进入中位数的是不同成功子集；六行数据没有经过任何现实校准。&#10;&#10;所以这五个数只能说明算术怎么算，不能推出普遍优越。计算脚本只核算算术，不验证现实结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9.9　综合练习与参考&lt;/Text&gt;&#10;            &lt;Text style={{ fontSize: 34, fontWeight: 'bold', color: '#20344B' }}&gt;练习一：重算六行人工数据&lt;/Text&gt;&#10;        &lt;/Box&gt;&#10;    &lt;/Box&gt;&#10;&#10;    &lt;Box style={{ height: 540, flexDirection: 'row', alignItems: 'center', gap: 36 }}&gt;&#10;&#10;        &lt;Box style={{ width: 652, flexDirection: 'column', justifyContent: 'center', gap: 10 }}&gt;&#10;&#10;            &lt;Box style={{ width: 652, flexDirection: 'row', padding: '0 18px', gap: 16, alignItems: 'center', height: 26 }}&gt;&#10;                &lt;Box style={{ width: 300 }}&gt;&lt;Text style={{ fontSize: 14, color: '#546779' }}&gt;要算的量&lt;/Text&gt;&lt;/Box&gt;&#10;                &lt;Box style={{ flex: 1 }}&gt;&lt;Text style={{ fontSize: 14, color: '#546779' }}&gt;参考值&lt;/Text&gt;&lt;/Box&gt;&#10;            &lt;/Box&gt;&#10;&#10;            &lt;Box style={{ width: 652, height: 80, background: '#EDF4FC', borderRadius: 8, padding: '0 18px', flexDirection: 'row', alignItems: 'center', gap: 16 }}&gt;&#10;                &lt;Box style={{ width: 4, height: 52, background: '#276FBF' }} /&gt;&#10;                &lt;Box style={{ width: 280 }}&gt;&lt;Text style={{ fontSize: 17, fontWeight: 'bold', color: '#20344B' }}&gt;总闭环率 A ／ B&lt;/Text&gt;&lt;/Box&gt;&#10;                &lt;Box style={{ flex: 1 }}&gt;&lt;Text style={{ fontSize: 17, fontWeight: 'bold', color: '#276FBF' }}&gt;50% ／ 66.7%&lt;/Text&gt;&lt;/Box&gt;&#10;            &lt;/Box&gt;&#10;&#10;            &lt;Box style={{ width: 652, height: 80, background: '#F4F7FA', borderRadius: 8, padding: '0 18px', flexDirection: 'row', alignItems: 'center', gap: 16 }}&gt;&#10;                &lt;Box style={{ width: 4, height: 52, background: '#276FBF' }} /&gt;&#10;                &lt;Box style={{ width: 280 }}&gt;&lt;Text style={{ fontSize: 17, fontWeight: 'bold', color: '#20344B' }}&gt;每 Run 比率&lt;/Text&gt;&lt;/Box&gt;&#10;                &lt;Box style={{ flex: 1 }}&gt;&lt;Text style={{ fontSize: 15, color: '#20344B' }}&gt;A 50%／75%／25%　B 75%／75%／50%&lt;/Text&gt;&lt;/Box&gt;&#10;            &lt;/Box&gt;&#10;&#10;            &lt;Box style={{ width: 652, height: 80, background: '#F4F7FA', borderRadius: 8, padding: '0 18px', flexDirection: 'row', alignItems: 'center', gap: 16 }}&gt;&#10;                &lt;Box style={{ width: 4, height: 52, background: '#276FBF' }} /&gt;&#10;                &lt;Box style={{ width: 280 }}&gt;&lt;Text style={{ fontSize: 17, fontWeight: 'bold', color: '#20344B' }}&gt;已闭环时延中位数&lt;/Text&gt;&lt;/Box&gt;&#10;                &lt;Box style={{ flex: 1 }}&gt;&lt;Text style={{ fontSize: 17, fontWeight: 'bold', color: '#276FBF' }}&gt;9.5 分钟 ／ 13.5 分钟&lt;/Text&gt;&lt;/Box&gt;&#10;            &lt;/Box&gt;&#10;&#10;            &lt;Box style={{ width: 652, height: 80, background: '#F4F7FA', borderRadius: 8, padding: '0 18px', flexDirection: 'row', alignItems: 'center', gap: 16 }}&gt;&#10;                &lt;Box style={{ width: 4, height: 52, background: '#276FBF' }} /&gt;&#10;                &lt;Box style={{ width: 280 }}&gt;&lt;Text style={{ fontSize: 17, fontWeight: 'bold', color: '#20344B' }}&gt;逻辑调用／闭环&lt;/Text&gt;&lt;/Box&gt;&#10;                &lt;Box style={{ flex: 1 }}&gt;&lt;Text style={{ fontSize: 17, fontWeight: 'bold', color: '#276FBF' }}&gt;≈ 61.67 ／ 60&lt;/Text&gt;&lt;/Box&gt;&#10;            &lt;/Box&gt;&#10;&#10;            &lt;Box style={{ width: 652, height: 80, background: '#ECF7F2', borderRadius: 8, padding: '0 18px', flexDirection: 'row', alignItems: 'center', gap: 16 }}&gt;&#10;                &lt;Box style={{ width: 4, height: 52, background: '#26816B' }} /&gt;&#10;                &lt;Box style={{ width: 280 }}&gt;&lt;Text style={{ fontSize: 17, fontWeight: 'bold', color: '#20344B' }}&gt;物理尝试／闭环&lt;/Text&gt;&lt;/Box&gt;&#10;                &lt;Box style={{ flex: 1 }}&gt;&lt;Text style={{ fontSize: 17, fontWeight: 'bold', color: '#26816B' }}&gt;68.5 ／ 64.5&lt;/Text&gt;&lt;/Box&gt;&#10;            &lt;/Box&gt;&#10;&#10;        &lt;/Box&gt;&#10;&#10;        &lt;Box style={{ width: 464, flexDirection: 'column', justifyContent: 'center', gap: 12 }}&gt;&#10;&#10;            &lt;Box style={{ width: 464, height: 140, background: '#EDF4FC', borderRadius: 10, padding: '16px 20px', flexDirection: 'column', gap: 6, justifyContent: 'center' }}&gt;&#10;                &lt;Text style={{ fontSize: 17, fontWeight: 'bold', color: '#276FBF' }}&gt;重复太少&lt;/Text&gt;&#10;                &lt;Text style={{ fontSize: 15, color: '#546779', lineHeight: 1.55 }}&gt;每组只有三次 Run，换一批结果就会变，不能当成稳定结论来引用。&lt;/Text&gt;&#10;            &lt;/Box&gt;&#10;&#10;            &lt;Box style={{ width: 464, height: 140, background: '#F4F7FA', borderRadius: 10, padding: '16px 20px', flexDirection: 'column', gap: 6, justifyContent: 'center' }}&gt;&#10;                &lt;Text style={{ fontSize: 17, fontWeight: 'bold', color: '#20344B' }}&gt;成功子集不同&lt;/Text&gt;&#10;                &lt;Text style={{ fontSize: 15, color: '#546779', lineHeight: 1.55 }}&gt;A 与 B 进入中位数的那批任务可能不是同一批，比的是两组不同的任务。&lt;/Text&gt;&#10;            &lt;/Box&gt;&#10;&#10;            &lt;Box style={{ width: 464, height: 140, background: '#FFF4E6', borderRadius: 10, padding: '16px 20px', flexDirection: 'column', gap: 6, justifyContent: 'center' }}&gt;&#10;                &lt;Text style={{ fontSize: 17, fontWeight: 'bold', color: '#CB6B28' }}&gt;没有现实校准&lt;/Text&gt;&#10;                &lt;Text style={{ fontSize: 15, color: '#546779', lineHeight: 1.55 }}&gt;六行数据是人工编的，模型、计价与真实场景都没有校准过，推不出普遍优越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9 跨案例比较与研究设计&lt;/Text&gt;&#10;        &lt;Text style={{ fontSize: 14, color: '#546779' }}&gt;23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4.9.9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综合练习与参考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练习一：重算六行人工数据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781050" y="1495425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要算的量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3790950" y="1495425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参考值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609600" y="1790700"/>
            <a:ext cx="6210300" cy="7620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99" name=""/>
          <p:cNvSpPr/>
          <p:nvPr/>
        </p:nvSpPr>
        <p:spPr>
          <a:xfrm rot="0" flipH="0" flipV="0">
            <a:off x="781050" y="1924050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971550" y="2076450"/>
            <a:ext cx="266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总闭环率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／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B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3790950" y="20764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50%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／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66.7%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609600" y="2647950"/>
            <a:ext cx="6210300" cy="7620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03" name=""/>
          <p:cNvSpPr/>
          <p:nvPr/>
        </p:nvSpPr>
        <p:spPr>
          <a:xfrm rot="0" flipH="0" flipV="0">
            <a:off x="781050" y="2781300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971550" y="2933700"/>
            <a:ext cx="266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每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比率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3790950" y="2943225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A 50%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／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75%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／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25%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　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B 75%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／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75%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／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50%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609600" y="3505200"/>
            <a:ext cx="6210300" cy="7620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07" name=""/>
          <p:cNvSpPr/>
          <p:nvPr/>
        </p:nvSpPr>
        <p:spPr>
          <a:xfrm rot="0" flipH="0" flipV="0">
            <a:off x="781050" y="3638550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971550" y="3790950"/>
            <a:ext cx="266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已闭环时延中位数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3790950" y="37909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9.5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分钟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／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13.5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609600" y="4362450"/>
            <a:ext cx="6210300" cy="7620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1" name=""/>
          <p:cNvSpPr/>
          <p:nvPr/>
        </p:nvSpPr>
        <p:spPr>
          <a:xfrm rot="0" flipH="0" flipV="0">
            <a:off x="781050" y="4495800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971550" y="4648200"/>
            <a:ext cx="266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逻辑调用／闭环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3790950" y="464820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≈ 61.67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／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60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609600" y="5219700"/>
            <a:ext cx="6210300" cy="7620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15" name=""/>
          <p:cNvSpPr/>
          <p:nvPr/>
        </p:nvSpPr>
        <p:spPr>
          <a:xfrm rot="0" flipH="0" flipV="0">
            <a:off x="781050" y="5353050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971550" y="5505450"/>
            <a:ext cx="266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物理尝试／闭环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3790950" y="55054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68.5 </a:t>
            </a: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／</a:t>
            </a: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64.5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7162800" y="1600200"/>
            <a:ext cx="4419600" cy="13335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7353300" y="1876425"/>
            <a:ext cx="4038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重复太少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7353300" y="2133600"/>
            <a:ext cx="40386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每组只有三次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，换一批结果就会变，不能当成稳定结论来引用。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7162800" y="3048000"/>
            <a:ext cx="4419600" cy="13335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7353300" y="3324225"/>
            <a:ext cx="4038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成功子集不同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7353300" y="3581400"/>
            <a:ext cx="40386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B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进入中位数的那批任务可能不是同一批，比的是两组不同的任务。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7162800" y="4495800"/>
            <a:ext cx="4419600" cy="13335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7353300" y="4772025"/>
            <a:ext cx="4038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没有现实校准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7353300" y="5029200"/>
            <a:ext cx="40386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六行数据是人工编的，模型、计价与真实场景都没有校准过，推不出普遍优越。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跨案例比较与研究设计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25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529" name="" descr="&lt;Slide notes={`再看一个很典型的归因陷阱。&#10;&#10;A 组 3 个人、步长 1 分钟、没有清单；B 组 6 个人、步长 5 分钟，还加了一张清单。结果 B 组更好。能归因于清单吗？&#10;&#10;不能。人数从 3 变到 6，改变的是互动机会和成本；步长从 1 分钟变到 5 分钟，改变的是反馈频率和移动速度。两处一起变了，清单的作用就分不出来。&#10;&#10;要归因，就得恢复共同条件；或者一开始就把这几件事当作因素，事先设计成多因素研究。&#10;&#10;接下来做一个反向练习：给你偏爱的那个策略写一条反例。比如人人都已经看到牌的时候，移牌未必有用；事实本来就少而清楚的时候，清单可能只剩下成本。&#10;&#10;最后写一页结论，用报告模板把观察、解释和外推限制分开写。每个数字都要能追到一行结果，每个语义判断都要写清依据。让我强调一句，计算脚本只核算算术，不验证现实结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9.9　综合练习与参考&lt;/Text&gt;&#10;            &lt;Text style={{ fontSize: 34, fontWeight: 'bold', color: '#20344B' }}&gt;练习二：写反例，写一页结论&lt;/Text&gt;&#10;        &lt;/Box&gt;&#10;    &lt;/Box&gt;&#10;&#10;    &lt;Box style={{ height: 540, flexDirection: 'row', alignItems: 'center', gap: 36 }}&gt;&#10;&#10;        &lt;Box style={{ width: 516, flexDirection: 'column', justifyContent: 'center', gap: 12 }}&gt;&#10;&#10;            &lt;Box style={{ width: 516, height: 110, background: '#FFF4E6', borderRadius: 10, padding: '16px 20px', flexDirection: 'column', gap: 6, justifyContent: 'center' }}&gt;&#10;                &lt;Text style={{ fontSize: 20, fontWeight: 'bold', color: '#CB6B28' }}&gt;能归因于清单吗？&lt;/Text&gt;&#10;                &lt;Text style={{ fontSize: 15, color: '#546779', lineHeight: 1.5 }}&gt;A 组 3 人、1 分钟、没有清单；B 组 6 人、5 分钟、加了清单。&lt;/Text&gt;&#10;            &lt;/Box&gt;&#10;&#10;            &lt;Box style={{ width: 516, height: 180, background: '#EDF4FC', borderRadius: 10, padding: '16px 20px', flexDirection: 'column', gap: 6, justifyContent: 'center' }}&gt;&#10;                &lt;Text style={{ fontSize: 18, fontWeight: 'bold', color: '#276FBF' }}&gt;不能。&lt;/Text&gt;&#10;                &lt;Text style={{ fontSize: 15, color: '#546779', lineHeight: 1.55 }}&gt;人数从 3 变到 6，改变的是互动机会与成本；步长从 1 分钟变到 5 分钟，改变的是反馈频率与移动速度。两处一起变，清单的作用就分不出来。&lt;/Text&gt;&#10;            &lt;/Box&gt;&#10;&#10;            &lt;Box style={{ width: 516, height: 90, background: '#F4F7FA', borderRadius: 10, padding: '16px 20px', flexDirection: 'row', alignItems: 'center', gap: 16 }}&gt;&#10;                &lt;Box style={{ width: 4, height: 56, background: '#276FBF' }} /&gt;&#10;                &lt;Text style={{ fontSize: 15, color: '#546779', lineHeight: 1.55, flex: 1 }}&gt;要恢复共同条件，或者事先就把这几件事做成多因素设计。&lt;/Text&gt;&#10;            &lt;/Box&gt;&#10;&#10;        &lt;/Box&gt;&#10;&#10;        &lt;Box style={{ width: 600, flexDirection: 'column', justifyContent: 'center', gap: 12 }}&gt;&#10;&#10;            &lt;Text style={{ fontSize: 22, fontWeight: 'bold', color: '#20344B' }}&gt;再给偏爱的策略写一条反例&lt;/Text&gt;&#10;&#10;            &lt;Box style={{ width: 600, height: 100, background: '#ECF7F2', borderRadius: 10, padding: '16px 20px', flexDirection: 'row', alignItems: 'center', gap: 16 }}&gt;&#10;                &lt;Box style={{ width: 4, height: 64, background: '#26816B' }} /&gt;&#10;                &lt;Text style={{ fontSize: 15, color: '#546779', lineHeight: 1.55, flex: 1 }}&gt;人人都已经看到牌的时候，移牌未必有用；事实本来就少而清楚的时候，清单可能只剩下成本。&lt;/Text&gt;&#10;            &lt;/Box&gt;&#10;&#10;            &lt;Text style={{ fontSize: 22, fontWeight: 'bold', color: '#20344B', marginTop: 4 }}&gt;最后一页结论&lt;/Text&gt;&#10;&#10;            &lt;Box style={{ width: 600, height: 190, background: '#EDF4FC', borderRadius: 10, padding: '18px 20px', flexDirection: 'row', alignItems: 'center', gap: 16 }}&gt;&#10;                &lt;Box style={{ width: 4, height: 150, background: '#276FBF' }} /&gt;&#10;                &lt;Text style={{ fontSize: 15, color: '#546779', lineHeight: 1.6, flex: 1 }}&gt;用报告模板写一页结论：观察、解释、外推限制分开写；每个数字都能追到一行结果，每个语义判断都写清依据。计算脚本只核算算术，不验证现实结论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9 跨案例比较与研究设计&lt;/Text&gt;&#10;        &lt;Text style={{ fontSize: 14, color: '#546779' }}&gt;24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4.9.9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综合练习与参考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练习二：写反例，写一页结论</a:t>
            </a:r>
            <a:endParaRPr/>
          </a:p>
        </p:txBody>
      </p:sp>
      <p:sp>
        <p:nvSpPr>
          <p:cNvPr id="534" name=""/>
          <p:cNvSpPr/>
          <p:nvPr/>
        </p:nvSpPr>
        <p:spPr>
          <a:xfrm rot="0" flipH="0" flipV="0">
            <a:off x="609600" y="1790700"/>
            <a:ext cx="4914900" cy="104775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800100" y="2047875"/>
            <a:ext cx="4533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能归因于清单吗？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800100" y="2333625"/>
            <a:ext cx="4533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分钟、没有清单；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分钟、加了清单。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609600" y="2952750"/>
            <a:ext cx="4914900" cy="1714500"/>
          </a:xfrm>
          <a:prstGeom prst="roundRect">
            <a:avLst>
              <a:gd name="adj" fmla="val 555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800100" y="3276600"/>
            <a:ext cx="4533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不能。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800100" y="3543300"/>
            <a:ext cx="45339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人数从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变到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6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，改变的是互动机会与成本；步长从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分钟变到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分钟，改变的是反馈频率与移动速度。两处一起变，清单的作用就分不出来。</a:t>
            </a:r>
            <a:endParaRPr/>
          </a:p>
        </p:txBody>
      </p:sp>
      <p:sp>
        <p:nvSpPr>
          <p:cNvPr id="540" name=""/>
          <p:cNvSpPr/>
          <p:nvPr/>
        </p:nvSpPr>
        <p:spPr>
          <a:xfrm rot="0" flipH="0" flipV="0">
            <a:off x="609600" y="4781550"/>
            <a:ext cx="4914900" cy="85725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1" name=""/>
          <p:cNvSpPr/>
          <p:nvPr/>
        </p:nvSpPr>
        <p:spPr>
          <a:xfrm rot="0" flipH="0" flipV="0">
            <a:off x="800100" y="494347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990600" y="5076825"/>
            <a:ext cx="43434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要恢复共同条件，或者事先就把这几件事做成多因素设计。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5867400" y="1885950"/>
            <a:ext cx="5715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再给偏爱的策略写一条反例</a:t>
            </a:r>
            <a:endParaRPr/>
          </a:p>
        </p:txBody>
      </p:sp>
      <p:sp>
        <p:nvSpPr>
          <p:cNvPr id="544" name=""/>
          <p:cNvSpPr/>
          <p:nvPr/>
        </p:nvSpPr>
        <p:spPr>
          <a:xfrm rot="0" flipH="0" flipV="0">
            <a:off x="5867400" y="2257425"/>
            <a:ext cx="5715000" cy="9525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45" name=""/>
          <p:cNvSpPr/>
          <p:nvPr/>
        </p:nvSpPr>
        <p:spPr>
          <a:xfrm rot="0" flipH="0" flipV="0">
            <a:off x="6057900" y="2428875"/>
            <a:ext cx="38100" cy="6096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6248400" y="2466975"/>
            <a:ext cx="51435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人人都已经看到牌的时候，移牌未必有用；事实本来就少而清楚的时候，清单可能只剩下成本。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5867400" y="3362325"/>
            <a:ext cx="5715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最后一页结论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5867400" y="3733800"/>
            <a:ext cx="5715000" cy="1809750"/>
          </a:xfrm>
          <a:prstGeom prst="roundRect">
            <a:avLst>
              <a:gd name="adj" fmla="val 526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49" name=""/>
          <p:cNvSpPr/>
          <p:nvPr/>
        </p:nvSpPr>
        <p:spPr>
          <a:xfrm rot="0" flipH="0" flipV="0">
            <a:off x="6057900" y="3924300"/>
            <a:ext cx="38100" cy="14287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6248400" y="4362450"/>
            <a:ext cx="5143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用报告模板写一页结论：观察、解释、外推限制分开写；每个数字都能追到一行结果，每个语义判断都写清依据。计算脚本只核算算术，不验证现实结论。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跨案例比较与研究设计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25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553" name="" descr="&lt;Slide notes={`第四章到这里就结束了。回看整章，我们做的其实是同一件事：每次只改一处，其余条件全部冻结。&#10;&#10;4.0 先把问题缩到能被结果推翻；4.1 到 4.8 分别改了咨询策略、交接清单、导览牌位置、信念更新方式、子 Skill 核对、理由确认、通路开放和跨日整理，每一节都盯住一个观察对象。&#10;&#10;4.9 把八个案例拉到一起比：分母怎么定、未完成怎么算、调用代价怎么报、结论能走多远。&#10;&#10;贯穿始终的是四条纪律。第一，一次只改一处。第二，分母在跑之前就固定。第三，失败、重试和没闭环的任务都进分子。第四，结论停在证据能支持的位置。&#10;&#10;下一章，我们把这些落成可交付的资源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四章　面向问题的场景化应用　·　4.0 — 4.9&lt;/Text&gt;&#10;    &lt;/Box&gt;&#10;&#10;    &lt;Box style={{ height: 540, flexDirection: 'column', justifyContent: 'center', gap: 14 }}&gt;&#10;&#10;        &lt;Text style={{ fontSize: 15, color: '#276FBF' }}&gt;全章对照&lt;/Text&gt;&#10;&#10;        &lt;Text style={{ fontSize: 56, fontWeight: 'bold', color: '#20344B', lineHeight: 1.15 }}&gt;九个环节，就差一处&lt;/Text&gt;&#10;&#10;        &lt;Box style={{ width: 72, height: 4, background: '#276FBF' }} /&gt;&#10;&#10;        &lt;Box style={{ width: 1152, flexDirection: 'row', gap: 18 }}&gt;&#10;            &lt;Box style={{ width: 216, height: 72, background: '#F7F3E8', borderRadius: 8, flexDirection: 'column', gap: 2, justifyContent: 'center', alignItems: 'center' }}&gt;&#10;                &lt;Text style={{ fontSize: 15, fontWeight: 'bold', color: '#546779' }}&gt;4.0&lt;/Text&gt;&#10;                &lt;Text style={{ fontSize: 14, color: '#20344B' }}&gt;先定能被推翻的问题&lt;/Text&gt;&#10;            &lt;/Box&gt;&#10;            &lt;Box style={{ width: 216, height: 72, background: '#F4F7FA', borderRadius: 8, flexDirection: 'column', gap: 2, justifyContent: 'center', alignItems: 'center' }}&gt;&#10;                &lt;Text style={{ fontSize: 15, fontWeight: 'bold', color: '#276FBF' }}&gt;4.1&lt;/Text&gt;&#10;                &lt;Text style={{ fontSize: 14, color: '#20344B' }}&gt;先澄清，还是先建议&lt;/Text&gt;&#10;            &lt;/Box&gt;&#10;            &lt;Box style={{ width: 216, height: 72, background: '#F4F7FA', borderRadius: 8, flexDirection: 'column', gap: 2, justifyContent: 'center', alignItems: 'center' }}&gt;&#10;                &lt;Text style={{ fontSize: 15, fontWeight: 'bold', color: '#276FBF' }}&gt;4.2&lt;/Text&gt;&#10;                &lt;Text style={{ fontSize: 14, color: '#20344B' }}&gt;五项整理进清单&lt;/Text&gt;&#10;            &lt;/Box&gt;&#10;            &lt;Box style={{ width: 216, height: 72, background: '#F4F7FA', borderRadius: 8, flexDirection: 'column', gap: 2, justifyContent: 'center', alignItems: 'center' }}&gt;&#10;                &lt;Text style={{ fontSize: 15, fontWeight: 'bold', color: '#276FBF' }}&gt;4.3&lt;/Text&gt;&#10;                &lt;Text style={{ fontSize: 14, color: '#20344B' }}&gt;导览牌放哪个位置&lt;/Text&gt;&#10;            &lt;/Box&gt;&#10;            &lt;Box style={{ width: 216, height: 72, background: '#F4F7FA', borderRadius: 8, flexDirection: 'column', gap: 2, justifyContent: 'center', alignItems: 'center' }}&gt;&#10;                &lt;Text style={{ fontSize: 15, fontWeight: 'bold', color: '#276FBF' }}&gt;4.4&lt;/Text&gt;&#10;                &lt;Text style={{ fontSize: 14, color: '#20344B' }}&gt;追加还是替代旧信念&lt;/Text&gt;&#10;            &lt;/Box&gt;&#10;        &lt;/Box&gt;&#10;&#10;        &lt;Box style={{ width: 1152, flexDirection: 'row', gap: 18 }}&gt;&#10;            &lt;Box style={{ width: 216, height: 72, background: '#F4F7FA', borderRadius: 8, flexDirection: 'column', gap: 2, justifyContent: 'center', alignItems: 'center' }}&gt;&#10;                &lt;Text style={{ fontSize: 15, fontWeight: 'bold', color: '#276FBF' }}&gt;4.5&lt;/Text&gt;&#10;                &lt;Text style={{ fontSize: 14, color: '#20344B' }}&gt;显式核对子 Skill&lt;/Text&gt;&#10;            &lt;/Box&gt;&#10;            &lt;Box style={{ width: 216, height: 72, background: '#F4F7FA', borderRadius: 8, flexDirection: 'column', gap: 2, justifyContent: 'center', alignItems: 'center' }}&gt;&#10;                &lt;Text style={{ fontSize: 15, fontWeight: 'bold', color: '#276FBF' }}&gt;4.6&lt;/Text&gt;&#10;                &lt;Text style={{ fontSize: 14, color: '#20344B' }}&gt;逐人确认理由&lt;/Text&gt;&#10;            &lt;/Box&gt;&#10;            &lt;Box style={{ width: 216, height: 72, background: '#F4F7FA', borderRadius: 8, flexDirection: 'column', gap: 2, justifyContent: 'center', alignItems: 'center' }}&gt;&#10;                &lt;Text style={{ fontSize: 15, fontWeight: 'bold', color: '#276FBF' }}&gt;4.7&lt;/Text&gt;&#10;                &lt;Text style={{ fontSize: 14, color: '#20344B' }}&gt;关闭一条通路（选修）&lt;/Text&gt;&#10;            &lt;/Box&gt;&#10;            &lt;Box style={{ width: 216, height: 72, background: '#F4F7FA', borderRadius: 8, flexDirection: 'column', gap: 2, justifyContent: 'center', alignItems: 'center' }}&gt;&#10;                &lt;Text style={{ fontSize: 15, fontWeight: 'bold', color: '#276FBF' }}&gt;4.8&lt;/Text&gt;&#10;                &lt;Text style={{ fontSize: 14, color: '#20344B' }}&gt;额外跨日整理（选修）&lt;/Text&gt;&#10;            &lt;/Box&gt;&#10;            &lt;Box style={{ width: 216, height: 72, background: '#ECF7F2', borderRadius: 8, flexDirection: 'column', gap: 2, justifyContent: 'center', alignItems: 'center' }}&gt;&#10;                &lt;Text style={{ fontSize: 15, fontWeight: 'bold', color: '#26816B' }}&gt;4.9&lt;/Text&gt;&#10;                &lt;Text style={{ fontSize: 14, color: '#20344B' }}&gt;分母、代价与范围&lt;/Text&gt;&#10;            &lt;/Box&gt;&#10;        &lt;/Box&gt;&#10;&#10;        &lt;Box style={{ width: 1152, height: 84, background: '#FFF4E6', borderRadius: 10, padding: '0 24px', flexDirection: 'column', gap: 4, justifyContent: 'center' }}&gt;&#10;            &lt;Text style={{ fontSize: 17, fontWeight: 'bold', color: '#CB6B28' }}&gt;九个环节共用同一套证据纪律&lt;/Text&gt;&#10;            &lt;Text style={{ fontSize: 15, color: '#546779' }}&gt;唯一变化　·　分母事前固定　·　失败与代价进入分子　·　结论停在证据能支持的位置&lt;/Text&gt;&#10;        &lt;/Box&gt;&#10;&#10;        &lt;Box style={{ width: 1152, flexDirection: 'row', justifyContent: 'space-between', alignItems: 'center', marginTop: 4 }}&gt;&#10;            &lt;Text style={{ fontSize: 14, color: '#546779' }}&gt;第四章　4.0 — 4.9　完&lt;/Text&gt;&#10;            &lt;Text style={{ fontSize: 15, color: '#276FBF' }}&gt;下一章　综合实战与交付 —— 把这一套纪律落成可交付的资源&lt;/Text&gt;&#10;        &lt;/Box&gt;&#10;&#10;    &lt;/Box&gt;&#10;&#10;    &lt;Box style={{ height: 40, flexDirection: 'row', justifyContent: 'space-between', alignItems: 'center' }}&gt;&#10;        &lt;Text style={{ fontSize: 14, color: '#546779' }}&gt;4.9 跨案例比较与研究设计&lt;/Text&gt;&#10;        &lt;Text style={{ fontSize: 14, color: '#546779' }}&gt;25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5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297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第四章　面向问题的场景化应用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4.0 — 4.9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609600" y="16478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全章对照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609600" y="19526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九个环节，就差一处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609600" y="28289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0" name=""/>
          <p:cNvSpPr/>
          <p:nvPr/>
        </p:nvSpPr>
        <p:spPr>
          <a:xfrm rot="0" flipH="0" flipV="0">
            <a:off x="609600" y="3000375"/>
            <a:ext cx="2057400" cy="685800"/>
          </a:xfrm>
          <a:prstGeom prst="roundRect">
            <a:avLst>
              <a:gd name="adj" fmla="val 1111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1533525" y="3171825"/>
            <a:ext cx="219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46779"/>
                </a:solidFill>
                <a:latin typeface="Microsoft YaHei"/>
                <a:ea typeface="Microsoft YaHei"/>
              </a:rPr>
              <a:t>4.0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1038225" y="3362325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先定能被推翻的问题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2838450" y="3000375"/>
            <a:ext cx="20574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3762375" y="3171825"/>
            <a:ext cx="219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4.1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3267075" y="3362325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先澄清，还是先建议</a:t>
            </a:r>
            <a:endParaRPr/>
          </a:p>
        </p:txBody>
      </p:sp>
      <p:sp>
        <p:nvSpPr>
          <p:cNvPr id="566" name=""/>
          <p:cNvSpPr/>
          <p:nvPr/>
        </p:nvSpPr>
        <p:spPr>
          <a:xfrm rot="0" flipH="0" flipV="0">
            <a:off x="5067300" y="3000375"/>
            <a:ext cx="20574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5991225" y="3171825"/>
            <a:ext cx="219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4.2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5629275" y="336232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五项整理进清单</a:t>
            </a:r>
            <a:endParaRPr/>
          </a:p>
        </p:txBody>
      </p:sp>
      <p:sp>
        <p:nvSpPr>
          <p:cNvPr id="569" name=""/>
          <p:cNvSpPr/>
          <p:nvPr/>
        </p:nvSpPr>
        <p:spPr>
          <a:xfrm rot="0" flipH="0" flipV="0">
            <a:off x="7296150" y="3000375"/>
            <a:ext cx="20574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8220075" y="3171825"/>
            <a:ext cx="219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4.3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7791450" y="336232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导览牌放哪个位置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9525000" y="3000375"/>
            <a:ext cx="20574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10448925" y="3171825"/>
            <a:ext cx="219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4.4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9953625" y="3362325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追加还是替代旧信念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609600" y="3819525"/>
            <a:ext cx="20574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1533525" y="3990975"/>
            <a:ext cx="219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4.5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1152525" y="4181475"/>
            <a:ext cx="971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显式核对子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2838450" y="3819525"/>
            <a:ext cx="20574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3762375" y="3990975"/>
            <a:ext cx="219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4.6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3467100" y="41814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逐人确认理由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5067300" y="3819525"/>
            <a:ext cx="20574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5991225" y="3990975"/>
            <a:ext cx="219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4.7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5429250" y="4181475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关闭一条通路（选修）</a:t>
            </a:r>
            <a:endParaRPr/>
          </a:p>
        </p:txBody>
      </p:sp>
      <p:sp>
        <p:nvSpPr>
          <p:cNvPr id="584" name=""/>
          <p:cNvSpPr/>
          <p:nvPr/>
        </p:nvSpPr>
        <p:spPr>
          <a:xfrm rot="0" flipH="0" flipV="0">
            <a:off x="7296150" y="3819525"/>
            <a:ext cx="20574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8220075" y="3990975"/>
            <a:ext cx="219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4.8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7658100" y="4181475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额外跨日整理（选修）</a:t>
            </a:r>
            <a:endParaRPr/>
          </a:p>
        </p:txBody>
      </p:sp>
      <p:sp>
        <p:nvSpPr>
          <p:cNvPr id="587" name=""/>
          <p:cNvSpPr/>
          <p:nvPr/>
        </p:nvSpPr>
        <p:spPr>
          <a:xfrm rot="0" flipH="0" flipV="0">
            <a:off x="9525000" y="3819525"/>
            <a:ext cx="205740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10448925" y="3990975"/>
            <a:ext cx="219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>4.9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10020300" y="41814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分母、代价与范围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609600" y="463867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838200" y="4838700"/>
            <a:ext cx="1051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九个环节共用同一套证据纪律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838200" y="5076825"/>
            <a:ext cx="1051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唯一变化　·　分母事前固定　·　失败与代价进入分子　·　结论停在证据能支持的位置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609600" y="5619750"/>
            <a:ext cx="1400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第四章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4.0 — 4.9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完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7610475" y="5610225"/>
            <a:ext cx="3971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下一章　综合实战与交付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把这一套纪律落成可交付的资源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跨案例比较与研究设计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25 / 25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2026-09-29T10:11:26Z</dcterms:created>
  <dcterms:modified xsi:type="dcterms:W3CDTF">2026-09-29T10:11:26Z</dcterms:modified>
</cp:coreProperties>
</file>