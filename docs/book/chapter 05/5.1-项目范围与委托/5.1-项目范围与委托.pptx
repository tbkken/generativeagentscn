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8" Type="http://schemas.openxmlformats.org/officeDocument/2006/relationships/slide" Target="slides/slide18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7" Type="http://schemas.openxmlformats.org/officeDocument/2006/relationships/tableStyles" Target="tableStyles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8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我先从一个真实的委托讲起。一位社区培训负责人看过第四章的服务大厅教案，希望用它组织一次工作人员研讨。他提出来的要求很自然：让大家看看，先问清楚是不是比直接指路更好。</a:t>
            </a:r>
          </a:p>
          <a:p>
            <a:r>
              <a:rPr lang="zh-CN" dirty="0"/>
              <a:t>这句话听起来像一个小小的演示需求，作者也许很快就能展示一段人物行走与对话，可这并不能回答委托人的问题。</a:t>
            </a:r>
          </a:p>
          <a:p>
            <a:r>
              <a:rPr lang="zh-CN" dirty="0"/>
              <a:t>委托人真正需要知道的是三件事：展示依据什么规则、遗漏了哪些结果、下次换一位讲师能不能继续使用。</a:t>
            </a:r>
          </a:p>
          <a:p>
            <a:r>
              <a:rPr lang="zh-CN" dirty="0"/>
              <a:t>所以这一节要把一句愿望组织成一个可以交接的项目。我们复用第四章的虚构服务大厅，不再增加新的行业场景。第三章讲过系统怎样操作，第四章讲过实验怎样比较，这里只关心这些知识怎样共同变成一份别人能够检查、使用和维护的成果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这一节要看清四件事，它们是一条链，不是四份清单。</a:t>
            </a:r>
          </a:p>
          <a:p>
            <a:r>
              <a:rPr lang="zh-CN" dirty="0"/>
              <a:t>第一件，把愿望改写成可回答的问题。委托人说「先问清楚是不是更好」，这里面至少有三个未确定：对谁更好、改善什么、愿意付出多少代价。这三个目标要分别说明。</a:t>
            </a:r>
          </a:p>
          <a:p>
            <a:r>
              <a:rPr lang="zh-CN" dirty="0"/>
              <a:t>第二件，建立一页足够具体的项目约定，并且选清交付范围。只交可审阅的设计，还是还要交真实运行与接收记录，这两种范围的完成材料完全不同。</a:t>
            </a:r>
          </a:p>
          <a:p>
            <a:r>
              <a:rPr lang="zh-CN" dirty="0"/>
              <a:t>第三件，把需求连到证据。给需求一个简短编号，再说明什么材料支持它。有人交出一个叫「最终报告」的文件，不能由文件名判断项目完成。</a:t>
            </a:r>
          </a:p>
          <a:p>
            <a:r>
              <a:rPr lang="zh-CN" dirty="0"/>
              <a:t>第四件，分清三种职责与六个可交接环节，最后让完成条件的名称和手里的证据相称。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先解决最根本的一步：把一句愿望改写成可以被回答的问题。</a:t>
            </a:r>
          </a:p>
          <a:p>
            <a:r>
              <a:rPr lang="zh-CN" dirty="0"/>
              <a:t>委托人说「先问清楚是不是更好」。这句话听起来清爽，其实至少包含三个未确定之处。第一是对谁更好：对来访者来说更少走错可能是好事，对咨询台来说多一轮询问又要花时间和调用。第二是改善什么：咨询闭环、错误窗口请求、咨询负担，这三个指标的方向并不一致。第三是愿意付出多少代价。</a:t>
            </a:r>
          </a:p>
          <a:p>
            <a:r>
              <a:rPr lang="zh-CN" dirty="0"/>
              <a:t>这些目标必须分别说明，不能合成一句含糊的「更好」。写成一个可回答的问题之后，项目才有判据，也才允许结果和预期不一样。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把愿望拆开之后，会看到三个必须分别说明的目标。</a:t>
            </a:r>
          </a:p>
          <a:p>
            <a:r>
              <a:rPr lang="zh-CN" dirty="0"/>
              <a:t>第一个是对谁更好。对来访者来说，更少走错可能有益；对咨询台来说，多一轮询问要花时间和调用。同一句「更好」，站的位置不同，含义就不同。</a:t>
            </a:r>
          </a:p>
          <a:p>
            <a:r>
              <a:rPr lang="zh-CN" dirty="0"/>
              <a:t>第二个是改善什么。我们要看的是咨询闭环、错误窗口请求和咨询负担这三项。它们的方向并不一致，很可能一个变好、另一个变差。</a:t>
            </a:r>
          </a:p>
          <a:p>
            <a:r>
              <a:rPr lang="zh-CN" dirty="0"/>
              <a:t>第三个是愿意付出多少代价。多一轮澄清会增加调用与等待，这笔代价要单独写清楚。</a:t>
            </a:r>
          </a:p>
          <a:p>
            <a:r>
              <a:rPr lang="zh-CN" dirty="0"/>
              <a:t>还有一个容易被忽略的地方：项目不以证明预设观点为完成条件。我讲这个案例时反复提醒学员，展示依据什么规则、遗漏了哪些结果，比结论好不好看更重要。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看写法。我把研究问题写成一句话：在给定的四项咨询需求、服务分工、人物信息与观察窗口下，把入口咨询台的一次窗口建议替换为缺少关键目的时先澄清，咨询闭环、错误窗口请求和咨询负担会出现什么差异。</a:t>
            </a:r>
          </a:p>
          <a:p>
            <a:r>
              <a:rPr lang="zh-CN" dirty="0"/>
              <a:t>这句话里有三样东西必须写明。第一是共同条件，也就是四项咨询需求、服务分工与人物信息、观察窗口。第二是唯一改变的地方，只动咨询台那一段决策方法。第三是结果的用途，用来讨论信息缺失与服务策略，而不是评判工作人员的表现。</a:t>
            </a:r>
          </a:p>
          <a:p>
            <a:r>
              <a:rPr lang="zh-CN" dirty="0"/>
              <a:t>还有一条边界要守住：不能拿这个教学实验去推定现实大厅的业务处理效率。这样写，结果和预期不一样也是一项发现。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还有一种情况特别常见：委托人顺手加了两项要求——减少排队，或者自动完成申请。它们听起来都在同一个服务大厅里，所以我们容易顺口答应。</a:t>
            </a:r>
          </a:p>
          <a:p>
            <a:r>
              <a:rPr lang="zh-CN" dirty="0"/>
              <a:t>但当前教案里既没有队列容量，也没有服务时长，排队问题无从测量；真实审批规则也没有，所以「申请通过」这件事在系统里根本没有对应的动作。</a:t>
            </a:r>
          </a:p>
          <a:p>
            <a:r>
              <a:rPr lang="zh-CN" dirty="0"/>
              <a:t>有一种错误做法是在人物台词里补一句「排队结束了」或者「申请已经通过」，看起来交代过去了，其实机制一点没变。</a:t>
            </a:r>
          </a:p>
          <a:p>
            <a:r>
              <a:rPr lang="zh-CN" dirty="0"/>
              <a:t>正确的处理是把这两项列入后续议题，并在本次说明里明确说出范围。承认做不到的事，比在故事里补一句台词诚实得多，也让接手的人少走弯路。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接下来这一步是很多项目失败的地方：范围没有先选清。</a:t>
            </a:r>
          </a:p>
          <a:p>
            <a:r>
              <a:rPr lang="zh-CN" dirty="0"/>
              <a:t>写项目约定的时候，首先要决定交什么。是只交一份可以审阅的设计，还是还要交真实运行和接收记录？这两种范围的完成材料完全不同。</a:t>
            </a:r>
          </a:p>
          <a:p>
            <a:r>
              <a:rPr lang="zh-CN" dirty="0"/>
              <a:t>设计交付要求问题与方法说清范围、判据和计划，输入材料给出精确文字与依赖，运行证据写明待执行，接收范围停在纸面审读。运行交付在前三项上都要真实：实际保存的实验副本、全部 Run 与判分，再加上实际约定的核查。</a:t>
            </a:r>
          </a:p>
          <a:p>
            <a:r>
              <a:rPr lang="zh-CN" dirty="0"/>
              <a:t>两者都可以成为合格成果，关键是名称要和证据相称。本章的示例目前还处在设计准备阶段，所以只能按设计交付来谈。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把两种范围并排看，差别就清楚了。</a:t>
            </a:r>
          </a:p>
          <a:p>
            <a:r>
              <a:rPr lang="zh-CN" dirty="0"/>
              <a:t>左边是设计交付。它检查材料是否完整：问题与方法要写清范围、判据和计划；输入材料要给出精确文字和依赖；运行证据只写明待执行；接收范围停在纸面审读。</a:t>
            </a:r>
          </a:p>
          <a:p>
            <a:r>
              <a:rPr lang="zh-CN" dirty="0"/>
              <a:t>右边是运行交付。前面三项它同样需要，但输入材料换成实际保存的实验副本，运行证据换成全部 Run 与判分，接收范围换成实际约定的核查。</a:t>
            </a:r>
          </a:p>
          <a:p>
            <a:r>
              <a:rPr lang="zh-CN" dirty="0"/>
              <a:t>请注意，这两栏的四个比较项是一一对应的，但它不是执行顺序，不表示先做完设计再自动进入运行。本章示例目前仍然停在左边的位置：材料在设计上完整，运行尚未发生。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一页项目约定先于地图制作。它不需要冗长的管理术语，但要让参加者对同一件事有共同理解。</a:t>
            </a:r>
          </a:p>
          <a:p>
            <a:r>
              <a:rPr lang="zh-CN" dirty="0"/>
              <a:t>我把要回答的问题收成七个。谁使用成果——是组织研讨的讲师，以及接手材料的另一位操作者。用来做什么——讨论信息不足时立即建议和先行澄清的取舍。观察什么——四项任务的咨询闭环、无效窗口访问、重复说明、首次有效回应时延和模型调用。改变什么——只动咨询台 Skill 里的那一段决策方法。保持什么——地图、五名 Agent、三个对象、任务、模型、窗口规则、时间和判分口径都不变。</a:t>
            </a:r>
          </a:p>
          <a:p>
            <a:r>
              <a:rPr lang="zh-CN" dirty="0"/>
              <a:t>最后一条最容易被人含糊过去：谁决定完成。本章的约定是作者自查之后，由没有参与配置的接收者按约定检查；如果是同一个人兼任，必须在材料里写明。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项目委托书已经把本章共用的条件整理好了。制作的时候可以直接复制它，填上本机的路径、参与人员和预算。</a:t>
            </a:r>
          </a:p>
          <a:p>
            <a:r>
              <a:rPr lang="zh-CN" dirty="0"/>
              <a:t>这里有一条纪律要特别强调：不要把空白字段变成想象中的系统事实。系统还没有创建身份的时候，run_id 就应该保持「待创建」；文件还没有导出的时候，哈希就应该保持「待计算」。写成具体的编号和摘要看着更完整，其实是编造，接手的人会照着它去找一个不存在的东西。</a:t>
            </a:r>
          </a:p>
          <a:p>
            <a:r>
              <a:rPr lang="zh-CN" dirty="0"/>
              <a:t>另外要说明哪些人可以阅读哪些文件。本章采用的都是虚构人物，不需要收集真实的办事记录，也不需要取得真实居民的信息，这一点在交付约定里写清楚，后面就不会有争议。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接下来解决一个很容易混淆的问题：什么是「有证据」。</a:t>
            </a:r>
          </a:p>
          <a:p>
            <a:r>
              <a:rPr lang="zh-CN" dirty="0"/>
              <a:t>有人交出一个文件，名字叫「最终报告」，我们不能凭文件名判断项目完成。更有效的做法是给每条需求一个简短编号，再说明什么材料支持它。</a:t>
            </a:r>
          </a:p>
          <a:p>
            <a:r>
              <a:rPr lang="zh-CN" dirty="0"/>
              <a:t>这里要提醒一句：这些编号只是作者文档里的引用，不是系统资源 ID，也不是需要加入内核的新状态机。我在评审学员作业时见过有人把它做成系统功能需求，那是对范围之外的东西做了过度设计。</a:t>
            </a:r>
          </a:p>
          <a:p>
            <a:r>
              <a:rPr lang="zh-CN" dirty="0"/>
              <a:t>接下来我按「需求编号、判据、来源、接收检查」这条链，把一项得分怎样回到事实讲一遍。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我用需求编号 R3「结果可追溯」来演示这条链。</a:t>
            </a:r>
          </a:p>
          <a:p>
            <a:r>
              <a:rPr lang="zh-CN" dirty="0"/>
              <a:t>R3 的含义是任何一个得分都能被复查。它的判据是适配回复加上确认，也就是教师先定义什么算正确。判据对应的来源，是实际运行里真实出现的身份与事实。最后的接收检查，是由别人在材料里定位到这些内容，并自己判断一次。</a:t>
            </a:r>
          </a:p>
          <a:p>
            <a:r>
              <a:rPr lang="zh-CN" dirty="0"/>
              <a:t>四步走下来，咨询闭环这一项得分就不再是一个孤立的数字，而是一条可以走回去的路径。</a:t>
            </a:r>
          </a:p>
          <a:p>
            <a:r>
              <a:rPr lang="zh-CN" dirty="0"/>
              <a:t>还要强调一点：R 编号只是文档索引，不是系统资源 ID，系统身份必须等它真正创建之后再登记。把它当成系统状态机会让范围失控。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五项需求各有自己的验收问题和支持材料，我把它们列成一张可核对的清单。</a:t>
            </a:r>
          </a:p>
          <a:p>
            <a:r>
              <a:rPr lang="zh-CN" dirty="0"/>
              <a:t>R1 可理解，问的是接收者能不能解释研究问题和范围，支持它的是委托书和方法说明；一张漂亮的回放截图替代不了。</a:t>
            </a:r>
          </a:p>
          <a:p>
            <a:r>
              <a:rPr lang="zh-CN" dirty="0"/>
              <a:t>R2 可比较，问两组除决策段之外条件是否一致，靠的是精确差异和包内资源核对；作者口头说「都一样」不算证据。</a:t>
            </a:r>
          </a:p>
          <a:p>
            <a:r>
              <a:rPr lang="zh-CN" dirty="0"/>
              <a:t>R3 可追溯，问任一任务得分能不能回到事实，靠判分行与 Run、Attempt、Step 的事件定位；模型最后的自我总结不算。</a:t>
            </a:r>
          </a:p>
          <a:p>
            <a:r>
              <a:rPr lang="zh-CN" dirty="0"/>
              <a:t>R4 可盘点，问失败、中断和成本有没有保留。</a:t>
            </a:r>
          </a:p>
          <a:p>
            <a:r>
              <a:rPr lang="zh-CN" dirty="0"/>
              <a:t>R5 可接手，问接收者完成了约定层次的检查没有——发送成功不等于接收完成。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「有证据」这三个字还需要限定强度，否则很容易把设计层的证据说成运行层的事实。</a:t>
            </a:r>
          </a:p>
          <a:p>
            <a:r>
              <a:rPr lang="zh-CN" dirty="0"/>
              <a:t>R2 可比较就是例子。在设计阶段，可以先通过作者文本比较，证明计划里只改了一段决策方法；等到完成界面配置之后，还要再核对实验副本，才能说明实际使用的内容符合计划。这两步的强度完全不同。</a:t>
            </a:r>
          </a:p>
          <a:p>
            <a:r>
              <a:rPr lang="zh-CN" dirty="0"/>
              <a:t>R5 可接手也是。如果只完成了阅读和文件完整性检查，那就不能写成异机重新运行成功。</a:t>
            </a:r>
          </a:p>
          <a:p>
            <a:r>
              <a:rPr lang="zh-CN" dirty="0"/>
              <a:t>使用需求—证据矩阵的时候，一行允许暂时没有证据。保留缺口能告诉接手人下一步做什么；为了好看而填上一个并不支持该需求的链接，只会把缺口掩盖起来。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接下来看谁在做事。一个能交接的项目里，有三种职责，它们互相不能替代。</a:t>
            </a:r>
          </a:p>
          <a:p>
            <a:r>
              <a:rPr lang="zh-CN" dirty="0"/>
              <a:t>作者负责把问题转成材料和实验，也就是委托书、作者材料、精确行为文本。复核者负责检查信息分配、判分和报告，产出差异说明与核查记录。接收者负责按文档实际寻找文件、读取证据并完成约定操作，最后留下接收记录。</a:t>
            </a:r>
          </a:p>
          <a:p>
            <a:r>
              <a:rPr lang="zh-CN" dirty="0"/>
              <a:t>这里有一个很容易被误解的地方：这三种是项目分工，不是新增的仿真 Agent。</a:t>
            </a:r>
          </a:p>
          <a:p>
            <a:r>
              <a:rPr lang="zh-CN" dirty="0"/>
              <a:t>服务大厅里仍然只有周澈、谭悦、孟川、邱禾和余真五名 Agent，以及咨询台、A 窗口、B 窗口三个绑定 Skill 的对象。分工是人的分工，场景本身没有变。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三种职责各自留下什么，我逐个说清楚。</a:t>
            </a:r>
          </a:p>
          <a:p>
            <a:r>
              <a:rPr lang="zh-CN" dirty="0"/>
              <a:t>作者负责把问题转成材料与实验。他要交出委托书、作者材料、精确的行为文本，这些东西决定实验能不能被配置出来。</a:t>
            </a:r>
          </a:p>
          <a:p>
            <a:r>
              <a:rPr lang="zh-CN" dirty="0"/>
              <a:t>复核者负责检查信息分配、判分和报告。他不写材料，只检查材料里有没有把该给的信息给对人、判分口径是不是前后一致，产出的是差异说明和核查记录。</a:t>
            </a:r>
          </a:p>
          <a:p>
            <a:r>
              <a:rPr lang="zh-CN" dirty="0"/>
              <a:t>接收者负责按文档实际寻找文件、读取证据并完成约定操作，最后留下接收记录。他是在不了解作者思路的前提下走一遍。</a:t>
            </a:r>
          </a:p>
          <a:p>
            <a:r>
              <a:rPr lang="zh-CN" dirty="0"/>
              <a:t>特别要提醒的是，这三种是项目分工，不是新增的仿真 Agent。服务大厅里仍然只有五名 Agent 和三个绑定 Skill 的对象，不要因为多了几个角色名就以为场景变复杂了。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一个人也可以完成小型项目，但应该留一次隔日复核。做法很简单。</a:t>
            </a:r>
          </a:p>
          <a:p>
            <a:r>
              <a:rPr lang="zh-CN" dirty="0"/>
              <a:t>先关闭编辑页面，只按交付入口重新寻找资料，看看不依赖记忆能不能找到全部材料。然后随机抽一项得分，从报告一路回查到实际回复和确认。</a:t>
            </a:r>
          </a:p>
          <a:p>
            <a:r>
              <a:rPr lang="zh-CN" dirty="0"/>
              <a:t>这样做能发现三类问题：路径失效、说明遗漏，还有那些只存在于作者记忆里的前提。它们平时看不出来，别人接手时才会集中爆发。</a:t>
            </a:r>
          </a:p>
          <a:p>
            <a:r>
              <a:rPr lang="zh-CN" dirty="0"/>
              <a:t>不过我要提醒，这一步不能冒充独立评阅。你自己隔一天再查，仍然带着作者的思路。如果确实有另一位接收者参与，应该记录他具体检查了什么，而不是写一个笼统的「全部无误」，那样等于什么都没说。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按交接产物，我把项目分成六个工作环节，每一个环节结束时都应该有一份能递出去的材料。</a:t>
            </a:r>
          </a:p>
          <a:p>
            <a:r>
              <a:rPr lang="zh-CN" dirty="0"/>
              <a:t>先确定问题与边界，形成委托书。再准备材料和精确 Skill，形成作者资料。随后按预算完成配置与运行，形成全部运行索引。之后依据事实判分，形成报告。再整理实际导出，由接收者核查，形成接收记录。最后记录接收反馈，按修改影响安排维护。</a:t>
            </a:r>
          </a:p>
          <a:p>
            <a:r>
              <a:rPr lang="zh-CN" dirty="0"/>
              <a:t>这六个环节不是系统必须执行的固定流程。Brain 仍然根据 SOP 决定调用顺序，Runtime 仍然按原有合同提交事实。这里的阶段只是作者组织工作的方式。</a:t>
            </a:r>
          </a:p>
          <a:p>
            <a:r>
              <a:rPr lang="zh-CN" dirty="0"/>
              <a:t>它有一个实际好处：如果发现任务表含混，可以回到材料阶段，而不必先完成一轮昂贵的运行。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阶段之间怎么判断能不能往下走？我建议只问一句话：下一位参与者拿到这些材料，能不能开展他的工作？</a:t>
            </a:r>
          </a:p>
          <a:p>
            <a:r>
              <a:rPr lang="zh-CN" dirty="0"/>
              <a:t>这句话很朴素，但它能挡掉很多含糊的进度报告。</a:t>
            </a:r>
          </a:p>
          <a:p>
            <a:r>
              <a:rPr lang="zh-CN" dirty="0"/>
              <a:t>地图草图和人物名单，足够用来讨论范围，却不足以直接导入实验。完整的作者材料可以支持配置，但不能证明运行稳定。运行已经结束，可以开始分析，却不能自动证明业务成功。</a:t>
            </a:r>
          </a:p>
          <a:p>
            <a:r>
              <a:rPr lang="zh-CN" dirty="0"/>
              <a:t>每一项判断都只承诺它真的支持的那一层。这样写出来的进度说明也许不那么好看，但它能减少返工，也让接手的人知道自己站在哪里。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讲师的职责也需要界定，这一点在设计教学项目时经常被忽略。</a:t>
            </a:r>
          </a:p>
          <a:p>
            <a:r>
              <a:rPr lang="zh-CN" dirty="0"/>
              <a:t>讲师当然可以安排学员先猜两种策略的利弊，再一起看证据讨论。好的课堂需要悬念和节奏，这是教学的权利。</a:t>
            </a:r>
          </a:p>
          <a:p>
            <a:r>
              <a:rPr lang="zh-CN" dirty="0"/>
              <a:t>但有一条线不能越过：不能为了课堂节奏，只留下最符合预期的片段。教学展示是可以节选的，研究台账仍然应该完整，而且节选依据要说明——你是因为时间关系只讲两项任务，还是因为只有这两项支持你的观点，这两件事完全不同。</a:t>
            </a:r>
          </a:p>
          <a:p>
            <a:r>
              <a:rPr lang="zh-CN" dirty="0"/>
              <a:t>说得直白一点，只留下最符合预期的片段，等于把一次实验讲成了一条广告。学员后来看到完整数据的时候，失去的是对整个课程的信任。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最后回到「完成」这个词本身。本章采用两种交付范围。</a:t>
            </a:r>
          </a:p>
          <a:p>
            <a:r>
              <a:rPr lang="zh-CN" dirty="0"/>
              <a:t>设计交付包括可审读的委托、资料、信息分配、精确行为文本和计划，它验收到「可以开始实施」。运行交付在设计交付之上增加实际实验、全部 Run、结果和接收记录，验收到双方约定的读取、复算或者重新执行层次。</a:t>
            </a:r>
          </a:p>
          <a:p>
            <a:r>
              <a:rPr lang="zh-CN" dirty="0"/>
              <a:t>两者都可以成为合格成果，关键是名称要和证据相称。明明只做到设计准备，却写成运行成功，这是最常见也最难补救的问题。</a:t>
            </a:r>
          </a:p>
          <a:p>
            <a:r>
              <a:rPr lang="zh-CN" dirty="0"/>
              <a:t>当前这份书稿属于教学材料交付。它没有完成第二种范围，也没有假定前三章的历史证据可以替代这个服务大厅。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项目做完之后还会遇到问题，这里要区分两类，处理方式完全不同。</a:t>
            </a:r>
          </a:p>
          <a:p>
            <a:r>
              <a:rPr lang="zh-CN" dirty="0"/>
              <a:t>第一类是系统问题。比如运行中出现了预期之外的行为。这时候要保存入口、操作、预期与实际、身份和边界，然后停止该项验收，按仓库规则处理。先保留现场，再去判断原因。</a:t>
            </a:r>
          </a:p>
          <a:p>
            <a:r>
              <a:rPr lang="zh-CN" dirty="0"/>
              <a:t>第二类是研究方案本身不合适。这时候不是停下来，而是记录原因，设计一个新的独立实验，同时把旧证据完整保留下来。旧证据不能删，它是你后来判断的依据。</a:t>
            </a:r>
          </a:p>
          <a:p>
            <a:r>
              <a:rPr lang="zh-CN" dirty="0"/>
              <a:t>这两条路径不能混在一起，也不要去改动仿真内核来迁就某一次实验。前者是保留现场，后者是重做并且留痕。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本节练习是：把「仿真证明澄清策略有效」改成可验收的项目要求。</a:t>
            </a:r>
          </a:p>
          <a:p>
            <a:r>
              <a:rPr lang="zh-CN" dirty="0"/>
              <a:t>原写法的问题在于，它把结果提前写进了题目。一旦结论已经确定，收集到的材料就只能往一个方向解释，项目也失去了允许结果与预期不同的空间。</a:t>
            </a:r>
          </a:p>
          <a:p>
            <a:r>
              <a:rPr lang="zh-CN" dirty="0"/>
              <a:t>一个比较好的答案是：在固定教学条件下比较两种入口咨询策略，提交包含全部任务、未完成样本、调用负担和证据定位的报告，由接收者抽查任一任务的判分。</a:t>
            </a:r>
          </a:p>
          <a:p>
            <a:r>
              <a:rPr lang="zh-CN" dirty="0"/>
              <a:t>这句话规定了应完成的工作——哪些任务、哪些样本、哪些负担、证据要能定位，也明确把判断权交给接收者。同时它允许结果与预期不同，甚至允许结论是「澄清没有带来闭环改善」。这才是一个项目该有的样子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这一节要带走的是三句话。</a:t>
            </a:r>
          </a:p>
          <a:p>
            <a:r>
              <a:rPr lang="zh-CN" dirty="0"/>
              <a:t>第一句，范围先定。这次只交可审阅的设计，还是连真实运行和接收记录一起交？这个问题不定，后面所有材料的准备方式都是模糊的。</a:t>
            </a:r>
          </a:p>
          <a:p>
            <a:r>
              <a:rPr lang="zh-CN" dirty="0"/>
              <a:t>第二句，需求连证据。每一项需求都要配一个验收问题和一种无法替代的证据；缺口允许存在，但要留在表里，不要用不支持的链接把它盖住。</a:t>
            </a:r>
          </a:p>
          <a:p>
            <a:r>
              <a:rPr lang="zh-CN" dirty="0"/>
              <a:t>第三句，名称与证据相称。设计准备就写设计准备，不要写成运行成功。这句话看起来只是措辞，实际上决定了别人能不能信任你交出去的东西。</a:t>
            </a:r>
          </a:p>
          <a:p>
            <a:r>
              <a:rPr lang="zh-CN" dirty="0"/>
              <a:t>下一节我们看资料来源与假设，把材料从哪儿来这件事说清楚。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先从一个真实的委托讲起。一位社区培训负责人看过第四章的服务大厅教案，希望用它组织一次工作人员研讨。他提出来的要求很自然：让大家看看，先问清楚是不是比直接指路更好。&#10;&#10;这句话听起来像一个小小的演示需求，作者也许很快就能展示一段人物行走与对话，可这并不能回答委托人的问题。&#10;&#10;委托人真正需要知道的是三件事：展示依据什么规则、遗漏了哪些结果、下次换一位讲师能不能继续使用。&#10;&#10;所以这一节要把一句愿望组织成一个可以交接的项目。我们复用第四章的虚构服务大厅，不再增加新的行业场景。第三章讲过系统怎样操作，第四章讲过实验怎样比较，这里只关心这些知识怎样共同变成一份别人能够检查、使用和维护的成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综合实战与交付　·　5.1　项目范围与完成条件&lt;/Text&gt;&#10;            &lt;Text style={{ fontSize: 34, fontWeight: 'bold', color: '#20344B' }}&gt;从一个委托开始&lt;/Text&gt;&#10;        &lt;/Box&gt;&#10;    &lt;/Box&gt;&#10;&#10;    &lt;Box style={{ height: 540, flexDirection: 'row', alignItems: 'center', gap: 32 }}&gt;&#10;&#10;        &lt;Box style={{ width: 520, flexDirection: 'column', gap: 14 }}&gt;&#10;            &lt;Text style={{ fontSize: 52, fontWeight: 'bold', color: '#20344B', lineHeight: 1.2 }}&gt;什么才算{'\n'}把项目做完&lt;/Text&gt;&#10;            &lt;Box style={{ width: 72, height: 4, background: '#276FBF' }} /&gt;&#10;            &lt;Text style={{ fontSize: 17, color: '#546779', lineHeight: 1.7, width: 520 }}&gt;委托人要的不是一段演示，而是一份别人能检查、能使用、能维护的成果。本节把一句愿望组织成一个可以交接的项目。&lt;/Text&gt;&#10;            &lt;Box style={{ flexDirection: 'row', gap: 12, marginTop: 4 }}&gt;&#10;                &lt;Box style={{ width: 160, height: 42, background: '#EDF4FC', borderRadius: 8, justifyContent: 'center', alignItems: 'center' }}&gt;&#10;                    &lt;Text style={{ fontSize: 15, color: '#276FBF' }}&gt;一句愿望&lt;/Text&gt;&#10;                &lt;/Box&gt;&#10;                &lt;Box style={{ width: 160, height: 42, background: '#EDF4FC', borderRadius: 8, justifyContent: 'center', alignItems: 'center' }}&gt;&#10;                    &lt;Text style={{ fontSize: 15, color: '#276FBF' }}&gt;一个项目&lt;/Text&gt;&#10;                &lt;/Box&gt;&#10;                &lt;Box style={{ width: 160, height: 42, background: '#ECF7F2', borderRadius: 8, justifyContent: 'center', alignItems: 'center' }}&gt;&#10;                    &lt;Text style={{ fontSize: 15, color: '#26816B' }}&gt;一份可交接的成果&lt;/Text&gt;&#10;                &lt;/Box&gt;&#10;            &lt;/Box&gt;&#10;        &lt;/Box&gt;&#10;&#10;        &lt;Box style={{ width: 600, flexDirection: 'column', justifyContent: 'center' }}&gt;&#10;            &lt;Box style={{ width: 600, height: 84, background: '#F4F7FA', borderRadius: 10, padding: '0 22px', flexDirection: 'column', gap: 4, justifyContent: 'center' }}&gt;&#10;                &lt;Text style={{ fontSize: 14, color: '#546779' }}&gt;委托人的原话&lt;/Text&gt;&#10;                &lt;Text style={{ fontSize: 18, fontWeight: 'bold', color: '#20344B' }}&gt;让大家看看，先问清楚是不是比直接指路好&lt;/Text&gt;&#10;            &lt;/Box&gt;&#10;            &lt;Box style={{ width: 600, height: 40, justifyContent: 'center', alignItems: 'center' }}&gt;&#10;                &lt;Text style={{ fontSize: 22, color: '#276FBF' }}&gt;↓&lt;/Text&gt;&#10;            &lt;/Box&gt;&#10;            &lt;Box style={{ width: 600, height: 76, background: '#EDF4FC', borderRadius: 10, padding: '0 22px', flexDirection: 'column', gap: 4, justifyContent: 'center' }}&gt;&#10;                &lt;Text style={{ fontSize: 18, fontWeight: 'bold', color: '#276FBF' }}&gt;研究问题&lt;/Text&gt;&#10;                &lt;Text style={{ fontSize: 15, color: '#546779' }}&gt;在给定条件与观察窗口下，比较两种入口咨询策略&lt;/Text&gt;&#10;            &lt;/Box&gt;&#10;            &lt;Box style={{ width: 600, height: 40, justifyContent: 'center', alignItems: 'center' }}&gt;&#10;                &lt;Text style={{ fontSize: 22, color: '#26816B' }}&gt;↓&lt;/Text&gt;&#10;            &lt;/Box&gt;&#10;            &lt;Box style={{ width: 600, flexDirection: 'row', gap: 20 }}&gt;&#10;                &lt;Box style={{ width: 290, height: 118, background: '#EDF4FC', borderRadius: 10, padding: '16px 20px', flexDirection: 'column', gap: 6, justifyContent: 'center' }}&gt;&#10;                    &lt;Text style={{ fontSize: 20, fontWeight: 'bold', color: '#276FBF' }}&gt;设计交付&lt;/Text&gt;&#10;                    &lt;Text style={{ fontSize: 15, color: '#546779', lineHeight: 1.5 }}&gt;验收到「可以{'\n'}开始实施」&lt;/Text&gt;&#10;                &lt;/Box&gt;&#10;                &lt;Box style={{ width: 290, height: 118, background: '#ECF7F2', borderRadius: 10, padding: '16px 20px', flexDirection: 'column', gap: 6, justifyContent: 'center' }}&gt;&#10;                    &lt;Text style={{ fontSize: 20, fontWeight: 'bold', color: '#26816B' }}&gt;运行交付&lt;/Text&gt;&#10;                    &lt;Text style={{ fontSize: 15, color: '#546779', lineHeight: 1.5 }}&gt;再增加真实实验{'\n'}与接收记录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综合实战与交付　·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项目范围与完成条件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95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从一个委托开始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什么才算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把项目做完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委托人要的不是一段演示，而是一份别人能检查、能使用、能维护的成果。本节把一句愿望组织成一个可以交接的项目。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858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一句愿望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2479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7241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一个项目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3886200" y="4800600"/>
            <a:ext cx="15240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076700" y="49149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一份可交接的成果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2009775"/>
            <a:ext cx="57150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76950" y="2209800"/>
            <a:ext cx="5295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委托人的原话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76950" y="240982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让大家看看，先问清楚是不是比直接指路好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677275" y="28765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867400" y="3190875"/>
            <a:ext cx="57150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076950" y="3343275"/>
            <a:ext cx="529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研究问题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76950" y="3590925"/>
            <a:ext cx="529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在给定条件与观察窗口下，比较两种入口咨询策略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677275" y="398145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5867400" y="4295775"/>
            <a:ext cx="276225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057900" y="4457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设计交付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057900" y="47434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验收到「可以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开始实施」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8820150" y="4295775"/>
            <a:ext cx="276225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010650" y="4457700"/>
            <a:ext cx="2381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运行交付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010650" y="4743450"/>
            <a:ext cx="238125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再增加真实实验</a:t>
            </a:r>
            <a:endParaRPr/>
          </a:p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与接收记录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01 / 24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28" name="" descr="&lt;Slide notes={`这一节要看清四件事，它们是一条链，不是四份清单。&#10;&#10;第一件，把愿望改写成可回答的问题。委托人说「先问清楚是不是更好」，这里面至少有三个未确定：对谁更好、改善什么、愿意付出多少代价。这三个目标要分别说明。&#10;&#10;第二件，建立一页足够具体的项目约定，并且选清交付范围。只交可审阅的设计，还是还要交真实运行与接收记录，这两种范围的完成材料完全不同。&#10;&#10;第三件，把需求连到证据。给需求一个简短编号，再说明什么材料支持它。有人交出一个叫「最终报告」的文件，不能由文件名判断项目完成。&#10;&#10;第四件，分清三种职责与六个可交接环节，最后让完成条件的名称和手里的证据相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　本节地图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60, flexDirection: 'column', justifyContent: 'center', gap: 18 }}&gt;&#10;            &lt;Text style={{ fontSize: 16, color: '#546779', lineHeight: 1.75 }}&gt;委托要的不是一段演示，而是一份别人能检查、能使用、能维护的成果。四件事依次把一句愿望变成可交接的项目。&lt;/Text&gt;&#10;            &lt;Box style={{ width: 360, height: 52, background: '#F4F7FA', borderRadius: 8, justifyContent: 'center', alignItems: 'center' }}&gt;&#10;                &lt;Text style={{ fontSize: 17, color: '#20344B' }}&gt;一句愿望&lt;/Text&gt;&#10;            &lt;/Box&gt;&#10;            &lt;Box style={{ width: 360, height: 32, justifyContent: 'center', alignItems: 'center' }}&gt;&#10;                &lt;Text style={{ fontSize: 20, color: '#276FBF' }}&gt;↓&lt;/Text&gt;&#10;            &lt;/Box&gt;&#10;            &lt;Box style={{ width: 360, height: 52, background: '#EDF4FC', borderRadius: 8, justifyContent: 'center', alignItems: 'center' }}&gt;&#10;                &lt;Text style={{ fontSize: 17, color: '#276FBF' }}&gt;一个可回答的问题&lt;/Text&gt;&#10;            &lt;/Box&gt;&#10;            &lt;Box style={{ width: 360, height: 32, justifyContent: 'center', alignItems: 'center' }}&gt;&#10;                &lt;Text style={{ fontSize: 20, color: '#26816B' }}&gt;↓&lt;/Text&gt;&#10;            &lt;/Box&gt;&#10;            &lt;Box style={{ width: 360, height: 52, background: '#ECF7F2', borderRadius: 8, justifyContent: 'center', alignItems: 'center' }}&gt;&#10;                &lt;Text style={{ fontSize: 17, color: '#26816B' }}&gt;一份可交接的成果&lt;/Text&gt;&#10;            &lt;/Box&gt;&#10;        &lt;/Box&gt;&#10;&#10;        &lt;Box style={{ width: 760, flexDirection: 'column', justifyContent: 'center', gap: 14 }}&gt;&#10;&#10;            &lt;Box style={{ width: 760, height: 106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①&lt;/Text&gt;&#10;                &lt;/Box&gt;&#10;                &lt;Box style={{ flexDirection: 'column', gap: 4, width: 654 }}&gt;&#10;                    &lt;Text style={{ fontSize: 20, fontWeight: 'bold', color: '#20344B' }}&gt;把愿望改写成可回答的问题&lt;/Text&gt;&#10;                    &lt;Text style={{ fontSize: 15, color: '#546779', lineHeight: 1.45 }}&gt;对谁更好、改善什么、愿意付出多少代价，三个目标要分别说明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②&lt;/Text&gt;&#10;                &lt;/Box&gt;&#10;                &lt;Box style={{ flexDirection: 'column', gap: 4, width: 654 }}&gt;&#10;                    &lt;Text style={{ fontSize: 20, fontWeight: 'bold', color: '#20344B' }}&gt;一页项目约定与两种交付范围&lt;/Text&gt;&#10;                    &lt;Text style={{ fontSize: 15, color: '#546779', lineHeight: 1.45 }}&gt;设计交付验收到「可以开始实施」，运行交付再要求真实配置与全部 Run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76FBF', justifyContent: 'center', alignItems: 'center' }}&gt;&#10;                    &lt;Text style={{ fontSize: 22, fontWeight: 'bold', color: '#FFFFFF' }}&gt;③&lt;/Text&gt;&#10;                &lt;/Box&gt;&#10;                &lt;Box style={{ flexDirection: 'column', gap: 4, width: 654 }}&gt;&#10;                    &lt;Text style={{ fontSize: 20, fontWeight: 'bold', color: '#20344B' }}&gt;把需求连到证据，而不只连到文件名&lt;/Text&gt;&#10;                    &lt;Text style={{ fontSize: 15, color: '#546779', lineHeight: 1.45 }}&gt;每个需求配一个验收问题和一种无法替代的证据，缺口要留在表里&lt;/Text&gt;&#10;                &lt;/Box&gt;&#10;            &lt;/Box&gt;&#10;&#10;            &lt;Box style={{ width: 760, height: 106, background: '#F4F7FA', borderRadius: 10, padding: '0 20px', flexDirection: 'row', alignItems: 'center', gap: 18 }}&gt;&#10;                &lt;Box style={{ width: 48, height: 48, borderRadius: 8, background: '#26816B', justifyContent: 'center', alignItems: 'center' }}&gt;&#10;                    &lt;Text style={{ fontSize: 22, fontWeight: 'bold', color: '#FFFFFF' }}&gt;④&lt;/Text&gt;&#10;                &lt;/Box&gt;&#10;                &lt;Box style={{ flexDirection: 'column', gap: 4, width: 654 }}&gt;&#10;                    &lt;Text style={{ fontSize: 20, fontWeight: 'bold', color: '#20344B' }}&gt;三种职责、六个环节与相称的完成条件&lt;/Text&gt;&#10;                    &lt;Text style={{ fontSize: 15, color: '#546779', lineHeight: 1.45 }}&gt;作者、复核者、接收者分工；完成条件的名称要与手里的证据相称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本节地图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342900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委托要的不是一段演示，而是一份别人能检查、能使用、能维护的成果。四件事依次把一句愿望变成可交接的项目。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09600" y="28956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2000250" y="30480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一句愿望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2276475" y="3600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09600" y="40386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676400" y="41910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一个可回答的问题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2276475" y="4743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5181600"/>
            <a:ext cx="3429000" cy="495300"/>
          </a:xfrm>
          <a:prstGeom prst="roundRect">
            <a:avLst>
              <a:gd name="adj" fmla="val 1538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676400" y="5334000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一份可交接的成果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343400" y="1495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4533900" y="1771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657725" y="1876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162550" y="1743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把愿望改写成可回答的问题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162550" y="2009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对谁更好、改善什么、愿意付出多少代价，三个目标要分别说明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4343400" y="2638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4533900" y="2914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657725" y="3019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5162550" y="2886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一页项目约定与两种交付范围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162550" y="3152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设计交付验收到「可以开始实施」，运行交付再要求真实配置与全部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4343400" y="3781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4533900" y="4057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4657725" y="4162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5162550" y="4029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把需求连到证据，而不只连到文件名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5162550" y="4295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每个需求配一个验收问题和一种无法替代的证据，缺口要留在表里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343400" y="4924425"/>
            <a:ext cx="72390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4533900" y="5200650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657725" y="53054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162550" y="5172075"/>
            <a:ext cx="6229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三种职责、六个环节与相称的完成条件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162550" y="5438775"/>
            <a:ext cx="622935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作者、复核者、接收者分工；完成条件的名称要与手里的证据相称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71" name="" descr="&lt;Slide notes={`先解决最根本的一步：把一句愿望改写成可以被回答的问题。&#10;&#10;委托人说「先问清楚是不是更好」。这句话听起来清爽，其实至少包含三个未确定之处。第一是对谁更好：对来访者来说更少走错可能是好事，对咨询台来说多一轮询问又要花时间和调用。第二是改善什么：咨询闭环、错误窗口请求、咨询负担，这三个指标的方向并不一致。第三是愿意付出多少代价。&#10;&#10;这些目标必须分别说明，不能合成一句含糊的「更好」。写成一个可回答的问题之后，项目才有判据，也才允许结果和预期不一样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　项目范围与完成条件&lt;/Text&gt;&#10;            &lt;Text style={{ fontSize: 34, fontWeight: 'bold', color: '#20344B' }}&gt;知识块 ①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①&lt;/Text&gt;&#10;&#10;        &lt;Text style={{ fontSize: 56, fontWeight: 'bold', color: '#20344B', lineHeight: 1.15 }}&gt;把一句愿望，改写成可回答的问题&lt;/Text&gt;&#10;&#10;        &lt;Box style={{ width: 72, height: 4, background: '#276FBF' }} /&gt;&#10;&#10;        &lt;Text style={{ fontSize: 18, color: '#546779', lineHeight: 1.7, width: 900 }}&gt;「先问清楚是不是更好」至少包含三个未确定之处：对谁更好、改善什么、愿意付出多少代价。&lt;/Text&gt;&#10;&#10;        &lt;Box style={{ flexDirection: 'row', alignItems: 'center', marginTop: 10 }}&gt;&#10;            &lt;Box style={{ width: 300, height: 64, background: '#F4F7FA', borderRadius: 8, justifyContent: 'center', alignItems: 'center' }}&gt;&#10;                &lt;Text style={{ fontSize: 18, color: '#20344B' }}&gt;一句愿望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三个未确定之处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可回答的研究问题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项目范围与完成条件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57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①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把一句愿望，改写成可回答的问题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40957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「先问清楚是不是更好」至少包含三个未确定之处：对谁更好、改善什么、愿意付出多少代价。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096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695450" y="51244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一句愿望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36385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38862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4714875" y="51244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三个未确定之处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915150" y="50768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7162800" y="4924425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905750" y="51244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可回答的研究问题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90" name="" descr="&lt;Slide notes={`把愿望拆开之后，会看到三个必须分别说明的目标。&#10;&#10;第一个是对谁更好。对来访者来说，更少走错可能有益；对咨询台来说，多一轮询问要花时间和调用。同一句「更好」，站的位置不同，含义就不同。&#10;&#10;第二个是改善什么。我们要看的是咨询闭环、错误窗口请求和咨询负担这三项。它们的方向并不一致，很可能一个变好、另一个变差。&#10;&#10;第三个是愿意付出多少代价。多一轮澄清会增加调用与等待，这笔代价要单独写清楚。&#10;&#10;还有一个容易被忽略的地方：项目不以证明预设观点为完成条件。我讲这个案例时反复提醒学员，展示依据什么规则、遗漏了哪些结果，比结论好不好看更重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1　将一句愿望改写成可回答的问题&lt;/Text&gt;&#10;            &lt;Text style={{ fontSize: 34, fontWeight: 'bold', color: '#20344B' }}&gt;一句愿望里，藏着三个未确定&lt;/Text&gt;&#10;        &lt;/Box&gt;&#10;    &lt;/Box&gt;&#10;&#10;    &lt;Box style={{ height: 540, flexDirection: 'column', justifyContent: 'center', gap: 16 }}&gt;&#10;&#10;        &lt;Box style={{ width: 1152, height: 74, background: '#F4F7FA', borderRadius: 10, padding: '0 22px', flexDirection: 'row', alignItems: 'center', gap: 16 }}&gt;&#10;            &lt;Text style={{ fontSize: 14, color: '#546779', width: 110 }}&gt;委托人的原话&lt;/Text&gt;&#10;            &lt;Text style={{ fontSize: 18, fontWeight: 'bold', color: '#20344B' }}&gt;让大家看看，先问清楚是不是比直接指路好。&lt;/Text&gt;&#10;        &lt;/Box&gt;&#10;&#10;        &lt;Box style={{ flexDirection: 'row', gap: 20 }}&gt;&#10;&#10;            &lt;Box style={{ width: 370, height: 152, background: '#EDF4FC', borderRadius: 10, padding: '18px 20px', flexDirection: 'column', gap: 8 }}&gt;&#10;                &lt;Text style={{ fontSize: 20, fontWeight: 'bold', color: '#276FBF' }}&gt;对谁更好&lt;/Text&gt;&#10;                &lt;Text style={{ fontSize: 15, color: '#546779', lineHeight: 1.6 }}&gt;来访者可能少走错一次；咨询台要多一轮询问的时间与调用。&lt;/Text&gt;&#10;            &lt;/Box&gt;&#10;&#10;            &lt;Box style={{ width: 370, height: 152, background: '#ECF7F2', borderRadius: 10, padding: '18px 20px', flexDirection: 'column', gap: 8 }}&gt;&#10;                &lt;Text style={{ fontSize: 20, fontWeight: 'bold', color: '#26816B' }}&gt;改善什么&lt;/Text&gt;&#10;                &lt;Text style={{ fontSize: 15, color: '#546779', lineHeight: 1.6 }}&gt;咨询闭环、错误窗口请求、咨询负担，三个指标的方向并不一致。&lt;/Text&gt;&#10;            &lt;/Box&gt;&#10;&#10;            &lt;Box style={{ width: 370, height: 152, background: '#FFF4E6', borderRadius: 10, padding: '18px 20px', flexDirection: 'column', gap: 8 }}&gt;&#10;                &lt;Text style={{ fontSize: 20, fontWeight: 'bold', color: '#CB6B28' }}&gt;愿意付出多少代价&lt;/Text&gt;&#10;                &lt;Text style={{ fontSize: 15, color: '#546779', lineHeight: 1.6 }}&gt;多一轮澄清会增加调用与等待，这笔代价要单独说清。&lt;/Text&gt;&#10;            &lt;/Box&gt;&#10;&#10;        &lt;/Box&gt;&#10;&#10;        &lt;Box style={{ width: 1152, height: 88, background: '#F4F7FA', borderRadius: 10, padding: '0 22px', flexDirection: 'row', alignItems: 'center', gap: 16 }}&gt;&#10;            &lt;Box style={{ width: 4, height: 56, background: '#276FBF' }} /&gt;&#10;            &lt;Box style={{ flexDirection: 'column', gap: 4, width: 1060 }}&gt;&#10;                &lt;Text style={{ fontSize: 18, fontWeight: 'bold', color: '#20344B' }}&gt;三个目标要分别说明，不能合成一句「更好」&lt;/Text&gt;&#10;                &lt;Text style={{ fontSize: 15, color: '#546779', lineHeight: 1.5 }}&gt;项目不以证明预设观点为完成条件，也不要求每个角色都成功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将一句愿望改写成可回答的问题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一句愿望里，藏着三个未确定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609600" y="2066925"/>
            <a:ext cx="10972800" cy="704850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19150" y="23431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委托人的原话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2019300" y="2314575"/>
            <a:ext cx="3429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让大家看看，先问清楚是不是比直接指路好。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09600" y="2924175"/>
            <a:ext cx="3524250" cy="1447800"/>
          </a:xfrm>
          <a:prstGeom prst="roundRect">
            <a:avLst>
              <a:gd name="adj" fmla="val 657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800100" y="3095625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对谁更好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00100" y="340042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来访者可能少走错一次；咨询台要多一轮询问的时间与调用。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4324350" y="2924175"/>
            <a:ext cx="352425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4514850" y="3095625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改善什么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4514850" y="340042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咨询闭环、错误窗口请求、咨询负担，三个指标的方向并不一致。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8039100" y="2924175"/>
            <a:ext cx="352425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8229600" y="3095625"/>
            <a:ext cx="3143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愿意付出多少代价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8229600" y="3400425"/>
            <a:ext cx="31432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多一轮澄清会增加调用与等待，这笔代价要单独说清。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609600" y="45243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08" name=""/>
          <p:cNvSpPr/>
          <p:nvPr/>
        </p:nvSpPr>
        <p:spPr>
          <a:xfrm rot="0" flipH="0" flipV="0">
            <a:off x="819150" y="46767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009650" y="4695825"/>
            <a:ext cx="1009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三个目标要分别说明，不能合成一句「更好」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009650" y="4943475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项目不以证明预设观点为完成条件，也不要求每个角色都成功。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13" name="" descr="&lt;Slide notes={`现在看写法。我把研究问题写成一句话：在给定的四项咨询需求、服务分工、人物信息与观察窗口下，把入口咨询台的一次窗口建议替换为缺少关键目的时先澄清，咨询闭环、错误窗口请求和咨询负担会出现什么差异。&#10;&#10;这句话里有三样东西必须写明。第一是共同条件，也就是四项咨询需求、服务分工与人物信息、观察窗口。第二是唯一改变的地方，只动咨询台那一段决策方法。第三是结果的用途，用来讨论信息缺失与服务策略，而不是评判工作人员的表现。&#10;&#10;还有一条边界要守住：不能拿这个教学实验去推定现实大厅的业务处理效率。这样写，结果和预期不一样也是一项发现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1　将一句愿望改写成可回答的问题&lt;/Text&gt;&#10;            &lt;Text style={{ fontSize: 34, fontWeight: 'bold', color: '#20344B' }}&gt;把问题写成一句可以被回答的话&lt;/Text&gt;&#10;        &lt;/Box&gt;&#10;    &lt;/Box&gt;&#10;&#10;    &lt;Box style={{ height: 540, flexDirection: 'row', alignItems: 'center', gap: 32 }}&gt;&#10;&#10;        &lt;Box style={{ width: 700, flexDirection: 'column', justifyContent: 'center', gap: 16 }}&gt;&#10;            &lt;Text style={{ fontSize: 14, color: '#546779' }}&gt;本节采用的研究问题&lt;/Text&gt;&#10;&#10;            &lt;Box style={{ width: 700, height: 156, background: '#EDF4FC', borderRadius: 10, padding: '18px 24px', justifyContent: 'center' }}&gt;&#10;                &lt;Text style={{ fontSize: 17, color: '#20344B', lineHeight: 1.75 }}&gt;在给定的四项咨询需求、服务分工、人物信息与观察窗口下，将入口咨询台的「一次窗口建议」替换为「缺少关键目的时先澄清」，咨询闭环、错误窗口请求和咨询负担会出现什么差异？&lt;/Text&gt;&#10;            &lt;/Box&gt;&#10;&#10;            &lt;Box style={{ width: 700, height: 60, background: '#F4F7FA', borderRadius: 8, padding: '0 18px', flexDirection: 'row', alignItems: 'center', gap: 14 }}&gt;&#10;                &lt;Box style={{ width: 4, height: 32, background: '#276FBF' }} /&gt;&#10;                &lt;Text style={{ fontSize: 16, color: '#20344B', lineHeight: 1.5 }}&gt;调用更多却没有增加闭环，仍然是一项可以讨论的发现&lt;/Text&gt;&#10;            &lt;/Box&gt;&#10;&#10;            &lt;Box style={{ width: 700, height: 60, background: '#F4F7FA', borderRadius: 8, padding: '0 18px', flexDirection: 'row', alignItems: 'center', gap: 14 }}&gt;&#10;                &lt;Box style={{ width: 4, height: 32, background: '#276FBF' }} /&gt;&#10;                &lt;Text style={{ fontSize: 16, color: '#20344B', lineHeight: 1.5 }}&gt;不以证明预设观点为完成条件，也不要求每个角色都成功&lt;/Text&gt;&#10;            &lt;/Box&gt;&#10;&#10;            &lt;Box style={{ width: 700, height: 60, background: '#F4F7FA', borderRadius: 8, padding: '0 18px', flexDirection: 'row', alignItems: 'center', gap: 14 }}&gt;&#10;                &lt;Box style={{ width: 4, height: 32, background: '#26816B' }} /&gt;&#10;                &lt;Text style={{ fontSize: 16, color: '#20344B', lineHeight: 1.5 }}&gt;它要求共同条件明确、结果完整、解释能接受复查&lt;/Text&gt;&#10;            &lt;/Box&gt;&#10;        &lt;/Box&gt;&#10;&#10;        &lt;Box style={{ width: 420, flexDirection: 'column', justifyContent: 'center', gap: 12 }}&gt;&#10;            &lt;Text style={{ fontSize: 14, color: '#546779' }}&gt;必须写明的三项共同条件&lt;/Text&gt;&#10;&#10;            &lt;Box style={{ width: 420, height: 68, background: '#ECF7F2', borderRadius: 8, padding: '0 18px', justifyContent: 'center' }}&gt;&#10;                &lt;Text style={{ fontSize: 17, color: '#20344B' }}&gt;四项咨询需求&lt;/Text&gt;&#10;            &lt;/Box&gt;&#10;            &lt;Box style={{ width: 420, height: 68, background: '#ECF7F2', borderRadius: 8, padding: '0 18px', justifyContent: 'center' }}&gt;&#10;                &lt;Text style={{ fontSize: 17, color: '#20344B' }}&gt;服务分工与人物信息&lt;/Text&gt;&#10;            &lt;/Box&gt;&#10;            &lt;Box style={{ width: 420, height: 68, background: '#ECF7F2', borderRadius: 8, padding: '0 18px', justifyContent: 'center' }}&gt;&#10;                &lt;Text style={{ fontSize: 17, color: '#20344B' }}&gt;观察窗口&lt;/Text&gt;&#10;            &lt;/Box&gt;&#10;&#10;            &lt;Box style={{ width: 420, height: 122, background: '#FFF4E6', borderRadius: 10, padding: '16px 20px', justifyContent: 'center' }}&gt;&#10;                &lt;Text style={{ fontSize: 15, color: '#CB6B28', lineHeight: 1.65 }}&gt;结果用于讨论信息缺失与服务策略，不能推定现实大厅的业务处理效率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将一句愿望改写成可回答的问题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把问题写成一句可以被回答的话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666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本节采用的研究问题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09600" y="2047875"/>
            <a:ext cx="6667500" cy="1485900"/>
          </a:xfrm>
          <a:prstGeom prst="roundRect">
            <a:avLst>
              <a:gd name="adj" fmla="val 641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38200" y="2276475"/>
            <a:ext cx="62103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在给定的四项咨询需求、服务分工、人物信息与观察窗口下，将入口咨询台的「一次窗口建议」替换为「缺少关键目的时先澄清」，咨询闭环、错误窗口请求和咨询负担会出现什么差异？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609600" y="3686175"/>
            <a:ext cx="6667500" cy="5715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2" name=""/>
          <p:cNvSpPr/>
          <p:nvPr/>
        </p:nvSpPr>
        <p:spPr>
          <a:xfrm rot="0" flipH="0" flipV="0">
            <a:off x="781050" y="381952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952500" y="383857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调用更多却没有增加闭环，仍然是一项可以讨论的发现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09600" y="4410075"/>
            <a:ext cx="6667500" cy="5715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781050" y="4543425"/>
            <a:ext cx="38100" cy="3048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952500" y="45624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不以证明预设观点为完成条件，也不要求每个角色都成功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5133975"/>
            <a:ext cx="6667500" cy="5715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28" name=""/>
          <p:cNvSpPr/>
          <p:nvPr/>
        </p:nvSpPr>
        <p:spPr>
          <a:xfrm rot="0" flipH="0" flipV="0">
            <a:off x="781050" y="5267325"/>
            <a:ext cx="38100" cy="3048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952500" y="5286375"/>
            <a:ext cx="3352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它要求共同条件明确、结果完整、解释能接受复查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581900" y="1857375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必须写明的三项共同条件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7581900" y="2133600"/>
            <a:ext cx="4000500" cy="647700"/>
          </a:xfrm>
          <a:prstGeom prst="roundRect">
            <a:avLst>
              <a:gd name="adj" fmla="val 117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753350" y="236220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四项咨询需求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581900" y="2895600"/>
            <a:ext cx="4000500" cy="647700"/>
          </a:xfrm>
          <a:prstGeom prst="roundRect">
            <a:avLst>
              <a:gd name="adj" fmla="val 117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753350" y="312420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服务分工与人物信息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581900" y="3657600"/>
            <a:ext cx="4000500" cy="647700"/>
          </a:xfrm>
          <a:prstGeom prst="roundRect">
            <a:avLst>
              <a:gd name="adj" fmla="val 1176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753350" y="388620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观察窗口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581900" y="4419600"/>
            <a:ext cx="4000500" cy="1162050"/>
          </a:xfrm>
          <a:prstGeom prst="roundRect">
            <a:avLst>
              <a:gd name="adj" fmla="val 819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772400" y="4714875"/>
            <a:ext cx="3619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结果用于讨论信息缺失与服务策略，不能推定现实大厅的业务处理效率。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41" name="" descr="&lt;Slide notes={`还有一种情况特别常见：委托人顺手加了两项要求——减少排队，或者自动完成申请。它们听起来都在同一个服务大厅里，所以我们容易顺口答应。&#10;&#10;但当前教案里既没有队列容量，也没有服务时长，排队问题无从测量；真实审批规则也没有，所以「申请通过」这件事在系统里根本没有对应的动作。&#10;&#10;有一种错误做法是在人物台词里补一句「排队结束了」或者「申请已经通过」，看起来交代过去了，其实机制一点没变。&#10;&#10;正确的处理是把这两项列入后续议题，并在本次说明里明确说出范围。承认做不到的事，比在故事里补一句台词诚实得多，也让接手的人少走弯路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1　将一句愿望改写成可回答的问题&lt;/Text&gt;&#10;            &lt;Text style={{ fontSize: 34, fontWeight: 'bold', color: '#20344B' }}&gt;明确说出这次不做什么&lt;/Text&gt;&#10;        &lt;/Box&gt;&#10;    &lt;/Box&gt;&#10;&#10;    &lt;Box style={{ height: 540, flexDirection: 'column', justifyContent: 'center', gap: 16 }}&gt;&#10;&#10;        &lt;Text style={{ fontSize: 17, color: '#546779', lineHeight: 1.6, width: 1152 }}&gt;委托人还可能提出「减少排队」或「自动完成申请」。当前教案没有回答这两项要求所需的机制。&lt;/Text&gt;&#10;&#10;        &lt;Box style={{ width: 1152, height: 132, background: '#FFF4E6', borderRadius: 10, padding: '0 24px', flexDirection: 'row', alignItems: 'center', gap: 20 }}&gt;&#10;            &lt;Box style={{ width: 200, flexDirection: 'column', gap: 4 }}&gt;&#10;                &lt;Text style={{ fontSize: 20, fontWeight: 'bold', color: '#CB6B28' }}&gt;减少排队&lt;/Text&gt;&#10;                &lt;Text style={{ fontSize: 14, color: '#546779' }}&gt;范围之外&lt;/Text&gt;&#10;            &lt;/Box&gt;&#10;            &lt;Box style={{ width: 4, height: 72, background: '#CB6B28' }} /&gt;&#10;            &lt;Box style={{ width: 884, flexDirection: 'column', gap: 6 }}&gt;&#10;                &lt;Text style={{ fontSize: 17, color: '#20344B', lineHeight: 1.55 }}&gt;教案里既没有队列容量，也没有服务时长&lt;/Text&gt;&#10;                &lt;Text style={{ fontSize: 15, color: '#546779', lineHeight: 1.55 }}&gt;没有这两项参数，等待时间与队列长度都无从测量，队列优化也就没有判据。&lt;/Text&gt;&#10;            &lt;/Box&gt;&#10;        &lt;/Box&gt;&#10;&#10;        &lt;Box style={{ width: 1152, height: 132, background: '#FFF4E6', borderRadius: 10, padding: '0 24px', flexDirection: 'row', alignItems: 'center', gap: 20 }}&gt;&#10;            &lt;Box style={{ width: 200, flexDirection: 'column', gap: 4 }}&gt;&#10;                &lt;Text style={{ fontSize: 20, fontWeight: 'bold', color: '#CB6B28' }}&gt;自动完成申请&lt;/Text&gt;&#10;                &lt;Text style={{ fontSize: 14, color: '#546779' }}&gt;范围之外&lt;/Text&gt;&#10;            &lt;/Box&gt;&#10;            &lt;Box style={{ width: 4, height: 72, background: '#CB6B28' }} /&gt;&#10;            &lt;Box style={{ width: 884, flexDirection: 'column', gap: 6 }}&gt;&#10;                &lt;Text style={{ fontSize: 17, color: '#20344B', lineHeight: 1.55 }}&gt;没有真实审批规则，也没有对应的系统动作&lt;/Text&gt;&#10;                &lt;Text style={{ fontSize: 15, color: '#546779', lineHeight: 1.55 }}&gt;只在人物台词里写「申请通过」，不会因此产生任何审批能力。&lt;/Text&gt;&#10;            &lt;/Box&gt;&#10;        &lt;/Box&gt;&#10;&#10;        &lt;Box style={{ width: 1152, height: 88, background: '#F4F7FA', borderRadius: 10, padding: '0 24px', flexDirection: 'row', alignItems: 'center', gap: 16 }}&gt;&#10;            &lt;Box style={{ width: 4, height: 56, background: '#276FBF' }} /&gt;&#10;            &lt;Text style={{ fontSize: 16, color: '#20344B', lineHeight: 1.6, width: 1060 }}&gt;把这两项列入后续议题，并在本次说明中明确范围——这比在故事里补一句台词诚实得多，也让接手的人少走弯路。&lt;/Text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将一句愿望改写成可回答的问题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明确说出这次不做什么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609600" y="16573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委托人还可能提出「减少排队」或「自动完成申请」。当前教案没有回答这两项要求所需的机制。</a:t>
            </a:r>
            <a:endParaRPr/>
          </a:p>
        </p:txBody>
      </p:sp>
      <p:sp>
        <p:nvSpPr>
          <p:cNvPr id="547" name=""/>
          <p:cNvSpPr/>
          <p:nvPr/>
        </p:nvSpPr>
        <p:spPr>
          <a:xfrm rot="0" flipH="0" flipV="0">
            <a:off x="609600" y="2124075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838200" y="25431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减少排队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38200" y="28098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范围之外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2895600" y="24098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3124200" y="2438400"/>
            <a:ext cx="84201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教案里既没有队列容量，也没有服务时长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3124200" y="2800350"/>
            <a:ext cx="8420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没有这两项参数，等待时间与队列长度都无从测量，队列优化也就没有判据。</a:t>
            </a:r>
            <a:endParaRPr/>
          </a:p>
        </p:txBody>
      </p:sp>
      <p:sp>
        <p:nvSpPr>
          <p:cNvPr id="553" name=""/>
          <p:cNvSpPr/>
          <p:nvPr/>
        </p:nvSpPr>
        <p:spPr>
          <a:xfrm rot="0" flipH="0" flipV="0">
            <a:off x="609600" y="3533775"/>
            <a:ext cx="10972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838200" y="3952875"/>
            <a:ext cx="1905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自动完成申请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38200" y="4219575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范围之外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2895600" y="3819525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3124200" y="3848100"/>
            <a:ext cx="84201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没有真实审批规则，也没有对应的系统动作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3124200" y="4210050"/>
            <a:ext cx="84201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只在人物台词里写「申请通过」，不会因此产生任何审批能力。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609600" y="49434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0" name=""/>
          <p:cNvSpPr/>
          <p:nvPr/>
        </p:nvSpPr>
        <p:spPr>
          <a:xfrm rot="0" flipH="0" flipV="0">
            <a:off x="838200" y="50958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028700" y="5219700"/>
            <a:ext cx="10096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把这两项列入后续议题，并在本次说明中明确范围——这比在故事里补一句台词诚实得多，也让接手的人少走弯路。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64" name="" descr="&lt;Slide notes={`接下来这一步是很多项目失败的地方：范围没有先选清。&#10;&#10;写项目约定的时候，首先要决定交什么。是只交一份可以审阅的设计，还是还要交真实运行和接收记录？这两种范围的完成材料完全不同。&#10;&#10;设计交付要求问题与方法说清范围、判据和计划，输入材料给出精确文字与依赖，运行证据写明待执行，接收范围停在纸面审读。运行交付在前三项上都要真实：实际保存的实验副本、全部 Run 与判分，再加上实际约定的核查。&#10;&#10;两者都可以成为合格成果，关键是名称要和证据相称。本章的示例目前还处在设计准备阶段，所以只能按设计交付来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　项目范围与完成条件&lt;/Text&gt;&#10;            &lt;Text style={{ fontSize: 34, fontWeight: 'bold', color: '#20344B' }}&gt;知识块 ②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②&lt;/Text&gt;&#10;&#10;        &lt;Text style={{ fontSize: 56, fontWeight: 'bold', color: '#20344B', lineHeight: 1.15 }}&gt;一页项目约定，两种交付范围&lt;/Text&gt;&#10;&#10;        &lt;Box style={{ width: 72, height: 4, background: '#276FBF' }} /&gt;&#10;&#10;        &lt;Text style={{ fontSize: 18, color: '#546779', lineHeight: 1.7, width: 900 }}&gt;先定交付范围，再谈要准备哪些材料。设计交付检查完整性，运行交付再要求真实配置与全部运行。&lt;/Text&gt;&#10;&#10;        &lt;Box style={{ flexDirection: 'row', alignItems: 'center', marginTop: 8 }}&gt;&#10;            &lt;Box style={{ width: 460, height: 190, background: '#EDF4FC', borderRadius: 10, padding: '16px 20px', flexDirection: 'column', gap: 6 }}&gt;&#10;                &lt;Text style={{ fontSize: 22, fontWeight: 'bold', color: '#276FBF' }}&gt;设计交付&lt;/Text&gt;&#10;                &lt;Text style={{ fontSize: 15, color: '#546779', lineHeight: 1.55 }}&gt;问题与方法　范围、判据、计划&lt;/Text&gt;&#10;                &lt;Text style={{ fontSize: 15, color: '#546779', lineHeight: 1.55 }}&gt;输入材料　精确文字与依赖&lt;/Text&gt;&#10;                &lt;Text style={{ fontSize: 15, color: '#546779', lineHeight: 1.55 }}&gt;运行证据　明确待执行&lt;/Text&gt;&#10;                &lt;Text style={{ fontSize: 15, color: '#546779', lineHeight: 1.55 }}&gt;接收范围　纸面审读&lt;/Text&gt;&#10;            &lt;/Box&gt;&#10;            &lt;Box style={{ width: 44, height: 190, justifyContent: 'center', alignItems: 'center' }}&gt;&#10;                &lt;Text style={{ fontSize: 26, color: '#B5C7D8' }}&gt;|&lt;/Text&gt;&#10;            &lt;/Box&gt;&#10;            &lt;Box style={{ width: 460, height: 190, background: '#ECF7F2', borderRadius: 10, padding: '16px 20px', flexDirection: 'column', gap: 6 }}&gt;&#10;                &lt;Text style={{ fontSize: 22, fontWeight: 'bold', color: '#26816B' }}&gt;运行交付&lt;/Text&gt;&#10;                &lt;Text style={{ fontSize: 15, color: '#546779', lineHeight: 1.55 }}&gt;问题与方法　同样需要&lt;/Text&gt;&#10;                &lt;Text style={{ fontSize: 15, color: '#546779', lineHeight: 1.55 }}&gt;输入材料　实际保存的实验副本&lt;/Text&gt;&#10;                &lt;Text style={{ fontSize: 15, color: '#546779', lineHeight: 1.55 }}&gt;运行证据　全部 Run 与判分&lt;/Text&gt;&#10;                &lt;Text style={{ fontSize: 15, color: '#546779', lineHeight: 1.55 }}&gt;接收范围　实际约定的核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项目范围与完成条件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57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②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09600" y="13144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一页项目约定，两种交付范围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09600" y="35052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先定交付范围，再谈要准备哪些材料。设计交付检查完整性，运行交付再要求真实配置与全部运行。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609600" y="4314825"/>
            <a:ext cx="4381500" cy="1809750"/>
          </a:xfrm>
          <a:prstGeom prst="roundRect">
            <a:avLst>
              <a:gd name="adj" fmla="val 52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00100" y="4467225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设计交付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00100" y="478155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问题与方法　范围、判据、计划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800100" y="510540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输入材料　精确文字与依赖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00100" y="542925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运行证据　明确待执行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00100" y="575310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接收范围　纸面审读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5172075" y="5067300"/>
            <a:ext cx="666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B5C7D8"/>
                </a:solidFill>
                <a:latin typeface="Microsoft YaHei"/>
                <a:ea typeface="Microsoft YaHei"/>
              </a:rPr>
              <a:t>|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5410200" y="4314825"/>
            <a:ext cx="4381500" cy="1809750"/>
          </a:xfrm>
          <a:prstGeom prst="roundRect">
            <a:avLst>
              <a:gd name="adj" fmla="val 526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5600700" y="4467225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6816B"/>
                </a:solidFill>
                <a:latin typeface="Microsoft YaHei"/>
                <a:ea typeface="Microsoft YaHei"/>
              </a:rPr>
              <a:t>运行交付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600700" y="478155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问题与方法　同样需要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5600700" y="510540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输入材料　实际保存的实验副本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5600700" y="542925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运行证据　全部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与判分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5600700" y="5753100"/>
            <a:ext cx="40005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接收范围　实际约定的核查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88" name="" descr="&lt;Slide notes={`把两种范围并排看，差别就清楚了。&#10;&#10;左边是设计交付。它检查材料是否完整：问题与方法要写清范围、判据和计划；输入材料要给出精确文字和依赖；运行证据只写明待执行；接收范围停在纸面审读。&#10;&#10;右边是运行交付。前面三项它同样需要，但输入材料换成实际保存的实验副本，运行证据换成全部 Run 与判分，接收范围换成实际约定的核查。&#10;&#10;请注意，这两栏的四个比较项是一一对应的，但它不是执行顺序，不表示先做完设计再自动进入运行。本章示例目前仍然停在左边的位置：材料在设计上完整，运行尚未发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2　建立一页足够具体的项目约定&lt;/Text&gt;&#10;            &lt;Text style={{ fontSize: 34, fontWeight: 'bold', color: '#20344B' }}&gt;设计交付与运行交付&lt;/Text&gt;&#10;        &lt;/Box&gt;&#10;    &lt;/Box&gt;&#10;&#10;    &lt;Box style={{ height: 540, flexDirection: 'column', justifyContent: 'center', gap: 14 }}&gt;&#10;&#10;        &lt;Text style={{ fontSize: 16, color: '#546779', lineHeight: 1.6, width: 1152 }}&gt;项目约定首先要选清交付范围：本次只交可审阅的设计，还是还要交真实运行与接收记录？两种范围分别列出完成材料。&lt;/Text&gt;&#10;&#10;        &lt;Box style={{ flexDirection: 'row', gap: 32 }}&gt;&#10;&#10;            &lt;Box style={{ width: 560, flexDirection: 'column', gap: 8 }}&gt;&#10;                &lt;Box style={{ width: 560, height: 44, background: '#EDF4FC', borderRadius: 8, justifyContent: 'center', alignItems: 'center' }}&gt;&#10;                    &lt;Text style={{ fontSize: 18, fontWeight: 'bold', color: '#276FBF' }}&gt;设计交付　检查材料是否完整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问题与方法&lt;/Text&gt;&#10;                    &lt;Text style={{ fontSize: 16, color: '#20344B' }}&gt;范围、判据、计划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输入材料&lt;/Text&gt;&#10;                    &lt;Text style={{ fontSize: 16, color: '#20344B' }}&gt;精确文字与依赖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运行证据&lt;/Text&gt;&#10;                    &lt;Text style={{ fontSize: 16, color: '#20344B' }}&gt;明确待执行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接收范围&lt;/Text&gt;&#10;                    &lt;Text style={{ fontSize: 16, color: '#20344B' }}&gt;纸面审读&lt;/Text&gt;&#10;                &lt;/Box&gt;&#10;            &lt;/Box&gt;&#10;&#10;            &lt;Box style={{ width: 560, flexDirection: 'column', gap: 8 }}&gt;&#10;                &lt;Box style={{ width: 560, height: 44, background: '#ECF7F2', borderRadius: 8, justifyContent: 'center', alignItems: 'center' }}&gt;&#10;                    &lt;Text style={{ fontSize: 18, fontWeight: 'bold', color: '#26816B' }}&gt;运行交付　再要求真实配置与全部 Run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问题与方法&lt;/Text&gt;&#10;                    &lt;Text style={{ fontSize: 16, color: '#20344B' }}&gt;同样需要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输入材料&lt;/Text&gt;&#10;                    &lt;Text style={{ fontSize: 16, color: '#20344B' }}&gt;实际保存的实验副本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运行证据&lt;/Text&gt;&#10;                    &lt;Text style={{ fontSize: 16, color: '#20344B' }}&gt;全部 Run 与判分&lt;/Text&gt;&#10;                &lt;/Box&gt;&#10;                &lt;Box style={{ width: 560, height: 72, background: '#F4F7FA', borderRadius: 8, padding: '0 18px', flexDirection: 'row', alignItems: 'center', gap: 14 }}&gt;&#10;                    &lt;Text style={{ fontSize: 14, color: '#546779', width: 110 }}&gt;接收范围&lt;/Text&gt;&#10;                    &lt;Text style={{ fontSize: 16, color: '#20344B' }}&gt;实际约定的核查&lt;/Text&gt;&#10;                &lt;/Box&gt;&#10;            &lt;/Box&gt;&#10;&#10;        &lt;/Box&gt;&#10;&#10;        &lt;Box style={{ width: 1152, height: 84, background: '#F4F7FA', borderRadius: 10, padding: '0 22px', flexDirection: 'row', alignItems: 'center', gap: 16 }}&gt;&#10;            &lt;Box style={{ width: 4, height: 52, background: '#276FBF' }} /&gt;&#10;            &lt;Box style={{ flexDirection: 'column', gap: 4, width: 1060 }}&gt;&#10;                &lt;Text style={{ fontSize: 17, fontWeight: 'bold', color: '#20344B' }}&gt;两栏四行一一对应，但不表示执行顺序&lt;/Text&gt;&#10;                &lt;Text style={{ fontSize: 15, color: '#546779', lineHeight: 1.5 }}&gt;本章示例尚处于设计准备，只完成了左侧这一栏所要求的材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建立一页足够具体的项目约定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设计交付与运行交付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609600" y="13049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项目约定首先要选清交付范围：本次只交可审阅的设计，还是还要交真实运行与接收记录？两种范围分别列出完成材料。</a:t>
            </a:r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609600" y="1733550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2162175" y="1838325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设计交付　检查材料是否完整</a:t>
            </a:r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09600" y="2228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781050" y="249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问题与方法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1962150" y="24765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范围、判据、计划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" y="2990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781050" y="3257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输入材料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962150" y="32385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精确文字与依赖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609600" y="3752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81050" y="4019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运行证据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1962150" y="40005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明确待执行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4514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81050" y="4781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接收范围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1962150" y="47625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纸面审读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6248400" y="1733550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429500" y="1838325"/>
            <a:ext cx="297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运行交付　再要求真实配置与全部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248400" y="2228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419850" y="249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问题与方法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7600950" y="24765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同样需要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248400" y="2990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419850" y="3257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输入材料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7600950" y="32385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实际保存的实验副本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248400" y="3752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419850" y="4019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运行证据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7600950" y="4000500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全部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与判分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248400" y="45148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419850" y="4781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接收范围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7600950" y="47625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实际约定的核查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609600" y="53340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3" name=""/>
          <p:cNvSpPr/>
          <p:nvPr/>
        </p:nvSpPr>
        <p:spPr>
          <a:xfrm rot="0" flipH="0" flipV="0">
            <a:off x="819150" y="5486400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1009650" y="5486400"/>
            <a:ext cx="1009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两栏四行一一对应，但不表示执行顺序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1009650" y="5724525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本章示例尚处于设计准备，只完成了左侧这一栏所要求的材料。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28" name="" descr="&lt;Slide notes={`一页项目约定先于地图制作。它不需要冗长的管理术语，但要让参加者对同一件事有共同理解。&#10;&#10;我把要回答的问题收成七个。谁使用成果——是组织研讨的讲师，以及接手材料的另一位操作者。用来做什么——讨论信息不足时立即建议和先行澄清的取舍。观察什么——四项任务的咨询闭环、无效窗口访问、重复说明、首次有效回应时延和模型调用。改变什么——只动咨询台 Skill 里的那一段决策方法。保持什么——地图、五名 Agent、三个对象、任务、模型、窗口规则、时间和判分口径都不变。&#10;&#10;最后一条最容易被人含糊过去：谁决定完成。本章的约定是作者自查之后，由没有参与配置的接收者按约定检查；如果是同一个人兼任，必须在材料里写明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2　建立一页足够具体的项目约定&lt;/Text&gt;&#10;            &lt;Text style={{ fontSize: 34, fontWeight: 'bold', color: '#20344B' }}&gt;一页约定要回答的七个问题&lt;/Text&gt;&#10;        &lt;/Box&gt;&#10;    &lt;/Box&gt;&#10;&#10;    &lt;Box style={{ height: 540, flexDirection: 'column', justifyContent: 'center', gap: 8 }}&gt;&#10;&#10;        &lt;Text style={{ fontSize: 16, color: '#546779', lineHeight: 1.6, width: 1152 }}&gt;约定先于地图制作，不必长篇，但要让参加者对同一件事有共同理解。&lt;/Text&gt;&#10;&#10;        &lt;Box style={{ flexDirection: 'row', padding: '0 18px', gap: 16 }}&gt;&#10;            &lt;Box style={{ width: 220 }}&gt;&lt;Text style={{ fontSize: 14, color: '#546779' }}&gt;项目问题&lt;/Text&gt;&lt;/Box&gt;&#10;            &lt;Box style={{ width: 880 }}&gt;&lt;Text style={{ fontSize: 14, color: '#546779' }}&gt;本章采用的约定&lt;/Text&gt;&lt;/Box&gt;&#10;        &lt;/Box&gt;&#10;&#10;        &lt;Box style={{ width: 1152, height: 56, background: '#F4F7FA', borderRadius: 8, padding: '0 18px', flexDirection: 'row', alignItems: 'center', gap: 16 }}&gt;&#10;            &lt;Text style={{ fontSize: 16, fontWeight: 'bold', color: '#20344B', width: 220 }}&gt;谁使用成果&lt;/Text&gt;&#10;            &lt;Text style={{ fontSize: 16, color: '#20344B', width: 880 }}&gt;组织研讨的讲师，以及接手材料的另一位操作者&lt;/Text&gt;&#10;        &lt;/Box&gt;&#10;&#10;        &lt;Box style={{ width: 1152, height: 56, background: '#F4F7FA', borderRadius: 8, padding: '0 18px', flexDirection: 'row', alignItems: 'center', gap: 16 }}&gt;&#10;            &lt;Text style={{ fontSize: 16, fontWeight: 'bold', color: '#20344B', width: 220 }}&gt;用来做什么&lt;/Text&gt;&#10;            &lt;Text style={{ fontSize: 16, color: '#20344B', width: 880 }}&gt;讨论信息不足时立即建议与先行澄清的取舍&lt;/Text&gt;&#10;        &lt;/Box&gt;&#10;&#10;        &lt;Box style={{ width: 1152, height: 56, background: '#F4F7FA', borderRadius: 8, padding: '0 18px', flexDirection: 'row', alignItems: 'center', gap: 16 }}&gt;&#10;            &lt;Text style={{ fontSize: 16, fontWeight: 'bold', color: '#20344B', width: 220 }}&gt;观察什么&lt;/Text&gt;&#10;            &lt;Text style={{ fontSize: 16, color: '#20344B', width: 880 }}&gt;四项任务的咨询闭环、无效窗口访问、重复说明、首次有效回应时延和模型调用&lt;/Text&gt;&#10;        &lt;/Box&gt;&#10;&#10;        &lt;Box style={{ width: 1152, height: 56, background: '#F4F7FA', borderRadius: 8, padding: '0 18px', flexDirection: 'row', alignItems: 'center', gap: 16 }}&gt;&#10;            &lt;Text style={{ fontSize: 16, fontWeight: 'bold', color: '#20344B', width: 220 }}&gt;改变什么&lt;/Text&gt;&#10;            &lt;Text style={{ fontSize: 16, color: '#20344B', width: 880 }}&gt;咨询台 Skill 中的一段决策方法&lt;/Text&gt;&#10;        &lt;/Box&gt;&#10;&#10;        &lt;Box style={{ width: 1152, height: 56, background: '#F4F7FA', borderRadius: 8, padding: '0 18px', flexDirection: 'row', alignItems: 'center', gap: 16 }}&gt;&#10;            &lt;Text style={{ fontSize: 16, fontWeight: 'bold', color: '#20344B', width: 220 }}&gt;保持什么&lt;/Text&gt;&#10;            &lt;Text style={{ fontSize: 16, color: '#20344B', width: 880 }}&gt;地图、五名 Agent、三个对象、任务、模型、窗口规则、时间和判分口径&lt;/Text&gt;&#10;        &lt;/Box&gt;&#10;&#10;        &lt;Box style={{ width: 1152, height: 56, background: '#F4F7FA', borderRadius: 8, padding: '0 18px', flexDirection: 'row', alignItems: 'center', gap: 16 }}&gt;&#10;            &lt;Text style={{ fontSize: 16, fontWeight: 'bold', color: '#20344B', width: 220 }}&gt;交什么&lt;/Text&gt;&#10;            &lt;Text style={{ fontSize: 16, color: '#20344B', width: 880 }}&gt;作者材料、方法与差异说明、完整运行索引、可追溯报告、实际取得的导出及接收记录&lt;/Text&gt;&#10;        &lt;/Box&gt;&#10;&#10;        &lt;Box style={{ width: 1152, height: 56, background: '#FFF4E6', borderRadius: 8, padding: '0 18px', flexDirection: 'row', alignItems: 'center', gap: 16 }}&gt;&#10;            &lt;Text style={{ fontSize: 16, fontWeight: 'bold', color: '#CB6B28', width: 220 }}&gt;谁决定完成&lt;/Text&gt;&#10;            &lt;Text style={{ fontSize: 16, color: '#20344B', width: 880 }}&gt;作者自查后，由未参与配置的接收者按约定检查；同一人兼任时写明&lt;/Text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建立一页足够具体的项目约定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一页约定要回答的七个问题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09600" y="1314450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约定先于地图制作，不必长篇，但要让参加者对同一件事有共同理解。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781050" y="168592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项目问题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028950" y="1685925"/>
            <a:ext cx="8382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本章采用的约定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19240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781050" y="20955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谁使用成果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3028950" y="2095500"/>
            <a:ext cx="838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组织研讨的讲师，以及接手材料的另一位操作者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09600" y="25336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781050" y="27051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用来做什么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028950" y="2705100"/>
            <a:ext cx="838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讨论信息不足时立即建议与先行澄清的取舍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09600" y="31432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781050" y="33147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观察什么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3028950" y="3314700"/>
            <a:ext cx="838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四项任务的咨询闭环、无效窗口访问、重复说明、首次有效回应时延和模型调用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37528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781050" y="39243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改变什么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3028950" y="3924300"/>
            <a:ext cx="838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咨询台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中的一段决策方法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609600" y="43624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781050" y="45339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保持什么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3028950" y="4533900"/>
            <a:ext cx="838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地图、五名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、三个对象、任务、模型、窗口规则、时间和判分口径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09600" y="49720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81050" y="51435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交什么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3028950" y="5143500"/>
            <a:ext cx="838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作者材料、方法与差异说明、完整运行索引、可追溯报告、实际取得的导出及接收记录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9600" y="5581650"/>
            <a:ext cx="109728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781050" y="5753100"/>
            <a:ext cx="2095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谁决定完成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3028950" y="5753100"/>
            <a:ext cx="838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作者自查后，由未参与配置的接收者按约定检查；同一人兼任时写明</a:t>
            </a:r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1" name="" descr="&lt;Slide notes={`项目委托书已经把本章共用的条件整理好了。制作的时候可以直接复制它，填上本机的路径、参与人员和预算。&#10;&#10;这里有一条纪律要特别强调：不要把空白字段变成想象中的系统事实。系统还没有创建身份的时候，run_id 就应该保持「待创建」；文件还没有导出的时候，哈希就应该保持「待计算」。写成具体的编号和摘要看着更完整，其实是编造，接手的人会照着它去找一个不存在的东西。&#10;&#10;另外要说明哪些人可以阅读哪些文件。本章采用的都是虚构人物，不需要收集真实的办事记录，也不需要取得真实居民的信息，这一点在交付约定里写清楚，后面就不会有争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2　建立一页足够具体的项目约定&lt;/Text&gt;&#10;            &lt;Text style={{ fontSize: 34, fontWeight: 'bold', color: '#20344B' }}&gt;空白字段要写清是空白&lt;/Text&gt;&#10;        &lt;/Box&gt;&#10;    &lt;/Box&gt;&#10;&#10;    &lt;Box style={{ height: 540, flexDirection: 'row', alignItems: 'center', gap: 32 }}&gt;&#10;&#10;        &lt;Box style={{ width: 630, flexDirection: 'column', gap: 10 }}&gt;&#10;            &lt;Box style={{ width: 630, height: 40, flexDirection: 'row', alignItems: 'center', gap: 12 }}&gt;&#10;                &lt;Text style={{ fontSize: 17, fontWeight: 'bold', color: '#20344B' }}&gt;项目委托书字段&lt;/Text&gt;&#10;                &lt;Box style={{ width: 56, height: 26, background: '#EDF4FC', borderRadius: 6, justifyContent: 'center', alignItems: 'center' }}&gt;&#10;                    &lt;Text style={{ fontSize: 13, color: '#276FBF' }}&gt;示意&lt;/Text&gt;&#10;                &lt;/Box&gt;&#10;            &lt;/Box&gt;&#10;&#10;            &lt;Box style={{ width: 630, height: 330, background: '#F4F7FA', borderRadius: 10, padding: '16px 20px', flexDirection: 'column', gap: 8 }}&gt;&#10;                &lt;Box style={{ width: 590, height: 46, background: '#FFFFFF', borderRadius: 6, padding: '0 14px', flexDirection: 'row', alignItems: 'center', justifyContent: 'space-between' }}&gt;&#10;                    &lt;Text style={{ fontSize: 15, color: '#20344B' }}&gt;本机路径&lt;/Text&gt;&#10;                    &lt;Text style={{ fontSize: 15, color: '#546779' }}&gt;待填写&lt;/Text&gt;&#10;                &lt;/Box&gt;&#10;                &lt;Box style={{ width: 590, height: 46, background: '#FFFFFF', borderRadius: 6, padding: '0 14px', flexDirection: 'row', alignItems: 'center', justifyContent: 'space-between' }}&gt;&#10;                    &lt;Text style={{ fontSize: 15, color: '#20344B' }}&gt;参与人员与预算&lt;/Text&gt;&#10;                    &lt;Text style={{ fontSize: 15, color: '#546779' }}&gt;待填写&lt;/Text&gt;&#10;                &lt;/Box&gt;&#10;                &lt;Box style={{ width: 590, height: 46, background: '#FFFFFF', borderRadius: 6, padding: '0 14px', flexDirection: 'row', alignItems: 'center', justifyContent: 'space-between' }}&gt;&#10;                    &lt;Text style={{ fontSize: 15, color: '#20344B' }}&gt;run_id&lt;/Text&gt;&#10;                    &lt;Text style={{ fontSize: 15, color: '#CB6B28' }}&gt;待创建&lt;/Text&gt;&#10;                &lt;/Box&gt;&#10;                &lt;Box style={{ width: 590, height: 46, background: '#FFFFFF', borderRadius: 6, padding: '0 14px', flexDirection: 'row', alignItems: 'center', justifyContent: 'space-between' }}&gt;&#10;                    &lt;Text style={{ fontSize: 15, color: '#20344B' }}&gt;文件哈希&lt;/Text&gt;&#10;                    &lt;Text style={{ fontSize: 15, color: '#CB6B28' }}&gt;待计算&lt;/Text&gt;&#10;                &lt;/Box&gt;&#10;                &lt;Box style={{ width: 590, height: 46, background: '#FFFFFF', borderRadius: 6, padding: '0 14px', flexDirection: 'row', alignItems: 'center', justifyContent: 'space-between' }}&gt;&#10;                    &lt;Text style={{ fontSize: 15, color: '#20344B' }}&gt;阅读权限说明&lt;/Text&gt;&#10;                    &lt;Text style={{ fontSize: 15, color: '#546779' }}&gt;待写明&lt;/Text&gt;&#10;                &lt;/Box&gt;&#10;            &lt;/Box&gt;&#10;        &lt;/Box&gt;&#10;&#10;        &lt;Box style={{ width: 490, flexDirection: 'column', justifyContent: 'center', gap: 12 }}&gt;&#10;&#10;            &lt;Box style={{ width: 490, height: 76, background: '#F4F7FA', borderRadius: 8, padding: '0 18px', flexDirection: 'row', alignItems: 'center', gap: 14 }}&gt;&#10;                &lt;Box style={{ width: 4, height: 46, background: '#276FBF' }} /&gt;&#10;                &lt;Text style={{ fontSize: 16, color: '#20344B', lineHeight: 1.5 }}&gt;可以复制委托书，填写本机路径、参与人员与预算&lt;/Text&gt;&#10;            &lt;/Box&gt;&#10;&#10;            &lt;Box style={{ width: 490, height: 76, background: '#F4F7FA', borderRadius: 8, padding: '0 18px', flexDirection: 'row', alignItems: 'center', gap: 14 }}&gt;&#10;                &lt;Box style={{ width: 4, height: 46, background: '#276FBF' }} /&gt;&#10;                &lt;Text style={{ fontSize: 16, color: '#20344B', lineHeight: 1.5 }}&gt;不要把空白字段变成想象中的系统事实&lt;/Text&gt;&#10;            &lt;/Box&gt;&#10;&#10;            &lt;Box style={{ width: 490, height: 76, background: '#F4F7FA', borderRadius: 8, padding: '0 18px', flexDirection: 'row', alignItems: 'center', gap: 14 }}&gt;&#10;                &lt;Box style={{ width: 4, height: 46, background: '#276FBF' }} /&gt;&#10;                &lt;Text style={{ fontSize: 16, color: '#20344B', lineHeight: 1.5 }}&gt;哪些人可以阅读哪些文件，应在交付约定中说明&lt;/Text&gt;&#10;            &lt;/Box&gt;&#10;&#10;            &lt;Box style={{ width: 490, height: 140, background: '#FFF4E6', borderRadius: 10, padding: '18px 20px', justifyContent: 'center' }}&gt;&#10;                &lt;Text style={{ fontSize: 15, color: '#CB6B28', lineHeight: 1.7 }}&gt;系统尚未创建身份，run_id 保持「待创建」；文件尚未导出，哈希保持「待计算」。本章人物均为虚构，无需收集真实办事记录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建立一页足够具体的项目约定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空白字段要写清是空白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项目委托书字段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1857375" y="1971675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000250" y="20193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2381250"/>
            <a:ext cx="6000750" cy="3143250"/>
          </a:xfrm>
          <a:prstGeom prst="roundRect">
            <a:avLst>
              <a:gd name="adj" fmla="val 303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00100" y="2533650"/>
            <a:ext cx="56197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33450" y="26670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本机路径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857875" y="26670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待填写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00100" y="3048000"/>
            <a:ext cx="56197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33450" y="318135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参与人员与预算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5857875" y="31813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待填写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00100" y="3562350"/>
            <a:ext cx="56197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33450" y="36957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run_id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5857875" y="36957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待创建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00100" y="4076700"/>
            <a:ext cx="56197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33450" y="42100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文件哈希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857875" y="421005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待计算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800100" y="4591050"/>
            <a:ext cx="56197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33450" y="47244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阅读权限说明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857875" y="4724400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待写明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915150" y="1790700"/>
            <a:ext cx="466725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7086600" y="193357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258050" y="2019300"/>
            <a:ext cx="3352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可以复制委托书，填写本机路径、参与人员与预算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915150" y="2628900"/>
            <a:ext cx="466725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7086600" y="277177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258050" y="2857500"/>
            <a:ext cx="2590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不要把空白字段变成想象中的系统事实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915150" y="3467100"/>
            <a:ext cx="466725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7086600" y="3609975"/>
            <a:ext cx="38100" cy="4381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258050" y="3695700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哪些人可以阅读哪些文件，应在交付约定中说明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915150" y="4305300"/>
            <a:ext cx="466725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05650" y="4676775"/>
            <a:ext cx="42862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系统尚未创建身份，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run_id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保持「待创建」；文件尚未导出，哈希保持「待计算」。本章人物均为虚构，无需收集真实办事记录。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notes={`接下来解决一个很容易混淆的问题：什么是「有证据」。&#10;&#10;有人交出一个文件，名字叫「最终报告」，我们不能凭文件名判断项目完成。更有效的做法是给每条需求一个简短编号，再说明什么材料支持它。&#10;&#10;这里要提醒一句：这些编号只是作者文档里的引用，不是系统资源 ID，也不是需要加入内核的新状态机。我在评审学员作业时见过有人把它做成系统功能需求，那是对范围之外的东西做了过度设计。&#10;&#10;接下来我按「需求编号、判据、来源、接收检查」这条链，把一项得分怎样回到事实讲一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　项目范围与完成条件&lt;/Text&gt;&#10;            &lt;Text style={{ fontSize: 34, fontWeight: 'bold', color: '#20344B' }}&gt;知识块 ③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③&lt;/Text&gt;&#10;&#10;        &lt;Text style={{ fontSize: 56, fontWeight: 'bold', color: '#20344B', lineHeight: 1.15 }}&gt;把需求连到证据，而不只连到文件名&lt;/Text&gt;&#10;&#10;        &lt;Box style={{ width: 72, height: 4, background: '#276FBF' }} /&gt;&#10;&#10;        &lt;Text style={{ fontSize: 18, color: '#546779', lineHeight: 1.7, width: 960 }}&gt;一个叫「最终报告」的文件，说明不了项目完成。要能说出：哪条需求、什么问题、什么材料支持它、什么材料替代不了。&lt;/Text&gt;&#10;&#10;        &lt;Box style={{ flexDirection: 'row', alignItems: 'center', marginTop: 8 }}&gt;&#10;            &lt;Box style={{ width: 250, height: 64, background: '#EDF4FC', borderRadius: 8, justifyContent: 'center', alignItems: 'center' }}&gt;&#10;                &lt;Text style={{ fontSize: 18, color: '#276FBF' }}&gt;需求编号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250, height: 64, background: '#EDF4FC', borderRadius: 8, justifyContent: 'center', alignItems: 'center' }}&gt;&#10;                &lt;Text style={{ fontSize: 18, color: '#276FBF' }}&gt;判据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50, height: 64, background: '#ECF7F2', borderRadius: 8, justifyContent: 'center', alignItems: 'center' }}&gt;&#10;                &lt;Text style={{ fontSize: 18, color: '#26816B' }}&gt;来源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250, height: 64, background: '#ECF7F2', borderRadius: 8, justifyContent: 'center', alignItems: 'center' }}&gt;&#10;                &lt;Text style={{ fontSize: 18, color: '#26816B' }}&gt;接收检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项目范围与完成条件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57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③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30099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把需求连到证据，而不只连到文件名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39243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4133850"/>
            <a:ext cx="9144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一个叫「最终报告」的文件，说明不了项目完成。要能说出：哪条需求、什么问题、什么材料支持它、什么材料替代不了。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50863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457325" y="52863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需求编号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162300" y="5238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409950" y="50863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429125" y="52863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5962650" y="5238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210300" y="50863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229475" y="52863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来源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763000" y="52387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9010650" y="5086350"/>
            <a:ext cx="238125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858375" y="52863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接收检查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90" name="" descr="&lt;Slide notes={`我用需求编号 R3「结果可追溯」来演示这条链。&#10;&#10;R3 的含义是任何一个得分都能被复查。它的判据是适配回复加上确认，也就是教师先定义什么算正确。判据对应的来源，是实际运行里真实出现的身份与事实。最后的接收检查，是由别人在材料里定位到这些内容，并自己判断一次。&#10;&#10;四步走下来，咨询闭环这一项得分就不再是一个孤立的数字，而是一条可以走回去的路径。&#10;&#10;还要强调一点：R 编号只是文档索引，不是系统资源 ID，系统身份必须等它真正创建之后再登记。把它当成系统状态机会让范围失控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3　把需求连到证据，而不只连到文件名&lt;/Text&gt;&#10;            &lt;Text style={{ fontSize: 34, fontWeight: 'bold', color: '#20344B' }}&gt;一项得分怎样回到事实&lt;/Text&gt;&#10;        &lt;/Box&gt;&#10;    &lt;/Box&gt;&#10;&#10;    &lt;Box style={{ height: 540, flexDirection: 'column', justifyContent: 'center', gap: 18 }}&gt;&#10;&#10;        &lt;Text style={{ fontSize: 16, color: '#546779', lineHeight: 1.6, width: 1152 }}&gt;用需求编号 R3「结果可追溯」演示：咨询闭环这一分数，怎样一路查回实际回复与确认。&lt;/Text&gt;&#10;&#10;        &lt;Box style={{ flexDirection: 'row', alignItems: 'center' }}&gt;&#10;&#10;            &lt;Box style={{ width: 250, height: 158, background: '#EDF4FC', borderRadius: 10, padding: '18px 20px', flexDirection: 'column', gap: 8, justifyContent: 'center' }}&gt;&#10;                &lt;Text style={{ fontSize: 14, color: '#546779' }}&gt;需求编号&lt;/Text&gt;&#10;                &lt;Text style={{ fontSize: 20, fontWeight: 'bold', color: '#276FBF' }}&gt;R3 可追溯&lt;/Text&gt;&#10;                &lt;Text style={{ fontSize: 14, color: '#546779', lineHeight: 1.5 }}&gt;任一得分可复查&lt;/Text&gt;&#10;            &lt;/Box&gt;&#10;&#10;            &lt;Box style={{ width: 44, height: 158, justifyContent: 'center', alignItems: 'center' }}&gt;&#10;                &lt;Text style={{ fontSize: 26, color: '#276FBF' }}&gt;›&lt;/Text&gt;&#10;            &lt;/Box&gt;&#10;&#10;            &lt;Box style={{ width: 250, height: 158, background: '#EDF4FC', borderRadius: 10, padding: '18px 20px', flexDirection: 'column', gap: 8, justifyContent: 'center' }}&gt;&#10;                &lt;Text style={{ fontSize: 14, color: '#546779' }}&gt;判据&lt;/Text&gt;&#10;                &lt;Text style={{ fontSize: 20, fontWeight: 'bold', color: '#276FBF' }}&gt;适配回复 ＋ 确认&lt;/Text&gt;&#10;                &lt;Text style={{ fontSize: 14, color: '#546779', lineHeight: 1.5 }}&gt;教师先定义何为正确&lt;/Text&gt;&#10;            &lt;/Box&gt;&#10;&#10;            &lt;Box style={{ width: 44, height: 158, justifyContent: 'center', alignItems: 'center' }}&gt;&#10;                &lt;Text style={{ fontSize: 26, color: '#26816B' }}&gt;›&lt;/Text&gt;&#10;            &lt;/Box&gt;&#10;&#10;            &lt;Box style={{ width: 250, height: 158, background: '#F4F7FA', borderRadius: 10, padding: '18px 20px', flexDirection: 'column', gap: 8, justifyContent: 'center' }}&gt;&#10;                &lt;Text style={{ fontSize: 14, color: '#546779' }}&gt;来源&lt;/Text&gt;&#10;                &lt;Text style={{ fontSize: 20, fontWeight: 'bold', color: '#20344B' }}&gt;真实身份与事实&lt;/Text&gt;&#10;                &lt;Text style={{ fontSize: 14, color: '#546779', lineHeight: 1.5 }}&gt;实际运行中的身份与事实&lt;/Text&gt;&#10;            &lt;/Box&gt;&#10;&#10;            &lt;Box style={{ width: 44, height: 158, justifyContent: 'center', alignItems: 'center' }}&gt;&#10;                &lt;Text style={{ fontSize: 26, color: '#26816B' }}&gt;›&lt;/Text&gt;&#10;            &lt;/Box&gt;&#10;&#10;            &lt;Box style={{ width: 250, height: 158, background: '#ECF7F2', borderRadius: 10, padding: '18px 20px', flexDirection: 'column', gap: 8, justifyContent: 'center' }}&gt;&#10;                &lt;Text style={{ fontSize: 14, color: '#546779' }}&gt;接收检查&lt;/Text&gt;&#10;                &lt;Text style={{ fontSize: 20, fontWeight: 'bold', color: '#26816B' }}&gt;他人定位并判断&lt;/Text&gt;&#10;                &lt;Text style={{ fontSize: 14, color: '#546779', lineHeight: 1.5 }}&gt;别人能找到并自己判断&lt;/Text&gt;&#10;            &lt;/Box&gt;&#10;&#10;        &lt;/Box&gt;&#10;&#10;        &lt;Box style={{ width: 1152, height: 88, background: '#F4F7FA', borderRadius: 10, padding: '0 22px', flexDirection: 'row', alignItems: 'center', gap: 16 }}&gt;&#10;            &lt;Box style={{ width: 4, height: 56, background: '#276FBF' }} /&gt;&#10;            &lt;Box style={{ flexDirection: 'column', gap: 4, width: 1060 }}&gt;&#10;                &lt;Text style={{ fontSize: 17, fontWeight: 'bold', color: '#20344B' }}&gt;R 编号只是文档索引，不是系统资源 ID&lt;/Text&gt;&#10;                &lt;Text style={{ fontSize: 15, color: '#546779', lineHeight: 1.5 }}&gt;系统身份须在实际创建后登记，也不需要为它增加新的内核状态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把需求连到证据，而不只连到文件名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一项得分怎样回到事实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用需求编号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R3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「结果可追溯」演示：咨询闭环这一分数，怎样一路查回实际回复与确认。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2695575"/>
            <a:ext cx="238125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00100" y="30575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需求编号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0100" y="32956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R3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可追溯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0100" y="360045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任一得分可复查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162300" y="32956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3409950" y="2695575"/>
            <a:ext cx="238125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600450" y="30575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判据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600450" y="32956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适配回复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＋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确认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600450" y="360045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教师先定义何为正确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962650" y="32956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210300" y="2695575"/>
            <a:ext cx="2381250" cy="1504950"/>
          </a:xfrm>
          <a:prstGeom prst="roundRect">
            <a:avLst>
              <a:gd name="adj" fmla="val 63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400800" y="30575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来源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400800" y="32956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真实身份与事实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400800" y="360045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实际运行中的身份与事实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763000" y="32956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9010650" y="2695575"/>
            <a:ext cx="2381250" cy="1504950"/>
          </a:xfrm>
          <a:prstGeom prst="roundRect">
            <a:avLst>
              <a:gd name="adj" fmla="val 63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9201150" y="30575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接收检查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9201150" y="3295650"/>
            <a:ext cx="2000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他人定位并判断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201150" y="3600450"/>
            <a:ext cx="20002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别人能找到并自己判断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43719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819150" y="4524375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09650" y="4543425"/>
            <a:ext cx="1009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编号只是文档索引，不是系统资源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ID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009650" y="4781550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系统身份须在实际创建后登记，也不需要为它增加新的内核状态机。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1" name="" descr="&lt;Slide notes={`五项需求各有自己的验收问题和支持材料，我把它们列成一张可核对的清单。&#10;&#10;R1 可理解，问的是接收者能不能解释研究问题和范围，支持它的是委托书和方法说明；一张漂亮的回放截图替代不了。&#10;&#10;R2 可比较，问两组除决策段之外条件是否一致，靠的是精确差异和包内资源核对；作者口头说「都一样」不算证据。&#10;&#10;R3 可追溯，问任一任务得分能不能回到事实，靠判分行与 Run、Attempt、Step 的事件定位；模型最后的自我总结不算。&#10;&#10;R4 可盘点，问失败、中断和成本有没有保留。&#10;&#10;R5 可接手，问接收者完成了约定层次的检查没有——发送成功不等于接收完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3　把需求连到证据，而不只连到文件名&lt;/Text&gt;&#10;            &lt;Text style={{ fontSize: 34, fontWeight: 'bold', color: '#20344B' }}&gt;五项需求各自的验收问题&lt;/Text&gt;&#10;        &lt;/Box&gt;&#10;    &lt;/Box&gt;&#10;&#10;    &lt;Box style={{ height: 540, flexDirection: 'column', justifyContent: 'center', gap: 8 }}&gt;&#10;&#10;        &lt;Text style={{ fontSize: 16, color: '#546779', lineHeight: 1.6, width: 1152 }}&gt;需求—证据矩阵把需求、验收问题、支持材料与无法替代的证据逐项对应。&lt;/Text&gt;&#10;&#10;        &lt;Box style={{ flexDirection: 'row', padding: '0 16px', gap: 16 }}&gt;&#10;            &lt;Box style={{ width: 140 }}&gt;&lt;Text style={{ fontSize: 14, color: '#546779' }}&gt;需求&lt;/Text&gt;&lt;/Box&gt;&#10;            &lt;Box style={{ width: 280 }}&gt;&lt;Text style={{ fontSize: 14, color: '#546779' }}&gt;验收问题&lt;/Text&gt;&lt;/Box&gt;&#10;            &lt;Box style={{ width: 322 }}&gt;&lt;Text style={{ fontSize: 14, color: '#546779' }}&gt;支持它的材料&lt;/Text&gt;&lt;/Box&gt;&#10;            &lt;Box style={{ width: 330 }}&gt;&lt;Text style={{ fontSize: 14, color: '#546779' }}&gt;无法替代的证据&lt;/Text&gt;&lt;/Box&gt;&#10;        &lt;/Box&gt;&#10;&#10;        &lt;Box style={{ width: 1152, height: 80, background: '#F4F7FA', borderRadius: 8, padding: '0 16px', flexDirection: 'row', alignItems: 'center', gap: 16 }}&gt;&#10;            &lt;Box style={{ width: 140 }}&gt;&lt;Text style={{ fontSize: 16, fontWeight: 'bold', color: '#20344B' }}&gt;R1 可理解&lt;/Text&gt;&lt;/Box&gt;&#10;            &lt;Box style={{ width: 280 }}&gt;&lt;Text style={{ fontSize: 15, color: '#20344B', lineHeight: 1.5 }}&gt;接收者能解释研究问题和范围吗&lt;/Text&gt;&lt;/Box&gt;&#10;            &lt;Box style={{ width: 322 }}&gt;&lt;Text style={{ fontSize: 15, color: '#20344B', lineHeight: 1.5 }}&gt;委托书、方法说明&lt;/Text&gt;&lt;/Box&gt;&#10;            &lt;Box style={{ width: 330 }}&gt;&lt;Text style={{ fontSize: 15, color: '#CB6B28', lineHeight: 1.5 }}&gt;仅有漂亮的回放截图&lt;/Text&gt;&lt;/Box&gt;&#10;        &lt;/Box&gt;&#10;&#10;        &lt;Box style={{ width: 1152, height: 80, background: '#EDF4FC', borderRadius: 8, padding: '0 16px', flexDirection: 'row', alignItems: 'center', gap: 16 }}&gt;&#10;            &lt;Box style={{ width: 140 }}&gt;&lt;Text style={{ fontSize: 16, fontWeight: 'bold', color: '#276FBF' }}&gt;R2 可比较&lt;/Text&gt;&lt;/Box&gt;&#10;            &lt;Box style={{ width: 280 }}&gt;&lt;Text style={{ fontSize: 15, color: '#20344B', lineHeight: 1.5 }}&gt;两组除决策段外条件一致吗&lt;/Text&gt;&lt;/Box&gt;&#10;            &lt;Box style={{ width: 322 }}&gt;&lt;Text style={{ fontSize: 15, color: '#20344B', lineHeight: 1.5 }}&gt;精确差异、包内资源核对&lt;/Text&gt;&lt;/Box&gt;&#10;            &lt;Box style={{ width: 330 }}&gt;&lt;Text style={{ fontSize: 15, color: '#CB6B28', lineHeight: 1.5 }}&gt;作者口头说「都一样」&lt;/Text&gt;&lt;/Box&gt;&#10;        &lt;/Box&gt;&#10;&#10;        &lt;Box style={{ width: 1152, height: 80, background: '#F4F7FA', borderRadius: 8, padding: '0 16px', flexDirection: 'row', alignItems: 'center', gap: 16 }}&gt;&#10;            &lt;Box style={{ width: 140 }}&gt;&lt;Text style={{ fontSize: 16, fontWeight: 'bold', color: '#20344B' }}&gt;R3 可追溯&lt;/Text&gt;&lt;/Box&gt;&#10;            &lt;Box style={{ width: 280 }}&gt;&lt;Text style={{ fontSize: 15, color: '#20344B', lineHeight: 1.5 }}&gt;任一任务得分能回到事实吗&lt;/Text&gt;&lt;/Box&gt;&#10;            &lt;Box style={{ width: 322 }}&gt;&lt;Text style={{ fontSize: 15, color: '#20344B', lineHeight: 1.5 }}&gt;判分行、Run 与事件定位&lt;/Text&gt;&lt;/Box&gt;&#10;            &lt;Box style={{ width: 330 }}&gt;&lt;Text style={{ fontSize: 15, color: '#CB6B28', lineHeight: 1.5 }}&gt;模型最后的自我总结&lt;/Text&gt;&lt;/Box&gt;&#10;        &lt;/Box&gt;&#10;&#10;        &lt;Box style={{ width: 1152, height: 80, background: '#F4F7FA', borderRadius: 8, padding: '0 16px', flexDirection: 'row', alignItems: 'center', gap: 16 }}&gt;&#10;            &lt;Box style={{ width: 140 }}&gt;&lt;Text style={{ fontSize: 16, fontWeight: 'bold', color: '#20344B' }}&gt;R4 可盘点&lt;/Text&gt;&lt;/Box&gt;&#10;            &lt;Box style={{ width: 280 }}&gt;&lt;Text style={{ fontSize: 15, color: '#20344B', lineHeight: 1.5 }}&gt;失败、中断和成本是否保留&lt;/Text&gt;&lt;/Box&gt;&#10;            &lt;Box style={{ width: 322 }}&gt;&lt;Text style={{ fontSize: 15, color: '#20344B', lineHeight: 1.5 }}&gt;全部运行索引、调用统计&lt;/Text&gt;&lt;/Box&gt;&#10;            &lt;Box style={{ width: 330 }}&gt;&lt;Text style={{ fontSize: 15, color: '#CB6B28', lineHeight: 1.5 }}&gt;只展示完成最快的 Run&lt;/Text&gt;&lt;/Box&gt;&#10;        &lt;/Box&gt;&#10;&#10;        &lt;Box style={{ width: 1152, height: 80, background: '#F4F7FA', borderRadius: 8, padding: '0 16px', flexDirection: 'row', alignItems: 'center', gap: 16 }}&gt;&#10;            &lt;Box style={{ width: 140 }}&gt;&lt;Text style={{ fontSize: 16, fontWeight: 'bold', color: '#20344B' }}&gt;R5 可接手&lt;/Text&gt;&lt;/Box&gt;&#10;            &lt;Box style={{ width: 280 }}&gt;&lt;Text style={{ fontSize: 15, color: '#20344B', lineHeight: 1.5 }}&gt;接收者完成了约定层次的检查吗&lt;/Text&gt;&lt;/Box&gt;&#10;            &lt;Box style={{ width: 322 }}&gt;&lt;Text style={{ fontSize: 15, color: '#20344B', lineHeight: 1.5 }}&gt;实际文件、环境说明、接收记录&lt;/Text&gt;&lt;/Box&gt;&#10;            &lt;Box style={{ width: 330 }}&gt;&lt;Text style={{ fontSize: 15, color: '#CB6B28', lineHeight: 1.5 }}&gt;发送成功或下载成功&lt;/Text&gt;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把需求连到证据，而不只连到文件名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五项需求各自的验收问题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09600" y="1352550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需求—证据矩阵把需求、验收问题、支持材料与无法替代的证据逐项对应。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62000" y="1724025"/>
            <a:ext cx="1333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需求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2247900" y="1724025"/>
            <a:ext cx="266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验收问题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067300" y="172402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支持它的材料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286750" y="1724025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无法替代的证据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09600" y="196215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62000" y="22479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R1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可理解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2247900" y="2219325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接收者能解释研究问题和范围吗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067300" y="221932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委托书、方法说明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286750" y="22193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仅有漂亮的回放截图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09600" y="280035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62000" y="30861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R2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可比较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247900" y="3057525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两组除决策段外条件一致吗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067300" y="305752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精确差异、包内资源核对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286750" y="30575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作者口头说「都一样」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363855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62000" y="39243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R3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可追溯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2247900" y="3895725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任一任务得分能回到事实吗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5067300" y="389572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判分行、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与事件定位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286750" y="38957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模型最后的自我总结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447675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62000" y="47625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R4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可盘点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247900" y="4733925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失败、中断和成本是否保留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067300" y="473392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全部运行索引、调用统计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286750" y="47339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只展示完成最快的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609600" y="5314950"/>
            <a:ext cx="10972800" cy="7620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62000" y="5600700"/>
            <a:ext cx="133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R5 </a:t>
            </a: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可接手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247900" y="5572125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接收者完成了约定层次的检查吗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067300" y="557212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实际文件、环境说明、接收记录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286750" y="55721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发送成功或下载成功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8" name="" descr="&lt;Slide notes={`「有证据」这三个字还需要限定强度，否则很容易把设计层的证据说成运行层的事实。&#10;&#10;R2 可比较就是例子。在设计阶段，可以先通过作者文本比较，证明计划里只改了一段决策方法；等到完成界面配置之后，还要再核对实验副本，才能说明实际使用的内容符合计划。这两步的强度完全不同。&#10;&#10;R5 可接手也是。如果只完成了阅读和文件完整性检查，那就不能写成异机重新运行成功。&#10;&#10;使用需求—证据矩阵的时候，一行允许暂时没有证据。保留缺口能告诉接手人下一步做什么；为了好看而填上一个并不支持该需求的链接，只会把缺口掩盖起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3　把需求连到证据，而不只连到文件名&lt;/Text&gt;&#10;            &lt;Text style={{ fontSize: 34, fontWeight: 'bold', color: '#20344B' }}&gt;有证据，也要说清证据有多强&lt;/Text&gt;&#10;        &lt;/Box&gt;&#10;    &lt;/Box&gt;&#10;&#10;    &lt;Box style={{ height: 540, flexDirection: 'row', alignItems: 'center', gap: 32 }}&gt;&#10;&#10;        &lt;Box style={{ width: 440, flexDirection: 'column', justifyContent: 'center', gap: 16 }}&gt;&#10;            &lt;Text style={{ fontSize: 14, color: '#546779' }}&gt;同一项需求，证据有强弱之分&lt;/Text&gt;&#10;&#10;            &lt;Box style={{ width: 440, height: 162, background: '#EDF4FC', borderRadius: 10, padding: '18px 20px', flexDirection: 'column', gap: 8 }}&gt;&#10;                &lt;Text style={{ fontSize: 20, fontWeight: 'bold', color: '#276FBF' }}&gt;R2 可比较&lt;/Text&gt;&#10;                &lt;Text style={{ fontSize: 15, color: '#20344B', lineHeight: 1.55 }}&gt;设计层：作者文本比较，证明计划只改一段&lt;/Text&gt;&#10;                &lt;Text style={{ fontSize: 15, color: '#546779', lineHeight: 1.55 }}&gt;运行层：完成界面配置后，还要核对实验副本&lt;/Text&gt;&#10;            &lt;/Box&gt;&#10;&#10;            &lt;Box style={{ width: 440, height: 162, background: '#FFF4E6', borderRadius: 10, padding: '18px 20px', flexDirection: 'column', gap: 8 }}&gt;&#10;                &lt;Text style={{ fontSize: 20, fontWeight: 'bold', color: '#CB6B28' }}&gt;R5 可接手&lt;/Text&gt;&#10;                &lt;Text style={{ fontSize: 15, color: '#20344B', lineHeight: 1.55 }}&gt;只完成阅读和文件完整性检查&lt;/Text&gt;&#10;                &lt;Text style={{ fontSize: 15, color: '#CB6B28', lineHeight: 1.55 }}&gt;就不能写成异机重新运行成功&lt;/Text&gt;&#10;            &lt;/Box&gt;&#10;        &lt;/Box&gt;&#10;&#10;        &lt;Box style={{ width: 680, flexDirection: 'column', justifyContent: 'center', gap: 14 }}&gt;&#10;            &lt;Text style={{ fontSize: 14, color: '#546779' }}&gt;使用需求—证据矩阵时的一条纪律&lt;/Text&gt;&#10;&#10;            &lt;Box style={{ width: 680, height: 180, background: '#ECF7F2', borderRadius: 10, padding: '20px 24px', flexDirection: 'column', gap: 8, justifyContent: 'center' }}&gt;&#10;                &lt;Text style={{ fontSize: 20, fontWeight: 'bold', color: '#26816B' }}&gt;一行允许暂时没有证据&lt;/Text&gt;&#10;                &lt;Text style={{ fontSize: 16, color: '#20344B', lineHeight: 1.65 }}&gt;保留缺口能告诉接手人下一步要做什么，也让进度说明更诚实。&lt;/Text&gt;&#10;            &lt;/Box&gt;&#10;&#10;            &lt;Box style={{ width: 680, height: 150, background: '#F4F7FA', borderRadius: 10, padding: '20px 24px', flexDirection: 'column', gap: 8, justifyContent: 'center' }}&gt;&#10;                &lt;Text style={{ fontSize: 20, fontWeight: 'bold', color: '#20344B' }}&gt;但不要填一个不支持的链接&lt;/Text&gt;&#10;                &lt;Text style={{ fontSize: 16, color: '#546779', lineHeight: 1.65 }}&gt;填上一个不支持该需求的链接，只会掩盖缺口，让复核无从下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把需求连到证据，而不只连到文件名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有证据，也要说清证据有多强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同一项需求，证据有强弱之分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09600" y="2257425"/>
            <a:ext cx="4191000" cy="1543050"/>
          </a:xfrm>
          <a:prstGeom prst="roundRect">
            <a:avLst>
              <a:gd name="adj" fmla="val 617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00100" y="242887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R2 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可比较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00100" y="2733675"/>
            <a:ext cx="3810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设计层：作者文本比较，证明计划只改一段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00100" y="3076575"/>
            <a:ext cx="3810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运行层：完成界面配置后，还要核对实验副本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3952875"/>
            <a:ext cx="4191000" cy="1543050"/>
          </a:xfrm>
          <a:prstGeom prst="roundRect">
            <a:avLst>
              <a:gd name="adj" fmla="val 617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4124325"/>
            <a:ext cx="3810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R5 </a:t>
            </a: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可接手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4429125"/>
            <a:ext cx="3810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只完成阅读和文件完整性检查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800100" y="4772025"/>
            <a:ext cx="3810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就不能写成异机重新运行成功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105400" y="1933575"/>
            <a:ext cx="6477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使用需求—证据矩阵时的一条纪律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5105400" y="2228850"/>
            <a:ext cx="6477000" cy="1714500"/>
          </a:xfrm>
          <a:prstGeom prst="roundRect">
            <a:avLst>
              <a:gd name="adj" fmla="val 55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334000" y="2781300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一行允许暂时没有证据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334000" y="3086100"/>
            <a:ext cx="6019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保留缺口能告诉接手人下一步要做什么，也让进度说明更诚实。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5105400" y="4076700"/>
            <a:ext cx="647700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334000" y="4486275"/>
            <a:ext cx="601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但不要填一个不支持的链接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334000" y="4791075"/>
            <a:ext cx="60198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填上一个不支持该需求的链接，只会掩盖缺口，让复核无从下手。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1" name="" descr="&lt;Slide notes={`接下来看谁在做事。一个能交接的项目里，有三种职责，它们互相不能替代。&#10;&#10;作者负责把问题转成材料和实验，也就是委托书、作者材料、精确行为文本。复核者负责检查信息分配、判分和报告，产出差异说明与核查记录。接收者负责按文档实际寻找文件、读取证据并完成约定操作，最后留下接收记录。&#10;&#10;这里有一个很容易被误解的地方：这三种是项目分工，不是新增的仿真 Agent。&#10;&#10;服务大厅里仍然只有周澈、谭悦、孟川、邱禾和余真五名 Agent，以及咨询台、A 窗口、B 窗口三个绑定 Skill 的对象。分工是人的分工，场景本身没有变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　项目范围与完成条件&lt;/Text&gt;&#10;            &lt;Text style={{ fontSize: 34, fontWeight: 'bold', color: '#20344B' }}&gt;知识块 ④&lt;/Text&gt;&#10;        &lt;/Box&gt;&#10;    &lt;/Box&gt;&#10;&#10;    &lt;Box style={{ height: 540, flexDirection: 'column', justifyContent: 'center', gap: 18 }}&gt;&#10;&#10;        &lt;Text style={{ fontSize: 96, fontWeight: 'bold', color: '#276FBF', lineHeight: 1.0 }}&gt;④&lt;/Text&gt;&#10;&#10;        &lt;Text style={{ fontSize: 56, fontWeight: 'bold', color: '#20344B', lineHeight: 1.15 }}&gt;三种职责，六个可交接环节&lt;/Text&gt;&#10;&#10;        &lt;Box style={{ width: 72, height: 4, background: '#276FBF' }} /&gt;&#10;&#10;        &lt;Text style={{ fontSize: 18, color: '#546779', lineHeight: 1.7, width: 960 }}&gt;这些是项目分工，不是新增的仿真 Agent。场景本身不变，变的是材料往谁手里递、递到他手里之后能不能用。&lt;/Text&gt;&#10;&#10;        &lt;Box style={{ flexDirection: 'row', alignItems: 'center', marginTop: 8 }}&gt;&#10;            &lt;Box style={{ width: 300, height: 64, background: '#EDF4FC', borderRadius: 8, justifyContent: 'center', alignItems: 'center' }}&gt;&#10;                &lt;Text style={{ fontSize: 18, color: '#276FBF' }}&gt;作者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复核者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接收者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项目范围与完成条件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57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知识块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④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10972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 b="1">
                <a:solidFill>
                  <a:srgbClr val="276FBF"/>
                </a:solidFill>
                <a:latin typeface="Microsoft YaHei"/>
                <a:ea typeface="Microsoft YaHei"/>
              </a:rPr>
              <a:t>④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3190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三种职责，六个可交接环节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609600" y="41052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4314825"/>
            <a:ext cx="9144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这些是项目分工，不是新增的仿真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。场景本身不变，变的是材料往谁手里递、递到他手里之后能不能用。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49149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866900" y="511492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作者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638550" y="5067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3886200" y="49149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5057775" y="51149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复核者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915150" y="50673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162800" y="49149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334375" y="51149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接收者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00" name="" descr="&lt;Slide notes={`三种职责各自留下什么，我逐个说清楚。&#10;&#10;作者负责把问题转成材料与实验。他要交出委托书、作者材料、精确的行为文本，这些东西决定实验能不能被配置出来。&#10;&#10;复核者负责检查信息分配、判分和报告。他不写材料，只检查材料里有没有把该给的信息给对人、判分口径是不是前后一致，产出的是差异说明和核查记录。&#10;&#10;接收者负责按文档实际寻找文件、读取证据并完成约定操作，最后留下接收记录。他是在不了解作者思路的前提下走一遍。&#10;&#10;特别要提醒的是，这三种是项目分工，不是新增的仿真 Agent。服务大厅里仍然只有五名 Agent 和三个绑定 Skill 的对象，不要因为多了几个角色名就以为场景变复杂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4　三类参与者，三种不同职责&lt;/Text&gt;&#10;            &lt;Text style={{ fontSize: 34, fontWeight: 'bold', color: '#20344B' }}&gt;三种职责，不是三个新 Agent&lt;/Text&gt;&#10;        &lt;/Box&gt;&#10;    &lt;/Box&gt;&#10;&#10;    &lt;Box style={{ height: 540, flexDirection: 'column', justifyContent: 'center', gap: 12 }}&gt;&#10;&#10;        &lt;Text style={{ fontSize: 16, color: '#546779', lineHeight: 1.6, width: 1152 }}&gt;一个能交接的项目里，三种职责互相不能替代，各自留下一份可检查的材料。&lt;/Text&gt;&#10;&#10;        &lt;Box style={{ width: 1152, height: 112, background: '#EDF4FC', borderRadius: 10, padding: '0 22px', flexDirection: 'row', alignItems: 'center', gap: 20 }}&gt;&#10;            &lt;Box style={{ width: 56, height: 56, borderRadius: 8, background: '#276FBF', justifyContent: 'center', alignItems: 'center' }}&gt;&#10;                &lt;Text style={{ fontSize: 22, fontWeight: 'bold', color: '#FFFFFF' }}&gt;作&lt;/Text&gt;&#10;            &lt;/Box&gt;&#10;            &lt;Box style={{ width: 1032, flexDirection: 'column', gap: 6 }}&gt;&#10;                &lt;Text style={{ fontSize: 20, fontWeight: 'bold', color: '#276FBF' }}&gt;作者　把问题转成材料与实验&lt;/Text&gt;&#10;                &lt;Text style={{ fontSize: 15, color: '#546779', lineHeight: 1.5 }}&gt;交出委托书、作者材料、精确行为文本&lt;/Text&gt;&#10;            &lt;/Box&gt;&#10;        &lt;/Box&gt;&#10;&#10;        &lt;Box style={{ width: 1152, height: 112, background: '#ECF7F2', borderRadius: 10, padding: '0 22px', flexDirection: 'row', alignItems: 'center', gap: 20 }}&gt;&#10;            &lt;Box style={{ width: 56, height: 56, borderRadius: 8, background: '#26816B', justifyContent: 'center', alignItems: 'center' }}&gt;&#10;                &lt;Text style={{ fontSize: 22, fontWeight: 'bold', color: '#FFFFFF' }}&gt;复&lt;/Text&gt;&#10;            &lt;/Box&gt;&#10;            &lt;Box style={{ width: 1032, flexDirection: 'column', gap: 6 }}&gt;&#10;                &lt;Text style={{ fontSize: 20, fontWeight: 'bold', color: '#26816B' }}&gt;复核者　检查信息分配、判分和报告&lt;/Text&gt;&#10;                &lt;Text style={{ fontSize: 15, color: '#546779', lineHeight: 1.5 }}&gt;产出差异说明与核查记录，不替作者写材料&lt;/Text&gt;&#10;            &lt;/Box&gt;&#10;        &lt;/Box&gt;&#10;&#10;        &lt;Box style={{ width: 1152, height: 112, background: '#ECF7F2', borderRadius: 10, padding: '0 22px', flexDirection: 'row', alignItems: 'center', gap: 20 }}&gt;&#10;            &lt;Box style={{ width: 56, height: 56, borderRadius: 8, background: '#26816B', justifyContent: 'center', alignItems: 'center' }}&gt;&#10;                &lt;Text style={{ fontSize: 22, fontWeight: 'bold', color: '#FFFFFF' }}&gt;接&lt;/Text&gt;&#10;            &lt;/Box&gt;&#10;            &lt;Box style={{ width: 1032, flexDirection: 'column', gap: 6 }}&gt;&#10;                &lt;Text style={{ fontSize: 20, fontWeight: 'bold', color: '#26816B' }}&gt;接收者　按文档实际寻找文件、读取证据&lt;/Text&gt;&#10;                &lt;Text style={{ fontSize: 15, color: '#546779', lineHeight: 1.5 }}&gt;完成约定操作并留下接收记录，检查层次要写明&lt;/Text&gt;&#10;            &lt;/Box&gt;&#10;        &lt;/Box&gt;&#10;&#10;        &lt;Box style={{ width: 1152, height: 96, background: '#FFF4E6', borderRadius: 10, padding: '0 22px', flexDirection: 'row', alignItems: 'center', gap: 16 }}&gt;&#10;            &lt;Box style={{ width: 4, height: 60, background: '#CB6B28' }} /&gt;&#10;            &lt;Box style={{ flexDirection: 'column', gap: 4, width: 1060 }}&gt;&#10;                &lt;Text style={{ fontSize: 17, fontWeight: 'bold', color: '#CB6B28' }}&gt;这三种是项目分工，不是新增的仿真 Agent&lt;/Text&gt;&#10;                &lt;Text style={{ fontSize: 15, color: '#546779', lineHeight: 1.5 }}&gt;服务大厅仍然只有周澈、谭悦、孟川、邱禾、余真五名 Agent，以及咨询台、A 窗口、B 窗口三个绑定 Skill 的对象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33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三类参与者，三种不同职责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333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三种职责，不是三个新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128587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一个能交接的项目里，三种职责互相不能替代，各自留下一份可检查的材料。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09600" y="1695450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819150" y="19621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81075" y="21050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作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543050" y="1962150"/>
            <a:ext cx="982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作者　把问题转成材料与实验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1543050" y="2247900"/>
            <a:ext cx="982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交出委托书、作者材料、精确行为文本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2876550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819150" y="31432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981075" y="32861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复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543050" y="3143250"/>
            <a:ext cx="982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复核者　检查信息分配、判分和报告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543050" y="3429000"/>
            <a:ext cx="982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产出差异说明与核查记录，不替作者写材料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09600" y="4057650"/>
            <a:ext cx="1097280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819150" y="43243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981075" y="44672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接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543050" y="4324350"/>
            <a:ext cx="982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接收者　按文档实际寻找文件、读取证据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543050" y="4610100"/>
            <a:ext cx="98298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完成约定操作并留下接收记录，检查层次要写明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523875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819150" y="541020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09650" y="5448300"/>
            <a:ext cx="1009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这三种是项目分工，不是新增的仿真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Agent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09650" y="5686425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服务大厅仍然只有周澈、谭悦、孟川、邱禾、余真五名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，以及咨询台、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窗口三个绑定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的对象。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7" name="" descr="&lt;Slide notes={`一个人也可以完成小型项目，但应该留一次隔日复核。做法很简单。&#10;&#10;先关闭编辑页面，只按交付入口重新寻找资料，看看不依赖记忆能不能找到全部材料。然后随机抽一项得分，从报告一路回查到实际回复和确认。&#10;&#10;这样做能发现三类问题：路径失效、说明遗漏，还有那些只存在于作者记忆里的前提。它们平时看不出来，别人接手时才会集中爆发。&#10;&#10;不过我要提醒，这一步不能冒充独立评阅。你自己隔一天再查，仍然带着作者的思路。如果确实有另一位接收者参与，应该记录他具体检查了什么，而不是写一个笼统的「全部无误」，那样等于什么都没说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4　三类参与者，三种不同职责&lt;/Text&gt;&#10;            &lt;Text style={{ fontSize: 34, fontWeight: 'bold', color: '#20344B' }}&gt;最小的自检：隔一天再找一次&lt;/Text&gt;&#10;        &lt;/Box&gt;&#10;    &lt;/Box&gt;&#10;&#10;    &lt;Box style={{ height: 540, flexDirection: 'row', alignItems: 'center', gap: 32 }}&gt;&#10;&#10;        &lt;Box style={{ width: 560, flexDirection: 'column', justifyContent: 'center', gap: 12 }}&gt;&#10;            &lt;Text style={{ fontSize: 14, color: '#546779' }}&gt;关闭编辑页面之后&lt;/Text&gt;&#10;&#10;            &lt;Box style={{ width: 560, height: 84, background: '#EDF4FC', borderRadius: 8, padding: '0 20px', flexDirection: 'row', alignItems: 'center', gap: 16 }}&gt;&#10;                &lt;Text style={{ fontSize: 20, fontWeight: 'bold', color: '#276FBF', width: 32 }}&gt;1&lt;/Text&gt;&#10;                &lt;Text style={{ fontSize: 16, color: '#20344B', lineHeight: 1.5, width: 472 }}&gt;只按交付入口重新寻找资料，不靠记忆&lt;/Text&gt;&#10;            &lt;/Box&gt;&#10;&#10;            &lt;Box style={{ width: 560, height: 84, background: '#EDF4FC', borderRadius: 8, padding: '0 20px', flexDirection: 'row', alignItems: 'center', gap: 16 }}&gt;&#10;                &lt;Text style={{ fontSize: 20, fontWeight: 'bold', color: '#276FBF', width: 32 }}&gt;2&lt;/Text&gt;&#10;                &lt;Text style={{ fontSize: 16, color: '#20344B', lineHeight: 1.5, width: 472 }}&gt;随机抽一项得分，回查到实际回复与确认&lt;/Text&gt;&#10;            &lt;/Box&gt;&#10;&#10;            &lt;Box style={{ width: 560, height: 130, background: '#ECF7F2', borderRadius: 10, padding: '18px 20px', flexDirection: 'column', gap: 6, justifyContent: 'center' }}&gt;&#10;                &lt;Text style={{ fontSize: 17, fontWeight: 'bold', color: '#26816B' }}&gt;这一步能发现什么&lt;/Text&gt;&#10;                &lt;Text style={{ fontSize: 15, color: '#546779', lineHeight: 1.55 }}&gt;路径失效、说明遗漏，以及只存在于作者记忆中的前提。&lt;/Text&gt;&#10;            &lt;/Box&gt;&#10;        &lt;/Box&gt;&#10;&#10;        &lt;Box style={{ width: 560, flexDirection: 'column', justifyContent: 'center', gap: 12 }}&gt;&#10;            &lt;Text style={{ fontSize: 14, color: '#546779' }}&gt;但它不能替代什么&lt;/Text&gt;&#10;&#10;            &lt;Box style={{ width: 560, height: 120, background: '#FFF4E6', borderRadius: 10, padding: '18px 20px', flexDirection: 'column', gap: 6, justifyContent: 'center' }}&gt;&#10;                &lt;Text style={{ fontSize: 18, fontWeight: 'bold', color: '#CB6B28' }}&gt;不能冒充独立评阅&lt;/Text&gt;&#10;                &lt;Text style={{ fontSize: 15, color: '#546779', lineHeight: 1.55 }}&gt;作者隔日自查仍然带着原来的思路。&lt;/Text&gt;&#10;            &lt;/Box&gt;&#10;&#10;            &lt;Box style={{ width: 560, height: 158, background: '#F4F7FA', borderRadius: 10, padding: '18px 20px', flexDirection: 'column', gap: 6, justifyContent: 'center' }}&gt;&#10;                &lt;Text style={{ fontSize: 18, fontWeight: 'bold', color: '#20344B' }}&gt;有第二位接收者时，写清他查了什么&lt;/Text&gt;&#10;                &lt;Text style={{ fontSize: 15, color: '#546779', lineHeight: 1.6 }}&gt;记录具体检查项，不要求写一个笼统的「全部无误」——那样的记录对后来的人没有帮助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三类参与者，三种不同职责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最小的自检：隔一天再找一次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关闭编辑页面之后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2324100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00100" y="260985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257300" y="2590800"/>
            <a:ext cx="4495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只按交付入口重新寻找资料，不靠记忆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3238500"/>
            <a:ext cx="5334000" cy="800100"/>
          </a:xfrm>
          <a:prstGeom prst="roundRect">
            <a:avLst>
              <a:gd name="adj" fmla="val 952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00100" y="3524250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257300" y="3505200"/>
            <a:ext cx="4495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随机抽一项得分，回查到实际回复与确认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4152900"/>
            <a:ext cx="53340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00100" y="45148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这一步能发现什么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00100" y="4772025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路径失效、说明遗漏，以及只存在于作者记忆中的前提。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248400" y="2200275"/>
            <a:ext cx="5334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但它不能替代什么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248400" y="2476500"/>
            <a:ext cx="53340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438900" y="278130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不能冒充独立评阅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38900" y="3048000"/>
            <a:ext cx="4953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作者隔日自查仍然带着原来的思路。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248400" y="3733800"/>
            <a:ext cx="5334000" cy="1504950"/>
          </a:xfrm>
          <a:prstGeom prst="roundRect">
            <a:avLst>
              <a:gd name="adj" fmla="val 63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438900" y="4076700"/>
            <a:ext cx="495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有第二位接收者时，写清他查了什么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438900" y="4343400"/>
            <a:ext cx="4953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记录具体检查项，不要求写一个笼统的「全部无误」——那样的记录对后来的人没有帮助。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51" name="" descr="&lt;Slide notes={`按交接产物，我把项目分成六个工作环节，每一个环节结束时都应该有一份能递出去的材料。&#10;&#10;先确定问题与边界，形成委托书。再准备材料和精确 Skill，形成作者资料。随后按预算完成配置与运行，形成全部运行索引。之后依据事实判分，形成报告。再整理实际导出，由接收者核查，形成接收记录。最后记录接收反馈，按修改影响安排维护。&#10;&#10;这六个环节不是系统必须执行的固定流程。Brain 仍然根据 SOP 决定调用顺序，Runtime 仍然按原有合同提交事实。这里的阶段只是作者组织工作的方式。&#10;&#10;它有一个实际好处：如果发现任务表含混，可以回到材料阶段，而不必先完成一轮昂贵的运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5　用阶段产物控制工作量&lt;/Text&gt;&#10;            &lt;Text style={{ fontSize: 34, fontWeight: 'bold', color: '#20344B' }}&gt;六个环节，六份可以递出去的材料&lt;/Text&gt;&#10;        &lt;/Box&gt;&#10;    &lt;/Box&gt;&#10;&#10;    &lt;Box style={{ height: 540, flexDirection: 'column', justifyContent: 'center', gap: 16 }}&gt;&#10;&#10;        &lt;Text style={{ fontSize: 16, color: '#546779', lineHeight: 1.6, width: 1152 }}&gt;沿交接产物把项目分成六个工作环节，每一环的产物就是交给下一位参与者的东西。&lt;/Text&gt;&#10;&#10;        &lt;Box style={{ flexDirection: 'row', alignItems: 'flex-start' }}&gt;&#10;&#10;            &lt;Box style={{ width: 155, flexDirection: 'column', gap: 8 }}&gt;&#10;                &lt;Box style={{ width: 155, height: 130, background: '#EDF4FC', borderRadius: 10, padding: '14px 12px', flexDirection: 'column', gap: 6 }}&gt;&#10;                    &lt;Text style={{ fontSize: 13, color: '#546779' }}&gt;环节一&lt;/Text&gt;&#10;                    &lt;Text style={{ fontSize: 16, fontWeight: 'bold', color: '#276FBF' }}&gt;明确需求&lt;/Text&gt;&#10;                    &lt;Text style={{ fontSize: 13, color: '#546779', lineHeight: 1.45 }}&gt;问题、范围、判据&lt;/Text&gt;&#10;                &lt;/Box&gt;&#10;                &lt;Box style={{ width: 155, height: 62, background: '#F4F7FA', borderRadius: 8, justifyContent: 'center', alignItems: 'center' }}&gt;&#10;                    &lt;Text style={{ fontSize: 14, color: '#20344B' }}&gt;委托书&lt;/Text&gt;&#10;                &lt;/Box&gt;&#10;            &lt;/Box&gt;&#10;&#10;            &lt;Box style={{ width: 44, height: 130, justifyContent: 'center', alignItems: 'center' }}&gt;&#10;                &lt;Text style={{ fontSize: 24, color: '#276FBF' }}&gt;›&lt;/Text&gt;&#10;            &lt;/Box&gt;&#10;&#10;            &lt;Box style={{ width: 155, flexDirection: 'column', gap: 8 }}&gt;&#10;                &lt;Box style={{ width: 155, height: 130, background: '#EDF4FC', borderRadius: 10, padding: '14px 12px', flexDirection: 'column', gap: 6 }}&gt;&#10;                    &lt;Text style={{ fontSize: 13, color: '#546779' }}&gt;环节二&lt;/Text&gt;&#10;                    &lt;Text style={{ fontSize: 16, fontWeight: 'bold', color: '#276FBF' }}&gt;准备输入&lt;/Text&gt;&#10;                    &lt;Text style={{ fontSize: 13, color: '#546779', lineHeight: 1.45 }}&gt;来源、信息边界与精确 Skill&lt;/Text&gt;&#10;                &lt;/Box&gt;&#10;                &lt;Box style={{ width: 155, height: 62, background: '#F4F7FA', borderRadius: 8, justifyContent: 'center', alignItems: 'center' }}&gt;&#10;                    &lt;Text style={{ fontSize: 14, color: '#20344B' }}&gt;作者资料&lt;/Text&gt;&#10;                &lt;/Box&gt;&#10;            &lt;/Box&gt;&#10;&#10;            &lt;Box style={{ width: 44, height: 130, justifyContent: 'center', alignItems: 'center' }}&gt;&#10;                &lt;Text style={{ fontSize: 24, color: '#276FBF' }}&gt;›&lt;/Text&gt;&#10;            &lt;/Box&gt;&#10;&#10;            &lt;Box style={{ width: 155, flexDirection: 'column', gap: 8 }}&gt;&#10;                &lt;Box style={{ width: 155, height: 130, background: '#EDF4FC', borderRadius: 10, padding: '14px 12px', flexDirection: 'column', gap: 6 }}&gt;&#10;                    &lt;Text style={{ fontSize: 13, color: '#546779' }}&gt;环节三&lt;/Text&gt;&#10;                    &lt;Text style={{ fontSize: 16, fontWeight: 'bold', color: '#276FBF' }}&gt;配置执行&lt;/Text&gt;&#10;                    &lt;Text style={{ fontSize: 13, color: '#546779', lineHeight: 1.45 }}&gt;保存、身份、预算与全部 Run&lt;/Text&gt;&#10;                &lt;/Box&gt;&#10;                &lt;Box style={{ width: 155, height: 62, background: '#F4F7FA', borderRadius: 8, justifyContent: 'center', alignItems: 'center' }}&gt;&#10;                    &lt;Text style={{ fontSize: 14, color: '#20344B' }}&gt;全部运行索引&lt;/Text&gt;&#10;                &lt;/Box&gt;&#10;            &lt;/Box&gt;&#10;&#10;            &lt;Box style={{ width: 44, height: 130, justifyContent: 'center', alignItems: 'center' }}&gt;&#10;                &lt;Text style={{ fontSize: 24, color: '#26816B' }}&gt;›&lt;/Text&gt;&#10;            &lt;/Box&gt;&#10;&#10;            &lt;Box style={{ width: 155, flexDirection: 'column', gap: 8 }}&gt;&#10;                &lt;Box style={{ width: 155, height: 130, background: '#ECF7F2', borderRadius: 10, padding: '14px 12px', flexDirection: 'column', gap: 6 }}&gt;&#10;                    &lt;Text style={{ fontSize: 13, color: '#546779' }}&gt;环节四&lt;/Text&gt;&#10;                    &lt;Text style={{ fontSize: 16, fontWeight: 'bold', color: '#26816B' }}&gt;分析证据&lt;/Text&gt;&#10;                    &lt;Text style={{ fontSize: 13, color: '#546779', lineHeight: 1.45 }}&gt;逐项判分、结果与局限&lt;/Text&gt;&#10;                &lt;/Box&gt;&#10;                &lt;Box style={{ width: 155, height: 62, background: '#F4F7FA', borderRadius: 8, justifyContent: 'center', alignItems: 'center' }}&gt;&#10;                    &lt;Text style={{ fontSize: 14, color: '#20344B' }}&gt;报告&lt;/Text&gt;&#10;                &lt;/Box&gt;&#10;            &lt;/Box&gt;&#10;&#10;            &lt;Box style={{ width: 44, height: 130, justifyContent: 'center', alignItems: 'center' }}&gt;&#10;                &lt;Text style={{ fontSize: 24, color: '#26816B' }}&gt;›&lt;/Text&gt;&#10;            &lt;/Box&gt;&#10;&#10;            &lt;Box style={{ width: 155, flexDirection: 'column', gap: 8 }}&gt;&#10;                &lt;Box style={{ width: 155, height: 130, background: '#ECF7F2', borderRadius: 10, padding: '14px 12px', flexDirection: 'column', gap: 6 }}&gt;&#10;                    &lt;Text style={{ fontSize: 13, color: '#546779' }}&gt;环节五&lt;/Text&gt;&#10;                    &lt;Text style={{ fontSize: 16, fontWeight: 'bold', color: '#26816B' }}&gt;接收复查&lt;/Text&gt;&#10;                    &lt;Text style={{ fontSize: 13, color: '#546779', lineHeight: 1.45 }}&gt;实际文件、约定验证范围&lt;/Text&gt;&#10;                &lt;/Box&gt;&#10;                &lt;Box style={{ width: 155, height: 62, background: '#F4F7FA', borderRadius: 8, justifyContent: 'center', alignItems: 'center' }}&gt;&#10;                    &lt;Text style={{ fontSize: 14, color: '#20344B' }}&gt;接收记录&lt;/Text&gt;&#10;                &lt;/Box&gt;&#10;            &lt;/Box&gt;&#10;&#10;            &lt;Box style={{ width: 44, height: 130, justifyContent: 'center', alignItems: 'center' }}&gt;&#10;                &lt;Text style={{ fontSize: 24, color: '#26816B' }}&gt;›&lt;/Text&gt;&#10;            &lt;/Box&gt;&#10;&#10;            &lt;Box style={{ width: 155, flexDirection: 'column', gap: 8 }}&gt;&#10;                &lt;Box style={{ width: 155, height: 130, background: '#ECF7F2', borderRadius: 10, padding: '14px 12px', flexDirection: 'column', gap: 6 }}&gt;&#10;                    &lt;Text style={{ fontSize: 13, color: '#546779' }}&gt;环节六&lt;/Text&gt;&#10;                    &lt;Text style={{ fontSize: 16, fontWeight: 'bold', color: '#26816B' }}&gt;反馈与维护&lt;/Text&gt;&#10;                    &lt;Text style={{ fontSize: 13, color: '#546779', lineHeight: 1.45 }}&gt;记录修改影响，保留原始事实&lt;/Text&gt;&#10;                &lt;/Box&gt;&#10;                &lt;Box style={{ width: 155, height: 62, background: '#F4F7FA', borderRadius: 8, justifyContent: 'center', alignItems: 'center' }}&gt;&#10;                    &lt;Text style={{ fontSize: 14, color: '#20344B' }}&gt;维护安排&lt;/Text&gt;&#10;                &lt;/Box&gt;&#10;            &lt;/Box&gt;&#10;&#10;        &lt;/Box&gt;&#10;&#10;        &lt;Box style={{ width: 1152, height: 88, background: '#F4F7FA', borderRadius: 10, padding: '0 22px', flexDirection: 'row', alignItems: 'center', gap: 16 }}&gt;&#10;            &lt;Box style={{ width: 4, height: 56, background: '#276FBF' }} /&gt;&#10;            &lt;Box style={{ flexDirection: 'column', gap: 4, width: 1060 }}&gt;&#10;                &lt;Text style={{ fontSize: 17, fontWeight: 'bold', color: '#20344B' }}&gt;这些环节组织作者的工作，不规定 Brain 的调用顺序&lt;/Text&gt;&#10;                &lt;Text style={{ fontSize: 15, color: '#546779', lineHeight: 1.5 }}&gt;Brain 仍按 SOP 决定调用顺序，Runtime 仍按原有合同提交事实；本案例也尚未执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用阶段产物控制工作量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六个环节，六份可以递出去的材料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沿交接产物把项目分成六个工作环节，每一环的产物就是交给下一位参与者的东西。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2495550"/>
            <a:ext cx="1476375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23900" y="26289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环节一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23900" y="28384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明确需求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723900" y="3086100"/>
            <a:ext cx="12477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问题、范围、判据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381000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52525" y="40290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委托书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2257425" y="29813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2505075" y="2495550"/>
            <a:ext cx="1476375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2619375" y="26289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环节二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619375" y="28384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准备输入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2619375" y="3086100"/>
            <a:ext cx="12477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来源、信息边界与精确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2505075" y="381000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2981325" y="40290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作者资料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152900" y="29813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4400550" y="2495550"/>
            <a:ext cx="1476375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14850" y="26289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环节三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514850" y="28384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配置执行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514850" y="3086100"/>
            <a:ext cx="12477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保存、身份、预算与全部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4400550" y="381000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743450" y="402907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全部运行索引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048375" y="29813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296025" y="2495550"/>
            <a:ext cx="1476375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6410325" y="26289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环节四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410325" y="28384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分析证据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410325" y="3086100"/>
            <a:ext cx="12477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逐项判分、结果与局限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296025" y="381000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905625" y="40290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943850" y="29813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191500" y="2495550"/>
            <a:ext cx="1476375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305800" y="26289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环节五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305800" y="28384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接收复查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305800" y="3086100"/>
            <a:ext cx="12477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实际文件、约定验证范围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8191500" y="381000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667750" y="40290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接收记录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839325" y="2981325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10086975" y="2495550"/>
            <a:ext cx="1476375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201275" y="2628900"/>
            <a:ext cx="1247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环节六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201275" y="2838450"/>
            <a:ext cx="1247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反馈与维护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0201275" y="3086100"/>
            <a:ext cx="12477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记录修改影响，保留原始事实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10086975" y="3810000"/>
            <a:ext cx="1476375" cy="590550"/>
          </a:xfrm>
          <a:prstGeom prst="roundRect">
            <a:avLst>
              <a:gd name="adj" fmla="val 1290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563225" y="40290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维护安排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455295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819150" y="47053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09650" y="4724400"/>
            <a:ext cx="1009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这些环节组织作者的工作，不规定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的调用顺序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09650" y="4962525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仍按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决定调用顺序，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Runtime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仍按原有合同提交事实；本案例也尚未执行。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04" name="" descr="&lt;Slide notes={`阶段之间怎么判断能不能往下走？我建议只问一句话：下一位参与者拿到这些材料，能不能开展他的工作？&#10;&#10;这句话很朴素，但它能挡掉很多含糊的进度报告。&#10;&#10;地图草图和人物名单，足够用来讨论范围，却不足以直接导入实验。完整的作者材料可以支持配置，但不能证明运行稳定。运行已经结束，可以开始分析，却不能自动证明业务成功。&#10;&#10;每一项判断都只承诺它真的支持的那一层。这样写出来的进度说明也许不那么好看，但它能减少返工，也让接手的人知道自己站在哪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5　用阶段产物控制工作量&lt;/Text&gt;&#10;            &lt;Text style={{ fontSize: 34, fontWeight: 'bold', color: '#20344B' }}&gt;转场只问一句话&lt;/Text&gt;&#10;        &lt;/Box&gt;&#10;    &lt;/Box&gt;&#10;&#10;    &lt;Box style={{ height: 540, flexDirection: 'row', alignItems: 'center', gap: 32 }}&gt;&#10;&#10;        &lt;Box style={{ width: 500, flexDirection: 'column', justifyContent: 'center' }}&gt;&#10;            &lt;Box style={{ width: 500, height: 250, background: '#EDF4FC', borderRadius: 10, padding: '24px 26px', flexDirection: 'column', gap: 12, justifyContent: 'center' }}&gt;&#10;                &lt;Text style={{ fontSize: 14, color: '#546779' }}&gt;每次转入下一阶段，问一个具体问题&lt;/Text&gt;&#10;                &lt;Text style={{ fontSize: 26, fontWeight: 'bold', color: '#20344B', lineHeight: 1.45 }}&gt;下一位参与者拿到这些材料，能否开展他的工作？&lt;/Text&gt;&#10;            &lt;/Box&gt;&#10;        &lt;/Box&gt;&#10;&#10;        &lt;Box style={{ width: 620, flexDirection: 'column', justifyContent: 'center', gap: 12 }}&gt;&#10;&#10;            &lt;Box style={{ width: 620, height: 104, background: '#F4F7FA', borderRadius: 8, padding: '0 20px', flexDirection: 'row', alignItems: 'center', gap: 16 }}&gt;&#10;                &lt;Box style={{ width: 4, height: 62, background: '#276FBF' }} /&gt;&#10;                &lt;Box style={{ width: 560, flexDirection: 'column', gap: 4 }}&gt;&#10;                    &lt;Text style={{ fontSize: 16, color: '#20344B' }}&gt;地图草图和人物名单足以讨论范围&lt;/Text&gt;&#10;                    &lt;Text style={{ fontSize: 15, color: '#CB6B28' }}&gt;却不足以直接导入实验&lt;/Text&gt;&#10;                &lt;/Box&gt;&#10;            &lt;/Box&gt;&#10;&#10;            &lt;Box style={{ width: 620, height: 104, background: '#F4F7FA', borderRadius: 8, padding: '0 20px', flexDirection: 'row', alignItems: 'center', gap: 16 }}&gt;&#10;                &lt;Box style={{ width: 4, height: 62, background: '#276FBF' }} /&gt;&#10;                &lt;Box style={{ width: 560, flexDirection: 'column', gap: 4 }}&gt;&#10;                    &lt;Text style={{ fontSize: 16, color: '#20344B' }}&gt;完整作者材料可以支持配置&lt;/Text&gt;&#10;                    &lt;Text style={{ fontSize: 15, color: '#CB6B28' }}&gt;不能证明运行稳定&lt;/Text&gt;&#10;                &lt;/Box&gt;&#10;            &lt;/Box&gt;&#10;&#10;            &lt;Box style={{ width: 620, height: 104, background: '#F4F7FA', borderRadius: 8, padding: '0 20px', flexDirection: 'row', alignItems: 'center', gap: 16 }}&gt;&#10;                &lt;Box style={{ width: 4, height: 62, background: '#276FBF' }} /&gt;&#10;                &lt;Box style={{ width: 560, flexDirection: 'column', gap: 4 }}&gt;&#10;                    &lt;Text style={{ fontSize: 16, color: '#20344B' }}&gt;运行已结束可以开始分析&lt;/Text&gt;&#10;                    &lt;Text style={{ fontSize: 15, color: '#CB6B28' }}&gt;不能自动证明业务成功&lt;/Text&gt;&#10;                &lt;/Box&gt;&#10;            &lt;/Box&gt;&#10;&#10;            &lt;Box style={{ width: 620, height: 88, background: '#ECF7F2', borderRadius: 10, padding: '0 20px', justifyContent: 'center' }}&gt;&#10;                &lt;Text style={{ fontSize: 16, color: '#26816B', lineHeight: 1.55 }}&gt;这些判断能减少返工，也使进度报告更诚实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用阶段产物控制工作量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转场只问一句话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09600" y="2524125"/>
            <a:ext cx="4762500" cy="238125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57250" y="3143250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每次转入下一阶段，问一个具体问题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57250" y="3419475"/>
            <a:ext cx="4267200" cy="866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20344B"/>
                </a:solidFill>
                <a:latin typeface="Microsoft YaHei"/>
                <a:ea typeface="Microsoft YaHei"/>
              </a:rPr>
              <a:t>下一位参与者拿到这些材料，能否开展他的工作？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676900" y="1638300"/>
            <a:ext cx="59055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5867400" y="18383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57900" y="193357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地图草图和人物名单足以讨论范围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57900" y="216217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却不足以直接导入实验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5676900" y="2743200"/>
            <a:ext cx="59055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5867400" y="29432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57900" y="303847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完整作者材料可以支持配置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57900" y="326707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不能证明运行稳定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5676900" y="3848100"/>
            <a:ext cx="59055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5867400" y="40481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57900" y="4143375"/>
            <a:ext cx="533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运行已结束可以开始分析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57900" y="437197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不能自动证明业务成功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5676900" y="4953000"/>
            <a:ext cx="59055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867400" y="5229225"/>
            <a:ext cx="55245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这些判断能减少返工，也使进度报告更诚实。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64" name="" descr="&lt;Slide notes={`讲师的职责也需要界定，这一点在设计教学项目时经常被忽略。&#10;&#10;讲师当然可以安排学员先猜两种策略的利弊，再一起看证据讨论。好的课堂需要悬念和节奏，这是教学的权利。&#10;&#10;但有一条线不能越过：不能为了课堂节奏，只留下最符合预期的片段。教学展示是可以节选的，研究台账仍然应该完整，而且节选依据要说明——你是因为时间关系只讲两项任务，还是因为只有这两项支持你的观点，这两件事完全不同。&#10;&#10;说得直白一点，只留下最符合预期的片段，等于把一次实验讲成了一条广告。学员后来看到完整数据的时候，失去的是对整个课程的信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4　三类参与者，三种不同职责&lt;/Text&gt;&#10;            &lt;Text style={{ fontSize: 34, fontWeight: 'bold', color: '#20344B' }}&gt;讲师的职责也要写清楚&lt;/Text&gt;&#10;        &lt;/Box&gt;&#10;    &lt;/Box&gt;&#10;&#10;    &lt;Box style={{ height: 540, flexDirection: 'row', alignItems: 'center', gap: 32 }}&gt;&#10;&#10;        &lt;Box style={{ width: 400, flexDirection: 'column', justifyContent: 'center', gap: 16 }}&gt;&#10;            &lt;Box style={{ width: 72, height: 4, background: '#276FBF' }} /&gt;&#10;            &lt;Text style={{ fontSize: 28, fontWeight: 'bold', color: '#20344B', lineHeight: 1.35 }}&gt;教学展示可以节选，研究台账仍应完整&lt;/Text&gt;&#10;            &lt;Text style={{ fontSize: 16, color: '#546779', lineHeight: 1.7 }}&gt;讲师可以安排学员先猜测两种策略的利弊，再看证据讨论。悬念和节奏是教学的一部分。&lt;/Text&gt;&#10;        &lt;/Box&gt;&#10;&#10;        &lt;Box style={{ width: 720, flexDirection: 'column', justifyContent: 'center', gap: 12 }}&gt;&#10;&#10;            &lt;Box style={{ width: 720, height: 104, background: '#F4F7FA', borderRadius: 8, padding: '0 20px', flexDirection: 'row', alignItems: 'center', gap: 16 }}&gt;&#10;                &lt;Box style={{ width: 4, height: 62, background: '#276FBF' }} /&gt;&#10;                &lt;Text style={{ fontSize: 17, color: '#20344B', lineHeight: 1.5, width: 660 }}&gt;先让学员猜测两种策略的利弊，再用证据展开讨论&lt;/Text&gt;&#10;            &lt;/Box&gt;&#10;&#10;            &lt;Box style={{ width: 720, height: 104, background: '#F4F7FA', borderRadius: 8, padding: '0 20px', flexDirection: 'row', alignItems: 'center', gap: 16 }}&gt;&#10;                &lt;Box style={{ width: 4, height: 62, background: '#276FBF' }} /&gt;&#10;                &lt;Text style={{ fontSize: 17, color: '#20344B', lineHeight: 1.5, width: 660 }}&gt;展示可以节选，但研究台账仍应完整&lt;/Text&gt;&#10;            &lt;/Box&gt;&#10;&#10;            &lt;Box style={{ width: 720, height: 104, background: '#F4F7FA', borderRadius: 8, padding: '0 20px', flexDirection: 'row', alignItems: 'center', gap: 16 }}&gt;&#10;                &lt;Box style={{ width: 4, height: 62, background: '#276FBF' }} /&gt;&#10;                &lt;Text style={{ fontSize: 17, color: '#20344B', lineHeight: 1.5, width: 660 }}&gt;节选依据需要说明：因为时间，还是因为结论&lt;/Text&gt;&#10;            &lt;/Box&gt;&#10;&#10;            &lt;Box style={{ width: 720, height: 104, background: '#FFF4E6', borderRadius: 10, padding: '0 20px', flexDirection: 'row', alignItems: 'center', gap: 16 }}&gt;&#10;                &lt;Box style={{ width: 4, height: 62, background: '#CB6B28' }} /&gt;&#10;                &lt;Text style={{ fontSize: 17, color: '#CB6B28', lineHeight: 1.5, width: 660 }}&gt;不能为了课堂节奏，只留下最符合预期的片段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三类参与者，三种不同职责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讲师的职责也要写清楚</a:t>
            </a:r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609600" y="28003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2990850"/>
            <a:ext cx="3810000" cy="866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100" b="1">
                <a:solidFill>
                  <a:srgbClr val="20344B"/>
                </a:solidFill>
                <a:latin typeface="Microsoft YaHei"/>
                <a:ea typeface="Microsoft YaHei"/>
              </a:rPr>
              <a:t>教学展示可以节选，研究台账仍应完整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4010025"/>
            <a:ext cx="38100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讲师可以安排学员先猜测两种策略的利弊，再看证据讨论。悬念和节奏是教学的一部分。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4724400" y="1562100"/>
            <a:ext cx="68580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4914900" y="17621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105400" y="1914525"/>
            <a:ext cx="6286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先让学员猜测两种策略的利弊，再用证据展开讨论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4724400" y="2667000"/>
            <a:ext cx="68580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4914900" y="28670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105400" y="3019425"/>
            <a:ext cx="6286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展示可以节选，但研究台账仍应完整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724400" y="3771900"/>
            <a:ext cx="6858000" cy="990600"/>
          </a:xfrm>
          <a:prstGeom prst="roundRect">
            <a:avLst>
              <a:gd name="adj" fmla="val 769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4914900" y="3971925"/>
            <a:ext cx="38100" cy="59055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105400" y="4124325"/>
            <a:ext cx="6286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节选依据需要说明：因为时间，还是因为结论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724400" y="4876800"/>
            <a:ext cx="68580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4914900" y="5076825"/>
            <a:ext cx="38100" cy="5905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105400" y="5229225"/>
            <a:ext cx="62865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不能为了课堂节奏，只留下最符合预期的片段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86" name="" descr="&lt;Slide notes={`最后回到「完成」这个词本身。本章采用两种交付范围。&#10;&#10;设计交付包括可审读的委托、资料、信息分配、精确行为文本和计划，它验收到「可以开始实施」。运行交付在设计交付之上增加实际实验、全部 Run、结果和接收记录，验收到双方约定的读取、复算或者重新执行层次。&#10;&#10;两者都可以成为合格成果，关键是名称要和证据相称。明明只做到设计准备，却写成运行成功，这是最常见也最难补救的问题。&#10;&#10;当前这份书稿属于教学材料交付。它没有完成第二种范围，也没有假定前三章的历史证据可以替代这个服务大厅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6　完成不等于所有问题都得到肯定答案&lt;/Text&gt;&#10;            &lt;Text style={{ fontSize: 34, fontWeight: 'bold', color: '#20344B' }}&gt;完成不等于所有问题都得到肯定答案&lt;/Text&gt;&#10;        &lt;/Box&gt;&#10;    &lt;/Box&gt;&#10;&#10;    &lt;Box style={{ height: 540, flexDirection: 'column', justifyContent: 'center', gap: 16 }}&gt;&#10;&#10;        &lt;Text style={{ fontSize: 16, color: '#546779', lineHeight: 1.6, width: 1152 }}&gt;两种范围都可以成为合格成果，但交出的名称必须与手里的证据相称。&lt;/Text&gt;&#10;&#10;        &lt;Box style={{ flexDirection: 'row', gap: 32 }}&gt;&#10;&#10;            &lt;Box style={{ width: 560, flexDirection: 'column', gap: 8 }}&gt;&#10;                &lt;Box style={{ width: 560, height: 44, background: '#EDF4FC', borderRadius: 8, justifyContent: 'center', alignItems: 'center' }}&gt;&#10;                    &lt;Text style={{ fontSize: 18, fontWeight: 'bold', color: '#276FBF' }}&gt;设计交付&lt;/Text&gt;&#10;                &lt;/Box&gt;&#10;                &lt;Box style={{ width: 560, height: 190, background: '#F4F7FA', borderRadius: 10, padding: '18px 20px', flexDirection: 'column', gap: 8 }}&gt;&#10;                    &lt;Text style={{ fontSize: 15, color: '#20344B', lineHeight: 1.6 }}&gt;可审读的委托、资料、信息分配、精确行为文本和计划&lt;/Text&gt;&#10;                    &lt;Box style={{ width: 520, height: 2, background: '#B5C7D8' }} /&gt;&#10;                    &lt;Text style={{ fontSize: 17, fontWeight: 'bold', color: '#276FBF' }}&gt;验收到「可以开始实施」&lt;/Text&gt;&#10;                &lt;/Box&gt;&#10;            &lt;/Box&gt;&#10;&#10;            &lt;Box style={{ width: 560, flexDirection: 'column', gap: 8 }}&gt;&#10;                &lt;Box style={{ width: 560, height: 44, background: '#ECF7F2', borderRadius: 8, justifyContent: 'center', alignItems: 'center' }}&gt;&#10;                    &lt;Text style={{ fontSize: 18, fontWeight: 'bold', color: '#26816B' }}&gt;运行交付&lt;/Text&gt;&#10;                &lt;/Box&gt;&#10;                &lt;Box style={{ width: 560, height: 190, background: '#F4F7FA', borderRadius: 10, padding: '18px 20px', flexDirection: 'column', gap: 8 }}&gt;&#10;                    &lt;Text style={{ fontSize: 15, color: '#20344B', lineHeight: 1.6 }}&gt;在其上增加实际实验、全部 Run、结果和接收记录&lt;/Text&gt;&#10;                    &lt;Box style={{ width: 520, height: 2, background: '#B5C7D8' }} /&gt;&#10;                    &lt;Text style={{ fontSize: 17, fontWeight: 'bold', color: '#26816B' }}&gt;验收到双方约定的读取、复算或重新执行层次&lt;/Text&gt;&#10;                &lt;/Box&gt;&#10;            &lt;/Box&gt;&#10;&#10;        &lt;/Box&gt;&#10;&#10;        &lt;Box style={{ width: 1152, height: 96, background: '#FFF4E6', borderRadius: 10, padding: '0 22px', flexDirection: 'row', alignItems: 'center', gap: 16 }}&gt;&#10;            &lt;Box style={{ width: 4, height: 60, background: '#CB6B28' }} /&gt;&#10;            &lt;Box style={{ flexDirection: 'column', gap: 4, width: 1060 }}&gt;&#10;                &lt;Text style={{ fontSize: 17, fontWeight: 'bold', color: '#CB6B28' }}&gt;两者都能合格，但名称与证据要相称&lt;/Text&gt;&#10;                &lt;Text style={{ fontSize: 15, color: '#546779', lineHeight: 1.5 }}&gt;当前书稿属于教学材料交付，没有完成第二种范围，也不假定历史证据可以替代这个服务大厅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181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完成不等于所有问题都得到肯定答案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完成不等于所有问题都得到肯定答案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09600" y="1809750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两种范围都可以成为合格成果，但交出的名称必须与手里的证据相称。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609600" y="225742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2933700" y="2362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设计交付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2752725"/>
            <a:ext cx="5334000" cy="180975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00100" y="29241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可审读的委托、资料、信息分配、精确行为文本和计划</a:t>
            </a:r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800100" y="3276600"/>
            <a:ext cx="4953000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00100" y="33718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验收到「可以开始实施」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248400" y="2257425"/>
            <a:ext cx="5334000" cy="419100"/>
          </a:xfrm>
          <a:prstGeom prst="roundRect">
            <a:avLst>
              <a:gd name="adj" fmla="val 181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8572500" y="2362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运行交付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248400" y="2752725"/>
            <a:ext cx="5334000" cy="1809750"/>
          </a:xfrm>
          <a:prstGeom prst="roundRect">
            <a:avLst>
              <a:gd name="adj" fmla="val 52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438900" y="29241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在其上增加实际实验、全部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、结果和接收记录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6438900" y="3276600"/>
            <a:ext cx="4953000" cy="1905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438900" y="33718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验收到双方约定的读取、复算或重新执行层次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47148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5" name=""/>
          <p:cNvSpPr/>
          <p:nvPr/>
        </p:nvSpPr>
        <p:spPr>
          <a:xfrm rot="0" flipH="0" flipV="0">
            <a:off x="819150" y="488632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1009650" y="4924425"/>
            <a:ext cx="1009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两者都能合格，但名称与证据要相称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1009650" y="5162550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当前书稿属于教学材料交付，没有完成第二种范围，也不假定历史证据可以替代这个服务大厅。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10" name="" descr="&lt;Slide notes={`项目做完之后还会遇到问题，这里要区分两类，处理方式完全不同。&#10;&#10;第一类是系统问题。比如运行中出现了预期之外的行为。这时候要保存入口、操作、预期与实际、身份和边界，然后停止该项验收，按仓库规则处理。先保留现场，再去判断原因。&#10;&#10;第二类是研究方案本身不合适。这时候不是停下来，而是记录原因，设计一个新的独立实验，同时把旧证据完整保留下来。旧证据不能删，它是你后来判断的依据。&#10;&#10;这两条路径不能混在一起，也不要去改动仿真内核来迁就某一次实验。前者是保留现场，后者是重做并且留痕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6　完成不等于所有问题都得到肯定答案&lt;/Text&gt;&#10;            &lt;Text style={{ fontSize: 34, fontWeight: 'bold', color: '#20344B' }}&gt;发现问题时，先保存入口与边界&lt;/Text&gt;&#10;        &lt;/Box&gt;&#10;    &lt;/Box&gt;&#10;&#10;    &lt;Box style={{ height: 540, flexDirection: 'row', alignItems: 'center', gap: 32 }}&gt;&#10;&#10;        &lt;Box style={{ width: 380, flexDirection: 'column', justifyContent: 'center', gap: 14 }}&gt;&#10;            &lt;Box style={{ width: 72, height: 4, background: '#276FBF' }} /&gt;&#10;            &lt;Text style={{ fontSize: 28, fontWeight: 'bold', color: '#20344B', lineHeight: 1.35 }}&gt;两类问题，两条路径&lt;/Text&gt;&#10;            &lt;Text style={{ fontSize: 16, color: '#546779', lineHeight: 1.7 }}&gt;它们的处理方式完全不同：一个是停下来保留现场，一个是重做并保留旧的证据。&lt;/Text&gt;&#10;        &lt;/Box&gt;&#10;&#10;        &lt;Box style={{ width: 740, flexDirection: 'column', justifyContent: 'center', gap: 16 }}&gt;&#10;&#10;            &lt;Box style={{ width: 740, height: 152, background: '#FFF4E6', borderRadius: 10, padding: '18px 22px', flexDirection: 'column', gap: 6, justifyContent: 'center' }}&gt;&#10;                &lt;Text style={{ fontSize: 19, fontWeight: 'bold', color: '#CB6B28' }}&gt;发现系统问题&lt;/Text&gt;&#10;                &lt;Text style={{ fontSize: 16, color: '#20344B', lineHeight: 1.55 }}&gt;保存入口、操作、预期与实际、身份和边界&lt;/Text&gt;&#10;                &lt;Text style={{ fontSize: 15, color: '#546779', lineHeight: 1.55 }}&gt;停止该项验收，按仓库规则处理&lt;/Text&gt;&#10;            &lt;/Box&gt;&#10;&#10;            &lt;Box style={{ width: 740, height: 152, background: '#ECF7F2', borderRadius: 10, padding: '18px 22px', flexDirection: 'column', gap: 6, justifyContent: 'center' }}&gt;&#10;                &lt;Text style={{ fontSize: 19, fontWeight: 'bold', color: '#26816B' }}&gt;发现研究方案不合适&lt;/Text&gt;&#10;                &lt;Text style={{ fontSize: 16, color: '#20344B', lineHeight: 1.55 }}&gt;记录原因，设计新的独立实验&lt;/Text&gt;&#10;                &lt;Text style={{ fontSize: 15, color: '#546779', lineHeight: 1.55 }}&gt;保留旧证据，不删改原始事实&lt;/Text&gt;&#10;            &lt;/Box&gt;&#10;&#10;            &lt;Box style={{ width: 740, height: 92, background: '#F4F7FA', borderRadius: 10, padding: '0 22px', flexDirection: 'row', alignItems: 'center', gap: 16 }}&gt;&#10;                &lt;Box style={{ width: 4, height: 56, background: '#276FBF' }} /&gt;&#10;                &lt;Text style={{ fontSize: 16, color: '#20344B', lineHeight: 1.55, width: 676 }}&gt;改动仿真内核去迁就某一次实验，会把两类问题混在一起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完成不等于所有问题都得到肯定答案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发现问题时，先保存入口与边界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3028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9600" y="3200400"/>
            <a:ext cx="3619500" cy="4381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100" b="1">
                <a:solidFill>
                  <a:srgbClr val="20344B"/>
                </a:solidFill>
                <a:latin typeface="Microsoft YaHei"/>
                <a:ea typeface="Microsoft YaHei"/>
              </a:rPr>
              <a:t>两类问题，两条路径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3771900"/>
            <a:ext cx="36195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它们的处理方式完全不同：一个是停下来保留现场，一个是重做并保留旧的证据。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4533900" y="1676400"/>
            <a:ext cx="70485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4743450" y="1962150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发现系统问题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4743450" y="2238375"/>
            <a:ext cx="6629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保存入口、操作、预期与实际、身份和边界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4743450" y="2581275"/>
            <a:ext cx="6629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停止该项验收，按仓库规则处理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4533900" y="3276600"/>
            <a:ext cx="7048500" cy="1447800"/>
          </a:xfrm>
          <a:prstGeom prst="roundRect">
            <a:avLst>
              <a:gd name="adj" fmla="val 657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4743450" y="3562350"/>
            <a:ext cx="6629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发现研究方案不合适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4743450" y="3838575"/>
            <a:ext cx="66294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记录原因，设计新的独立实验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743450" y="4181475"/>
            <a:ext cx="66294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保留旧证据，不删改原始事实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4533900" y="4876800"/>
            <a:ext cx="7048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4743450" y="50482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4933950" y="5172075"/>
            <a:ext cx="64389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改动仿真内核去迁就某一次实验，会把两类问题混在一起。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31" name="" descr="&lt;Slide notes={`本节练习是：把「仿真证明澄清策略有效」改成可验收的项目要求。&#10;&#10;原写法的问题在于，它把结果提前写进了题目。一旦结论已经确定，收集到的材料就只能往一个方向解释，项目也失去了允许结果与预期不同的空间。&#10;&#10;一个比较好的答案是：在固定教学条件下比较两种入口咨询策略，提交包含全部任务、未完成样本、调用负担和证据定位的报告，由接收者抽查任一任务的判分。&#10;&#10;这句话规定了应完成的工作——哪些任务、哪些样本、哪些负担、证据要能定位，也明确把判断权交给接收者。同时它允许结果与预期不同，甚至允许结论是「澄清没有带来闭环改善」。这才是一个项目该有的样子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5.1.6　完成不等于所有问题都得到肯定答案&lt;/Text&gt;&#10;            &lt;Text style={{ fontSize: 34, fontWeight: 'bold', color: '#20344B' }}&gt;把「证明有效」改成可验收的要求&lt;/Text&gt;&#10;        &lt;/Box&gt;&#10;    &lt;/Box&gt;&#10;&#10;    &lt;Box style={{ height: 540, flexDirection: 'column', justifyContent: 'center', gap: 16 }}&gt;&#10;&#10;        &lt;Text style={{ fontSize: 16, color: '#546779', lineHeight: 1.6, width: 1152 }}&gt;本节练习是把一句已经写好结论的要求，改写成一项可以验收的项目要求。&lt;/Text&gt;&#10;&#10;        &lt;Box style={{ flexDirection: 'row', gap: 32 }}&gt;&#10;&#10;            &lt;Box style={{ width: 480, height: 220, background: '#FFF4E6', borderRadius: 10, padding: '18px 20px', flexDirection: 'column', gap: 8, justifyContent: 'center' }}&gt;&#10;                &lt;Text style={{ fontSize: 14, color: '#546779' }}&gt;原来的写法&lt;/Text&gt;&#10;                &lt;Text style={{ fontSize: 26, fontWeight: 'bold', color: '#CB6B28', lineHeight: 1.4 }}&gt;仿真证明澄清策略有效&lt;/Text&gt;&#10;                &lt;Text style={{ fontSize: 15, color: '#546779', lineHeight: 1.55 }}&gt;结果被提前写进了题目，没有留下与预期不同的空间。&lt;/Text&gt;&#10;            &lt;/Box&gt;&#10;&#10;            &lt;Box style={{ width: 640, height: 220, background: '#ECF7F2', borderRadius: 10, padding: '18px 20px', flexDirection: 'column', gap: 8, justifyContent: 'center' }}&gt;&#10;                &lt;Text style={{ fontSize: 14, color: '#546779' }}&gt;一个较好的答案&lt;/Text&gt;&#10;                &lt;Text style={{ fontSize: 17, color: '#20344B', lineHeight: 1.65 }}&gt;在固定教学条件下比较两种入口咨询策略，提交包含全部任务、未完成样本、调用负担和证据定位的报告，由接收者抽查任一任务的判分。&lt;/Text&gt;&#10;            &lt;/Box&gt;&#10;&#10;        &lt;/Box&gt;&#10;&#10;        &lt;Box style={{ width: 1152, height: 88, background: '#F4F7FA', borderRadius: 10, padding: '0 22px', flexDirection: 'row', alignItems: 'center', gap: 16 }}&gt;&#10;            &lt;Box style={{ width: 4, height: 56, background: '#276FBF' }} /&gt;&#10;            &lt;Box style={{ flexDirection: 'column', gap: 4, width: 1060 }}&gt;&#10;                &lt;Text style={{ fontSize: 17, fontWeight: 'bold', color: '#20344B' }}&gt;它规定了应完成的工作，也允许结果与预期不同&lt;/Text&gt;&#10;                &lt;Text style={{ fontSize: 15, color: '#546779', lineHeight: 1.5 }}&gt;全部任务、未完成样本、调用负担与证据定位都要留下，判断权交给接收者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完成不等于所有问题都得到肯定答案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把「证明有效」改成可验收的要求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09600" y="1952625"/>
            <a:ext cx="10972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本节练习是把一句已经写好结论的要求，改写成一项可以验收的项目要求。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09600" y="2400300"/>
            <a:ext cx="4572000" cy="2095500"/>
          </a:xfrm>
          <a:prstGeom prst="roundRect">
            <a:avLst>
              <a:gd name="adj" fmla="val 45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00100" y="2952750"/>
            <a:ext cx="4191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原来的写法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00100" y="3190875"/>
            <a:ext cx="41910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CB6B28"/>
                </a:solidFill>
                <a:latin typeface="Microsoft YaHei"/>
                <a:ea typeface="Microsoft YaHei"/>
              </a:rPr>
              <a:t>仿真证明澄清策略有效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00100" y="3686175"/>
            <a:ext cx="4191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结果被提前写进了题目，没有留下与预期不同的空间。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5486400" y="2400300"/>
            <a:ext cx="6096000" cy="2095500"/>
          </a:xfrm>
          <a:prstGeom prst="roundRect">
            <a:avLst>
              <a:gd name="adj" fmla="val 45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5676900" y="3009900"/>
            <a:ext cx="571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一个较好的答案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5676900" y="3248025"/>
            <a:ext cx="57150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在固定教学条件下比较两种入口咨询策略，提交包含全部任务、未完成样本、调用负担和证据定位的报告，由接收者抽查任一任务的判分。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4648200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819150" y="48006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009650" y="4819650"/>
            <a:ext cx="1009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它规定了应完成的工作，也允许结果与预期不同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1009650" y="5057775"/>
            <a:ext cx="10096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全部任务、未完成样本、调用负担与证据定位都要留下，判断权交给接收者。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50" name="" descr="&lt;Slide notes={`这一节要带走的是三句话。&#10;&#10;第一句，范围先定。这次只交可审阅的设计，还是连真实运行和接收记录一起交？这个问题不定，后面所有材料的准备方式都是模糊的。&#10;&#10;第二句，需求连证据。每一项需求都要配一个验收问题和一种无法替代的证据；缺口允许存在，但要留在表里，不要用不支持的链接把它盖住。&#10;&#10;第三句，名称与证据相称。设计准备就写设计准备，不要写成运行成功。这句话看起来只是措辞，实际上决定了别人能不能信任你交出去的东西。&#10;&#10;下一节我们看资料来源与假设，把材料从哪儿来这件事说清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第五章　5.1　项目范围与完成条件&lt;/Text&gt;&#10;            &lt;Text style={{ fontSize: 34, fontWeight: 'bold', color: '#20344B' }}&gt;本节小结&lt;/Text&gt;&#10;        &lt;/Box&gt;&#10;    &lt;/Box&gt;&#10;&#10;    &lt;Box style={{ height: 540, flexDirection: 'column', justifyContent: 'center', gap: 18 }}&gt;&#10;&#10;        &lt;Text style={{ fontSize: 44, fontWeight: 'bold', color: '#20344B', lineHeight: 1.25 }}&gt;记住三句话&lt;/Text&gt;&#10;&#10;        &lt;Box style={{ width: 1152, height: 104, background: '#EDF4FC', borderRadius: 10, padding: '0 24px', flexDirection: 'row', alignItems: 'center', gap: 20 }}&gt;&#10;            &lt;Text style={{ fontSize: 34, fontWeight: 'bold', color: '#276FBF', width: 56 }}&gt;一&lt;/Text&gt;&#10;            &lt;Box style={{ width: 940, flexDirection: 'column', gap: 4 }}&gt;&#10;                &lt;Text style={{ fontSize: 20, fontWeight: 'bold', color: '#276FBF' }}&gt;范围先定&lt;/Text&gt;&#10;                &lt;Text style={{ fontSize: 16, color: '#546779', lineHeight: 1.5 }}&gt;只交设计，还是连运行与接收一起交；两种范围的完成材料不同。&lt;/Text&gt;&#10;            &lt;/Box&gt;&#10;        &lt;/Box&gt;&#10;&#10;        &lt;Box style={{ width: 1152, height: 104, background: '#ECF7F2', borderRadius: 10, padding: '0 24px', flexDirection: 'row', alignItems: 'center', gap: 20 }}&gt;&#10;            &lt;Text style={{ fontSize: 34, fontWeight: 'bold', color: '#26816B', width: 56 }}&gt;二&lt;/Text&gt;&#10;            &lt;Box style={{ width: 940, flexDirection: 'column', gap: 4 }}&gt;&#10;                &lt;Text style={{ fontSize: 20, fontWeight: 'bold', color: '#26816B' }}&gt;需求连证据&lt;/Text&gt;&#10;                &lt;Text style={{ fontSize: 16, color: '#546779', lineHeight: 1.5 }}&gt;每项需求配一个验收问题和一种无法替代的证据，缺口要留在表里。&lt;/Text&gt;&#10;            &lt;/Box&gt;&#10;        &lt;/Box&gt;&#10;&#10;        &lt;Box style={{ width: 1152, height: 104, background: '#FFF4E6', borderRadius: 10, padding: '0 24px', flexDirection: 'row', alignItems: 'center', gap: 20 }}&gt;&#10;            &lt;Text style={{ fontSize: 34, fontWeight: 'bold', color: '#CB6B28', width: 56 }}&gt;三&lt;/Text&gt;&#10;            &lt;Box style={{ width: 940, flexDirection: 'column', gap: 4 }}&gt;&#10;                &lt;Text style={{ fontSize: 20, fontWeight: 'bold', color: '#CB6B28' }}&gt;名称与证据相称&lt;/Text&gt;&#10;                &lt;Text style={{ fontSize: 16, color: '#546779', lineHeight: 1.5 }}&gt;设计准备就写设计准备，不把尚未发生的运行写成已完成。&lt;/Text&gt;&#10;            &lt;/Box&gt;&#10;        &lt;/Box&gt;&#10;&#10;        &lt;Text style={{ fontSize: 15, color: '#546779', marginTop: 6 }}&gt;第五章　5.1　项目范围与委托　·　下一节：资料来源与假设&lt;/Text&gt;&#10;&#10;    &lt;/Box&gt;&#10;&#10;    &lt;Box style={{ height: 40, flexDirection: 'row', justifyContent: 'space-between', alignItems: 'center' }}&gt;&#10;        &lt;Text style={{ fontSize: 14, color: '#546779' }}&gt;5.1 项目范围与委托&lt;/Text&gt;&#10;        &lt;Text style={{ fontSize: 14, color: '#546779' }}&gt;2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057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项目范围与完成条件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057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本节小结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1457325"/>
            <a:ext cx="10972800" cy="6286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300" b="1">
                <a:solidFill>
                  <a:srgbClr val="20344B"/>
                </a:solidFill>
                <a:latin typeface="Microsoft YaHei"/>
                <a:ea typeface="Microsoft YaHei"/>
              </a:rPr>
              <a:t>记住三句话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22574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38200" y="25622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76FBF"/>
                </a:solidFill>
                <a:latin typeface="Microsoft YaHei"/>
                <a:ea typeface="Microsoft YaHei"/>
              </a:rPr>
              <a:t>一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562100" y="248602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范围先定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1562100" y="275272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只交设计，还是连运行与接收一起交；两种范围的完成材料不同。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9600" y="341947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38200" y="372427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6816B"/>
                </a:solidFill>
                <a:latin typeface="Microsoft YaHei"/>
                <a:ea typeface="Microsoft YaHei"/>
              </a:rPr>
              <a:t>二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1562100" y="364807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需求连证据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1562100" y="391477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每项需求配一个验收问题和一种无法替代的证据，缺口要留在表里。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09600" y="4581525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38200" y="4886325"/>
            <a:ext cx="533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CB6B28"/>
                </a:solidFill>
                <a:latin typeface="Microsoft YaHei"/>
                <a:ea typeface="Microsoft YaHei"/>
              </a:rPr>
              <a:t>三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562100" y="4810125"/>
            <a:ext cx="895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名称与证据相称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562100" y="5076825"/>
            <a:ext cx="8953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设计准备就写设计准备，不把尚未发生的运行写成已完成。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609600" y="58007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第五章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5.1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项目范围与委托　·　下一节：资料来源与假设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16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5.1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项目范围与委托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24 / 24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2026-09-29T10:17:56Z</dcterms:created>
  <dcterms:modified xsi:type="dcterms:W3CDTF">2026-09-29T10:17:56Z</dcterms:modified>
</cp:coreProperties>
</file>