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9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28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3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1" Type="http://schemas.openxmlformats.org/officeDocument/2006/relationships/slide" Target="slides/slide21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34" Type="http://schemas.openxmlformats.org/officeDocument/2006/relationships/tableStyles" Target="tableStyles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29" Type="http://schemas.openxmlformats.org/officeDocument/2006/relationships/slide" Target="slides/slide29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2" Type="http://schemas.openxmlformats.org/officeDocument/2006/relationships/slide" Target="slides/slide22.xml" /><Relationship Id="rId9" Type="http://schemas.openxmlformats.org/officeDocument/2006/relationships/slide" Target="slides/slide9.xml" /><Relationship Id="rId23" Type="http://schemas.openxmlformats.org/officeDocument/2006/relationships/slide" Target="slides/slide23.xml" /><Relationship Id="rId8" Type="http://schemas.openxmlformats.org/officeDocument/2006/relationships/slide" Target="slides/slide8.xml" /><Relationship Id="rId24" Type="http://schemas.openxmlformats.org/officeDocument/2006/relationships/slide" Target="slides/slide24.xml" /><Relationship Id="rId33" Type="http://schemas.openxmlformats.org/officeDocument/2006/relationships/presProps" Target="presProps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7" Type="http://schemas.openxmlformats.org/officeDocument/2006/relationships/slide" Target="slides/slide27.xml" /><Relationship Id="rId6" Type="http://schemas.openxmlformats.org/officeDocument/2006/relationships/slide" Target="slides/slide6.xml" /><Relationship Id="rId28" Type="http://schemas.openxmlformats.org/officeDocument/2006/relationships/slide" Target="slides/slide28.xml" /><Relationship Id="rId3" Type="http://schemas.openxmlformats.org/officeDocument/2006/relationships/slide" Target="slides/slide3.xml" /><Relationship Id="rId30" Type="http://schemas.openxmlformats.org/officeDocument/2006/relationships/slide" Target="slides/slide30.xml" /><Relationship Id="rId31" Type="http://schemas.openxmlformats.org/officeDocument/2006/relationships/slide" Target="slides/slide31.xml" /><Relationship Id="rId32" Type="http://schemas.openxmlformats.org/officeDocument/2006/relationships/notesMaster" Target="notesMasters/notesMaster1.xml" /><Relationship Id="rId35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slide" Target="slides/slide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这是全书的最后一节，我想把整章的落点收在这里。前面九节一直在准备材料：范围、来源、行为文本、运行记录、接收检查。这些准备有一个共同的检验方式——换一个人，他能不能照着做下去。</a:t>
            </a:r>
          </a:p>
          <a:p>
            <a:r>
              <a:rPr lang="zh-CN" dirty="0"/>
              <a:t>接收者不必精通系统，但他要能独立判断三件事：交付物是什么、证据在哪里、哪些内容已经验证过。只要有一件说不清，这份交付就还留在作者手里。</a:t>
            </a:r>
          </a:p>
          <a:p>
            <a:r>
              <a:rPr lang="zh-CN" dirty="0"/>
              <a:t>所以这节的作业不追求最大的模型、最多的角色或最长的运行时间，只要求一次有明确接收者的交付。把「作者能够讲明白」推进到「别人能够照着做」，前五章的知识才算连成了一体。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最后一个练习要带走七件事，它们不是七份清单，而是同一条交付链路。</a:t>
            </a:r>
          </a:p>
          <a:p>
            <a:r>
              <a:rPr lang="zh-CN" dirty="0"/>
              <a:t>先选定交付范围：只交可审阅的设计，还是连真实运行与接收记录一起交，这两种范围要求的材料完全不同。接着按四组材料逐组交：问题与材料、行为与对照、运行或计划、接收反馈。</a:t>
            </a:r>
          </a:p>
          <a:p>
            <a:r>
              <a:rPr lang="zh-CN" dirty="0"/>
              <a:t>然后是一份教学量表，五个维度加起来一百分，用来复核而不是奖励成功。最后留一个方向问题：将来想改策略、改输入或者加系统机制，先判断这件事改变了哪一层。</a:t>
            </a:r>
          </a:p>
          <a:p>
            <a:r>
              <a:rPr lang="zh-CN" dirty="0"/>
              <a:t>我特别想强调第五件。接收是整条链路的关口，它检验的不是文件好不好看，而是另一个人能不能独立找到范围、来源、原始文件和已知限制。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先解决最根本的一步：这次究竟交到哪一层。</a:t>
            </a:r>
          </a:p>
          <a:p>
            <a:r>
              <a:rPr lang="zh-CN" dirty="0"/>
              <a:t>三种作业范围是递进的。基础的设计作业适合还没有拿到模型服务、也没有运行预算的读者，交的是一份完整设计，包括来源与假设、角色信息表、精确的依赖清单和运行判分计划，最后由另一个人完成纸面接收。如果只有你一个人，可以隔日自查，但要明确标成非独立接收。</a:t>
            </a:r>
          </a:p>
          <a:p>
            <a:r>
              <a:rPr lang="zh-CN" dirty="0"/>
              <a:t>实践作业在基础之上增加真实运行，保存全部纳入项目的记录，再做一份可追溯报告和接收检查。重复次数和预算必须在开始前定好，不能看到结果再补。</a:t>
            </a:r>
          </a:p>
          <a:p>
            <a:r>
              <a:rPr lang="zh-CN" dirty="0"/>
              <a:t>扩展作业要求换一台机器，由接收者检查实际包、配置本机凭据，按已经核验的产品入口完成约定操作。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三种作业范围的差别，说到底就是证据增加到哪一层。</a:t>
            </a:r>
          </a:p>
          <a:p>
            <a:r>
              <a:rPr lang="zh-CN" dirty="0"/>
              <a:t>基础的设计作业，交的是一份完整设计：需求与范围、来源与假设、角色信息表、精确的 Skill 与依赖清单、运行及判分计划。它不需要编造运行结果，最后优先由另一位读者完成纸面接收。一个人学习时可以隔日自查，但要写明这是非独立接收。</a:t>
            </a:r>
          </a:p>
          <a:p>
            <a:r>
              <a:rPr lang="zh-CN" dirty="0"/>
              <a:t>实践作业在基础之上增加真实运行，通过界面完成资源、实验和运行，保存所有纳入项目的记录，再做可追溯报告，最后完成双方约定的接收检查。重复次数和预算要在开始前确定；如果只跑得动很少几次，就如实说明它属于小型探索。</a:t>
            </a:r>
          </a:p>
          <a:p>
            <a:r>
              <a:rPr lang="zh-CN" dirty="0"/>
              <a:t>扩展作业再往上加一层，由另一台机器上的接收者按已核验入口完成操作。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综合作业要交出四组材料，它们是一条链上的四段。</a:t>
            </a:r>
          </a:p>
          <a:p>
            <a:r>
              <a:rPr lang="zh-CN" dirty="0"/>
              <a:t>第一组是问题和材料，包含委托、来源登记与各项假设。第二组是行为与对照，交出两组咨询台的完整文本和它们之间唯一的差异。第三组是运行或计划，运行作业在这里交实际证据，设计作业交待采集的表。第四组是接收反馈，记录另一个人实际检查了什么、作者怎样处理。</a:t>
            </a:r>
          </a:p>
          <a:p>
            <a:r>
              <a:rPr lang="zh-CN" dirty="0"/>
              <a:t>第三组是唯一分岔的地方，也是容易出问题的地方。设计作业交的是采集计划，加上一段明确标注的人工判分练习，用来证明你知道怎样判；运行作业交的是真实记录。两者不能互相冒充，把计划写成结果，或者拿一段演示冒充实验，都会让整份交付失去可核对性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第一份交付要回答一个问题：别人凭什么相信你研究的是一件可回答的事。</a:t>
            </a:r>
          </a:p>
          <a:p>
            <a:r>
              <a:rPr lang="zh-CN" dirty="0"/>
              <a:t>起点是项目委托书。委托书写着比较直接建议与先澄清目的这两种入口咨询策略，成果用于教学中的方案探索。这个目标要改写成一句能依据事实回答的话，并且写明共同条件：四项咨询需求、服务分工与人物信息、观察窗口。</a:t>
            </a:r>
          </a:p>
          <a:p>
            <a:r>
              <a:rPr lang="zh-CN" dirty="0"/>
              <a:t>改写的时候有三条边界不能松。第四章的四项咨询需求要保留，正确窗口映射不能动，评分答案不发给来访者。如果确实需要改任务，那就要当成一个新的设计，重新说明分母、共同条件和评价范围，不能默默改掉。</a:t>
            </a:r>
          </a:p>
          <a:p>
            <a:r>
              <a:rPr lang="zh-CN" dirty="0"/>
              <a:t>写成这样一句话，项目才有判据，也才允许结果和预期不一样。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把委托改写成一句能被回答的话，靠的不是措辞漂亮，而是把三样东西写清楚。</a:t>
            </a:r>
          </a:p>
          <a:p>
            <a:r>
              <a:rPr lang="zh-CN" dirty="0"/>
              <a:t>共同条件要写全：四项咨询需求、服务分工与人物信息、观察窗口。唯一改变的地方要写准：只把入口咨询台的一次窗口建议，换成缺少关键目的时先澄清。结果的用途也要写明，用来讨论信息缺失与服务策略，不是评判工作人员的表现。</a:t>
            </a:r>
          </a:p>
          <a:p>
            <a:r>
              <a:rPr lang="zh-CN" dirty="0"/>
              <a:t>还有一条边界要守住：不能拿这个教学实验推定现实大厅的业务处理效率。</a:t>
            </a:r>
          </a:p>
          <a:p>
            <a:r>
              <a:rPr lang="zh-CN" dirty="0"/>
              <a:t>改写时有三条不能松。保留第四章的四项咨询需求，不改变其中的正确窗口映射，不把评分答案分发给来访者。如果确实需要改任务，那就要当作自己的新设计，重新说明分母、共同条件和评价范围。这样写，结果和预期不一样，也是一项发现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登记来源的时候要把四类东西分开，不能混在一起。</a:t>
            </a:r>
          </a:p>
          <a:p>
            <a:r>
              <a:rPr lang="zh-CN" dirty="0"/>
              <a:t>作者虚构的设定，是这个教学案例里的人物、地图与委托，它一旦被当成真实行政数据引用，结论就不成立。当前的产品事实，指系统界面、资源格式和入口的当前行为，产品更新以后原来的操作步骤就可能失效。实测材料是自己跑出来的记录、导出文件和判分结果，样本很少时只能算小型探索，不能推断普遍优越。外部方法依据是别人的论文与行业做法，在别的场景有效，不保证本案例同样成立。</a:t>
            </a:r>
          </a:p>
          <a:p>
            <a:r>
              <a:rPr lang="zh-CN" dirty="0"/>
              <a:t>每一类都要写清它影响什么，再补一句什么情况会让它不成立。比如假定窗口能并行答复多项请求，就意味着这个题不描述现实窗口容量；假定来访者会如实说明目的，就意味着结果不能直接覆盖故意隐瞒的情境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地图、人物和 Skill 三样东西，各有自己的完成条件，不能用一句「按第三章配置」带过去。</a:t>
            </a:r>
          </a:p>
          <a:p>
            <a:r>
              <a:rPr lang="zh-CN" dirty="0"/>
              <a:t>地图的完成条件是真实的语义边界、碰撞区域和可走站位。咨询台与两个窗口都要留下可走的邻格，否则人物根本走不到。人物需要完整资料和实验用的出生位置，出生点要在实际配置、保存、重开之后核对。Skill 需要完整正文和闭包，缺一段依赖就装不起来。</a:t>
            </a:r>
          </a:p>
          <a:p>
            <a:r>
              <a:rPr lang="zh-CN" dirty="0"/>
              <a:t>完成状态也要分层写。纸面作业把这三样标成待制作，不要写成已经完成；实践作业则通过界面保存后重开核对，用实际保存结果证明它们存在。</a:t>
            </a:r>
          </a:p>
          <a:p>
            <a:r>
              <a:rPr lang="zh-CN" dirty="0"/>
              <a:t>这一节反复出现的写法是：不要用一句通用说明跳过本案的具体内容。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第一份材料解决的是别人知不知道你在问什么。第二份材料解决的是别人能不能看懂你到底让系统做了什么。</a:t>
            </a:r>
          </a:p>
          <a:p>
            <a:r>
              <a:rPr lang="zh-CN" dirty="0"/>
              <a:t>两组咨询台的差别必须落在精确文本上，不能只写一句「先澄清」。要交出两组完整的决策文字，以及两组共同使用的其他行为文本，还要列出每个 Skill 的标识、类型、使用角色、依赖和文件位置。</a:t>
            </a:r>
          </a:p>
          <a:p>
            <a:r>
              <a:rPr lang="zh-CN" dirty="0"/>
              <a:t>光有文本还不够，要请同伴做一次反例审读。给他几个输入条件，让他只看标准流程解释下一步该做什么。如果两个人对同一个条件有不同理解，那说明文本本身有歧义，要回去改清楚，而不是靠多跑几次模型来掩盖。</a:t>
            </a:r>
          </a:p>
          <a:p>
            <a:r>
              <a:rPr lang="zh-CN" dirty="0"/>
              <a:t>最后是核对：真正配置两组之后，比较共同条件和包内差异，确认实际用的就是你写的那一份。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光说「两组差别是先澄清」是不够的，别人没有办法照着复现。文本要精确到一个字段的程度。</a:t>
            </a:r>
          </a:p>
          <a:p>
            <a:r>
              <a:rPr lang="zh-CN" dirty="0"/>
              <a:t>每个 Skill 都要交代五件事：标识、固有类型、使用角色、依赖，以及文件位置。文件位置这一项特别关键，因为包里可能同时存在几个版本，必须说清楚实际运行用的是哪一份包内副本。</a:t>
            </a:r>
          </a:p>
          <a:p>
            <a:r>
              <a:rPr lang="zh-CN" dirty="0"/>
              <a:t>整理文本时有几条纪律。文本整理不建立业务 Revision，也就是说它不产生一套新的业务版本；实验用的副本要封存，不让运行动态引用公共资源，否则公共资源一更新，你的实验就等于变成了另一个实验。</a:t>
            </a:r>
          </a:p>
          <a:p>
            <a:r>
              <a:rPr lang="zh-CN" dirty="0"/>
              <a:t>把两份文本放在一起，再说明唯一变化在哪里，别人才有可能判断你答的到底是不是同一个问题。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文本写完以后不要自己看一遍就算过，要请同伴做一次反例审读。</a:t>
            </a:r>
          </a:p>
          <a:p>
            <a:r>
              <a:rPr lang="zh-CN" dirty="0"/>
              <a:t>做法是给他几个输入条件，然后让他只看标准流程，说出下一步应该怎么做。第一个条件是原文里目的仍然缺失，他应该只问缺失的那一个字段，先不要再给建议。第二个条件是同一个人已经回答了关键字段，那就不该重复追问，应该直接进入范围判断。第三个条件是收到错误的窗口转介，这时要说明分工并指向另一窗口，不需要重新核实目的。第四个条件是答复在最后一轮才生成，这一条的关键在于，它不能自动算作人物在窗口内已经收到。</a:t>
            </a:r>
          </a:p>
          <a:p>
            <a:r>
              <a:rPr lang="zh-CN" dirty="0"/>
              <a:t>如果两个人对同一个条件有不同理解，先回去把文本改清楚。指望多跑几次模型来消除歧义，是掩盖问题。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真正配置两组之后，还有一步不能省：核对共同条件和包内差异。</a:t>
            </a:r>
          </a:p>
          <a:p>
            <a:r>
              <a:rPr lang="zh-CN" dirty="0"/>
              <a:t>容易出错的地方在于，公共资源里那个最新的 Skill，并不能证明已经封存的实验用的也是它。资源在公共层被编辑过，实验内的物理副本不会自动跟着变化。所以交付时要说明，实际生效的是哪一份包内副本。</a:t>
            </a:r>
          </a:p>
          <a:p>
            <a:r>
              <a:rPr lang="zh-CN" dirty="0"/>
              <a:t>如果发现导入副本和书面设计不一致，把差异写下来，同时写清楚它会影响什么。不要静默覆盖，也不要在报告里假装没有发生。</a:t>
            </a:r>
          </a:p>
          <a:p>
            <a:r>
              <a:rPr lang="zh-CN" dirty="0"/>
              <a:t>需要调整已经封存的实验时，要创建一份独立草稿，重新走一遍实验和运行安排。既有运行所依据的内容不要改写，因为那些结论当时是建立在那份内容之上的。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第三份交付是运行和结果，这里最需要克制。</a:t>
            </a:r>
          </a:p>
          <a:p>
            <a:r>
              <a:rPr lang="zh-CN" dirty="0"/>
              <a:t>先区分两类运行。正式运行是纳入项目比较的那些，全部要进运行索引；诊断运行是中途用来排查问题的，它同样要保留，并写清用途。失败、重试、没有闭环的任务都不能删掉，它们就是代价的一部分。</a:t>
            </a:r>
          </a:p>
          <a:p>
            <a:r>
              <a:rPr lang="zh-CN" dirty="0"/>
              <a:t>实验计划要在跑之前写好：哪些样本进入比较，哪些只算工程诊断。这一条特别重要，因为一旦看到结果再交换标签，比较就失去了意义，分母也就被人为修饰过了。</a:t>
            </a:r>
          </a:p>
          <a:p>
            <a:r>
              <a:rPr lang="zh-CN" dirty="0"/>
              <a:t>如果这是设计作业，这一份交的是空白采集表和一段明确标注的人工判分练习，证明你知道怎样判，而不是已经拿到了数据。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运行记录的第一步是分清楚哪些运行算数。</a:t>
            </a:r>
          </a:p>
          <a:p>
            <a:r>
              <a:rPr lang="zh-CN" dirty="0"/>
              <a:t>正式运行是纳入项目比较的那些，要逐条进入运行索引。诊断运行是中途用来查问题的，它也要保留，并且写明用途，不能因为不进入比较就丢掉。失败、重试和没有闭环的任务一律保留，它们本身就是代价的一部分。</a:t>
            </a:r>
          </a:p>
          <a:p>
            <a:r>
              <a:rPr lang="zh-CN" dirty="0"/>
              <a:t>重复次数和预算必须在开始之前确定。如果只跑得动很少几次，就如实说明这属于小型探索，不要拿它做普遍优越的推断。</a:t>
            </a:r>
          </a:p>
          <a:p>
            <a:r>
              <a:rPr lang="zh-CN" dirty="0"/>
              <a:t>还有一条纪律要提前写在实验计划里：哪些样本进入比较、哪些只算工程诊断，在跑之前就定好。看到结果以后再交换标签，比较就失去意义，分母也被人为修饰过了。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判分表按四个任务逐行展开。每个任务至少要能定位五样东西：首次入口请求、实际得到的建议、窗口请求、适配回复，以及是否完成确认。缺少哪一环，就在表里写缺哪一环，不要留空。</a:t>
            </a:r>
          </a:p>
          <a:p>
            <a:r>
              <a:rPr lang="zh-CN" dirty="0"/>
              <a:t>四个任务里有两个设计上的陷阱。周澈和孟川的首次话语完全相同，都是问活动室照明和使用；谭悦和邱禾的首次话语也完全相同。可是前两人的真实目的是场地使用，后两人的真实目的是设施报修，对应的是两个不同的窗口。只看首句根本判断不出目的，这就是必须逐环定位的原因。</a:t>
            </a:r>
          </a:p>
          <a:p>
            <a:r>
              <a:rPr lang="zh-CN" dirty="0"/>
              <a:t>计数上还有两条口径：无效访问按真实的错误窗口请求计数；首次有效回应与最终闭环要分开处理。解释人物动作时使用世界事实，解释调用代价时保留全部相关的物理尝试。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同一份判分表，在两种交付范围里交出的东西并不一样。</a:t>
            </a:r>
          </a:p>
          <a:p>
            <a:r>
              <a:rPr lang="zh-CN" dirty="0"/>
              <a:t>设计作业在这里交的是空白采集表，加上一段明确标注的人工判分练习。它要证明的是你知道怎样判、判据是什么、哪个环节缺了怎么记。它不应该伪装成已经取得数据，也不应该用编造的数字把表格填满。</a:t>
            </a:r>
          </a:p>
          <a:p>
            <a:r>
              <a:rPr lang="zh-CN" dirty="0"/>
              <a:t>运行作业交的是真实记录：全部样本、全部结果，包括那些没有闭环的任务。如果所有任务都没闭环，那也不是把报告删掉的理由，而是要说明失败发生在哪里、手上的证据是否足够、是否值得修改方案。</a:t>
            </a:r>
          </a:p>
          <a:p>
            <a:r>
              <a:rPr lang="zh-CN" dirty="0"/>
              <a:t>这就是两种范围的区别。它不体现在报告写得多漂亮，而体现在你交的到底是计划还是事实。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报告要让人能读懂，也要让结论经得起追问。至少要有六个部分。</a:t>
            </a:r>
          </a:p>
          <a:p>
            <a:r>
              <a:rPr lang="zh-CN" dirty="0"/>
              <a:t>方法说清楚你做了什么、比较的是什么。全部样本说明分母是多少，一个都不能漏。主要结果只报事实，不替读者下判断。代价包括调用、时间和重试，失败的那部分也算在里面。替代解释是把另一种可能也写出来，不要只留一个你喜欢的答案。最后是局限，明确说出结论能走多远。</a:t>
            </a:r>
          </a:p>
          <a:p>
            <a:r>
              <a:rPr lang="zh-CN" dirty="0"/>
              <a:t>配图可以很简单，原始计数比一个没有分母的大百分比有用得多。另外，每一个主要结论都应该在需求—证据矩阵里找到对应依据，否则它就只是一个说法，不是一项可以核对的结论。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第四份交付是整条链路的关口：接收。</a:t>
            </a:r>
          </a:p>
          <a:p>
            <a:r>
              <a:rPr lang="zh-CN" dirty="0"/>
              <a:t>接收者首先只拿交付入口，不听作者口头补充。他要能够自己找到项目范围、组别差异、材料来源、原始文件和已知限制。这一条听上去基础，但它是判断交付能不能独立成立的最低门槛。</a:t>
            </a:r>
          </a:p>
          <a:p>
            <a:r>
              <a:rPr lang="zh-CN" dirty="0"/>
              <a:t>然后随机选择一项需求，顺着需求—证据矩阵定位到支持材料，写下实际检查结果。随机这一条很关键，作者指定的那一项往往刚好是他准备得最好的。</a:t>
            </a:r>
          </a:p>
          <a:p>
            <a:r>
              <a:rPr lang="zh-CN" dirty="0"/>
              <a:t>如果约定接收运行成果，再核对实际文件类型、身份和哈希，按接收检查表完成约定层次。这里的重点不是一次做完所有层次，而是每一层都如实标注实际完成到哪一步。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接收这件事可以拆成三个动作。</a:t>
            </a:r>
          </a:p>
          <a:p>
            <a:r>
              <a:rPr lang="zh-CN" dirty="0"/>
              <a:t>第一个动作是只拿入口。作者把交付入口给出去，不口头补充，看接收者能不能自己找到项目范围、组别差异、材料来源、原始文件和已知限制。这一步暴露的通常是索引问题，而不是能力问题。</a:t>
            </a:r>
          </a:p>
          <a:p>
            <a:r>
              <a:rPr lang="zh-CN" dirty="0"/>
              <a:t>第二个动作是顺着证据定位。随机选一项需求，从需求—证据矩阵出发，找到支持它的材料。这里的难点在于结论和原始事实之间往往隔着几层整理，接收者要能一路走下去。</a:t>
            </a:r>
          </a:p>
          <a:p>
            <a:r>
              <a:rPr lang="zh-CN" dirty="0"/>
              <a:t>第三个动作是写下实际检查结果。写清检查了什么、完成到哪一层、哪里还没执行。</a:t>
            </a:r>
          </a:p>
          <a:p>
            <a:r>
              <a:rPr lang="zh-CN" dirty="0"/>
              <a:t>再往下如果约定核对运行成果，还要核对文件类型、身份和哈希。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接收有层次之分，从最轻的只读回放，到复算，再到重新运行。</a:t>
            </a:r>
          </a:p>
          <a:p>
            <a:r>
              <a:rPr lang="zh-CN" dirty="0"/>
              <a:t>只读回放用的是已有的运行编号，不执行模型，只看结果能不能打开、材料能不能定位。复算报告要用同一套判据、同一个分母和相同的取材边界，看看结果能不能被重新算出来。再往上是重新执行：从实验新跑会得到新的运行编号，从已有运行重跑会读取内嵌的实验，续跑则在同一个运行编号下开一个新的尝试，从下一个提交步继续。</a:t>
            </a:r>
          </a:p>
          <a:p>
            <a:r>
              <a:rPr lang="zh-CN" dirty="0"/>
              <a:t>这些层次没有必须全部完成的说法。接收者不需要把每一层都做完，关键是如实记录：完成到只读回放，就写只读回放；重新运行还没有执行，就保留待执行。</a:t>
            </a:r>
          </a:p>
          <a:p>
            <a:r>
              <a:rPr lang="zh-CN" dirty="0"/>
              <a:t>把没做的部分写成已完成，是交付里最不该出现的一类错误。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接到反馈之后，作者要做的是判断处理范围，而不是急着改文件。</a:t>
            </a:r>
          </a:p>
          <a:p>
            <a:r>
              <a:rPr lang="zh-CN" dirty="0"/>
              <a:t>如果修正的只是一个失效路径，通常只影响说明文字，改完再检查一下关联入口就够了。如果更正的是错误判分，那就牵动结果本身，以及由结果派生的图表和摘要，需要一致地复核受影响的样本。</a:t>
            </a:r>
          </a:p>
          <a:p>
            <a:r>
              <a:rPr lang="zh-CN" dirty="0"/>
              <a:t>最容易低估的是改咨询台的行为文本。它会影响实验行为，必须进入一套新的独立实验和运行安排，不能改写既有运行所依据的内容，也不能靠重新打包来掩盖。</a:t>
            </a:r>
          </a:p>
          <a:p>
            <a:r>
              <a:rPr lang="zh-CN" dirty="0"/>
              <a:t>还有一点常被忽略：确实不需要修改的时候，就写出理由。不要为了完成作业硬造一次变更。原始导出要保留，历史输入不要覆盖。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交付做完之后，还需要一个可以说明理由的评分方式。</a:t>
            </a:r>
          </a:p>
          <a:p>
            <a:r>
              <a:rPr lang="zh-CN" dirty="0"/>
              <a:t>先看一百分怎样分配，再按每一项需要的材料去核对。分值相同，但设计交付与运行交付提供的依据并不一样。这就是为什么评分之前必须先选范围：同样是「未要求运行」，和「要求了运行但拿不出证据」，处理方式完全不同。</a:t>
            </a:r>
          </a:p>
          <a:p>
            <a:r>
              <a:rPr lang="zh-CN" dirty="0"/>
              <a:t>这份量表是本书给的教学建议，供讲师调整。它不是系统自动给出的质量分，也不是已经对某一组作业打过的分。</a:t>
            </a:r>
          </a:p>
          <a:p>
            <a:r>
              <a:rPr lang="zh-CN" dirty="0"/>
              <a:t>还有一条原则要写清楚：评价的目的是辨认知识与证据的缺口，不是奖励所有任务成功。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一百分分成五块，刻度是按教学权重定的，不是本案已经拿到的分数。</a:t>
            </a:r>
          </a:p>
          <a:p>
            <a:r>
              <a:rPr lang="zh-CN" dirty="0"/>
              <a:t>问题与范围十五分，看目标、用户、观察单位和边界是否具体。材料与信息分配二十分，看来源、假设和角色知识里有没有答案泄漏。行为与对照二十分，看标准流程是否精确、唯一变化和依赖是否明确。证据与分析二十五分，权重最高，看判据是否可操作、结论能否追溯到原始事实。接收与表达二十分，看别人能不能独立找到材料并提出反馈。</a:t>
            </a:r>
          </a:p>
          <a:p>
            <a:r>
              <a:rPr lang="zh-CN" dirty="0"/>
              <a:t>总分加起来正好一百分。同一维度可以按充分、部分、缺失给分，然后写一句理由，把给分的依据说出来。</a:t>
            </a:r>
          </a:p>
          <a:p>
            <a:r>
              <a:rPr lang="zh-CN" dirty="0"/>
              <a:t>评价的目的是辨认知识与证据的缺口，不是奖励所有任务成功。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同一个维度，在两种交付范围里的依据不一样，这一点必须写进量表。</a:t>
            </a:r>
          </a:p>
          <a:p>
            <a:r>
              <a:rPr lang="zh-CN" dirty="0"/>
              <a:t>问题与范围十五分。设计交付看目标、用户、观察单位和边界是否具体；运行交付还要看实际执行与约定一致，或者偏差有没有说明。</a:t>
            </a:r>
          </a:p>
          <a:p>
            <a:r>
              <a:rPr lang="zh-CN" dirty="0"/>
              <a:t>材料与信息分配二十分。设计交付看来源、假设和角色知识里有没有泄漏答案；运行交付看保存后的资源与实验副本是否核对。</a:t>
            </a:r>
          </a:p>
          <a:p>
            <a:r>
              <a:rPr lang="zh-CN" dirty="0"/>
              <a:t>行为与对照二十分，设计交付要求标准流程精确、唯一变化和依赖明确；运行交付要看包内文本与共同条件的实际核对。</a:t>
            </a:r>
          </a:p>
          <a:p>
            <a:r>
              <a:rPr lang="zh-CN" dirty="0"/>
              <a:t>证据与分析二十五分是最重的一块。设计交付只要判据可操作、人工练习标注清楚；运行交付则要求全部样本、定位、费用和结论都能追溯。接收与表达二十分，运行交付还多了实际接收范围与复查结果。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有几类行为是量表明确不能通过的，处理顺序也要先说清楚。</a:t>
            </a:r>
          </a:p>
          <a:p>
            <a:r>
              <a:rPr lang="zh-CN" dirty="0"/>
              <a:t>第一类是伪造运行身份，明明没有跑过却写成已经运行。第二类是把人工填写的数据标成实测结果，这是把练习冒充证据。第三类最隐蔽：删除不利样本，把没有闭环或者失败的任务从分母里拿掉，让结果看起来好看。</a:t>
            </a:r>
          </a:p>
          <a:p>
            <a:r>
              <a:rPr lang="zh-CN" dirty="0"/>
              <a:t>遇到这些情况，顺序是先要求修正，把材料改到与事实相符，再进入评分。相关维度不能因为报告包装精美就获得通过，因为量表要辨认的是知识与证据的缺口。</a:t>
            </a:r>
          </a:p>
          <a:p>
            <a:r>
              <a:rPr lang="zh-CN" dirty="0"/>
              <a:t>这条规则看起来严格，但它保护的是整份交付的可信度。一旦有一处可以被包装蒙过去，其他所有结论都要重新被怀疑。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一百分的构成、两种范围的依据差异、以及不能通过的三类行为，合起来是一套可以说明理由的评分方式。</a:t>
            </a:r>
          </a:p>
          <a:p>
            <a:r>
              <a:rPr lang="zh-CN" dirty="0"/>
              <a:t>它给讲师留了调整余地，也给学习者一个明确的预期：什么算交得完整，什么只是看起来完整。同一维度可以按充分、部分、缺失三档给分，每一档都写一句理由，把判断的依据说出来。</a:t>
            </a:r>
          </a:p>
          <a:p>
            <a:r>
              <a:rPr lang="zh-CN" dirty="0"/>
              <a:t>这里要再强调一次：这份量表是教学建议，不是系统自动给出的质量分，也不是本书已经对某一份作业打过的分。</a:t>
            </a:r>
          </a:p>
          <a:p>
            <a:r>
              <a:rPr lang="zh-CN" dirty="0"/>
              <a:t>评价的目的是辨认知识与证据的缺口，不是奖励所有任务成功。失败本身不扣印象分，隐瞒才会。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做完综合作业之后，很多人会问下一步往哪走。常见的三个方向，各自改变了不同的层，要重新核对的东西也完全不同。</a:t>
            </a:r>
          </a:p>
          <a:p>
            <a:r>
              <a:rPr lang="zh-CN" dirty="0"/>
              <a:t>第一类是改变策略，比如用清单核对替代自由整理。这主要进入 Skill 和研究设计。策略一变，行为文本要重写，研究问题里比较的对象也跟着变。</a:t>
            </a:r>
          </a:p>
          <a:p>
            <a:r>
              <a:rPr lang="zh-CN" dirty="0"/>
              <a:t>第二类是改变输入与场景，比如增加角色数量或者更换通知渠道。这需要重新核对信息分配、空间和比较条件。角色变多会影响走位和拥堵，通知渠道变了会改变信息到达的顺序。</a:t>
            </a:r>
          </a:p>
          <a:p>
            <a:r>
              <a:rPr lang="zh-CN" dirty="0"/>
              <a:t>第三类是新增系统机制，比如真实队列容量、动态碰撞或者新的工具权限。这一类需要独立的工程设计与验证，不能由一句标准流程自动获得。</a:t>
            </a:r>
          </a:p>
          <a:p>
            <a:r>
              <a:rPr lang="zh-CN" dirty="0"/>
              <a:t>先想清楚改的是哪一层，再决定要准备什么证据。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将来更换模型的时候，模型配置与能力评价也要重新进入视野。</a:t>
            </a:r>
          </a:p>
          <a:p>
            <a:r>
              <a:rPr lang="zh-CN" dirty="0"/>
              <a:t>第一章给的模型基准，帮助我们理解候选模型大致能做什么。第二章讲的技术，说明资料、工具和上下文怎样影响实际表现。这两部分都很有用，但它们都不能替代本场景的实际任务评价。</a:t>
            </a:r>
          </a:p>
          <a:p>
            <a:r>
              <a:rPr lang="zh-CN" dirty="0"/>
              <a:t>原因在于评分的对象不一样。一个模型在知识题上得分更高，不保证它在长链请求、记忆与对象反馈中更稳定。服务大厅这类任务需要多轮澄清、记住已说过的字段、在正确窗口给出适配回复，这些能力和知识答题不是一回事。</a:t>
            </a:r>
          </a:p>
          <a:p>
            <a:r>
              <a:rPr lang="zh-CN" dirty="0"/>
              <a:t>所以换模型之后要重新测。用能力证据提出合理预期，再用本场景的实际任务去核对它。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第五章到这里结束。回看十节，我们做的其实是同一件事：把准备的材料组织成一份别人能接手的成果。</a:t>
            </a:r>
          </a:p>
          <a:p>
            <a:r>
              <a:rPr lang="zh-CN" dirty="0"/>
              <a:t>5.1 先把愿望改成需求、验收问题和交付范围。5.2 区分设定、假设与观察，处理材料冲突。5.3 把材料分配给正确的接收者，准备资源闭包。5.4 保存完整的咨询台文本和唯一替换段。5.5 估计轮次、调用与费用，登记停止条件。5.6 把每项结论连到判据与已提交事实。5.7 区分文件用途，记录实际接收与重新执行范围。5.8 用清楚的来源和全体结果组织汇报。5.9 依据证据判断变更影响。5.10 完成一次有明确接收者的交付。</a:t>
            </a:r>
          </a:p>
          <a:p>
            <a:r>
              <a:rPr lang="zh-CN" dirty="0"/>
              <a:t>贯穿全章的是四条纪律：需求有范围，材料有来源，行为有精确文本，结果有证据。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最后回到整本书的路径上。</a:t>
            </a:r>
          </a:p>
          <a:p>
            <a:r>
              <a:rPr lang="zh-CN" dirty="0"/>
              <a:t>第一章我们认识模型，弄清它大致能做什么、不能做什么。第二章进入应用技术，看资料、工具和上下文怎样改变实际表现。第三章学仿真平台，知道系统怎样使用、资源怎样组织。第四章做实验案例，用一次只改一处的办法，把问题和证据连起来。第五章把这些落成一份别人能接手的交付。</a:t>
            </a:r>
          </a:p>
          <a:p>
            <a:r>
              <a:rPr lang="zh-CN" dirty="0"/>
              <a:t>这条路径是连着的：用能力证据提出合理预期，用技术组织可执行的行为，用系统保存可核验的事实，用研究方法解释差异，最后把材料交给别人检查。</a:t>
            </a:r>
          </a:p>
          <a:p>
            <a:r>
              <a:rPr lang="zh-CN" dirty="0"/>
              <a:t>所以最后的练习不是再加一个功能。它只需要你请接收者指出一条他最想相信的结论，然后让他独立找到足以支持或否定它的证据。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这是全书的最后一节，我想把整章的落点收在这里。前面九节一直在准备材料：范围、来源、行为文本、运行记录、接收检查。这些准备有一个共同的检验方式——换一个人，他能不能照着做下去。&#10;&#10;接收者不必精通系统，但他要能独立判断三件事：交付物是什么、证据在哪里、哪些内容已经验证过。只要有一件说不清，这份交付就还留在作者手里。&#10;&#10;所以这节的作业不追求最大的模型、最多的角色或最长的运行时间，只要求一次有明确接收者的交付。把「作者能够讲明白」推进到「别人能够照着做」，前五章的知识才算连成了一体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综合实战与交付　·　5.10　章末综合项目&lt;/Text&gt;&#10;            &lt;Text style={{ fontSize: 34, fontWeight: 'bold', color: '#20344B' }}&gt;一次有接收者的交付&lt;/Text&gt;&#10;        &lt;/Box&gt;&#10;    &lt;/Box&gt;&#10;&#10;    &lt;Box style={{ height: 540, flexDirection: 'row', alignItems: 'center', gap: 32 }}&gt;&#10;&#10;        &lt;Box style={{ width: 520, flexDirection: 'column', gap: 14 }}&gt;&#10;            &lt;Text style={{ fontSize: 52, fontWeight: 'bold', color: '#20344B', lineHeight: 1.2 }}&gt;让另一位操作者{'\n'}真正接手&lt;/Text&gt;&#10;            &lt;Box style={{ width: 72, height: 4, background: '#276FBF' }} /&gt;&#10;            &lt;Text style={{ fontSize: 17, color: '#546779', lineHeight: 1.7, width: 520 }}&gt;读完全书之后，最有价值的练习是完成一次有明确接收者的交付。它检验的不是功能多少，而是前五章的知识有没有连成一体。&lt;/Text&gt;&#10;            &lt;Box style={{ flexDirection: 'row', gap: 12, marginTop: 4 }}&gt;&#10;                &lt;Box style={{ width: 160, height: 42, background: '#EDF4FC', borderRadius: 8, justifyContent: 'center', alignItems: 'center' }}&gt;&#10;                    &lt;Text style={{ fontSize: 15, color: '#276FBF' }}&gt;设计交付&lt;/Text&gt;&#10;                &lt;/Box&gt;&#10;                &lt;Box style={{ width: 160, height: 42, background: '#ECF7F2', borderRadius: 8, justifyContent: 'center', alignItems: 'center' }}&gt;&#10;                    &lt;Text style={{ fontSize: 15, color: '#26816B' }}&gt;运行交付&lt;/Text&gt;&#10;                &lt;/Box&gt;&#10;                &lt;Box style={{ width: 160, height: 42, background: '#FFF4E6', borderRadius: 8, justifyContent: 'center', alignItems: 'center' }}&gt;&#10;                    &lt;Text style={{ fontSize: 15, color: '#CB6B28' }}&gt;独立环境接收&lt;/Text&gt;&#10;                &lt;/Box&gt;&#10;            &lt;/Box&gt;&#10;        &lt;/Box&gt;&#10;&#10;        &lt;Box style={{ width: 600, flexDirection: 'column', justifyContent: 'center' }}&gt;&#10;&#10;            &lt;Box style={{ width: 600, flexDirection: 'row', alignItems: 'center' }}&gt;&#10;                &lt;Box style={{ width: 168, height: 92, background: '#EDF4FC', borderRadius: 10, flexDirection: 'column', gap: 4, justifyContent: 'center', alignItems: 'center' }}&gt;&#10;                    &lt;Text style={{ fontSize: 20, fontWeight: 'bold', color: '#276FBF' }}&gt;作者&lt;/Text&gt;&#10;                    &lt;Text style={{ fontSize: 14, color: '#546779' }}&gt;准备与记录&lt;/Text&gt;&#10;                &lt;/Box&gt;&#10;                &lt;Box style={{ width: 44, height: 92, justifyContent: 'center', alignItems: 'center' }}&gt;&#10;                    &lt;Text style={{ fontSize: 26, color: '#276FBF' }}&gt;›&lt;/Text&gt;&#10;                &lt;/Box&gt;&#10;                &lt;Box style={{ width: 168, height: 92, background: '#F4F7FA', borderRadius: 10, flexDirection: 'column', gap: 4, justifyContent: 'center', alignItems: 'center' }}&gt;&#10;                    &lt;Text style={{ fontSize: 20, fontWeight: 'bold', color: '#20344B' }}&gt;四组材料&lt;/Text&gt;&#10;                    &lt;Text style={{ fontSize: 14, color: '#546779' }}&gt;可定位、可核对&lt;/Text&gt;&#10;                &lt;/Box&gt;&#10;                &lt;Box style={{ width: 44, height: 92, justifyContent: 'center', alignItems: 'center' }}&gt;&#10;                    &lt;Text style={{ fontSize: 26, color: '#CB6B28' }}&gt;›&lt;/Text&gt;&#10;                &lt;/Box&gt;&#10;                &lt;Box style={{ width: 168, height: 92, background: '#FFF4E6', borderRadius: 10, flexDirection: 'column', gap: 4, justifyContent: 'center', alignItems: 'center' }}&gt;&#10;                    &lt;Text style={{ fontSize: 20, fontWeight: 'bold', color: '#CB6B28' }}&gt;接收者&lt;/Text&gt;&#10;                    &lt;Text style={{ fontSize: 14, color: '#546779' }}&gt;独立判断&lt;/Text&gt;&#10;                &lt;/Box&gt;&#10;            &lt;/Box&gt;&#10;&#10;            &lt;Box style={{ width: 600, height: 36, justifyContent: 'center', alignItems: 'center' }}&gt;&#10;                &lt;Text style={{ fontSize: 20, color: '#546779' }}&gt;↓&lt;/Text&gt;&#10;            &lt;/Box&gt;&#10;&#10;            &lt;Box style={{ width: 600, flexDirection: 'row', gap: 20 }}&gt;&#10;                &lt;Box style={{ width: 290, height: 112, background: '#ECF7F2', borderRadius: 10, padding: '16px 20px', flexDirection: 'column', gap: 6, justifyContent: 'center' }}&gt;&#10;                    &lt;Text style={{ fontSize: 19, fontWeight: 'bold', color: '#26816B' }}&gt;交付物与证据&lt;/Text&gt;&#10;                    &lt;Text style={{ fontSize: 15, color: '#546779', lineHeight: 1.5 }}&gt;是什么、在哪里、{'\n'}哪些已经验证&lt;/Text&gt;&#10;                &lt;/Box&gt;&#10;                &lt;Box style={{ width: 290, height: 112, background: '#F4F7FA', borderRadius: 10, padding: '16px 20px', flexDirection: 'column', gap: 6, justifyContent: 'center' }}&gt;&#10;                    &lt;Text style={{ fontSize: 19, fontWeight: 'bold', color: '#276FBF' }}&gt;缺口与下一步&lt;/Text&gt;&#10;                    &lt;Text style={{ fontSize: 15, color: '#546779', lineHeight: 1.5 }}&gt;哪里还没做、{'\n'}接下来怎样继续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01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71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综合实战与交付　·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章末综合项目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71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一次有接收者的交付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4953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让另一位操作者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真正接手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37909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3962400"/>
            <a:ext cx="4953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读完全书之后，最有价值的练习是完成一次有明确接收者的交付。它检验的不是功能多少，而是前五章的知识有没有连成一体。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480060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0858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设计交付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2247900" y="480060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7241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运行交付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3886200" y="480060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219575" y="49149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独立环境接收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5867400" y="2571750"/>
            <a:ext cx="16002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477000" y="28003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作者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334125" y="30670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准备与记录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639050" y="28575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7886700" y="2571750"/>
            <a:ext cx="16002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305800" y="28003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四组材料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220075" y="306705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可定位、可核对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9658350" y="28575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9906000" y="2571750"/>
            <a:ext cx="16002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0420350" y="2800350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接收者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0439400" y="30670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独立判断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677275" y="35052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546779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5867400" y="3790950"/>
            <a:ext cx="2762250" cy="1066800"/>
          </a:xfrm>
          <a:prstGeom prst="roundRect">
            <a:avLst>
              <a:gd name="adj" fmla="val 89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057900" y="3933825"/>
            <a:ext cx="2381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交付物与证据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057900" y="4210050"/>
            <a:ext cx="23812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是什么、在哪里、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哪些已经验证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8820150" y="3790950"/>
            <a:ext cx="2762250" cy="1066800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9010650" y="3933825"/>
            <a:ext cx="2381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缺口与下一步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9010650" y="4210050"/>
            <a:ext cx="23812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哪里还没做、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接下来怎样继续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01 / 31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04" name="" descr="&lt;Slide notes={`最后一个练习要带走七件事，它们不是七份清单，而是同一条交付链路。&#10;&#10;先选定交付范围：只交可审阅的设计，还是连真实运行与接收记录一起交，这两种范围要求的材料完全不同。接着按四组材料逐组交：问题与材料、行为与对照、运行或计划、接收反馈。&#10;&#10;然后是一份教学量表，五个维度加起来一百分，用来复核而不是奖励成功。最后留一个方向问题：将来想改策略、改输入或者加系统机制，先判断这件事改变了哪一层。&#10;&#10;我特别想强调第五件。接收是整条链路的关口，它检验的不是文件好不好看，而是另一个人能不能独立找到范围、来源、原始文件和已知限制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0　本节地图&lt;/Text&gt;&#10;            &lt;Text style={{ fontSize: 34, fontWeight: 'bold', color: '#20344B' }}&gt;本节要看清的七件事&lt;/Text&gt;&#10;        &lt;/Box&gt;&#10;    &lt;/Box&gt;&#10;&#10;    &lt;Box style={{ height: 540, flexDirection: 'row', alignItems: 'center', gap: 32 }}&gt;&#10;&#10;        &lt;Box style={{ width: 360, flexDirection: 'column', justifyContent: 'center', gap: 16 }}&gt;&#10;            &lt;Text style={{ fontSize: 16, color: '#546779', lineHeight: 1.75 }}&gt;十节正文到这里收束。最后的练习是把材料交给别人，所以七个知识块围绕同一件事：怎样让接收者独立判断。&lt;/Text&gt;&#10;            &lt;Box style={{ width: 360, height: 52, background: '#F4F7FA', borderRadius: 8, justifyContent: 'center', alignItems: 'center' }}&gt;&#10;                &lt;Text style={{ fontSize: 17, color: '#20344B' }}&gt;四组材料&lt;/Text&gt;&#10;            &lt;/Box&gt;&#10;            &lt;Box style={{ width: 360, height: 32, justifyContent: 'center', alignItems: 'center' }}&gt;&#10;                &lt;Text style={{ fontSize: 20, color: '#276FBF' }}&gt;↓&lt;/Text&gt;&#10;            &lt;/Box&gt;&#10;            &lt;Box style={{ width: 360, height: 52, background: '#EDF4FC', borderRadius: 8, justifyContent: 'center', alignItems: 'center' }}&gt;&#10;                &lt;Text style={{ fontSize: 17, color: '#276FBF' }}&gt;一份教学量表&lt;/Text&gt;&#10;            &lt;/Box&gt;&#10;            &lt;Box style={{ width: 360, height: 32, justifyContent: 'center', alignItems: 'center' }}&gt;&#10;                &lt;Text style={{ fontSize: 20, color: '#26816B' }}&gt;↓&lt;/Text&gt;&#10;            &lt;/Box&gt;&#10;            &lt;Box style={{ width: 360, height: 52, background: '#ECF7F2', borderRadius: 8, justifyContent: 'center', alignItems: 'center' }}&gt;&#10;                &lt;Text style={{ fontSize: 17, color: '#26816B' }}&gt;一位能独立判断的接收者&lt;/Text&gt;&#10;            &lt;/Box&gt;&#10;        &lt;/Box&gt;&#10;&#10;        &lt;Box style={{ width: 760, flexDirection: 'column', justifyContent: 'center', gap: 10 }}&gt;&#10;&#10;            &lt;Box style={{ width: 760, height: 64, background: '#F4F7FA', borderRadius: 10, padding: '0 18px', flexDirection: 'row', alignItems: 'center', gap: 16 }}&gt;&#10;                &lt;Box style={{ width: 44, height: 44, borderRadius: 8, background: '#276FBF', justifyContent: 'center', alignItems: 'center' }}&gt;&#10;                    &lt;Text style={{ fontSize: 20, fontWeight: 'bold', color: '#FFFFFF' }}&gt;①&lt;/Text&gt;&#10;                &lt;/Box&gt;&#10;                &lt;Box style={{ width: 648, flexDirection: 'column', gap: 2 }}&gt;&#10;                    &lt;Text style={{ fontSize: 19, fontWeight: 'bold', color: '#20344B' }}&gt;先选择要交付的范围&lt;/Text&gt;&#10;                    &lt;Text style={{ fontSize: 14, color: '#546779' }}&gt;设计、运行、独立环境接收，三种范围的证据逐级增加&lt;/Text&gt;&#10;                &lt;/Box&gt;&#10;            &lt;/Box&gt;&#10;&#10;            &lt;Box style={{ width: 760, height: 64, background: '#F4F7FA', borderRadius: 10, padding: '0 18px', flexDirection: 'row', alignItems: 'center', gap: 16 }}&gt;&#10;                &lt;Box style={{ width: 44, height: 44, borderRadius: 8, background: '#276FBF', justifyContent: 'center', alignItems: 'center' }}&gt;&#10;                    &lt;Text style={{ fontSize: 20, fontWeight: 'bold', color: '#FFFFFF' }}&gt;②&lt;/Text&gt;&#10;                &lt;/Box&gt;&#10;                &lt;Box style={{ width: 648, flexDirection: 'column', gap: 2 }}&gt;&#10;                    &lt;Text style={{ fontSize: 19, fontWeight: 'bold', color: '#20344B' }}&gt;第一份交付：问题和材料&lt;/Text&gt;&#10;                    &lt;Text style={{ fontSize: 14, color: '#546779' }}&gt;委托改写、来源登记、假设的失败条件与三类对象的准备&lt;/Text&gt;&#10;                &lt;/Box&gt;&#10;            &lt;/Box&gt;&#10;&#10;            &lt;Box style={{ width: 760, height: 64, background: '#F4F7FA', borderRadius: 10, padding: '0 18px', flexDirection: 'row', alignItems: 'center', gap: 16 }}&gt;&#10;                &lt;Box style={{ width: 44, height: 44, borderRadius: 8, background: '#276FBF', justifyContent: 'center', alignItems: 'center' }}&gt;&#10;                    &lt;Text style={{ fontSize: 20, fontWeight: 'bold', color: '#FFFFFF' }}&gt;③&lt;/Text&gt;&#10;                &lt;/Box&gt;&#10;                &lt;Box style={{ width: 648, flexDirection: 'column', gap: 2 }}&gt;&#10;                    &lt;Text style={{ fontSize: 19, fontWeight: 'bold', color: '#20344B' }}&gt;第二份交付：行为与对照&lt;/Text&gt;&#10;                    &lt;Text style={{ fontSize: 14, color: '#546779' }}&gt;精确决策文本、依赖清单、反例审读与包内差异核对&lt;/Text&gt;&#10;                &lt;/Box&gt;&#10;            &lt;/Box&gt;&#10;&#10;            &lt;Box style={{ width: 760, height: 64, background: '#F4F7FA', borderRadius: 10, padding: '0 18px', flexDirection: 'row', alignItems: 'center', gap: 16 }}&gt;&#10;                &lt;Box style={{ width: 44, height: 44, borderRadius: 8, background: '#276FBF', justifyContent: 'center', alignItems: 'center' }}&gt;&#10;                    &lt;Text style={{ fontSize: 20, fontWeight: 'bold', color: '#FFFFFF' }}&gt;④&lt;/Text&gt;&#10;                &lt;/Box&gt;&#10;                &lt;Box style={{ width: 648, flexDirection: 'column', gap: 2 }}&gt;&#10;                    &lt;Text style={{ fontSize: 19, fontWeight: 'bold', color: '#20344B' }}&gt;第三份交付：运行和结果&lt;/Text&gt;&#10;                    &lt;Text style={{ fontSize: 14, color: '#546779' }}&gt;运行索引、五环判分表与报告的六个要素&lt;/Text&gt;&#10;                &lt;/Box&gt;&#10;            &lt;/Box&gt;&#10;&#10;            &lt;Box style={{ width: 760, height: 64, background: '#ECF7F2', borderRadius: 10, padding: '0 18px', flexDirection: 'row', alignItems: 'center', gap: 16 }}&gt;&#10;                &lt;Box style={{ width: 44, height: 44, borderRadius: 8, background: '#26816B', justifyContent: 'center', alignItems: 'center' }}&gt;&#10;                    &lt;Text style={{ fontSize: 20, fontWeight: 'bold', color: '#FFFFFF' }}&gt;⑤&lt;/Text&gt;&#10;                &lt;/Box&gt;&#10;                &lt;Box style={{ width: 648, flexDirection: 'column', gap: 2 }}&gt;&#10;                    &lt;Text style={{ fontSize: 19, fontWeight: 'bold', color: '#20344B' }}&gt;第四份交付：接收与反馈处理&lt;/Text&gt;&#10;                    &lt;Text style={{ fontSize: 14, color: '#546779' }}&gt;只拿入口的独立检查、如实标注层次与变更影响&lt;/Text&gt;&#10;                &lt;/Box&gt;&#10;            &lt;/Box&gt;&#10;&#10;            &lt;Box style={{ width: 760, height: 64, background: '#F4F7FA', borderRadius: 10, padding: '0 18px', flexDirection: 'row', alignItems: 'center', gap: 16 }}&gt;&#10;                &lt;Box style={{ width: 44, height: 44, borderRadius: 8, background: '#276FBF', justifyContent: 'center', alignItems: 'center' }}&gt;&#10;                    &lt;Text style={{ fontSize: 20, fontWeight: 'bold', color: '#FFFFFF' }}&gt;⑥&lt;/Text&gt;&#10;                &lt;/Box&gt;&#10;                &lt;Box style={{ width: 648, flexDirection: 'column', gap: 2 }}&gt;&#10;                    &lt;Text style={{ fontSize: 19, fontWeight: 'bold', color: '#20344B' }}&gt;一份可以说明理由的量表&lt;/Text&gt;&#10;                    &lt;Text style={{ fontSize: 14, color: '#546779' }}&gt;五个维度合计一百分，设计与运行两种范围的依据不同&lt;/Text&gt;&#10;                &lt;/Box&gt;&#10;            &lt;/Box&gt;&#10;&#10;            &lt;Box style={{ width: 760, height: 64, background: '#F4F7FA', borderRadius: 10, padding: '0 18px', flexDirection: 'row', alignItems: 'center', gap: 16 }}&gt;&#10;                &lt;Box style={{ width: 44, height: 44, borderRadius: 8, background: '#276FBF', justifyContent: 'center', alignItems: 'center' }}&gt;&#10;                    &lt;Text style={{ fontSize: 20, fontWeight: 'bold', color: '#FFFFFF' }}&gt;⑦&lt;/Text&gt;&#10;                &lt;/Box&gt;&#10;                &lt;Box style={{ width: 648, flexDirection: 'column', gap: 2 }}&gt;&#10;                    &lt;Text style={{ fontSize: 19, fontWeight: 'bold', color: '#20344B' }}&gt;扩展之前，先识别改了哪一层&lt;/Text&gt;&#10;                    &lt;Text style={{ fontSize: 14, color: '#546779' }}&gt;改策略、改输入、加系统机制，以及将来更换模型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02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本节地图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本节要看清的七件事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09600" y="1809750"/>
            <a:ext cx="34290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十节正文到这里收束。最后的练习是把材料交给别人，所以七个知识块围绕同一件事：怎样让接收者独立判断。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609600" y="2924175"/>
            <a:ext cx="3429000" cy="495300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2000250" y="30765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四组材料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2276475" y="360997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609600" y="4029075"/>
            <a:ext cx="342900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838325" y="418147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一份教学量表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2276475" y="471487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609600" y="5133975"/>
            <a:ext cx="3429000" cy="495300"/>
          </a:xfrm>
          <a:prstGeom prst="roundRect">
            <a:avLst>
              <a:gd name="adj" fmla="val 1538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438275" y="5286375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一位能独立判断的接收者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4343400" y="1295400"/>
            <a:ext cx="7239000" cy="609600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4514850" y="13906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4629150" y="14859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5086350" y="1400175"/>
            <a:ext cx="6172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先选择要交付的范围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5086350" y="1638300"/>
            <a:ext cx="617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设计、运行、独立环境接收，三种范围的证据逐级增加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4343400" y="2000250"/>
            <a:ext cx="7239000" cy="609600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4514850" y="20955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629150" y="21907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5086350" y="2105025"/>
            <a:ext cx="6172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第一份交付：问题和材料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5086350" y="2343150"/>
            <a:ext cx="617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委托改写、来源登记、假设的失败条件与三类对象的准备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4343400" y="2705100"/>
            <a:ext cx="7239000" cy="609600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4514850" y="28003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629150" y="28956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5086350" y="2809875"/>
            <a:ext cx="6172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第二份交付：行为与对照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5086350" y="3048000"/>
            <a:ext cx="617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精确决策文本、依赖清单、反例审读与包内差异核对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4343400" y="3409950"/>
            <a:ext cx="7239000" cy="609600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4" name=""/>
          <p:cNvSpPr/>
          <p:nvPr/>
        </p:nvSpPr>
        <p:spPr>
          <a:xfrm rot="0" flipH="0" flipV="0">
            <a:off x="4514850" y="35052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629150" y="36004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5086350" y="3514725"/>
            <a:ext cx="6172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第三份交付：运行和结果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5086350" y="3752850"/>
            <a:ext cx="617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运行索引、五环判分表与报告的六个要素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4343400" y="4114800"/>
            <a:ext cx="7239000" cy="609600"/>
          </a:xfrm>
          <a:prstGeom prst="roundRect">
            <a:avLst>
              <a:gd name="adj" fmla="val 1562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4514850" y="42100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629150" y="43053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5086350" y="4219575"/>
            <a:ext cx="6172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第四份交付：接收与反馈处理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5086350" y="4457700"/>
            <a:ext cx="617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只拿入口的独立检查、如实标注层次与变更影响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4343400" y="4819650"/>
            <a:ext cx="7239000" cy="609600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4" name=""/>
          <p:cNvSpPr/>
          <p:nvPr/>
        </p:nvSpPr>
        <p:spPr>
          <a:xfrm rot="0" flipH="0" flipV="0">
            <a:off x="4514850" y="49149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4629150" y="50101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⑥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5086350" y="4924425"/>
            <a:ext cx="6172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一份可以说明理由的量表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5086350" y="5162550"/>
            <a:ext cx="617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五个维度合计一百分，设计与运行两种范围的依据不同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4343400" y="5524500"/>
            <a:ext cx="7239000" cy="609600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9" name=""/>
          <p:cNvSpPr/>
          <p:nvPr/>
        </p:nvSpPr>
        <p:spPr>
          <a:xfrm rot="0" flipH="0" flipV="0">
            <a:off x="4514850" y="56197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4629150" y="57150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⑦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5086350" y="5629275"/>
            <a:ext cx="6172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扩展之前，先识别改了哪一层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5086350" y="5867400"/>
            <a:ext cx="617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改策略、改输入、加系统机制，以及将来更换模型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31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632" name="" descr="&lt;Slide notes={`先解决最根本的一步：这次究竟交到哪一层。&#10;&#10;三种作业范围是递进的。基础的设计作业适合还没有拿到模型服务、也没有运行预算的读者，交的是一份完整设计，包括来源与假设、角色信息表、精确的依赖清单和运行判分计划，最后由另一个人完成纸面接收。如果只有你一个人，可以隔日自查，但要明确标成非独立接收。&#10;&#10;实践作业在基础之上增加真实运行，保存全部纳入项目的记录，再做一份可追溯报告和接收检查。重复次数和预算必须在开始前定好，不能看到结果再补。&#10;&#10;扩展作业要求换一台机器，由接收者检查实际包、配置本机凭据，按已经核验的产品入口完成约定操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10　章末综合项目&lt;/Text&gt;&#10;            &lt;Text style={{ fontSize: 34, fontWeight: 'bold', color: '#20344B' }}&gt;知识块 ①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①&lt;/Text&gt;&#10;&#10;        &lt;Text style={{ fontSize: 56, fontWeight: 'bold', color: '#20344B', lineHeight: 1.15 }}&gt;先选择要交付的范围&lt;/Text&gt;&#10;&#10;        &lt;Box style={{ width: 72, height: 4, background: '#276FBF' }} /&gt;&#10;&#10;        &lt;Text style={{ fontSize: 18, color: '#546779', lineHeight: 1.7, width: 900 }}&gt;作业不要求用最大的模型、最多的角色或最长的时间，也不要求得到某个预期方向的结果。先选范围，再谈完成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设计交付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运行交付&lt;/Text&gt;&#10;            &lt;/Box&gt;&#10;            &lt;Box style={{ width: 44, height: 64, justifyContent: 'center', alignItems: 'center' }}&gt;&#10;                &lt;Text style={{ fontSize: 26, color: '#CB6B28' }}&gt;›&lt;/Text&gt;&#10;            &lt;/Box&gt;&#10;            &lt;Box style={{ width: 300, height: 64, background: '#FFF4E6', borderRadius: 8, justifyContent: 'center', alignItems: 'center' }}&gt;&#10;                &lt;Text style={{ fontSize: 18, color: '#CB6B28' }}&gt;独立环境接收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03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章末综合项目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733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①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609600" y="190500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先选择要交付的范围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609600" y="40957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609600" y="430530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作业不要求用最大的模型、最多的角色或最长的时间，也不要求得到某个预期方向的结果。先选范围，再谈完成。</a:t>
            </a:r>
            <a:endParaRPr/>
          </a:p>
        </p:txBody>
      </p:sp>
      <p:sp>
        <p:nvSpPr>
          <p:cNvPr id="641" name=""/>
          <p:cNvSpPr/>
          <p:nvPr/>
        </p:nvSpPr>
        <p:spPr>
          <a:xfrm rot="0" flipH="0" flipV="0">
            <a:off x="6096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1695450" y="51244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设计交付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363855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38862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4972050" y="51244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运行交付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691515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71628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8077200" y="51244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独立环境接收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31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727" name="" descr="&lt;Slide notes={`三种作业范围的差别，说到底就是证据增加到哪一层。&#10;&#10;基础的设计作业，交的是一份完整设计：需求与范围、来源与假设、角色信息表、精确的 Skill 与依赖清单、运行及判分计划。它不需要编造运行结果，最后优先由另一位读者完成纸面接收。一个人学习时可以隔日自查，但要写明这是非独立接收。&#10;&#10;实践作业在基础之上增加真实运行，通过界面完成资源、实验和运行，保存所有纳入项目的记录，再做可追溯报告，最后完成双方约定的接收检查。重复次数和预算要在开始前确定；如果只跑得动很少几次，就如实说明它属于小型探索。&#10;&#10;扩展作业再往上加一层，由另一台机器上的接收者按已核验入口完成操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0.1　先选择要交付的范围&lt;/Text&gt;&#10;            &lt;Text style={{ fontSize: 34, fontWeight: 'bold', color: '#20344B' }}&gt;三种作业范围，证据逐级增加&lt;/Text&gt;&#10;        &lt;/Box&gt;&#10;    &lt;/Box&gt;&#10;&#10;    &lt;Box style={{ height: 540, flexDirection: 'column', justifyContent: 'center', gap: 20 }}&gt;&#10;&#10;        &lt;Box style={{ width: 1152, flexDirection: 'row', alignItems: 'flex-end', gap: 30 }}&gt;&#10;&#10;            &lt;Box style={{ width: 364, height: 292, background: '#EDF4FC', borderRadius: 10, padding: '18px 20px', flexDirection: 'column', gap: 10 }}&gt;&#10;                &lt;Text style={{ fontSize: 21, fontWeight: 'bold', color: '#276FBF' }}&gt;基础作业：设计交付&lt;/Text&gt;&#10;                &lt;Text style={{ fontSize: 14, color: '#546779', lineHeight: 1.45 }}&gt;适合尚未获得模型服务、没有运行预算，或正在学习系统的读者&lt;/Text&gt;&#10;                &lt;Text style={{ fontSize: 15, color: '#20344B', lineHeight: 1.7 }}&gt;· 完整项目设计与来源假设{'\n'}· 角色信息表与依赖清单{'\n'}· 运行及判分计划{'\n'}· 优先由另一人做纸面接收&lt;/Text&gt;&#10;            &lt;/Box&gt;&#10;&#10;            &lt;Box style={{ width: 364, height: 352, background: '#ECF7F2', borderRadius: 10, padding: '18px 20px', flexDirection: 'column', gap: 10 }}&gt;&#10;                &lt;Text style={{ fontSize: 21, fontWeight: 'bold', color: '#26816B' }}&gt;实践作业：运行交付&lt;/Text&gt;&#10;                &lt;Text style={{ fontSize: 14, color: '#546779', lineHeight: 1.45 }}&gt;在基础作业之上，要求真实配置、真实运行与真实记录&lt;/Text&gt;&#10;                &lt;Text style={{ fontSize: 15, color: '#20344B', lineHeight: 1.7 }}&gt;· 通过系统界面完成独立资源、{'\n'}　实验与运行{'\n'}· 保存所有纳入项目的记录{'\n'}· 制作可追溯报告{'\n'}· 完成双方约定的接收检查&lt;/Text&gt;&#10;            &lt;/Box&gt;&#10;&#10;            &lt;Box style={{ width: 364, height: 412, background: '#FFF4E6', borderRadius: 10, padding: '18px 20px', flexDirection: 'column', gap: 10 }}&gt;&#10;                &lt;Text style={{ fontSize: 21, fontWeight: 'bold', color: '#CB6B28' }}&gt;扩展作业：独立环境接收&lt;/Text&gt;&#10;                &lt;Text style={{ fontSize: 14, color: '#546779', lineHeight: 1.45 }}&gt;由另一台机器上的接收者检查实际包并完成约定操作&lt;/Text&gt;&#10;                &lt;Text style={{ fontSize: 15, color: '#20344B', lineHeight: 1.7 }}&gt;· 检查实际包、配置本机凭据{'\n'}· 按可用且已核验的产品入口完成约定操作{'\n'}· 发送成功、压缩包可解开、同机回放通过，都不能替代这一层{'\n'}· 入口未核验就登记限制，不绕过界面伪造验收&lt;/Text&gt;&#10;            &lt;/Box&gt;&#10;&#10;        &lt;/Box&gt;&#10;&#10;        &lt;Box style={{ width: 1152, height: 88, background: '#F4F7FA', borderRadius: 10, padding: '0 24px', flexDirection: 'column', gap: 4, justifyContent: 'center' }}&gt;&#10;            &lt;Text style={{ fontSize: 17, fontWeight: 'bold', color: '#20344B' }}&gt;做得完整的设计作业，不会因为没有运行就被迫填上虚构的 Run&lt;/Text&gt;&#10;            &lt;Text style={{ fontSize: 15, color: '#546779' }}&gt;实践作业遇到失败，只要记录完整、判断准确，同样体现对系统和方法的掌握&lt;/Text&gt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04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2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先选择要交付的范围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三种作业范围，证据逐级增加</a:t>
            </a:r>
            <a:endParaRPr/>
          </a:p>
        </p:txBody>
      </p:sp>
      <p:sp>
        <p:nvSpPr>
          <p:cNvPr id="732" name=""/>
          <p:cNvSpPr/>
          <p:nvPr/>
        </p:nvSpPr>
        <p:spPr>
          <a:xfrm rot="0" flipH="0" flipV="0">
            <a:off x="609600" y="2381250"/>
            <a:ext cx="3467100" cy="2781300"/>
          </a:xfrm>
          <a:prstGeom prst="roundRect">
            <a:avLst>
              <a:gd name="adj" fmla="val 342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800100" y="2552700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76FBF"/>
                </a:solidFill>
                <a:latin typeface="Microsoft YaHei"/>
                <a:ea typeface="Microsoft YaHei"/>
              </a:rPr>
              <a:t>基础作业：设计交付</a:t>
            </a:r>
            <a:endParaRPr/>
          </a:p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800100" y="2895600"/>
            <a:ext cx="30861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适合尚未获得模型服务、没有运行预算，或正在学习系统的读者</a:t>
            </a:r>
            <a:endParaRPr/>
          </a:p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800100" y="3457575"/>
            <a:ext cx="3086100" cy="11715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完整项目设计与来源假设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角色信息表与依赖清单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运行及判分计划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优先由另一人做纸面接收</a:t>
            </a:r>
            <a:endParaRPr/>
          </a:p>
        </p:txBody>
      </p:sp>
      <p:sp>
        <p:nvSpPr>
          <p:cNvPr id="736" name=""/>
          <p:cNvSpPr/>
          <p:nvPr/>
        </p:nvSpPr>
        <p:spPr>
          <a:xfrm rot="0" flipH="0" flipV="0">
            <a:off x="4362450" y="1809750"/>
            <a:ext cx="3467100" cy="3352800"/>
          </a:xfrm>
          <a:prstGeom prst="roundRect">
            <a:avLst>
              <a:gd name="adj" fmla="val 284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4552950" y="1981200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6816B"/>
                </a:solidFill>
                <a:latin typeface="Microsoft YaHei"/>
                <a:ea typeface="Microsoft YaHei"/>
              </a:rPr>
              <a:t>实践作业：运行交付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4552950" y="2324100"/>
            <a:ext cx="30861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在基础作业之上，要求真实配置、真实运行与真实记录</a:t>
            </a:r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4552950" y="2886075"/>
            <a:ext cx="3086100" cy="1457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通过系统界面完成独立资源、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　实验与运行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保存所有纳入项目的记录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制作可追溯报告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完成双方约定的接收检查</a:t>
            </a:r>
            <a:endParaRPr/>
          </a:p>
        </p:txBody>
      </p:sp>
      <p:sp>
        <p:nvSpPr>
          <p:cNvPr id="740" name=""/>
          <p:cNvSpPr/>
          <p:nvPr/>
        </p:nvSpPr>
        <p:spPr>
          <a:xfrm rot="0" flipH="0" flipV="0">
            <a:off x="8115300" y="1238250"/>
            <a:ext cx="3467100" cy="3924300"/>
          </a:xfrm>
          <a:prstGeom prst="roundRect">
            <a:avLst>
              <a:gd name="adj" fmla="val 274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8305800" y="1409700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CB6B28"/>
                </a:solidFill>
                <a:latin typeface="Microsoft YaHei"/>
                <a:ea typeface="Microsoft YaHei"/>
              </a:rPr>
              <a:t>扩展作业：独立环境接收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8305800" y="1752600"/>
            <a:ext cx="30861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由另一台机器上的接收者检查实际包并完成约定操作</a:t>
            </a:r>
            <a:endParaRPr/>
          </a:p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8305800" y="2085975"/>
            <a:ext cx="3086100" cy="1457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检查实际包、配置本机凭据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按可用且已核验的产品入口完成约定操作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发送成功、压缩包可解开、同机回放通过，都不能替代这一层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入口未核验就登记限制，不绕过界面伪造验收</a:t>
            </a:r>
            <a:endParaRPr/>
          </a:p>
        </p:txBody>
      </p:sp>
      <p:sp>
        <p:nvSpPr>
          <p:cNvPr id="744" name=""/>
          <p:cNvSpPr/>
          <p:nvPr/>
        </p:nvSpPr>
        <p:spPr>
          <a:xfrm rot="0" flipH="0" flipV="0">
            <a:off x="609600" y="535305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838200" y="5572125"/>
            <a:ext cx="1051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做得完整的设计作业，不会因为没有运行就被迫填上虚构的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838200" y="5810250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实践作业遇到失败，只要记录完整、判断准确，同样体现对系统和方法的掌握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31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749" name="" descr="&lt;Slide notes={`综合作业要交出四组材料，它们是一条链上的四段。&#10;&#10;第一组是问题和材料，包含委托、来源登记与各项假设。第二组是行为与对照，交出两组咨询台的完整文本和它们之间唯一的差异。第三组是运行或计划，运行作业在这里交实际证据，设计作业交待采集的表。第四组是接收反馈，记录另一个人实际检查了什么、作者怎样处理。&#10;&#10;第三组是唯一分岔的地方，也是容易出问题的地方。设计作业交的是采集计划，加上一段明确标注的人工判分练习，用来证明你知道怎样判；运行作业交的是真实记录。两者不能互相冒充，把计划写成结果，或者拿一段演示冒充实验，都会让整份交付失去可核对性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0.1　先选择要交付的范围&lt;/Text&gt;&#10;            &lt;Text style={{ fontSize: 34, fontWeight: 'bold', color: '#20344B' }}&gt;四组材料，不能互相冒充&lt;/Text&gt;&#10;        &lt;/Box&gt;&#10;    &lt;/Box&gt;&#10;&#10;    &lt;Box style={{ height: 540, flexDirection: 'column', justifyContent: 'center', gap: 18 }}&gt;&#10;&#10;        &lt;Box style={{ width: 1152, flexDirection: 'row', alignItems: 'center' }}&gt;&#10;            &lt;Box style={{ width: 255, height: 128, background: '#EDF4FC', borderRadius: 10, flexDirection: 'column', gap: 6, justifyContent: 'center', alignItems: 'center' }}&gt;&#10;                &lt;Text style={{ fontSize: 19, fontWeight: 'bold', color: '#276FBF' }}&gt;问题与材料&lt;/Text&gt;&#10;                &lt;Text style={{ fontSize: 14, color: '#546779' }}&gt;委托 · 来源 · 假设&lt;/Text&gt;&#10;            &lt;/Box&gt;&#10;            &lt;Box style={{ width: 44, height: 128, justifyContent: 'center', alignItems: 'center' }}&gt;&#10;                &lt;Text style={{ fontSize: 26, color: '#276FBF' }}&gt;›&lt;/Text&gt;&#10;            &lt;/Box&gt;&#10;            &lt;Box style={{ width: 255, height: 128, background: '#EDF4FC', borderRadius: 10, flexDirection: 'column', gap: 6, justifyContent: 'center', alignItems: 'center' }}&gt;&#10;                &lt;Text style={{ fontSize: 19, fontWeight: 'bold', color: '#276FBF' }}&gt;行为与对照&lt;/Text&gt;&#10;                &lt;Text style={{ fontSize: 14, color: '#546779' }}&gt;完整文本 · 唯一差异&lt;/Text&gt;&#10;            &lt;/Box&gt;&#10;            &lt;Box style={{ width: 44, height: 128, justifyContent: 'center', alignItems: 'center' }}&gt;&#10;                &lt;Text style={{ fontSize: 26, color: '#276FBF' }}&gt;›&lt;/Text&gt;&#10;            &lt;/Box&gt;&#10;            &lt;Box style={{ width: 255, height: 128, background: '#FFF4E6', borderRadius: 10, flexDirection: 'column', gap: 6, justifyContent: 'center', alignItems: 'center' }}&gt;&#10;                &lt;Text style={{ fontSize: 19, fontWeight: 'bold', color: '#CB6B28' }}&gt;运行或计划&lt;/Text&gt;&#10;                &lt;Text style={{ fontSize: 14, color: '#546779' }}&gt;真实证据 / 待采集表&lt;/Text&gt;&#10;            &lt;/Box&gt;&#10;            &lt;Box style={{ width: 44, height: 128, justifyContent: 'center', alignItems: 'center' }}&gt;&#10;                &lt;Text style={{ fontSize: 26, color: '#276FBF' }}&gt;›&lt;/Text&gt;&#10;            &lt;/Box&gt;&#10;            &lt;Box style={{ width: 255, height: 128, background: '#ECF7F2', borderRadius: 10, flexDirection: 'column', gap: 6, justifyContent: 'center', alignItems: 'center' }}&gt;&#10;                &lt;Text style={{ fontSize: 19, fontWeight: 'bold', color: '#26816B' }}&gt;接收反馈&lt;/Text&gt;&#10;                &lt;Text style={{ fontSize: 14, color: '#546779' }}&gt;实际检查与处理&lt;/Text&gt;&#10;            &lt;/Box&gt;&#10;        &lt;/Box&gt;&#10;&#10;        &lt;Box style={{ width: 1152, height: 30, justifyContent: 'center', alignItems: 'center' }}&gt;&#10;            &lt;Text style={{ fontSize: 20, color: '#CB6B28' }}&gt;↓　第三组按所选范围分岔　↓&lt;/Text&gt;&#10;        &lt;/Box&gt;&#10;&#10;        &lt;Box style={{ width: 1152, flexDirection: 'row', gap: 20 }}&gt;&#10;            &lt;Box style={{ width: 566, height: 112, background: '#EDF4FC', borderRadius: 10, padding: '0 22px', flexDirection: 'column', gap: 6, justifyContent: 'center' }}&gt;&#10;                &lt;Text style={{ fontSize: 19, fontWeight: 'bold', color: '#276FBF' }}&gt;设计作业：交采集计划&lt;/Text&gt;&#10;                &lt;Text style={{ fontSize: 15, color: '#546779', lineHeight: 1.5 }}&gt;空白采集表，加上一段明确标注的人工判分练习——展示自己知道怎样判，而不是伪装成已取得数据&lt;/Text&gt;&#10;            &lt;/Box&gt;&#10;            &lt;Box style={{ width: 566, height: 112, background: '#ECF7F2', borderRadius: 10, padding: '0 22px', flexDirection: 'column', gap: 6, justifyContent: 'center' }}&gt;&#10;                &lt;Text style={{ fontSize: 19, fontWeight: 'bold', color: '#26816B' }}&gt;运行作业：交实际证据&lt;/Text&gt;&#10;                &lt;Text style={{ fontSize: 15, color: '#546779', lineHeight: 1.5 }}&gt;真实记录、全部样本与全部结果；即使所有任务都没有闭环，也要说明失败发生在哪里、证据是否足够&lt;/Text&gt;&#10;            &lt;/Box&gt;&#10;        &lt;/Box&gt;&#10;&#10;        &lt;Box style={{ width: 1152, height: 88, background: '#FFF4E6', borderRadius: 10, padding: '0 24px', flexDirection: 'column', gap: 4, justifyContent: 'center' }}&gt;&#10;            &lt;Text style={{ fontSize: 17, fontWeight: 'bold', color: '#CB6B28' }}&gt;计划与结果不能互相冒充&lt;/Text&gt;&#10;            &lt;Text style={{ fontSize: 15, color: '#546779' }}&gt;设计作业交待采集计划，运行作业交实际证据与全部结果，两者的证据等级不同&lt;/Text&gt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05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5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先选择要交付的范围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四组材料，不能互相冒充</a:t>
            </a:r>
            <a:endParaRPr/>
          </a:p>
        </p:txBody>
      </p:sp>
      <p:sp>
        <p:nvSpPr>
          <p:cNvPr id="754" name=""/>
          <p:cNvSpPr/>
          <p:nvPr/>
        </p:nvSpPr>
        <p:spPr>
          <a:xfrm rot="0" flipH="0" flipV="0">
            <a:off x="609600" y="1752600"/>
            <a:ext cx="2428875" cy="1219200"/>
          </a:xfrm>
          <a:prstGeom prst="roundRect">
            <a:avLst>
              <a:gd name="adj" fmla="val 781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1371600" y="214312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问题与材料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1314450" y="241935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委托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来源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假设</a:t>
            </a:r>
            <a:endParaRPr/>
          </a:p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3209925" y="22098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58" name=""/>
          <p:cNvSpPr/>
          <p:nvPr/>
        </p:nvSpPr>
        <p:spPr>
          <a:xfrm rot="0" flipH="0" flipV="0">
            <a:off x="3457575" y="1752600"/>
            <a:ext cx="2428875" cy="1219200"/>
          </a:xfrm>
          <a:prstGeom prst="roundRect">
            <a:avLst>
              <a:gd name="adj" fmla="val 781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4219575" y="214312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行为与对照</a:t>
            </a:r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4086225" y="241935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完整文本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唯一差异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6057900" y="22098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62" name=""/>
          <p:cNvSpPr/>
          <p:nvPr/>
        </p:nvSpPr>
        <p:spPr>
          <a:xfrm rot="0" flipH="0" flipV="0">
            <a:off x="6305550" y="1752600"/>
            <a:ext cx="2428875" cy="1219200"/>
          </a:xfrm>
          <a:prstGeom prst="roundRect">
            <a:avLst>
              <a:gd name="adj" fmla="val 781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7067550" y="214312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运行或计划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6915150" y="2419350"/>
            <a:ext cx="1209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真实证据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待采集表</a:t>
            </a:r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8905875" y="22098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66" name=""/>
          <p:cNvSpPr/>
          <p:nvPr/>
        </p:nvSpPr>
        <p:spPr>
          <a:xfrm rot="0" flipH="0" flipV="0">
            <a:off x="9153525" y="1752600"/>
            <a:ext cx="2428875" cy="1219200"/>
          </a:xfrm>
          <a:prstGeom prst="roundRect">
            <a:avLst>
              <a:gd name="adj" fmla="val 781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10010775" y="214312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接收反馈</a:t>
            </a:r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9906000" y="241935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实际检查与处理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4857750" y="3171825"/>
            <a:ext cx="247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CB6B28"/>
                </a:solidFill>
                <a:latin typeface="Microsoft YaHei"/>
                <a:ea typeface="Microsoft YaHei"/>
              </a:rPr>
              <a:t>↓　第三组按所选范围分岔　↓</a:t>
            </a:r>
            <a:endParaRPr/>
          </a:p>
        </p:txBody>
      </p:sp>
      <p:sp>
        <p:nvSpPr>
          <p:cNvPr id="770" name=""/>
          <p:cNvSpPr/>
          <p:nvPr/>
        </p:nvSpPr>
        <p:spPr>
          <a:xfrm rot="0" flipH="0" flipV="0">
            <a:off x="609600" y="3600450"/>
            <a:ext cx="5391150" cy="1066800"/>
          </a:xfrm>
          <a:prstGeom prst="roundRect">
            <a:avLst>
              <a:gd name="adj" fmla="val 89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819150" y="3743325"/>
            <a:ext cx="4972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设计作业：交采集计划</a:t>
            </a:r>
            <a:endParaRPr/>
          </a:p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819150" y="4019550"/>
            <a:ext cx="49720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空白采集表，加上一段明确标注的人工判分练习——展示自己知道怎样判，而不是伪装成已取得数据</a:t>
            </a:r>
            <a:endParaRPr/>
          </a:p>
        </p:txBody>
      </p:sp>
      <p:sp>
        <p:nvSpPr>
          <p:cNvPr id="773" name=""/>
          <p:cNvSpPr/>
          <p:nvPr/>
        </p:nvSpPr>
        <p:spPr>
          <a:xfrm rot="0" flipH="0" flipV="0">
            <a:off x="6191250" y="3600450"/>
            <a:ext cx="5391150" cy="1066800"/>
          </a:xfrm>
          <a:prstGeom prst="roundRect">
            <a:avLst>
              <a:gd name="adj" fmla="val 89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6400800" y="3743325"/>
            <a:ext cx="4972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运行作业：交实际证据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6400800" y="4019550"/>
            <a:ext cx="49720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真实记录、全部样本与全部结果；即使所有任务都没有闭环，也要说明失败发生在哪里、证据是否足够</a:t>
            </a:r>
            <a:endParaRPr/>
          </a:p>
        </p:txBody>
      </p:sp>
      <p:sp>
        <p:nvSpPr>
          <p:cNvPr id="776" name=""/>
          <p:cNvSpPr/>
          <p:nvPr/>
        </p:nvSpPr>
        <p:spPr>
          <a:xfrm rot="0" flipH="0" flipV="0">
            <a:off x="609600" y="483870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838200" y="5057775"/>
            <a:ext cx="1051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计划与结果不能互相冒充</a:t>
            </a:r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838200" y="5295900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设计作业交待采集计划，运行作业交实际证据与全部结果，两者的证据等级不同</a:t>
            </a:r>
            <a:endParaRPr/>
          </a:p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31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781" name="" descr="&lt;Slide notes={`第一份交付要回答一个问题：别人凭什么相信你研究的是一件可回答的事。&#10;&#10;起点是项目委托书。委托书写着比较直接建议与先澄清目的这两种入口咨询策略，成果用于教学中的方案探索。这个目标要改写成一句能依据事实回答的话，并且写明共同条件：四项咨询需求、服务分工与人物信息、观察窗口。&#10;&#10;改写的时候有三条边界不能松。第四章的四项咨询需求要保留，正确窗口映射不能动，评分答案不发给来访者。如果确实需要改任务，那就要当成一个新的设计，重新说明分母、共同条件和评价范围，不能默默改掉。&#10;&#10;写成这样一句话，项目才有判据，也才允许结果和预期不一样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10　章末综合项目&lt;/Text&gt;&#10;            &lt;Text style={{ fontSize: 34, fontWeight: 'bold', color: '#20344B' }}&gt;知识块 ②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②&lt;/Text&gt;&#10;&#10;        &lt;Text style={{ fontSize: 56, fontWeight: 'bold', color: '#20344B', lineHeight: 1.15 }}&gt;第一份交付：问题和材料&lt;/Text&gt;&#10;&#10;        &lt;Box style={{ width: 72, height: 4, background: '#276FBF' }} /&gt;&#10;&#10;        &lt;Text style={{ fontSize: 18, color: '#546779', lineHeight: 1.7, width: 900 }}&gt;从项目委托书开始，把委托目标改写成能够依据事实回答的问题，再登记每一份材料从哪里来。&lt;/Text&gt;&#10;&#10;        &lt;Box style={{ flexDirection: 'row', alignItems: 'center', marginTop: 10 }}&gt;&#10;            &lt;Box style={{ width: 300, height: 64, background: '#F4F7FA', borderRadius: 8, justifyContent: 'center', alignItems: 'center' }}&gt;&#10;                &lt;Text style={{ fontSize: 18, color: '#20344B' }}&gt;项目委托书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可回答的问题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来源登记表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06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章末综合项目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733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②</a:t>
            </a:r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609600" y="190500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第一份交付：问题和材料</a:t>
            </a:r>
            <a:endParaRPr/>
          </a:p>
        </p:txBody>
      </p:sp>
      <p:sp>
        <p:nvSpPr>
          <p:cNvPr id="788" name=""/>
          <p:cNvSpPr/>
          <p:nvPr/>
        </p:nvSpPr>
        <p:spPr>
          <a:xfrm rot="0" flipH="0" flipV="0">
            <a:off x="609600" y="40957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609600" y="430530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从项目委托书开始，把委托目标改写成能够依据事实回答的问题，再登记每一份材料从哪里来。</a:t>
            </a:r>
            <a:endParaRPr/>
          </a:p>
        </p:txBody>
      </p:sp>
      <p:sp>
        <p:nvSpPr>
          <p:cNvPr id="790" name=""/>
          <p:cNvSpPr/>
          <p:nvPr/>
        </p:nvSpPr>
        <p:spPr>
          <a:xfrm rot="0" flipH="0" flipV="0">
            <a:off x="6096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1609725" y="51244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项目委托书</a:t>
            </a:r>
            <a:endParaRPr/>
          </a:p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363855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93" name=""/>
          <p:cNvSpPr/>
          <p:nvPr/>
        </p:nvSpPr>
        <p:spPr>
          <a:xfrm rot="0" flipH="0" flipV="0">
            <a:off x="38862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4800600" y="51244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可回答的问题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691515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96" name=""/>
          <p:cNvSpPr/>
          <p:nvPr/>
        </p:nvSpPr>
        <p:spPr>
          <a:xfrm rot="0" flipH="0" flipV="0">
            <a:off x="71628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8162925" y="51244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来源登记表</a:t>
            </a:r>
            <a:endParaRPr/>
          </a:p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31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800" name="" descr="&lt;Slide notes={`把委托改写成一句能被回答的话，靠的不是措辞漂亮，而是把三样东西写清楚。&#10;&#10;共同条件要写全：四项咨询需求、服务分工与人物信息、观察窗口。唯一改变的地方要写准：只把入口咨询台的一次窗口建议，换成缺少关键目的时先澄清。结果的用途也要写明，用来讨论信息缺失与服务策略，不是评判工作人员的表现。&#10;&#10;还有一条边界要守住：不能拿这个教学实验推定现实大厅的业务处理效率。&#10;&#10;改写时有三条不能松。保留第四章的四项咨询需求，不改变其中的正确窗口映射，不把评分答案分发给来访者。如果确实需要改任务，那就要当作自己的新设计，重新说明分母、共同条件和评价范围。这样写，结果和预期不一样，也是一项发现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0.2　第一份交付：问题和材料&lt;/Text&gt;&#10;            &lt;Text style={{ fontSize: 34, fontWeight: 'bold', color: '#20344B' }}&gt;把委托改写成可回答的问题&lt;/Text&gt;&#10;        &lt;/Box&gt;&#10;    &lt;/Box&gt;&#10;&#10;    &lt;Box style={{ height: 540, flexDirection: 'row', alignItems: 'center', gap: 32 }}&gt;&#10;&#10;        &lt;Box style={{ width: 620, flexDirection: 'column', justifyContent: 'center', gap: 12 }}&gt;&#10;            &lt;Text style={{ fontSize: 14, color: '#546779' }}&gt;从委托目标到研究问题&lt;/Text&gt;&#10;&#10;            &lt;Box style={{ width: 620, height: 80, background: '#F4F7FA', borderRadius: 10, padding: '14px 22px', justifyContent: 'center' }}&gt;&#10;                &lt;Text style={{ fontSize: 15, color: '#546779', lineHeight: 1.5 }}&gt;为研讨准备一份可接手的仿真项目，比较直接建议与先澄清目的这两种入口咨询策略，成果用于教学中的方案探索。&lt;/Text&gt;&#10;            &lt;/Box&gt;&#10;&#10;            &lt;Box style={{ width: 620, height: 30, justifyContent: 'center', alignItems: 'center' }}&gt;&#10;                &lt;Text style={{ fontSize: 20, color: '#276FBF' }}&gt;↓&lt;/Text&gt;&#10;            &lt;/Box&gt;&#10;&#10;            &lt;Box style={{ width: 620, height: 150, background: '#EDF4FC', borderRadius: 10, padding: '18px 22px', justifyContent: 'center' }}&gt;&#10;                &lt;Text style={{ fontSize: 16, color: '#20344B', lineHeight: 1.75 }}&gt;在给定的四项咨询需求、服务分工、人物信息与观察窗口下，把入口咨询台的一次窗口建议替换为缺少关键目的时先澄清，咨询闭环、错误窗口请求与咨询负担会出现什么差异？&lt;/Text&gt;&#10;            &lt;/Box&gt;&#10;&#10;            &lt;Box style={{ width: 620, height: 30, justifyContent: 'center', alignItems: 'center' }}&gt;&#10;                &lt;Text style={{ fontSize: 20, color: '#26816B' }}&gt;↓&lt;/Text&gt;&#10;            &lt;/Box&gt;&#10;&#10;            &lt;Box style={{ width: 620, height: 56, background: '#ECF7F2', borderRadius: 8, padding: '0 20px', justifyContent: 'center' }}&gt;&#10;                &lt;Text style={{ fontSize: 15, color: '#20344B', lineHeight: 1.5 }}&gt;写成可回答的问题之后，项目才有判据，也才允许结果与预期不一样&lt;/Text&gt;&#10;            &lt;/Box&gt;&#10;        &lt;/Box&gt;&#10;&#10;        &lt;Box style={{ width: 500, flexDirection: 'column', justifyContent: 'center', gap: 12 }}&gt;&#10;            &lt;Text style={{ fontSize: 14, color: '#546779' }}&gt;改写时必须守住的三条边界&lt;/Text&gt;&#10;&#10;            &lt;Box style={{ width: 500, height: 96, background: '#EDF4FC', borderRadius: 10, padding: '16px 20px', flexDirection: 'column', gap: 6, justifyContent: 'center' }}&gt;&#10;                &lt;Text style={{ fontSize: 18, fontWeight: 'bold', color: '#276FBF' }}&gt;需求与映射不动&lt;/Text&gt;&#10;                &lt;Text style={{ fontSize: 15, color: '#546779', lineHeight: 1.45 }}&gt;保留第四章四项咨询需求，不改变其中的正确窗口映射&lt;/Text&gt;&#10;            &lt;/Box&gt;&#10;&#10;            &lt;Box style={{ width: 500, height: 96, background: '#FFF4E6', borderRadius: 10, padding: '16px 20px', flexDirection: 'column', gap: 6, justifyContent: 'center' }}&gt;&#10;                &lt;Text style={{ fontSize: 18, fontWeight: 'bold', color: '#CB6B28' }}&gt;评分答案不外发&lt;/Text&gt;&#10;                &lt;Text style={{ fontSize: 15, color: '#546779', lineHeight: 1.45 }}&gt;不把评分答案分发给来访者，角色只依据实际信息行动&lt;/Text&gt;&#10;            &lt;/Box&gt;&#10;&#10;            &lt;Box style={{ width: 500, height: 96, background: '#F4F7FA', borderRadius: 10, padding: '16px 20px', flexDirection: 'column', gap: 6, justifyContent: 'center' }}&gt;&#10;                &lt;Text style={{ fontSize: 18, fontWeight: 'bold', color: '#20344B' }}&gt;改任务等于新设计&lt;/Text&gt;&#10;                &lt;Text style={{ fontSize: 15, color: '#546779', lineHeight: 1.45 }}&gt;重新说明分母、共同条件与评价范围，不默默替换条件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07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第一份交付：问题和材料</a:t>
            </a:r>
            <a:endParaRPr/>
          </a:p>
        </p:txBody>
      </p:sp>
      <p:sp>
        <p:nvSpPr>
          <p:cNvPr id="80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把委托改写成可回答的问题</a:t>
            </a:r>
            <a:endParaRPr/>
          </a:p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609600" y="1704975"/>
            <a:ext cx="590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从委托目标到研究问题</a:t>
            </a:r>
            <a:endParaRPr/>
          </a:p>
        </p:txBody>
      </p:sp>
      <p:sp>
        <p:nvSpPr>
          <p:cNvPr id="806" name=""/>
          <p:cNvSpPr/>
          <p:nvPr/>
        </p:nvSpPr>
        <p:spPr>
          <a:xfrm rot="0" flipH="0" flipV="0">
            <a:off x="609600" y="1981200"/>
            <a:ext cx="59055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819150" y="2105025"/>
            <a:ext cx="5486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为研讨准备一份可接手的仿真项目，比较直接建议与先澄清目的这两种入口咨询策略，成果用于教学中的方案探索。</a:t>
            </a:r>
            <a:endParaRPr/>
          </a:p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3514725" y="288607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809" name=""/>
          <p:cNvSpPr/>
          <p:nvPr/>
        </p:nvSpPr>
        <p:spPr>
          <a:xfrm rot="0" flipH="0" flipV="0">
            <a:off x="609600" y="3257550"/>
            <a:ext cx="59055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819150" y="3495675"/>
            <a:ext cx="54864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在给定的四项咨询需求、服务分工、人物信息与观察窗口下，把入口咨询台的一次窗口建议替换为缺少关键目的时先澄清，咨询闭环、错误窗口请求与咨询负担会出现什么差异？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3514725" y="482917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812" name=""/>
          <p:cNvSpPr/>
          <p:nvPr/>
        </p:nvSpPr>
        <p:spPr>
          <a:xfrm rot="0" flipH="0" flipV="0">
            <a:off x="609600" y="5200650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800100" y="5343525"/>
            <a:ext cx="5524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写成可回答的问题之后，项目才有判据，也才允许结果与预期不一样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6819900" y="2095500"/>
            <a:ext cx="476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改写时必须守住的三条边界</a:t>
            </a:r>
            <a:endParaRPr/>
          </a:p>
        </p:txBody>
      </p:sp>
      <p:sp>
        <p:nvSpPr>
          <p:cNvPr id="815" name=""/>
          <p:cNvSpPr/>
          <p:nvPr/>
        </p:nvSpPr>
        <p:spPr>
          <a:xfrm rot="0" flipH="0" flipV="0">
            <a:off x="6819900" y="2371725"/>
            <a:ext cx="47625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7010400" y="2571750"/>
            <a:ext cx="4381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需求与映射不动</a:t>
            </a:r>
            <a:endParaRPr/>
          </a:p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7010400" y="2838450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保留第四章四项咨询需求，不改变其中的正确窗口映射</a:t>
            </a:r>
            <a:endParaRPr/>
          </a:p>
        </p:txBody>
      </p:sp>
      <p:sp>
        <p:nvSpPr>
          <p:cNvPr id="818" name=""/>
          <p:cNvSpPr/>
          <p:nvPr/>
        </p:nvSpPr>
        <p:spPr>
          <a:xfrm rot="0" flipH="0" flipV="0">
            <a:off x="6819900" y="3400425"/>
            <a:ext cx="47625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7010400" y="3600450"/>
            <a:ext cx="4381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评分答案不外发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7010400" y="3867150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不把评分答案分发给来访者，角色只依据实际信息行动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6819900" y="4429125"/>
            <a:ext cx="47625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7010400" y="4629150"/>
            <a:ext cx="4381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改任务等于新设计</a:t>
            </a:r>
            <a:endParaRPr/>
          </a:p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7010400" y="4895850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重新说明分母、共同条件与评价范围，不默默替换条件</a:t>
            </a:r>
            <a:endParaRPr/>
          </a:p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31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826" name="" descr="&lt;Slide notes={`登记来源的时候要把四类东西分开，不能混在一起。&#10;&#10;作者虚构的设定，是这个教学案例里的人物、地图与委托，它一旦被当成真实行政数据引用，结论就不成立。当前的产品事实，指系统界面、资源格式和入口的当前行为，产品更新以后原来的操作步骤就可能失效。实测材料是自己跑出来的记录、导出文件和判分结果，样本很少时只能算小型探索，不能推断普遍优越。外部的方法依据是别人的论文和行业做法，它在别的场景有效，不保证在本案例里同样成立。&#10;&#10;每一类都要写清楚它影响什么，然后补一句：什么情况会让它不成立。比如假定窗口能并行答复多项请求，就意味着这个题不描述现实窗口容量；假定来访者会如实说明目的，就意味着结果不能直接覆盖故意隐瞒的情境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0.2　第一份交付：问题和材料&lt;/Text&gt;&#10;            &lt;Text style={{ fontSize: 34, fontWeight: 'bold', color: '#20344B' }}&gt;四类来源，各写一个失败条件&lt;/Text&gt;&#10;        &lt;/Box&gt;&#10;    &lt;/Box&gt;&#10;&#10;    &lt;Box style={{ height: 540, flexDirection: 'column', justifyContent: 'center', gap: 12 }}&gt;&#10;&#10;        &lt;Text style={{ fontSize: 15, color: '#546779' }}&gt;来源登记表要区分四类来源，并给每项影响结果的假设写一个可能使它不成立的条件&lt;/Text&gt;&#10;&#10;        &lt;Box style={{ width: 1152, flexDirection: 'row', gap: 20 }}&gt;&#10;&#10;            &lt;Box style={{ width: 566, height: 190, background: '#EDF4FC', borderRadius: 10, padding: '16px 22px', flexDirection: 'column', gap: 8, justifyContent: 'center' }}&gt;&#10;                &lt;Text style={{ fontSize: 21, fontWeight: 'bold', color: '#276FBF' }}&gt;作者虚构设定&lt;/Text&gt;&#10;                &lt;Text style={{ fontSize: 15, color: '#20344B', lineHeight: 1.5 }}&gt;教学用的服务大厅、四名来访者与委托书，都是作者编写的&lt;/Text&gt;&#10;                &lt;Box style={{ width: 522, height: 56, background: '#FFF4E6', borderRadius: 8, padding: '0 16px', justifyContent: 'center' }}&gt;&#10;                    &lt;Text style={{ fontSize: 14, color: '#CB6B28', lineHeight: 1.45 }}&gt;被当成真实行政数据引用时，结论就不成立&lt;/Text&gt;&#10;                &lt;/Box&gt;&#10;            &lt;/Box&gt;&#10;&#10;            &lt;Box style={{ width: 566, height: 190, background: '#F4F7FA', borderRadius: 10, padding: '16px 22px', flexDirection: 'column', gap: 8, justifyContent: 'center' }}&gt;&#10;                &lt;Text style={{ fontSize: 21, fontWeight: 'bold', color: '#20344B' }}&gt;当前产品事实&lt;/Text&gt;&#10;                &lt;Text style={{ fontSize: 15, color: '#20344B', lineHeight: 1.5 }}&gt;系统界面、资源格式与已核验入口的当前行为&lt;/Text&gt;&#10;                &lt;Box style={{ width: 522, height: 56, background: '#FFF4E6', borderRadius: 8, padding: '0 16px', justifyContent: 'center' }}&gt;&#10;                    &lt;Text style={{ fontSize: 14, color: '#CB6B28', lineHeight: 1.45 }}&gt;产品更新后入口或格式变化，原步骤会失效&lt;/Text&gt;&#10;                &lt;/Box&gt;&#10;            &lt;/Box&gt;&#10;&#10;        &lt;/Box&gt;&#10;&#10;        &lt;Box style={{ width: 1152, flexDirection: 'row', gap: 20 }}&gt;&#10;&#10;            &lt;Box style={{ width: 566, height: 190, background: '#ECF7F2', borderRadius: 10, padding: '16px 22px', flexDirection: 'column', gap: 8, justifyContent: 'center' }}&gt;&#10;                &lt;Text style={{ fontSize: 21, fontWeight: 'bold', color: '#26816B' }}&gt;实测材料&lt;/Text&gt;&#10;                &lt;Text style={{ fontSize: 15, color: '#20344B', lineHeight: 1.5 }}&gt;实际运行记录、导出文件与人工判分结果&lt;/Text&gt;&#10;                &lt;Box style={{ width: 522, height: 56, background: '#FFF4E6', borderRadius: 8, padding: '0 16px', justifyContent: 'center' }}&gt;&#10;                    &lt;Text style={{ fontSize: 14, color: '#CB6B28', lineHeight: 1.45 }}&gt;运行次数很少时只能算小型探索，不做普遍优越推断&lt;/Text&gt;&#10;                &lt;/Box&gt;&#10;            &lt;/Box&gt;&#10;&#10;            &lt;Box style={{ width: 566, height: 190, background: '#F4F7FA', borderRadius: 10, padding: '16px 22px', flexDirection: 'column', gap: 8, justifyContent: 'center' }}&gt;&#10;                &lt;Text style={{ fontSize: 21, fontWeight: 'bold', color: '#20344B' }}&gt;外部方法依据&lt;/Text&gt;&#10;                &lt;Text style={{ fontSize: 15, color: '#20344B', lineHeight: 1.5 }}&gt;他人的论文、方法文档与行业通行做法&lt;/Text&gt;&#10;                &lt;Box style={{ width: 522, height: 56, background: '#FFF4E6', borderRadius: 8, padding: '0 16px', justifyContent: 'center' }}&gt;&#10;                    &lt;Text style={{ fontSize: 14, color: '#CB6B28', lineHeight: 1.45 }}&gt;在别的场景有效，不保证在本案例同样成立&lt;/Text&gt;&#10;                &lt;/Box&gt;&#10;            &lt;/Box&gt;&#10;&#10;        &lt;/Box&gt;&#10;&#10;        &lt;Box style={{ width: 1152, height: 80, background: '#FFF4E6', borderRadius: 10, padding: '0 24px', flexDirection: 'column', gap: 4, justifyContent: 'center' }}&gt;&#10;            &lt;Text style={{ fontSize: 16, fontWeight: 'bold', color: '#CB6B28' }}&gt;两个具体的失败条件&lt;/Text&gt;&#10;            &lt;Text style={{ fontSize: 14, color: '#546779', lineHeight: 1.45 }}&gt;窗口能并行答复多项请求　›　说明本题不描述现实窗口容量　·　来访者如实说明目的　›　结果不能直接覆盖故意隐瞒的情境&lt;/Text&gt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08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第一份交付：问题和材料</a:t>
            </a:r>
            <a:endParaRPr/>
          </a:p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四类来源，各写一个失败条件</a:t>
            </a:r>
            <a:endParaRPr/>
          </a:p>
        </p:txBody>
      </p:sp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609600" y="12668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来源登记表要区分四类来源，并给每项影响结果的假设写一个可能使它不成立的条件</a:t>
            </a:r>
            <a:endParaRPr/>
          </a:p>
        </p:txBody>
      </p:sp>
      <p:sp>
        <p:nvSpPr>
          <p:cNvPr id="832" name=""/>
          <p:cNvSpPr/>
          <p:nvPr/>
        </p:nvSpPr>
        <p:spPr>
          <a:xfrm rot="0" flipH="0" flipV="0">
            <a:off x="609600" y="1552575"/>
            <a:ext cx="5391150" cy="1809750"/>
          </a:xfrm>
          <a:prstGeom prst="roundRect">
            <a:avLst>
              <a:gd name="adj" fmla="val 526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819150" y="1866900"/>
            <a:ext cx="4972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76FBF"/>
                </a:solidFill>
                <a:latin typeface="Microsoft YaHei"/>
                <a:ea typeface="Microsoft YaHei"/>
              </a:rPr>
              <a:t>作者虚构设定</a:t>
            </a:r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819150" y="2190750"/>
            <a:ext cx="4972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教学用的服务大厅、四名来访者与委托书，都是作者编写的</a:t>
            </a:r>
            <a:endParaRPr/>
          </a:p>
        </p:txBody>
      </p:sp>
      <p:sp>
        <p:nvSpPr>
          <p:cNvPr id="835" name=""/>
          <p:cNvSpPr/>
          <p:nvPr/>
        </p:nvSpPr>
        <p:spPr>
          <a:xfrm rot="0" flipH="0" flipV="0">
            <a:off x="819150" y="2524125"/>
            <a:ext cx="497205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971550" y="2676525"/>
            <a:ext cx="46672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被当成真实行政数据引用时，结论就不成立</a:t>
            </a:r>
            <a:endParaRPr/>
          </a:p>
        </p:txBody>
      </p:sp>
      <p:sp>
        <p:nvSpPr>
          <p:cNvPr id="837" name=""/>
          <p:cNvSpPr/>
          <p:nvPr/>
        </p:nvSpPr>
        <p:spPr>
          <a:xfrm rot="0" flipH="0" flipV="0">
            <a:off x="6191250" y="1552575"/>
            <a:ext cx="5391150" cy="1809750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6400800" y="1866900"/>
            <a:ext cx="4972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当前产品事实</a:t>
            </a:r>
            <a:endParaRPr/>
          </a:p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6400800" y="2190750"/>
            <a:ext cx="4972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系统界面、资源格式与已核验入口的当前行为</a:t>
            </a:r>
            <a:endParaRPr/>
          </a:p>
        </p:txBody>
      </p:sp>
      <p:sp>
        <p:nvSpPr>
          <p:cNvPr id="840" name=""/>
          <p:cNvSpPr/>
          <p:nvPr/>
        </p:nvSpPr>
        <p:spPr>
          <a:xfrm rot="0" flipH="0" flipV="0">
            <a:off x="6400800" y="2524125"/>
            <a:ext cx="497205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6553200" y="2676525"/>
            <a:ext cx="46672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产品更新后入口或格式变化，原步骤会失效</a:t>
            </a:r>
            <a:endParaRPr/>
          </a:p>
        </p:txBody>
      </p:sp>
      <p:sp>
        <p:nvSpPr>
          <p:cNvPr id="842" name=""/>
          <p:cNvSpPr/>
          <p:nvPr/>
        </p:nvSpPr>
        <p:spPr>
          <a:xfrm rot="0" flipH="0" flipV="0">
            <a:off x="609600" y="3476625"/>
            <a:ext cx="5391150" cy="1809750"/>
          </a:xfrm>
          <a:prstGeom prst="roundRect">
            <a:avLst>
              <a:gd name="adj" fmla="val 526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819150" y="3790950"/>
            <a:ext cx="4972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6816B"/>
                </a:solidFill>
                <a:latin typeface="Microsoft YaHei"/>
                <a:ea typeface="Microsoft YaHei"/>
              </a:rPr>
              <a:t>实测材料</a:t>
            </a:r>
            <a:endParaRPr/>
          </a:p>
        </p:txBody>
      </p:sp>
      <p:sp>
        <p:nvSpPr>
          <p:cNvPr id="844" name="" descr="{&quot;isTemplate&quot;:true,&quot;type&quot;:&quot;text&quot;}"/>
          <p:cNvSpPr txBox="1"/>
          <p:nvPr/>
        </p:nvSpPr>
        <p:spPr>
          <a:xfrm rot="0" flipH="0" flipV="0">
            <a:off x="819150" y="4114800"/>
            <a:ext cx="4972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实际运行记录、导出文件与人工判分结果</a:t>
            </a:r>
            <a:endParaRPr/>
          </a:p>
        </p:txBody>
      </p:sp>
      <p:sp>
        <p:nvSpPr>
          <p:cNvPr id="845" name=""/>
          <p:cNvSpPr/>
          <p:nvPr/>
        </p:nvSpPr>
        <p:spPr>
          <a:xfrm rot="0" flipH="0" flipV="0">
            <a:off x="819150" y="4448175"/>
            <a:ext cx="497205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971550" y="4600575"/>
            <a:ext cx="46672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运行次数很少时只能算小型探索，不做普遍优越推断</a:t>
            </a:r>
            <a:endParaRPr/>
          </a:p>
        </p:txBody>
      </p:sp>
      <p:sp>
        <p:nvSpPr>
          <p:cNvPr id="847" name=""/>
          <p:cNvSpPr/>
          <p:nvPr/>
        </p:nvSpPr>
        <p:spPr>
          <a:xfrm rot="0" flipH="0" flipV="0">
            <a:off x="6191250" y="3476625"/>
            <a:ext cx="5391150" cy="1809750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6400800" y="3790950"/>
            <a:ext cx="4972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外部方法依据</a:t>
            </a:r>
            <a:endParaRPr/>
          </a:p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6400800" y="4114800"/>
            <a:ext cx="4972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他人的论文、方法文档与行业通行做法</a:t>
            </a:r>
            <a:endParaRPr/>
          </a:p>
        </p:txBody>
      </p:sp>
      <p:sp>
        <p:nvSpPr>
          <p:cNvPr id="850" name=""/>
          <p:cNvSpPr/>
          <p:nvPr/>
        </p:nvSpPr>
        <p:spPr>
          <a:xfrm rot="0" flipH="0" flipV="0">
            <a:off x="6400800" y="4448175"/>
            <a:ext cx="497205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6553200" y="4600575"/>
            <a:ext cx="46672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在别的场景有效，不保证在本案例同样成立</a:t>
            </a:r>
            <a:endParaRPr/>
          </a:p>
        </p:txBody>
      </p:sp>
      <p:sp>
        <p:nvSpPr>
          <p:cNvPr id="852" name=""/>
          <p:cNvSpPr/>
          <p:nvPr/>
        </p:nvSpPr>
        <p:spPr>
          <a:xfrm rot="0" flipH="0" flipV="0">
            <a:off x="609600" y="5400675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838200" y="5553075"/>
            <a:ext cx="1051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两个具体的失败条件</a:t>
            </a:r>
            <a:endParaRPr/>
          </a:p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838200" y="5781675"/>
            <a:ext cx="105156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窗口能并行答复多项请求　›　说明本题不描述现实窗口容量　·　来访者如实说明目的　›　结果不能直接覆盖故意隐瞒的情境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31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857" name="" descr="&lt;Slide notes={`地图、人物和 Skill 三样东西，各有自己的完成条件，不能用一句「按第三章配置」带过去。&#10;&#10;地图的完成条件是真实的语义边界、碰撞区域和可走站位。咨询台与两个窗口都要留下可走的邻格，否则人物根本走不到。人物需要完整资料和实验用的出生位置，出生点要在实际配置、保存、重开之后核对。Skill 需要完整正文和闭包，缺一段依赖就装不起来。&#10;&#10;完成状态也要分层写。纸面作业把这三样标成待制作，不要写成已经完成；实践作业则通过界面保存后重开核对，用实际保存结果证明它们存在。&#10;&#10;这一节反复出现的写法是：不要用一句通用说明跳过本案的具体内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0.2　第一份交付：问题和材料&lt;/Text&gt;&#10;            &lt;Text style={{ fontSize: 34, fontWeight: 'bold', color: '#20344B' }}&gt;地图、人物与 Skill 的准备条件&lt;/Text&gt;&#10;        &lt;/Box&gt;&#10;    &lt;/Box&gt;&#10;&#10;    &lt;Box style={{ height: 540, flexDirection: 'row', alignItems: 'center', gap: 32 }}&gt;&#10;&#10;        &lt;Box style={{ width: 706, flexDirection: 'column', justifyContent: 'center', gap: 14 }}&gt;&#10;&#10;            &lt;Box style={{ width: 706, height: 120, background: '#F4F7FA', borderRadius: 10, padding: '0 22px', flexDirection: 'row', alignItems: 'center', gap: 18 }}&gt;&#10;                &lt;Box style={{ width: 4, height: 64, background: '#276FBF' }} /&gt;&#10;                &lt;Box style={{ width: 640, flexDirection: 'column', gap: 4 }}&gt;&#10;                    &lt;Text style={{ fontSize: 20, fontWeight: 'bold', color: '#20344B' }}&gt;地图：语义边界要真实&lt;/Text&gt;&#10;                    &lt;Text style={{ fontSize: 15, color: '#546779', lineHeight: 1.5 }}&gt;需要真实语义边界、碰撞与可走站位；咨询台与两个窗口都要留可走邻格&lt;/Text&gt;&#10;                &lt;/Box&gt;&#10;            &lt;/Box&gt;&#10;&#10;            &lt;Box style={{ width: 706, height: 120, background: '#F4F7FA', borderRadius: 10, padding: '0 22px', flexDirection: 'row', alignItems: 'center', gap: 18 }}&gt;&#10;                &lt;Box style={{ width: 4, height: 64, background: '#276FBF' }} /&gt;&#10;                &lt;Box style={{ width: 640, flexDirection: 'column', gap: 4 }}&gt;&#10;                    &lt;Text style={{ fontSize: 20, fontWeight: 'bold', color: '#20344B' }}&gt;人物：资料与出生位置&lt;/Text&gt;&#10;                    &lt;Text style={{ fontSize: 15, color: '#546779', lineHeight: 1.5 }}&gt;四名来访者与余真都要完整资料；出生点由实际配置、保存和重开核对确定&lt;/Text&gt;&#10;                &lt;/Box&gt;&#10;            &lt;/Box&gt;&#10;&#10;            &lt;Box style={{ width: 706, height: 120, background: '#F4F7FA', borderRadius: 10, padding: '0 22px', flexDirection: 'row', alignItems: 'center', gap: 18 }}&gt;&#10;                &lt;Box style={{ width: 4, height: 64, background: '#276FBF' }} /&gt;&#10;                &lt;Box style={{ width: 640, flexDirection: 'column', gap: 4 }}&gt;&#10;                    &lt;Text style={{ fontSize: 20, fontWeight: 'bold', color: '#20344B' }}&gt;Skill：完整正文与闭包&lt;/Text&gt;&#10;                    &lt;Text style={{ fontSize: 15, color: '#546779', lineHeight: 1.5 }}&gt;咨询台与两个窗口各绑定一个根 Skill，依赖必须齐全才能装起来&lt;/Text&gt;&#10;                &lt;/Box&gt;&#10;            &lt;/Box&gt;&#10;&#10;        &lt;/Box&gt;&#10;&#10;        &lt;Box style={{ width: 414, flexDirection: 'column', justifyContent: 'center', gap: 14 }}&gt;&#10;            &lt;Text style={{ fontSize: 14, color: '#546779' }}&gt;两类作业的状态写法&lt;/Text&gt;&#10;&#10;            &lt;Box style={{ width: 414, height: 92, background: '#F4F7FA', borderRadius: 10, padding: '14px 20px', flexDirection: 'column', gap: 4, justifyContent: 'center' }}&gt;&#10;                &lt;Text style={{ fontSize: 18, fontWeight: 'bold', color: '#20344B' }}&gt;纸面作业&lt;/Text&gt;&#10;                &lt;Text style={{ fontSize: 15, color: '#546779' }}&gt;这三样一律标为待制作&lt;/Text&gt;&#10;            &lt;/Box&gt;&#10;&#10;            &lt;Box style={{ width: 414, height: 92, background: '#ECF7F2', borderRadius: 10, padding: '14px 20px', flexDirection: 'column', gap: 4, justifyContent: 'center' }}&gt;&#10;                &lt;Text style={{ fontSize: 18, fontWeight: 'bold', color: '#26816B' }}&gt;实践作业&lt;/Text&gt;&#10;                &lt;Text style={{ fontSize: 15, color: '#546779' }}&gt;通过界面保存后重开核对&lt;/Text&gt;&#10;            &lt;/Box&gt;&#10;&#10;            &lt;Box style={{ width: 414, height: 116, background: '#FFF4E6', borderRadius: 10, padding: '16px 20px', justifyContent: 'center' }}&gt;&#10;                &lt;Text style={{ fontSize: 15, color: '#CB6B28', lineHeight: 1.6 }}&gt;不要用「按第三章配置即可」跳过本案的具体内容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09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5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43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第一份交付：问题和材料</a:t>
            </a:r>
            <a:endParaRPr/>
          </a:p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438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地图、人物与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的准备条件</a:t>
            </a:r>
            <a:endParaRPr/>
          </a:p>
        </p:txBody>
      </p:sp>
      <p:sp>
        <p:nvSpPr>
          <p:cNvPr id="862" name=""/>
          <p:cNvSpPr/>
          <p:nvPr/>
        </p:nvSpPr>
        <p:spPr>
          <a:xfrm rot="0" flipH="0" flipV="0">
            <a:off x="609600" y="1866900"/>
            <a:ext cx="672465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63" name=""/>
          <p:cNvSpPr/>
          <p:nvPr/>
        </p:nvSpPr>
        <p:spPr>
          <a:xfrm rot="0" flipH="0" flipV="0">
            <a:off x="819150" y="213360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1028700" y="2181225"/>
            <a:ext cx="6096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地图：语义边界要真实</a:t>
            </a:r>
            <a:endParaRPr/>
          </a:p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1028700" y="2447925"/>
            <a:ext cx="6096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需要真实语义边界、碰撞与可走站位；咨询台与两个窗口都要留可走邻格</a:t>
            </a:r>
            <a:endParaRPr/>
          </a:p>
        </p:txBody>
      </p:sp>
      <p:sp>
        <p:nvSpPr>
          <p:cNvPr id="866" name=""/>
          <p:cNvSpPr/>
          <p:nvPr/>
        </p:nvSpPr>
        <p:spPr>
          <a:xfrm rot="0" flipH="0" flipV="0">
            <a:off x="609600" y="3143250"/>
            <a:ext cx="672465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67" name=""/>
          <p:cNvSpPr/>
          <p:nvPr/>
        </p:nvSpPr>
        <p:spPr>
          <a:xfrm rot="0" flipH="0" flipV="0">
            <a:off x="819150" y="340995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1028700" y="3457575"/>
            <a:ext cx="6096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人物：资料与出生位置</a:t>
            </a:r>
            <a:endParaRPr/>
          </a:p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1028700" y="3724275"/>
            <a:ext cx="6096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四名来访者与余真都要完整资料；出生点由实际配置、保存和重开核对确定</a:t>
            </a:r>
            <a:endParaRPr/>
          </a:p>
        </p:txBody>
      </p:sp>
      <p:sp>
        <p:nvSpPr>
          <p:cNvPr id="870" name=""/>
          <p:cNvSpPr/>
          <p:nvPr/>
        </p:nvSpPr>
        <p:spPr>
          <a:xfrm rot="0" flipH="0" flipV="0">
            <a:off x="609600" y="4419600"/>
            <a:ext cx="672465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71" name=""/>
          <p:cNvSpPr/>
          <p:nvPr/>
        </p:nvSpPr>
        <p:spPr>
          <a:xfrm rot="0" flipH="0" flipV="0">
            <a:off x="819150" y="468630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1028700" y="4733925"/>
            <a:ext cx="6096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Skill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：完整正文与闭包</a:t>
            </a:r>
            <a:endParaRPr/>
          </a:p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1028700" y="5000625"/>
            <a:ext cx="6096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咨询台与两个窗口各绑定一个根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，依赖必须齐全才能装起来</a:t>
            </a:r>
            <a:endParaRPr/>
          </a:p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7639050" y="2009775"/>
            <a:ext cx="394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两类作业的状态写法</a:t>
            </a:r>
            <a:endParaRPr/>
          </a:p>
        </p:txBody>
      </p:sp>
      <p:sp>
        <p:nvSpPr>
          <p:cNvPr id="875" name=""/>
          <p:cNvSpPr/>
          <p:nvPr/>
        </p:nvSpPr>
        <p:spPr>
          <a:xfrm rot="0" flipH="0" flipV="0">
            <a:off x="7639050" y="2305050"/>
            <a:ext cx="394335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7829550" y="2533650"/>
            <a:ext cx="3562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纸面作业</a:t>
            </a:r>
            <a:endParaRPr/>
          </a:p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7829550" y="2781300"/>
            <a:ext cx="3562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这三样一律标为待制作</a:t>
            </a:r>
            <a:endParaRPr/>
          </a:p>
        </p:txBody>
      </p:sp>
      <p:sp>
        <p:nvSpPr>
          <p:cNvPr id="878" name=""/>
          <p:cNvSpPr/>
          <p:nvPr/>
        </p:nvSpPr>
        <p:spPr>
          <a:xfrm rot="0" flipH="0" flipV="0">
            <a:off x="7639050" y="3314700"/>
            <a:ext cx="394335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7829550" y="3543300"/>
            <a:ext cx="3562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实践作业</a:t>
            </a:r>
            <a:endParaRPr/>
          </a:p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7829550" y="3790950"/>
            <a:ext cx="3562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通过界面保存后重开核对</a:t>
            </a:r>
            <a:endParaRPr/>
          </a:p>
        </p:txBody>
      </p:sp>
      <p:sp>
        <p:nvSpPr>
          <p:cNvPr id="881" name=""/>
          <p:cNvSpPr/>
          <p:nvPr/>
        </p:nvSpPr>
        <p:spPr>
          <a:xfrm rot="0" flipH="0" flipV="0">
            <a:off x="7639050" y="4324350"/>
            <a:ext cx="3943350" cy="1104900"/>
          </a:xfrm>
          <a:prstGeom prst="roundRect">
            <a:avLst>
              <a:gd name="adj" fmla="val 86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7829550" y="4743450"/>
            <a:ext cx="35623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不要用「按第三章配置即可」跳过本案的具体内容。</a:t>
            </a:r>
            <a:endParaRPr/>
          </a:p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31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5" name="" descr="&lt;Slide notes={`第一份材料解决的是别人知不知道你在问什么。第二份材料解决的是别人能不能看懂你到底让系统做了什么。&#10;&#10;两组咨询台的差别必须落在精确文本上，不能只写一句「先澄清」。要交出两组完整的决策文字，以及两组共同使用的其他行为文本，还要列出每个 Skill 的标识、类型、使用角色、依赖和文件位置。&#10;&#10;光有文本还不够，要请同伴做一次反例审读。给他几个输入条件，让他只看标准流程解释下一步该做什么。如果两个人对同一个条件有不同理解，那说明文本本身有歧义，要回去改清楚，而不是靠多跑几次模型来掩盖。&#10;&#10;最后是核对：真正配置两组之后，比较共同条件和包内差异，确认实际用的就是你写的那一份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10　章末综合项目&lt;/Text&gt;&#10;            &lt;Text style={{ fontSize: 34, fontWeight: 'bold', color: '#20344B' }}&gt;知识块 ③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③&lt;/Text&gt;&#10;&#10;        &lt;Text style={{ fontSize: 56, fontWeight: 'bold', color: '#20344B', lineHeight: 1.15 }}&gt;第二份交付：行为与对照&lt;/Text&gt;&#10;&#10;        &lt;Box style={{ width: 72, height: 4, background: '#276FBF' }} /&gt;&#10;&#10;        &lt;Text style={{ fontSize: 18, color: '#546779', lineHeight: 1.7, width: 900 }}&gt;交出两组咨询台的精确决策文本，以及两组共同使用的其他行为文本；再请同伴做一次反例审读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精确文本与依赖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反例审读&lt;/Text&gt;&#10;            &lt;/Box&gt;&#10;            &lt;Box style={{ width: 44, height: 64, justifyContent: 'center', alignItems: 'center' }}&gt;&#10;                &lt;Text style={{ fontSize: 26, color: '#CB6B28' }}&gt;›&lt;/Text&gt;&#10;            &lt;/Box&gt;&#10;            &lt;Box style={{ width: 300, height: 64, background: '#FFF4E6', borderRadius: 8, justifyContent: 'center', alignItems: 'center' }}&gt;&#10;                &lt;Text style={{ fontSize: 18, color: '#CB6B28' }}&gt;包内差异核对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10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章末综合项目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733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③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09600" y="190500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第二份交付：行为与对照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09600" y="40957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09600" y="430530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交出两组咨询台的精确决策文本，以及两组共同使用的其他行为文本；再请同伴做一次反例审读。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096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438275" y="51244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精确文本与依赖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363855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38862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972050" y="51244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反例审读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91515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71628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077200" y="51244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包内差异核对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31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4" name="" descr="&lt;Slide notes={`光说「两组差别是先澄清」是不够的，别人没有办法照着复现。文本要精确到一个字段的程度。&#10;&#10;每个 Skill 都要交代五件事：标识、固有类型、使用角色、依赖，以及文件位置。文件位置这一项特别关键，因为包里可能同时存在几个版本，必须说清楚实际运行用的是哪一份包内副本。&#10;&#10;整理文本时有几条纪律。文本整理不建立业务 Revision，也就是说它不产生一套新的业务版本；实验用的副本要封存，不让运行动态引用公共资源，否则公共资源一更新，你的实验就等于变成了另一个实验。&#10;&#10;把两份文本放在一起，再说明唯一变化在哪里，别人才有可能判断你答的到底是不是同一个问题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0.3　第二份交付：行为与对照&lt;/Text&gt;&#10;            &lt;Text style={{ fontSize: 34, fontWeight: 'bold', color: '#20344B' }}&gt;交出精确文本与依赖清单&lt;/Text&gt;&#10;        &lt;/Box&gt;&#10;    &lt;/Box&gt;&#10;&#10;    &lt;Box style={{ height: 540, flexDirection: 'row', alignItems: 'center', gap: 32 }}&gt;&#10;&#10;        &lt;Box style={{ width: 486, flexDirection: 'column', justifyContent: 'center', gap: 12 }}&gt;&#10;            &lt;Text style={{ fontSize: 14, color: '#546779' }}&gt;每个 Skill 必须交代的五件事&lt;/Text&gt;&#10;&#10;            &lt;Box style={{ width: 486, height: 72, background: '#EDF4FC', borderRadius: 8, padding: '0 20px', flexDirection: 'row', alignItems: 'center', gap: 16 }}&gt;&#10;                &lt;Box style={{ width: 4, height: 40, background: '#276FBF' }} /&gt;&#10;                &lt;Text style={{ fontSize: 17, color: '#20344B' }}&gt;skill_key：稳定标识&lt;/Text&gt;&#10;            &lt;/Box&gt;&#10;            &lt;Box style={{ width: 486, height: 72, background: '#EDF4FC', borderRadius: 8, padding: '0 20px', flexDirection: 'row', alignItems: 'center', gap: 16 }}&gt;&#10;                &lt;Box style={{ width: 4, height: 40, background: '#276FBF' }} /&gt;&#10;                &lt;Text style={{ fontSize: 17, color: '#20344B' }}&gt;固有类型&lt;/Text&gt;&#10;            &lt;/Box&gt;&#10;            &lt;Box style={{ width: 486, height: 72, background: '#EDF4FC', borderRadius: 8, padding: '0 20px', flexDirection: 'row', alignItems: 'center', gap: 16 }}&gt;&#10;                &lt;Box style={{ width: 4, height: 40, background: '#276FBF' }} /&gt;&#10;                &lt;Text style={{ fontSize: 17, color: '#20344B' }}&gt;使用角色&lt;/Text&gt;&#10;            &lt;/Box&gt;&#10;            &lt;Box style={{ width: 486, height: 72, background: '#EDF4FC', borderRadius: 8, padding: '0 20px', flexDirection: 'row', alignItems: 'center', gap: 16 }}&gt;&#10;                &lt;Box style={{ width: 4, height: 40, background: '#276FBF' }} /&gt;&#10;                &lt;Text style={{ fontSize: 17, color: '#20344B' }}&gt;依赖&lt;/Text&gt;&#10;            &lt;/Box&gt;&#10;            &lt;Box style={{ width: 486, height: 72, background: '#FFF4E6', borderRadius: 8, padding: '0 20px', flexDirection: 'row', alignItems: 'center', gap: 16 }}&gt;&#10;                &lt;Box style={{ width: 4, height: 40, background: '#CB6B28' }} /&gt;&#10;                &lt;Text style={{ fontSize: 17, color: '#20344B' }}&gt;文件位置：哪一份包内副本&lt;/Text&gt;&#10;            &lt;/Box&gt;&#10;        &lt;/Box&gt;&#10;&#10;        &lt;Box style={{ width: 634, flexDirection: 'column', justifyContent: 'center', gap: 12 }}&gt;&#10;            &lt;Text style={{ fontSize: 14, color: '#546779' }}&gt;文本整理的三条纪律&lt;/Text&gt;&#10;&#10;            &lt;Box style={{ width: 634, height: 100, background: '#F4F7FA', borderRadius: 10, padding: '16px 20px', flexDirection: 'column', gap: 6, justifyContent: 'center' }}&gt;&#10;                &lt;Text style={{ fontSize: 19, fontWeight: 'bold', color: '#20344B' }}&gt;不建立业务 Revision&lt;/Text&gt;&#10;                &lt;Text style={{ fontSize: 15, color: '#546779', lineHeight: 1.45 }}&gt;这里的文本整理只服务于交付，不产生一套新的业务版本&lt;/Text&gt;&#10;            &lt;/Box&gt;&#10;&#10;            &lt;Box style={{ width: 634, height: 100, background: '#ECF7F2', borderRadius: 10, padding: '16px 20px', flexDirection: 'column', gap: 6, justifyContent: 'center' }}&gt;&#10;                &lt;Text style={{ fontSize: 19, fontWeight: 'bold', color: '#26816B' }}&gt;不让运行动态引用公共资源&lt;/Text&gt;&#10;                &lt;Text style={{ fontSize: 15, color: '#546779', lineHeight: 1.45 }}&gt;公共资源中的最新 Skill，不能证明已封存实验用的也是它&lt;/Text&gt;&#10;            &lt;/Box&gt;&#10;&#10;            &lt;Box style={{ width: 634, height: 100, background: '#EDF4FC', borderRadius: 10, padding: '16px 20px', flexDirection: 'column', gap: 6, justifyContent: 'center' }}&gt;&#10;                &lt;Text style={{ fontSize: 19, fontWeight: 'bold', color: '#276FBF' }}&gt;两组共用文本要一并交出&lt;/Text&gt;&#10;                &lt;Text style={{ fontSize: 15, color: '#546779', lineHeight: 1.45 }}&gt;不只是那一段差异，两组共同使用的其他行为文本也要完整呈现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11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第二份交付：行为与对照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交出精确文本与依赖清单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09600" y="1638300"/>
            <a:ext cx="462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每个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必须交代的五件事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609600" y="1914525"/>
            <a:ext cx="462915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800100" y="20669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990600" y="2162175"/>
            <a:ext cx="1438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>skill_key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：稳定标识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609600" y="2714625"/>
            <a:ext cx="462915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800100" y="28670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990600" y="29622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固有类型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09600" y="3514725"/>
            <a:ext cx="462915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800100" y="36671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990600" y="37623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使用角色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09600" y="4314825"/>
            <a:ext cx="462915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800100" y="44672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990600" y="456247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依赖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09600" y="5114925"/>
            <a:ext cx="462915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800100" y="526732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990600" y="5362575"/>
            <a:ext cx="1943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文件位置：哪一份包内副本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543550" y="2038350"/>
            <a:ext cx="603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文本整理的三条纪律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5543550" y="2314575"/>
            <a:ext cx="603885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734050" y="2524125"/>
            <a:ext cx="5657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不建立业务</a:t>
            </a:r>
            <a:r>
              <a:rPr lang="en-US" sz="14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Revision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734050" y="2800350"/>
            <a:ext cx="56578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这里的文本整理只服务于交付，不产生一套新的业务版本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5543550" y="3381375"/>
            <a:ext cx="6038850" cy="9525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734050" y="3590925"/>
            <a:ext cx="5657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不让运行动态引用公共资源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734050" y="3867150"/>
            <a:ext cx="56578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公共资源中的最新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，不能证明已封存实验用的也是它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5543550" y="4448175"/>
            <a:ext cx="603885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734050" y="4657725"/>
            <a:ext cx="5657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两组共用文本要一并交出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734050" y="4933950"/>
            <a:ext cx="56578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不只是那一段差异，两组共同使用的其他行为文本也要完整呈现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31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7" name="" descr="&lt;Slide notes={`文本写完以后不要自己看一遍就算过，要请同伴做一次反例审读。&#10;&#10;做法是给他几个输入条件，然后让他只看标准流程，说出下一步应该怎么做。第一个条件是原文里目的仍然缺失，他应该只问缺失的那一个字段，先不要再给建议。第二个条件是同一个人已经回答了关键字段，那就不该重复追问，应该直接进入范围判断。第三个条件是收到错误的窗口转介，这时要说明分工并指向另一窗口，不需要重新核实目的。第四个条件是答复在最后一轮才生成，这一条的关键在于，它不能自动算作人物在窗口内已经收到。&#10;&#10;如果两个人对同一个条件有不同理解，先回去把文本改清楚。指望多跑几次模型来消除歧义，是掩盖问题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0.3　第二份交付：行为与对照&lt;/Text&gt;&#10;            &lt;Text style={{ fontSize: 34, fontWeight: 'bold', color: '#20344B' }}&gt;反例审读：只依 SOP 解释下一步&lt;/Text&gt;&#10;        &lt;/Box&gt;&#10;    &lt;/Box&gt;&#10;&#10;    &lt;Box style={{ height: 540, flexDirection: 'column', justifyContent: 'center', gap: 14 }}&gt;&#10;&#10;        &lt;Text style={{ fontSize: 15, color: '#546779' }}&gt;给同伴四个输入条件，让他仅根据标准流程说明下一步，不借助作者口头补充&lt;/Text&gt;&#10;&#10;        &lt;Box style={{ width: 1152, height: 84, background: '#F4F7FA', borderRadius: 10, padding: '0 22px', flexDirection: 'row', alignItems: 'center', gap: 16 }}&gt;&#10;            &lt;Box style={{ width: 4, height: 48, background: '#276FBF' }} /&gt;&#10;            &lt;Text style={{ fontSize: 17, fontWeight: 'bold', color: '#20344B', width: 264 }}&gt;目的仍缺失&lt;/Text&gt;&#10;            &lt;Box style={{ width: 44, height: 48, justifyContent: 'center', alignItems: 'center' }}&gt;&#10;                &lt;Text style={{ fontSize: 24, color: '#276FBF' }}&gt;›&lt;/Text&gt;&#10;            &lt;/Box&gt;&#10;            &lt;Text style={{ fontSize: 16, color: '#546779', width: 756 }}&gt;只问缺失的那一个字段，先不再给出建议&lt;/Text&gt;&#10;        &lt;/Box&gt;&#10;&#10;        &lt;Box style={{ width: 1152, height: 84, background: '#F4F7FA', borderRadius: 10, padding: '0 22px', flexDirection: 'row', alignItems: 'center', gap: 16 }}&gt;&#10;            &lt;Box style={{ width: 4, height: 48, background: '#276FBF' }} /&gt;&#10;            &lt;Text style={{ fontSize: 17, fontWeight: 'bold', color: '#20344B', width: 264 }}&gt;同一人已回答关键字段&lt;/Text&gt;&#10;            &lt;Box style={{ width: 44, height: 48, justifyContent: 'center', alignItems: 'center' }}&gt;&#10;                &lt;Text style={{ fontSize: 24, color: '#276FBF' }}&gt;›&lt;/Text&gt;&#10;            &lt;/Box&gt;&#10;            &lt;Text style={{ fontSize: 16, color: '#546779', width: 756 }}&gt;不再重复追问，直接进入范围判断与下一步说明&lt;/Text&gt;&#10;        &lt;/Box&gt;&#10;&#10;        &lt;Box style={{ width: 1152, height: 84, background: '#F4F7FA', borderRadius: 10, padding: '0 22px', flexDirection: 'row', alignItems: 'center', gap: 16 }}&gt;&#10;            &lt;Box style={{ width: 4, height: 48, background: '#276FBF' }} /&gt;&#10;            &lt;Text style={{ fontSize: 17, fontWeight: 'bold', color: '#20344B', width: 264 }}&gt;收到错误窗口转介&lt;/Text&gt;&#10;            &lt;Box style={{ width: 44, height: 48, justifyContent: 'center', alignItems: 'center' }}&gt;&#10;                &lt;Text style={{ fontSize: 24, color: '#276FBF' }}&gt;›&lt;/Text&gt;&#10;            &lt;/Box&gt;&#10;            &lt;Text style={{ fontSize: 16, color: '#546779', width: 756 }}&gt;说明服务分工并指向另一窗口，不重新核实目的&lt;/Text&gt;&#10;        &lt;/Box&gt;&#10;&#10;        &lt;Box style={{ width: 1152, height: 84, background: '#F4F7FA', borderRadius: 10, padding: '0 22px', flexDirection: 'row', alignItems: 'center', gap: 16 }}&gt;&#10;            &lt;Box style={{ width: 4, height: 48, background: '#CB6B28' }} /&gt;&#10;            &lt;Text style={{ fontSize: 17, fontWeight: 'bold', color: '#20344B', width: 264 }}&gt;最后一轮才生成答复&lt;/Text&gt;&#10;            &lt;Box style={{ width: 44, height: 48, justifyContent: 'center', alignItems: 'center' }}&gt;&#10;                &lt;Text style={{ fontSize: 24, color: '#CB6B28' }}&gt;›&lt;/Text&gt;&#10;            &lt;/Box&gt;&#10;            &lt;Text style={{ fontSize: 16, color: '#546779', width: 756 }}&gt;不能自动算作人物在观察窗口内已经收到&lt;/Text&gt;&#10;        &lt;/Box&gt;&#10;&#10;        &lt;Box style={{ width: 1152, height: 92, background: '#FFF4E6', borderRadius: 10, padding: '0 24px', flexDirection: 'column', gap: 4, justifyContent: 'center' }}&gt;&#10;            &lt;Text style={{ fontSize: 17, fontWeight: 'bold', color: '#CB6B28' }}&gt;两人对同一条件有不同理解时，先改清文本&lt;/Text&gt;&#10;            &lt;Text style={{ fontSize: 15, color: '#546779' }}&gt;不要指望增加模型调用次数消除作者留下的歧义&lt;/Text&gt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12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75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第二份交付：行为与对照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752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反例审读：只依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解释下一步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09600" y="12573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给同伴四个输入条件，让他仅根据标准流程说明下一步，不借助作者口头补充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09600" y="156210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4" name=""/>
          <p:cNvSpPr/>
          <p:nvPr/>
        </p:nvSpPr>
        <p:spPr>
          <a:xfrm rot="0" flipH="0" flipV="0">
            <a:off x="819150" y="173355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009650" y="1866900"/>
            <a:ext cx="2495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目的仍缺失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3829050" y="18288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4229100" y="1866900"/>
            <a:ext cx="7143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只问缺失的那一个字段，先不再给出建议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09600" y="249555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819150" y="266700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009650" y="2800350"/>
            <a:ext cx="2495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同一人已回答关键字段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3829050" y="27622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4229100" y="2800350"/>
            <a:ext cx="7143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不再重复追问，直接进入范围判断与下一步说明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09600" y="342900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819150" y="360045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009650" y="3733800"/>
            <a:ext cx="2495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收到错误窗口转介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3829050" y="36957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229100" y="3733800"/>
            <a:ext cx="7143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说明服务分工并指向另一窗口，不重新核实目的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09600" y="436245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819150" y="453390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009650" y="4667250"/>
            <a:ext cx="2495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最后一轮才生成答复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3829050" y="46291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229100" y="4667250"/>
            <a:ext cx="7143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不能自动算作人物在观察窗口内已经收到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09600" y="5295900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38200" y="5534025"/>
            <a:ext cx="1051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两人对同一条件有不同理解时，先改清文本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38200" y="5772150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不要指望增加模型调用次数消除作者留下的歧义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31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18" name="" descr="&lt;Slide notes={`真正配置两组之后，还有一步不能省：核对共同条件和包内差异。&#10;&#10;容易出错的地方在于，公共资源里那个最新的 Skill，并不能证明已经封存的实验用的也是它。资源在公共层被编辑过，实验内的物理副本不会自动跟着变化。所以交付时要说明，实际生效的是哪一份包内副本。&#10;&#10;如果发现导入副本和书面设计不一致，把差异写下来，同时写清楚它会影响什么。不要静默覆盖，也不要在报告里假装没有发生。&#10;&#10;需要调整已经封存的实验时，要创建一份独立草稿，重新走一遍实验和运行安排。既有运行所依据的内容不要改写，因为那些结论当时是建立在那份内容之上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0.3　第二份交付：行为与对照&lt;/Text&gt;&#10;            &lt;Text style={{ fontSize: 34, fontWeight: 'bold', color: '#20344B' }}&gt;书面设计与导入副本可能不一致&lt;/Text&gt;&#10;        &lt;/Box&gt;&#10;    &lt;/Box&gt;&#10;&#10;    &lt;Box style={{ height: 540, flexDirection: 'column', justifyContent: 'center', gap: 16 }}&gt;&#10;&#10;        &lt;Text style={{ fontSize: 15, color: '#546779' }}&gt;真正配置两组之后，把书面设计与实际生效的那一份包内副本逐项对照&lt;/Text&gt;&#10;&#10;        &lt;Box style={{ width: 1152, flexDirection: 'row', gap: 20 }}&gt;&#10;&#10;            &lt;Box style={{ width: 566, height: 300, background: '#EDF4FC', borderRadius: 10, padding: '18px 22px', flexDirection: 'column', gap: 10 }}&gt;&#10;                &lt;Text style={{ fontSize: 21, fontWeight: 'bold', color: '#276FBF' }}&gt;书面设计&lt;/Text&gt;&#10;                &lt;Text style={{ fontSize: 14, color: '#546779' }}&gt;交付文档里写下的约定&lt;/Text&gt;&#10;                &lt;Box style={{ width: 522, height: 168, background: '#FFFFFF', borderRadius: 8, padding: '14px 18px', justifyContent: 'center' }}&gt;&#10;                    &lt;Text style={{ fontSize: 15, color: '#20344B', lineHeight: 1.72 }}&gt;咨询台　缺少关键目的时先澄清{'\n'}窗口职责　A 场地使用 / B 设施问题{'\n'}人物资料　仅本人目的与首次话语{'\n'}观察窗口　76 步，09:00—10:15{'\n'}干预段　仅一段替换，其余保持一致&lt;/Text&gt;&#10;                &lt;/Box&gt;&#10;            &lt;/Box&gt;&#10;&#10;            &lt;Box style={{ width: 566, height: 300, background: '#F4F7FA', borderRadius: 10, padding: '18px 22px', flexDirection: 'column', gap: 10 }}&gt;&#10;                &lt;Text style={{ fontSize: 21, fontWeight: 'bold', color: '#20344B' }}&gt;导入副本&lt;/Text&gt;&#10;                &lt;Text style={{ fontSize: 14, color: '#546779' }}&gt;实际生效的那一份，必须能指认&lt;/Text&gt;&#10;                &lt;Box style={{ width: 522, height: 168, background: '#FFFFFF', borderRadius: 8, padding: '14px 18px', justifyContent: 'center' }}&gt;&#10;                    &lt;Text style={{ fontSize: 15, color: '#20344B', lineHeight: 1.72 }}&gt;最新公共 Skill　不等于已封存实验所用{'\n'}包内副本　说明是哪一份、在什么位置{'\n'}共同条件　逐项核对，不只核对干预段{'\n'}差异　写下位置与影响，不静默覆盖{'\n'}封存实验　调整时新建独立草稿&lt;/Text&gt;&#10;                &lt;/Box&gt;&#10;            &lt;/Box&gt;&#10;&#10;        &lt;/Box&gt;&#10;&#10;        &lt;Box style={{ width: 1152, height: 96, background: '#FFF4E6', borderRadius: 10, padding: '0 24px', flexDirection: 'column', gap: 4, justifyContent: 'center' }}&gt;&#10;            &lt;Text style={{ fontSize: 17, fontWeight: 'bold', color: '#CB6B28' }}&gt;公共资源更新，不会自动改变既有实验里的物理副本&lt;/Text&gt;&#10;            &lt;Text style={{ fontSize: 15, color: '#546779' }}&gt;需要调整封存实验时创建独立草稿，不能改写既有 Run 所依据的内容&lt;/Text&gt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13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第二份交付：行为与对照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书面设计与导入副本可能不一致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09600" y="15906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真正配置两组之后，把书面设计与实际生效的那一份包内副本逐项对照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09600" y="1914525"/>
            <a:ext cx="5391150" cy="2857500"/>
          </a:xfrm>
          <a:prstGeom prst="roundRect">
            <a:avLst>
              <a:gd name="adj" fmla="val 3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19150" y="2085975"/>
            <a:ext cx="4972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76FBF"/>
                </a:solidFill>
                <a:latin typeface="Microsoft YaHei"/>
                <a:ea typeface="Microsoft YaHei"/>
              </a:rPr>
              <a:t>书面设计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19150" y="2428875"/>
            <a:ext cx="497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交付文档里写下的约定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819150" y="2686050"/>
            <a:ext cx="497205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990600" y="2752725"/>
            <a:ext cx="4629150" cy="1476375"/>
          </a:xfrm>
          <a:prstGeom prst="rect"/>
        </p:spPr>
        <p:txBody>
          <a:bodyPr wrap="none" lIns="0" tIns="0" rIns="0" bIns="0"/>
          <a:p>
            <a:pPr>
              <a:lnSpc>
                <a:spcPct val="172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咨询台　缺少关键目的时先澄清</a:t>
            </a:r>
            <a:endParaRPr/>
          </a:p>
          <a:p>
            <a:pPr>
              <a:lnSpc>
                <a:spcPct val="172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窗口职责　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场地使用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/ B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设施问题</a:t>
            </a:r>
            <a:endParaRPr/>
          </a:p>
          <a:p>
            <a:pPr>
              <a:lnSpc>
                <a:spcPct val="172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人物资料　仅本人目的与首次话语</a:t>
            </a:r>
            <a:endParaRPr/>
          </a:p>
          <a:p>
            <a:pPr>
              <a:lnSpc>
                <a:spcPct val="172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观察窗口　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76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步，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09:00—10:15</a:t>
            </a:r>
            <a:endParaRPr/>
          </a:p>
          <a:p>
            <a:pPr>
              <a:lnSpc>
                <a:spcPct val="172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干预段　仅一段替换，其余保持一致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6191250" y="1914525"/>
            <a:ext cx="5391150" cy="285750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400800" y="2085975"/>
            <a:ext cx="4972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导入副本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400800" y="2428875"/>
            <a:ext cx="497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实际生效的那一份，必须能指认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400800" y="2686050"/>
            <a:ext cx="497205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572250" y="2752725"/>
            <a:ext cx="4629150" cy="1476375"/>
          </a:xfrm>
          <a:prstGeom prst="rect"/>
        </p:spPr>
        <p:txBody>
          <a:bodyPr wrap="none" lIns="0" tIns="0" rIns="0" bIns="0"/>
          <a:p>
            <a:pPr>
              <a:lnSpc>
                <a:spcPct val="172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最新公共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　不等于已封存实验所用</a:t>
            </a:r>
            <a:endParaRPr/>
          </a:p>
          <a:p>
            <a:pPr>
              <a:lnSpc>
                <a:spcPct val="172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包内副本　说明是哪一份、在什么位置</a:t>
            </a:r>
            <a:endParaRPr/>
          </a:p>
          <a:p>
            <a:pPr>
              <a:lnSpc>
                <a:spcPct val="172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共同条件　逐项核对，不只核对干预段</a:t>
            </a:r>
            <a:endParaRPr/>
          </a:p>
          <a:p>
            <a:pPr>
              <a:lnSpc>
                <a:spcPct val="172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差异　写下位置与影响，不静默覆盖</a:t>
            </a:r>
            <a:endParaRPr/>
          </a:p>
          <a:p>
            <a:pPr>
              <a:lnSpc>
                <a:spcPct val="172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封存实验　调整时新建独立草稿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609600" y="492442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38200" y="5181600"/>
            <a:ext cx="1051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公共资源更新，不会自动改变既有实验里的物理副本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38200" y="5419725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需要调整封存实验时创建独立草稿，不能改写既有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所依据的内容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31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39" name="" descr="&lt;Slide notes={`第三份交付是运行和结果，这里最需要克制。&#10;&#10;先区分两类运行。正式运行是纳入项目比较的那些，全部要进运行索引；诊断运行是中途用来排查问题的，它同样要保留，并写清用途。失败、重试、没有闭环的任务都不能删掉，它们就是代价的一部分。&#10;&#10;实验计划要在跑之前写好：哪些样本进入比较，哪些只算工程诊断。这一条特别重要，因为一旦看到结果再交换标签，比较就失去了意义，分母也就被人为修饰过了。&#10;&#10;如果这是设计作业，这一份交的是空白采集表和一段明确标注的人工判分练习，证明你知道怎样判，而不是已经拿到了数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10　章末综合项目&lt;/Text&gt;&#10;            &lt;Text style={{ fontSize: 34, fontWeight: 'bold', color: '#20344B' }}&gt;知识块 ④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④&lt;/Text&gt;&#10;&#10;        &lt;Text style={{ fontSize: 56, fontWeight: 'bold', color: '#20344B', lineHeight: 1.15 }}&gt;第三份交付：运行和结果&lt;/Text&gt;&#10;&#10;        &lt;Box style={{ width: 72, height: 4, background: '#276FBF' }} /&gt;&#10;&#10;        &lt;Text style={{ fontSize: 18, color: '#546779', lineHeight: 1.7, width: 900 }}&gt;正式运行与诊断运行都要留档；判分表按 H1—H4 逐行展开，缺哪一环就写哪一环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运行索引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判分表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报告与证据矩阵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14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章末综合项目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733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④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09600" y="190500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第三份交付：运行和结果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09600" y="40957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09600" y="430530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正式运行与诊断运行都要留档；判分表按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H1—H4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逐行展开，缺哪一环就写哪一环。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6096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695450" y="51244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运行索引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363855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38862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5057775" y="5124450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判分表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91515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71628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991475" y="51244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报告与证据矩阵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31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58" name="" descr="&lt;Slide notes={`运行记录的第一步是分清楚哪些运行算数。&#10;&#10;正式运行是纳入项目比较的那些，要逐条进入运行索引。诊断运行是中途用来查问题的，它也要保留，并且写明用途，不能因为不进入比较就丢掉。失败、重试和没有闭环的任务一律保留，它们本身就是代价的一部分。&#10;&#10;重复次数和预算必须在开始之前确定。如果只跑得动很少几次，就如实说明这属于小型探索，不要拿它做普遍优越的推断。&#10;&#10;还有一条纪律要提前写在实验计划里：哪些样本进入比较、哪些只算工程诊断，在跑之前就定好。看到结果以后再交换标签，比较就失去意义，分母也被人为修饰过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0.4　第三份交付：运行和结果&lt;/Text&gt;&#10;            &lt;Text style={{ fontSize: 34, fontWeight: 'bold', color: '#20344B' }}&gt;运行索引：正式运行与诊断运行&lt;/Text&gt;&#10;        &lt;/Box&gt;&#10;    &lt;/Box&gt;&#10;&#10;    &lt;Box style={{ height: 540, flexDirection: 'row', alignItems: 'center', gap: 32 }}&gt;&#10;&#10;        &lt;Box style={{ width: 694, flexDirection: 'column', justifyContent: 'center', gap: 14 }}&gt;&#10;&#10;            &lt;Box style={{ width: 694, height: 110, background: '#EDF4FC', borderRadius: 10, padding: '0 22px', flexDirection: 'row', alignItems: 'center', gap: 18 }}&gt;&#10;                &lt;Box style={{ width: 4, height: 60, background: '#276FBF' }} /&gt;&#10;                &lt;Box style={{ width: 628, flexDirection: 'column', gap: 4 }}&gt;&#10;                    &lt;Text style={{ fontSize: 20, fontWeight: 'bold', color: '#276FBF' }}&gt;正式运行&lt;/Text&gt;&#10;                    &lt;Text style={{ fontSize: 15, color: '#546779', lineHeight: 1.5 }}&gt;纳入项目比较的运行，逐条进入运行索引，附身份与首个尝试&lt;/Text&gt;&#10;                &lt;/Box&gt;&#10;            &lt;/Box&gt;&#10;&#10;            &lt;Box style={{ width: 694, height: 110, background: '#F4F7FA', borderRadius: 10, padding: '0 22px', flexDirection: 'row', alignItems: 'center', gap: 18 }}&gt;&#10;                &lt;Box style={{ width: 4, height: 60, background: '#26816B' }} /&gt;&#10;                &lt;Box style={{ width: 628, flexDirection: 'column', gap: 4 }}&gt;&#10;                    &lt;Text style={{ fontSize: 20, fontWeight: 'bold', color: '#20344B' }}&gt;诊断运行&lt;/Text&gt;&#10;                    &lt;Text style={{ fontSize: 15, color: '#546779', lineHeight: 1.5 }}&gt;用于排查问题的运行同样保留，并注明它的用途，不进入比较&lt;/Text&gt;&#10;                &lt;/Box&gt;&#10;            &lt;/Box&gt;&#10;&#10;            &lt;Box style={{ width: 694, height: 110, background: '#F4F7FA', borderRadius: 10, padding: '0 22px', flexDirection: 'row', alignItems: 'center', gap: 18 }}&gt;&#10;                &lt;Box style={{ width: 4, height: 60, background: '#CB6B28' }} /&gt;&#10;                &lt;Box style={{ width: 628, flexDirection: 'column', gap: 4 }}&gt;&#10;                    &lt;Text style={{ fontSize: 20, fontWeight: 'bold', color: '#20344B' }}&gt;失败与未完成&lt;/Text&gt;&#10;                    &lt;Text style={{ fontSize: 15, color: '#546779', lineHeight: 1.5 }}&gt;一律登记，不删除也不改名；它们就是代价的一部分&lt;/Text&gt;&#10;                &lt;/Box&gt;&#10;            &lt;/Box&gt;&#10;&#10;        &lt;/Box&gt;&#10;&#10;        &lt;Box style={{ width: 426, flexDirection: 'column', justifyContent: 'center', gap: 14 }}&gt;&#10;            &lt;Text style={{ fontSize: 14, color: '#546779' }}&gt;开始之前就要写定的两件事&lt;/Text&gt;&#10;&#10;            &lt;Box style={{ width: 426, height: 118, background: '#FFF4E6', borderRadius: 10, padding: '16px 20px', flexDirection: 'column', gap: 6, justifyContent: 'center' }}&gt;&#10;                &lt;Text style={{ fontSize: 19, fontWeight: 'bold', color: '#CB6B28' }}&gt;哪些样本进入比较&lt;/Text&gt;&#10;                &lt;Text style={{ fontSize: 15, color: '#546779', lineHeight: 1.5 }}&gt;看到结果之后不得随意交换比较与诊断的标签&lt;/Text&gt;&#10;            &lt;/Box&gt;&#10;&#10;            &lt;Box style={{ width: 426, height: 118, background: '#ECF7F2', borderRadius: 10, padding: '16px 20px', flexDirection: 'column', gap: 6, justifyContent: 'center' }}&gt;&#10;                &lt;Text style={{ fontSize: 19, fontWeight: 'bold', color: '#26816B' }}&gt;重复次数与预算&lt;/Text&gt;&#10;                &lt;Text style={{ fontSize: 15, color: '#546779', lineHeight: 1.5 }}&gt;在开始前确定；只能跑很少几次时如实说明属于小型探索&lt;/Text&gt;&#10;            &lt;/Box&gt;&#10;&#10;            &lt;Text style={{ fontSize: 14, color: '#546779', lineHeight: 1.5 }}&gt;运行记录沿用第四章的全部运行索引，不再另建一套含义相同的表。&lt;/Text&gt;&#10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15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第三份交付：运行和结果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运行索引：正式运行与诊断运行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09600" y="2009775"/>
            <a:ext cx="6610350" cy="104775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819150" y="224790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028700" y="2276475"/>
            <a:ext cx="598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正式运行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028700" y="2543175"/>
            <a:ext cx="59817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纳入项目比较的运行，逐条进入运行索引，附身份与首个尝试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609600" y="3190875"/>
            <a:ext cx="6610350" cy="104775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819150" y="3429000"/>
            <a:ext cx="38100" cy="5715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028700" y="3457575"/>
            <a:ext cx="598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诊断运行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028700" y="3724275"/>
            <a:ext cx="59817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用于排查问题的运行同样保留，并注明它的用途，不进入比较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09600" y="4371975"/>
            <a:ext cx="6610350" cy="104775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819150" y="461010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028700" y="4638675"/>
            <a:ext cx="598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失败与未完成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028700" y="4905375"/>
            <a:ext cx="59817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一律登记，不删除也不改名；它们就是代价的一部分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7524750" y="2190750"/>
            <a:ext cx="405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开始之前就要写定的两件事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7524750" y="2486025"/>
            <a:ext cx="4057650" cy="1123950"/>
          </a:xfrm>
          <a:prstGeom prst="roundRect">
            <a:avLst>
              <a:gd name="adj" fmla="val 847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715250" y="2781300"/>
            <a:ext cx="3676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哪些样本进入比较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715250" y="3057525"/>
            <a:ext cx="3676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看到结果之后不得随意交换比较与诊断的标签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7524750" y="3743325"/>
            <a:ext cx="4057650" cy="1123950"/>
          </a:xfrm>
          <a:prstGeom prst="roundRect">
            <a:avLst>
              <a:gd name="adj" fmla="val 847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7715250" y="4038600"/>
            <a:ext cx="3676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重复次数与预算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715250" y="4314825"/>
            <a:ext cx="3676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在开始前确定；只能跑很少几次时如实说明属于小型探索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7524750" y="5000625"/>
            <a:ext cx="40576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运行记录沿用第四章的全部运行索引，不再另建一套含义相同的表。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31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85" name="" descr="&lt;Slide notes={`判分表按四个任务逐行展开。每个任务至少要能定位五样东西：首次入口请求、实际得到的建议、窗口请求、适配回复，以及是否完成确认。缺少哪一环，就在表里写缺哪一环，不要留空。&#10;&#10;四个任务里有两个设计上的陷阱。周澈和孟川的首次话语完全相同，都是问活动室照明和使用；谭悦和邱禾的首次话语也完全相同。可是前两人的真实目的是场地使用，后两人的真实目的是设施报修，对应的是两个不同的窗口。只看首句根本判断不出目的，这就是必须逐环定位的原因。&#10;&#10;计数上还有两条口径：无效访问按真实的错误窗口请求计数；首次有效回应与最终闭环要分开处理。解释人物动作时使用世界事实，解释调用代价时保留全部相关的物理尝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0.4　第三份交付：运行和结果&lt;/Text&gt;&#10;            &lt;Text style={{ fontSize: 34, fontWeight: 'bold', color: '#20344B' }}&gt;判分表按 H1—H4 逐行展开&lt;/Text&gt;&#10;        &lt;/Box&gt;&#10;    &lt;/Box&gt;&#10;&#10;    &lt;Box style={{ height: 540, flexDirection: 'column', justifyContent: 'center', gap: 12 }}&gt;&#10;&#10;        &lt;Text style={{ fontSize: 15, color: '#546779' }}&gt;一个任务至少要能定位以下五个环节；缺哪一环就写哪一环，不留空&lt;/Text&gt;&#10;&#10;        &lt;Box style={{ width: 1152, flexDirection: 'row', gap: 10 }}&gt;&#10;            &lt;Box style={{ width: 222, height: 64, background: '#276FBF', borderRadius: 8, justifyContent: 'center', alignItems: 'center' }}&gt;&#10;                &lt;Text style={{ fontSize: 15, fontWeight: 'bold', color: '#FFFFFF' }}&gt;① 首次入口请求&lt;/Text&gt;&#10;            &lt;/Box&gt;&#10;            &lt;Box style={{ width: 222, height: 64, background: '#276FBF', borderRadius: 8, justifyContent: 'center', alignItems: 'center' }}&gt;&#10;                &lt;Text style={{ fontSize: 15, fontWeight: 'bold', color: '#FFFFFF' }}&gt;② 实际得到的建议&lt;/Text&gt;&#10;            &lt;/Box&gt;&#10;            &lt;Box style={{ width: 222, height: 64, background: '#276FBF', borderRadius: 8, justifyContent: 'center', alignItems: 'center' }}&gt;&#10;                &lt;Text style={{ fontSize: 15, fontWeight: 'bold', color: '#FFFFFF' }}&gt;③ 窗口请求&lt;/Text&gt;&#10;            &lt;/Box&gt;&#10;            &lt;Box style={{ width: 222, height: 64, background: '#26816B', borderRadius: 8, justifyContent: 'center', alignItems: 'center' }}&gt;&#10;                &lt;Text style={{ fontSize: 15, fontWeight: 'bold', color: '#FFFFFF' }}&gt;④ 适配回复&lt;/Text&gt;&#10;            &lt;/Box&gt;&#10;            &lt;Box style={{ width: 222, height: 64, background: '#26816B', borderRadius: 8, justifyContent: 'center', alignItems: 'center' }}&gt;&#10;                &lt;Text style={{ fontSize: 15, fontWeight: 'bold', color: '#FFFFFF' }}&gt;⑤ 是否完成确认&lt;/Text&gt;&#10;            &lt;/Box&gt;&#10;        &lt;/Box&gt;&#10;&#10;        &lt;Box style={{ width: 1152, height: 62, background: '#F4F7FA', borderRadius: 8, padding: '0 22px', flexDirection: 'row', alignItems: 'center', gap: 16 }}&gt;&#10;            &lt;Text style={{ fontSize: 17, fontWeight: 'bold', color: '#276FBF', width: 150 }}&gt;H1　周澈&lt;/Text&gt;&#10;            &lt;Text style={{ fontSize: 15, color: '#20344B', width: 420 }}&gt;下周借活动室办读书会，需确认照明条件&lt;/Text&gt;&#10;            &lt;Text style={{ fontSize: 17, fontWeight: 'bold', color: '#CB6B28', width: 120 }}&gt;窗口 A&lt;/Text&gt;&#10;            &lt;Text style={{ fontSize: 14, color: '#546779', width: 370 }}&gt;首次话语：我想问活动室照明和使用的事。&lt;/Text&gt;&#10;        &lt;/Box&gt;&#10;&#10;        &lt;Box style={{ width: 1152, height: 62, background: '#F4F7FA', borderRadius: 8, padding: '0 22px', flexDirection: 'row', alignItems: 'center', gap: 16 }}&gt;&#10;            &lt;Text style={{ fontSize: 17, fontWeight: 'bold', color: '#276FBF', width: 150 }}&gt;H2　谭悦&lt;/Text&gt;&#10;            &lt;Text style={{ fontSize: 15, color: '#20344B', width: 420 }}&gt;预约手工作品展示，需确认桌面照明安排&lt;/Text&gt;&#10;            &lt;Text style={{ fontSize: 17, fontWeight: 'bold', color: '#CB6B28', width: 120 }}&gt;窗口 A&lt;/Text&gt;&#10;            &lt;Text style={{ fontSize: 14, color: '#546779', width: 370 }}&gt;首次话语：我想问活动室灯具的安排。&lt;/Text&gt;&#10;        &lt;/Box&gt;&#10;&#10;        &lt;Box style={{ width: 1152, height: 62, background: '#F4F7FA', borderRadius: 8, padding: '0 22px', flexDirection: 'row', alignItems: 'center', gap: 16 }}&gt;&#10;            &lt;Text style={{ fontSize: 17, fontWeight: 'bold', color: '#26816B', width: 150 }}&gt;H3　孟川&lt;/Text&gt;&#10;            &lt;Text style={{ fontSize: 15, color: '#20344B', width: 420 }}&gt;今天发现活动室东侧一盏灯不亮，了解如何报告&lt;/Text&gt;&#10;            &lt;Text style={{ fontSize: 17, fontWeight: 'bold', color: '#CB6B28', width: 120 }}&gt;窗口 B&lt;/Text&gt;&#10;            &lt;Text style={{ fontSize: 14, color: '#CB6B28', width: 370 }}&gt;首次话语与 H1 完全相同&lt;/Text&gt;&#10;        &lt;/Box&gt;&#10;&#10;        &lt;Box style={{ width: 1152, height: 62, background: '#F4F7FA', borderRadius: 8, padding: '0 22px', flexDirection: 'row', alignItems: 'center', gap: 16 }}&gt;&#10;            &lt;Text style={{ fontSize: 17, fontWeight: 'bold', color: '#26816B', width: 150 }}&gt;H4　邱禾&lt;/Text&gt;&#10;            &lt;Text style={{ fontSize: 15, color: '#20344B', width: 420 }}&gt;今天发现活动室入口灯持续闪烁，了解如何报告&lt;/Text&gt;&#10;            &lt;Text style={{ fontSize: 17, fontWeight: 'bold', color: '#CB6B28', width: 120 }}&gt;窗口 B&lt;/Text&gt;&#10;            &lt;Text style={{ fontSize: 14, color: '#CB6B28', width: 370 }}&gt;首次话语与 H2 完全相同&lt;/Text&gt;&#10;        &lt;/Box&gt;&#10;&#10;        &lt;Box style={{ width: 1152, height: 76, background: '#FFF4E6', borderRadius: 10, padding: '0 24px', flexDirection: 'column', gap: 4, justifyContent: 'center' }}&gt;&#10;            &lt;Text style={{ fontSize: 17, fontWeight: 'bold', color: '#CB6B28' }}&gt;无效访问按真实错误窗口请求计数，首次有效回应与最终闭环分别处理&lt;/Text&gt;&#10;            &lt;Text style={{ fontSize: 15, color: '#546779' }}&gt;解释人物动作时使用世界事实；解释调用代价时保留全部相关物理尝试&lt;/Text&gt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16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067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第三份交付：运行和结果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067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判分表按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H1—H4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逐行展开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09600" y="1438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一个任务至少要能定位以下五个环节；缺哪一环就写哪一环，不留空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609600" y="1724025"/>
            <a:ext cx="2114550" cy="609600"/>
          </a:xfrm>
          <a:prstGeom prst="roundRect">
            <a:avLst>
              <a:gd name="adj" fmla="val 125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43000" y="1943100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首次入口请求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2819400" y="1724025"/>
            <a:ext cx="2114550" cy="609600"/>
          </a:xfrm>
          <a:prstGeom prst="roundRect">
            <a:avLst>
              <a:gd name="adj" fmla="val 125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3286125" y="1943100"/>
            <a:ext cx="1190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实际得到的建议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5029200" y="1724025"/>
            <a:ext cx="2114550" cy="609600"/>
          </a:xfrm>
          <a:prstGeom prst="roundRect">
            <a:avLst>
              <a:gd name="adj" fmla="val 125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5705475" y="1943100"/>
            <a:ext cx="76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窗口请求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7239000" y="1724025"/>
            <a:ext cx="2114550" cy="609600"/>
          </a:xfrm>
          <a:prstGeom prst="roundRect">
            <a:avLst>
              <a:gd name="adj" fmla="val 125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915275" y="1943100"/>
            <a:ext cx="76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适配回复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9448800" y="1724025"/>
            <a:ext cx="2114550" cy="609600"/>
          </a:xfrm>
          <a:prstGeom prst="roundRect">
            <a:avLst>
              <a:gd name="adj" fmla="val 125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9982200" y="1943100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⑤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是否完成确认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09600" y="2447925"/>
            <a:ext cx="109728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19150" y="264795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H1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　周澈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2400300" y="2657475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下周借活动室办读书会，需确认照明条件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553200" y="2647950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窗口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A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7848600" y="2667000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首次话语：我想问活动室照明和使用的事。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609600" y="3152775"/>
            <a:ext cx="109728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19150" y="335280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H2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　谭悦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2400300" y="3362325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预约手工作品展示，需确认桌面照明安排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553200" y="3352800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窗口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A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848600" y="3371850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首次话语：我想问活动室灯具的安排。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609600" y="3857625"/>
            <a:ext cx="109728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19150" y="405765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>H3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　孟川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2400300" y="4067175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今天发现活动室东侧一盏灯不亮，了解如何报告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553200" y="4057650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窗口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B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848600" y="4076700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首次话语与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H1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完全相同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609600" y="4562475"/>
            <a:ext cx="109728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19150" y="476250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>H4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　邱禾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2400300" y="4772025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今天发现活动室入口灯持续闪烁，了解如何报告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553200" y="4762500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窗口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B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848600" y="4781550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首次话语与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H2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完全相同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09600" y="526732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38200" y="5429250"/>
            <a:ext cx="1051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无效访问按真实错误窗口请求计数，首次有效回应与最终闭环分别处理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38200" y="5667375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解释人物动作时使用世界事实；解释调用代价时保留全部相关物理尝试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31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26" name="" descr="&lt;Slide notes={`同一份判分表，在两种交付范围里交出的东西并不一样。&#10;&#10;设计作业在这里交的是空白采集表，加上一段明确标注的人工判分练习。它要证明的是你知道怎样判、判据是什么、哪个环节缺了怎么记。它不应该伪装成已经取得数据，也不应该用编造的数字把表格填满。&#10;&#10;运行作业交的是真实记录：全部样本、全部结果，包括那些没有闭环的任务。如果所有任务都没闭环，那也不是把报告删掉的理由，而是要说明失败发生在哪里、手上的证据是否足够、是否值得修改方案。&#10;&#10;这就是两种范围的区别。它不体现在报告写得多漂亮，而体现在你交的到底是计划还是事实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0.4　第三份交付：运行和结果&lt;/Text&gt;&#10;            &lt;Text style={{ fontSize: 34, fontWeight: 'bold', color: '#20344B' }}&gt;两种范围在同一位置交什么&lt;/Text&gt;&#10;        &lt;/Box&gt;&#10;    &lt;/Box&gt;&#10;&#10;    &lt;Box style={{ height: 540, flexDirection: 'column', justifyContent: 'center', gap: 16 }}&gt;&#10;&#10;        &lt;Box style={{ width: 1152, flexDirection: 'row', alignItems: 'flex-start', gap: 32 }}&gt;&#10;&#10;            &lt;Box style={{ width: 668, flexDirection: 'column', gap: 10 }}&gt;&#10;                &lt;Box style={{ width: 668, height: 56, background: '#EDF4FC', borderRadius: 8, padding: '0 22px', justifyContent: 'center' }}&gt;&#10;                    &lt;Text style={{ fontSize: 20, fontWeight: 'bold', color: '#276FBF' }}&gt;设计作业　交计划&lt;/Text&gt;&#10;                &lt;/Box&gt;&#10;                &lt;Box style={{ width: 668, height: 66, background: '#F4F7FA', borderRadius: 8, padding: '0 22px', justifyContent: 'center' }}&gt;&#10;                    &lt;Text style={{ fontSize: 16, color: '#20344B' }}&gt;第三组交空白采集表&lt;/Text&gt;&#10;                &lt;/Box&gt;&#10;                &lt;Box style={{ width: 668, height: 66, background: '#F4F7FA', borderRadius: 8, padding: '0 22px', justifyContent: 'center' }}&gt;&#10;                    &lt;Text style={{ fontSize: 16, color: '#20344B' }}&gt;加一段明确标注的人工判分练习&lt;/Text&gt;&#10;                &lt;/Box&gt;&#10;                &lt;Box style={{ width: 668, height: 66, background: '#F4F7FA', borderRadius: 8, padding: '0 22px', justifyContent: 'center' }}&gt;&#10;                    &lt;Text style={{ fontSize: 16, color: '#20344B' }}&gt;展示自己知道怎样判、缺环怎样记&lt;/Text&gt;&#10;                &lt;/Box&gt;&#10;                &lt;Box style={{ width: 668, height: 66, background: '#FFF4E6', borderRadius: 8, padding: '0 22px', justifyContent: 'center' }}&gt;&#10;                    &lt;Text style={{ fontSize: 16, color: '#CB6B28' }}&gt;不伪装成已经取得数据&lt;/Text&gt;&#10;                &lt;/Box&gt;&#10;            &lt;/Box&gt;&#10;&#10;            &lt;Box style={{ width: 452, flexDirection: 'column', gap: 10 }}&gt;&#10;                &lt;Box style={{ width: 452, height: 56, background: '#ECF7F2', borderRadius: 8, padding: '0 22px', justifyContent: 'center' }}&gt;&#10;                    &lt;Text style={{ fontSize: 20, fontWeight: 'bold', color: '#26816B' }}&gt;运行作业　交事实&lt;/Text&gt;&#10;                &lt;/Box&gt;&#10;                &lt;Box style={{ width: 452, height: 66, background: '#F4F7FA', borderRadius: 8, padding: '0 22px', justifyContent: 'center' }}&gt;&#10;                    &lt;Text style={{ fontSize: 16, color: '#20344B' }}&gt;第三组交真实记录&lt;/Text&gt;&#10;                &lt;/Box&gt;&#10;                &lt;Box style={{ width: 452, height: 66, background: '#F4F7FA', borderRadius: 8, padding: '0 22px', justifyContent: 'center' }}&gt;&#10;                    &lt;Text style={{ fontSize: 16, color: '#20344B' }}&gt;全部样本、全部结果&lt;/Text&gt;&#10;                &lt;/Box&gt;&#10;                &lt;Box style={{ width: 452, height: 66, background: '#F4F7FA', borderRadius: 8, padding: '0 22px', justifyContent: 'center' }}&gt;&#10;                    &lt;Text style={{ fontSize: 16, color: '#20344B' }}&gt;说明失败发生在哪里&lt;/Text&gt;&#10;                &lt;/Box&gt;&#10;                &lt;Box style={{ width: 452, height: 66, background: '#F4F7FA', borderRadius: 8, padding: '0 22px', justifyContent: 'center' }}&gt;&#10;                    &lt;Text style={{ fontSize: 16, color: '#20344B' }}&gt;证据是否足够、是否改方案&lt;/Text&gt;&#10;                &lt;/Box&gt;&#10;            &lt;/Box&gt;&#10;&#10;        &lt;/Box&gt;&#10;&#10;        &lt;Box style={{ width: 1152, height: 88, background: '#FFF4E6', borderRadius: 10, padding: '0 24px', flexDirection: 'column', gap: 4, justifyContent: 'center' }}&gt;&#10;            &lt;Text style={{ fontSize: 17, fontWeight: 'bold', color: '#CB6B28' }}&gt;全部任务都没有闭环时，仍然要说明失败发生在哪里&lt;/Text&gt;&#10;            &lt;Text style={{ fontSize: 15, color: '#546779' }}&gt;完整地记录失败与判断，同样体现对系统和方法的掌握&lt;/Text&gt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17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第三份交付：运行和结果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两种范围在同一位置交什么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609600" y="1504950"/>
            <a:ext cx="63627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19150" y="1657350"/>
            <a:ext cx="5943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设计作业　交计划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609600" y="2133600"/>
            <a:ext cx="63627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19150" y="2352675"/>
            <a:ext cx="594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第三组交空白采集表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609600" y="2857500"/>
            <a:ext cx="63627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19150" y="3076575"/>
            <a:ext cx="594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加一段明确标注的人工判分练习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09600" y="3581400"/>
            <a:ext cx="63627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19150" y="3800475"/>
            <a:ext cx="594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展示自己知道怎样判、缺环怎样记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09600" y="4305300"/>
            <a:ext cx="6362700" cy="628650"/>
          </a:xfrm>
          <a:prstGeom prst="roundRect">
            <a:avLst>
              <a:gd name="adj" fmla="val 121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19150" y="4524375"/>
            <a:ext cx="594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不伪装成已经取得数据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7277100" y="1504950"/>
            <a:ext cx="43053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486650" y="1657350"/>
            <a:ext cx="3886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运行作业　交事实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7277100" y="2133600"/>
            <a:ext cx="43053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7486650" y="2352675"/>
            <a:ext cx="388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第三组交真实记录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7277100" y="2857500"/>
            <a:ext cx="43053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486650" y="3076575"/>
            <a:ext cx="388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全部样本、全部结果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7277100" y="3581400"/>
            <a:ext cx="43053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486650" y="3800475"/>
            <a:ext cx="388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说明失败发生在哪里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7277100" y="4305300"/>
            <a:ext cx="43053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486650" y="4524375"/>
            <a:ext cx="388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证据是否足够、是否改方案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609600" y="508635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38200" y="5305425"/>
            <a:ext cx="1051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全部任务都没有闭环时，仍然要说明失败发生在哪里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38200" y="5543550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完整地记录失败与判断，同样体现对系统和方法的掌握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31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56" name="" descr="&lt;Slide notes={`报告要让人能读懂，也要让结论经得起追问。至少要有六个部分。&#10;&#10;方法说清楚你做了什么、比较的是什么。全部样本说明分母是多少，一个都不能漏。主要结果只报事实，不替读者下判断。代价包括调用、时间和重试，失败的那部分也算在里面。替代解释是把另一种可能也写出来，不要只留一个你喜欢的答案。最后是局限，明确说出结论能走多远。&#10;&#10;配图可以很简单，原始计数比一个没有分母的大百分比有用得多。另外，每一个主要结论都应该在需求—证据矩阵里找到对应依据，否则它就只是一个说法，不是一项可以核对的结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0.4　第三份交付：运行和结果&lt;/Text&gt;&#10;            &lt;Text style={{ fontSize: 34, fontWeight: 'bold', color: '#20344B' }}&gt;报告的六个要素&lt;/Text&gt;&#10;        &lt;/Box&gt;&#10;    &lt;/Box&gt;&#10;&#10;    &lt;Box style={{ height: 540, flexDirection: 'column', justifyContent: 'center', gap: 14 }}&gt;&#10;&#10;        &lt;Text style={{ fontSize: 15, color: '#546779' }}&gt;报告至少包含六个部分，每个主要结论都要在需求—证据矩阵中找到依据&lt;/Text&gt;&#10;&#10;        &lt;Box style={{ width: 1152, flexDirection: 'row', gap: 21 }}&gt;&#10;            &lt;Box style={{ width: 370, height: 112, background: '#EDF4FC', borderRadius: 10, padding: '16px 20px', flexDirection: 'column', gap: 6, justifyContent: 'center' }}&gt;&#10;                &lt;Text style={{ fontSize: 20, fontWeight: 'bold', color: '#276FBF' }}&gt;方法&lt;/Text&gt;&#10;                &lt;Text style={{ fontSize: 15, color: '#546779', lineHeight: 1.5 }}&gt;做了什么、比较什么、共同条件是什么&lt;/Text&gt;&#10;            &lt;/Box&gt;&#10;            &lt;Box style={{ width: 370, height: 112, background: '#EDF4FC', borderRadius: 10, padding: '16px 20px', flexDirection: 'column', gap: 6, justifyContent: 'center' }}&gt;&#10;                &lt;Text style={{ fontSize: 20, fontWeight: 'bold', color: '#276FBF' }}&gt;全部样本&lt;/Text&gt;&#10;                &lt;Text style={{ fontSize: 15, color: '#546779', lineHeight: 1.5 }}&gt;分母先固定，未完成与失败一个都不漏&lt;/Text&gt;&#10;            &lt;/Box&gt;&#10;            &lt;Box style={{ width: 370, height: 112, background: '#ECF7F2', borderRadius: 10, padding: '16px 20px', flexDirection: 'column', gap: 6, justifyContent: 'center' }}&gt;&#10;                &lt;Text style={{ fontSize: 20, fontWeight: 'bold', color: '#26816B' }}&gt;主要结果&lt;/Text&gt;&#10;                &lt;Text style={{ fontSize: 15, color: '#546779', lineHeight: 1.5 }}&gt;只报事实与定位，不替读者下结论&lt;/Text&gt;&#10;            &lt;/Box&gt;&#10;        &lt;/Box&gt;&#10;&#10;        &lt;Box style={{ width: 1152, flexDirection: 'row', gap: 21 }}&gt;&#10;            &lt;Box style={{ width: 370, height: 112, background: '#F4F7FA', borderRadius: 10, padding: '16px 20px', flexDirection: 'column', gap: 6, justifyContent: 'center' }}&gt;&#10;                &lt;Text style={{ fontSize: 20, fontWeight: 'bold', color: '#20344B' }}&gt;代价&lt;/Text&gt;&#10;                &lt;Text style={{ fontSize: 15, color: '#546779', lineHeight: 1.5 }}&gt;调用、等待与重试；失败同样计入&lt;/Text&gt;&#10;            &lt;/Box&gt;&#10;            &lt;Box style={{ width: 370, height: 112, background: '#F4F7FA', borderRadius: 10, padding: '16px 20px', flexDirection: 'column', gap: 6, justifyContent: 'center' }}&gt;&#10;                &lt;Text style={{ fontSize: 20, fontWeight: 'bold', color: '#20344B' }}&gt;替代解释&lt;/Text&gt;&#10;                &lt;Text style={{ fontSize: 15, color: '#546779', lineHeight: 1.5 }}&gt;把另一种可能也写出来，不只留一个答案&lt;/Text&gt;&#10;            &lt;/Box&gt;&#10;            &lt;Box style={{ width: 370, height: 112, background: '#FFF4E6', borderRadius: 10, padding: '16px 20px', flexDirection: 'column', gap: 6, justifyContent: 'center' }}&gt;&#10;                &lt;Text style={{ fontSize: 20, fontWeight: 'bold', color: '#CB6B28' }}&gt;局限&lt;/Text&gt;&#10;                &lt;Text style={{ fontSize: 15, color: '#546779', lineHeight: 1.5 }}&gt;明确写出结论能走多远，不能推到哪一步&lt;/Text&gt;&#10;            &lt;/Box&gt;&#10;        &lt;/Box&gt;&#10;&#10;        &lt;Box style={{ width: 1152, height: 88, background: '#F7F3E8', borderRadius: 10, padding: '0 24px', flexDirection: 'column', gap: 4, justifyContent: 'center' }}&gt;&#10;            &lt;Text style={{ fontSize: 17, fontWeight: 'bold', color: '#20344B' }}&gt;每一项结论都要在需求—证据矩阵里找到对应依据&lt;/Text&gt;&#10;            &lt;Text style={{ fontSize: 15, color: '#546779' }}&gt;配图可以很简单，原始计数比没有分母的大百分比更有用&lt;/Text&gt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18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第三份交付：运行和结果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报告的六个要素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09600" y="19431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报告至少包含六个部分，每个主要结论都要在需求—证据矩阵中找到依据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609600" y="2247900"/>
            <a:ext cx="3524250" cy="1066800"/>
          </a:xfrm>
          <a:prstGeom prst="roundRect">
            <a:avLst>
              <a:gd name="adj" fmla="val 89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800100" y="2514600"/>
            <a:ext cx="3143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方法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800100" y="2800350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做了什么、比较什么、共同条件是什么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4333875" y="2247900"/>
            <a:ext cx="3524250" cy="1066800"/>
          </a:xfrm>
          <a:prstGeom prst="roundRect">
            <a:avLst>
              <a:gd name="adj" fmla="val 89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4524375" y="2514600"/>
            <a:ext cx="3143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全部样本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524375" y="2800350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分母先固定，未完成与失败一个都不漏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8058150" y="2247900"/>
            <a:ext cx="3524250" cy="1066800"/>
          </a:xfrm>
          <a:prstGeom prst="roundRect">
            <a:avLst>
              <a:gd name="adj" fmla="val 89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248650" y="2514600"/>
            <a:ext cx="3143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主要结果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8248650" y="2800350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只报事实与定位，不替读者下结论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609600" y="3448050"/>
            <a:ext cx="3524250" cy="1066800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00100" y="3714750"/>
            <a:ext cx="3143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代价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00100" y="4000500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调用、等待与重试；失败同样计入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4333875" y="3448050"/>
            <a:ext cx="3524250" cy="1066800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4524375" y="3714750"/>
            <a:ext cx="3143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替代解释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4524375" y="4000500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把另一种可能也写出来，不只留一个答案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8058150" y="3448050"/>
            <a:ext cx="3524250" cy="1066800"/>
          </a:xfrm>
          <a:prstGeom prst="roundRect">
            <a:avLst>
              <a:gd name="adj" fmla="val 89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248650" y="3714750"/>
            <a:ext cx="3143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局限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248650" y="4000500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明确写出结论能走多远，不能推到哪一步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09600" y="464820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838200" y="4867275"/>
            <a:ext cx="1051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每一项结论都要在需求—证据矩阵里找到对应依据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838200" y="5105400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配图可以很简单，原始计数比没有分母的大百分比更有用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31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85" name="" descr="&lt;Slide notes={`第四份交付是整条链路的关口：接收。&#10;&#10;接收者首先只拿交付入口，不听作者口头补充。他要能够自己找到项目范围、组别差异、材料来源、原始文件和已知限制。这一条听上去基础，但它是判断交付能不能独立成立的最低门槛。&#10;&#10;然后随机选择一项需求，顺着需求—证据矩阵定位到支持材料，写下实际检查结果。随机这一条很关键，作者指定的那一项往往刚好是他准备得最好的。&#10;&#10;如果约定接收运行成果，再核对实际文件类型、身份和哈希，按接收检查表完成约定层次。这里的重点不是一次做完所有层次，而是每一层都如实标注实际完成到哪一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10　章末综合项目&lt;/Text&gt;&#10;            &lt;Text style={{ fontSize: 34, fontWeight: 'bold', color: '#20344B' }}&gt;知识块 ⑤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⑤&lt;/Text&gt;&#10;&#10;        &lt;Text style={{ fontSize: 56, fontWeight: 'bold', color: '#20344B', lineHeight: 1.15 }}&gt;第四份交付：接收与反馈处理&lt;/Text&gt;&#10;&#10;        &lt;Box style={{ width: 72, height: 4, background: '#276FBF' }} /&gt;&#10;&#10;        &lt;Text style={{ fontSize: 18, color: '#546779', lineHeight: 1.7, width: 900 }}&gt;接收者只拿交付入口，随机选一项需求定位证据，写下实际检查结果；作者再据此记录处理决定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只拿交付入口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定位并检查&lt;/Text&gt;&#10;            &lt;/Box&gt;&#10;            &lt;Box style={{ width: 44, height: 64, justifyContent: 'center', alignItems: 'center' }}&gt;&#10;                &lt;Text style={{ fontSize: 26, color: '#CB6B28' }}&gt;›&lt;/Text&gt;&#10;            &lt;/Box&gt;&#10;            &lt;Box style={{ width: 300, height: 64, background: '#FFF4E6', borderRadius: 8, justifyContent: 'center', alignItems: 'center' }}&gt;&#10;                &lt;Text style={{ fontSize: 18, color: '#CB6B28' }}&gt;处理决定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19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章末综合项目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733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⑤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609600" y="190500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第四份交付：接收与反馈处理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09600" y="40957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09600" y="430530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接收者只拿交付入口，随机选一项需求定位证据，写下实际检查结果；作者再据此记录处理决定。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6096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524000" y="51244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只拿交付入口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363855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38862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4886325" y="51244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定位并检查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91515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71628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8248650" y="51244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处理决定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31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55" name="" descr="&lt;Slide notes={`接收这件事可以拆成三个动作。&#10;&#10;第一个动作是只拿入口。作者把交付入口给出去，不口头补充，看接收者能不能自己找到项目范围、组别差异、材料来源、原始文件和已知限制。这一步暴露的通常是索引问题，而不是能力问题。&#10;&#10;第二个动作是顺着证据定位。随机选一项需求，从需求—证据矩阵出发，找到支持它的材料。这里的难点在于结论和原始事实之间往往隔着几层整理，接收者要能一路走下去。&#10;&#10;第三个动作是写下实际检查结果。写清检查了什么、完成到哪一层、哪里还没执行。&#10;&#10;再往下如果约定核对运行成果，还要核对文件类型、身份和哈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0.5　第四份交付：接收与反馈处理&lt;/Text&gt;&#10;            &lt;Text style={{ fontSize: 34, fontWeight: 'bold', color: '#20344B' }}&gt;接收者只拿入口，不听口头补充&lt;/Text&gt;&#10;        &lt;/Box&gt;&#10;    &lt;/Box&gt;&#10;&#10;    &lt;Box style={{ height: 540, flexDirection: 'column', justifyContent: 'center', gap: 16 }}&gt;&#10;&#10;        &lt;Text style={{ fontSize: 15, color: '#546779' }}&gt;接收者独立完成三个动作，作者的讲解不算在交付里&lt;/Text&gt;&#10;&#10;        &lt;Box style={{ width: 1152, flexDirection: 'row', alignItems: 'center' }}&gt;&#10;            &lt;Box style={{ width: 354, height: 232, background: '#EDF4FC', borderRadius: 10, padding: '18px 20px', flexDirection: 'column', gap: 6 }}&gt;&#10;                &lt;Text style={{ fontSize: 56, fontWeight: 'bold', color: '#276FBF', lineHeight: 1.0 }}&gt;1&lt;/Text&gt;&#10;                &lt;Box style={{ width: 40, height: 4, background: '#276FBF', marginTop: 2 }} /&gt;&#10;                &lt;Text style={{ fontSize: 20, fontWeight: 'bold', color: '#276FBF', marginTop: 6 }}&gt;只拿交付入口&lt;/Text&gt;&#10;                &lt;Text style={{ fontSize: 15, color: '#546779', lineHeight: 1.6 }}&gt;不听作者口头补充，独立找到项目范围、组别差异、材料来源、原始文件与已知限制&lt;/Text&gt;&#10;            &lt;/Box&gt;&#10;            &lt;Box style={{ width: 44, height: 232, justifyContent: 'center', alignItems: 'center' }}&gt;&#10;                &lt;Text style={{ fontSize: 30, color: '#276FBF' }}&gt;›&lt;/Text&gt;&#10;            &lt;/Box&gt;&#10;            &lt;Box style={{ width: 354, height: 232, background: '#ECF7F2', borderRadius: 10, padding: '18px 20px', flexDirection: 'column', gap: 6 }}&gt;&#10;                &lt;Text style={{ fontSize: 56, fontWeight: 'bold', color: '#26816B', lineHeight: 1.0 }}&gt;2&lt;/Text&gt;&#10;                &lt;Box style={{ width: 40, height: 4, background: '#26816B', marginTop: 2 }} /&gt;&#10;                &lt;Text style={{ fontSize: 20, fontWeight: 'bold', color: '#26816B', marginTop: 6 }}&gt;顺着矩阵定位证据&lt;/Text&gt;&#10;                &lt;Text style={{ fontSize: 15, color: '#546779', lineHeight: 1.6 }}&gt;随机选一项需求，从需求—证据矩阵一路走到支持它的原始材料&lt;/Text&gt;&#10;            &lt;/Box&gt;&#10;            &lt;Box style={{ width: 44, height: 232, justifyContent: 'center', alignItems: 'center' }}&gt;&#10;                &lt;Text style={{ fontSize: 30, color: '#CB6B28' }}&gt;›&lt;/Text&gt;&#10;            &lt;/Box&gt;&#10;            &lt;Box style={{ width: 354, height: 232, background: '#FFF4E6', borderRadius: 10, padding: '18px 20px', flexDirection: 'column', gap: 6 }}&gt;&#10;                &lt;Text style={{ fontSize: 56, fontWeight: 'bold', color: '#CB6B28', lineHeight: 1.0 }}&gt;3&lt;/Text&gt;&#10;                &lt;Box style={{ width: 40, height: 4, background: '#CB6B28', marginTop: 2 }} /&gt;&#10;                &lt;Text style={{ fontSize: 20, fontWeight: 'bold', color: '#CB6B28', marginTop: 6 }}&gt;写下实际检查结果&lt;/Text&gt;&#10;                &lt;Text style={{ fontSize: 15, color: '#546779', lineHeight: 1.6 }}&gt;写清检查了什么、完成到哪一层、哪里还没有执行、证据是否足够&lt;/Text&gt;&#10;            &lt;/Box&gt;&#10;        &lt;/Box&gt;&#10;&#10;        &lt;Box style={{ width: 1152, height: 80, background: '#F4F7FA', borderRadius: 10, padding: '0 24px', flexDirection: 'column', gap: 4, justifyContent: 'center' }}&gt;&#10;            &lt;Text style={{ fontSize: 16, fontWeight: 'bold', color: '#20344B' }}&gt;若约定接收运行成果，再核对实际文件类型、身份与哈希&lt;/Text&gt;&#10;            &lt;Text style={{ fontSize: 15, color: '#546779' }}&gt;按接收检查表完成约定层次；随机抽一项判分，要能定位到原始事实&lt;/Text&gt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20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第四份交付：接收与反馈处理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接收者只拿入口，不听口头补充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09600" y="19907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接收者独立完成三个动作，作者的讲解不算在交付里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609600" y="2314575"/>
            <a:ext cx="3371850" cy="2209800"/>
          </a:xfrm>
          <a:prstGeom prst="roundRect">
            <a:avLst>
              <a:gd name="adj" fmla="val 431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800100" y="2486025"/>
            <a:ext cx="29908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800100" y="3209925"/>
            <a:ext cx="381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800100" y="3362325"/>
            <a:ext cx="2990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只拿交付入口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800100" y="3648075"/>
            <a:ext cx="29908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不听作者口头补充，独立找到项目范围、组别差异、材料来源、原始文件与已知限制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4143375" y="3248025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4400550" y="2314575"/>
            <a:ext cx="3371850" cy="2209800"/>
          </a:xfrm>
          <a:prstGeom prst="roundRect">
            <a:avLst>
              <a:gd name="adj" fmla="val 431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4591050" y="2486025"/>
            <a:ext cx="29908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26816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4591050" y="3209925"/>
            <a:ext cx="381000" cy="38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4591050" y="3362325"/>
            <a:ext cx="2990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顺着矩阵定位证据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4591050" y="3648075"/>
            <a:ext cx="29908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随机选一项需求，从需求—证据矩阵一路走到支持它的原始材料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7934325" y="3248025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8191500" y="2314575"/>
            <a:ext cx="3371850" cy="2209800"/>
          </a:xfrm>
          <a:prstGeom prst="roundRect">
            <a:avLst>
              <a:gd name="adj" fmla="val 431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382000" y="2486025"/>
            <a:ext cx="29908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CB6B28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8382000" y="3209925"/>
            <a:ext cx="3810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8382000" y="3362325"/>
            <a:ext cx="2990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写下实际检查结果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8382000" y="3648075"/>
            <a:ext cx="29908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写清检查了什么、完成到哪一层、哪里还没有执行、证据是否足够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609600" y="4676775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38200" y="4857750"/>
            <a:ext cx="1051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若约定接收运行成果，再核对实际文件类型、身份与哈希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838200" y="5086350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按接收检查表完成约定层次；随机抽一项判分，要能定位到原始事实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31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83" name="" descr="&lt;Slide notes={`接收有层次之分，从最轻的只读回放，到复算，再到重新运行。&#10;&#10;只读回放用的是已有的运行编号，不执行模型，只看结果能不能打开、材料能不能定位。复算报告要用同一套判据、同一个分母和相同的取材边界，看看结果能不能被重新算出来。再往上是重新执行：从实验新跑会得到新的运行编号，从已有运行重跑会读取内嵌的实验，续跑则在同一个运行编号下开一个新的尝试，从下一个提交步继续。&#10;&#10;这些层次没有必须全部完成的说法。接收者不需要把每一层都做完，关键是如实记录：完成到只读回放，就写只读回放；重新运行还没有执行，就保留待执行。&#10;&#10;把没做的部分写成已完成，是交付里最不该出现的一类错误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0.5　第四份交付：接收与反馈处理&lt;/Text&gt;&#10;            &lt;Text style={{ fontSize: 34, fontWeight: 'bold', color: '#20344B' }}&gt;完成到哪一层，就写哪一层&lt;/Text&gt;&#10;        &lt;/Box&gt;&#10;    &lt;/Box&gt;&#10;&#10;    &lt;Box style={{ height: 540, flexDirection: 'row', alignItems: 'center', gap: 32 }}&gt;&#10;&#10;        &lt;Box style={{ width: 438, flexDirection: 'column', justifyContent: 'center', gap: 14 }}&gt;&#10;            &lt;Text style={{ fontSize: 14, color: '#546779' }}&gt;接收的四个层次&lt;/Text&gt;&#10;            &lt;Text style={{ fontSize: 16, color: '#546779', lineHeight: 1.7 }}&gt;接收者无需将所有层次一次做完。层次越深，需要的环境、身份与时间越多，记录的成本也越高。&lt;/Text&gt;&#10;            &lt;Box style={{ width: 438, height: 132, background: '#FFF4E6', borderRadius: 10, padding: '18px 20px', justifyContent: 'center' }}&gt;&#10;                &lt;Text style={{ fontSize: 15, color: '#CB6B28', lineHeight: 1.7 }}&gt;完成只读回放就准确写只读回放；重新运行尚未执行就保留待执行。把没做的部分写成已完成，是交付里最不该出现的错误。&lt;/Text&gt;&#10;            &lt;/Box&gt;&#10;        &lt;/Box&gt;&#10;&#10;        &lt;Box style={{ width: 682, flexDirection: 'column', justifyContent: 'center', gap: 12 }}&gt;&#10;&#10;            &lt;Box style={{ width: 682, height: 96, background: '#F4F7FA', borderRadius: 10, padding: '0 24px', flexDirection: 'column', gap: 4, justifyContent: 'center' }}&gt;&#10;                &lt;Text style={{ fontSize: 19, fontWeight: 'bold', color: '#20344B' }}&gt;只读回放&lt;/Text&gt;&#10;                &lt;Text style={{ fontSize: 15, color: '#546779', lineHeight: 1.45 }}&gt;使用已有 run_id；不执行模型，只看材料能否定位与打开&lt;/Text&gt;&#10;            &lt;/Box&gt;&#10;&#10;            &lt;Box style={{ width: 682, height: 112, background: '#EDF4FC', borderRadius: 10, padding: '0 24px', flexDirection: 'column', gap: 4, justifyContent: 'center' }}&gt;&#10;                &lt;Text style={{ fontSize: 19, fontWeight: 'bold', color: '#276FBF' }}&gt;复算报告&lt;/Text&gt;&#10;                &lt;Text style={{ fontSize: 15, color: '#546779', lineHeight: 1.45 }}&gt;使用同一判据、同一分母与相同取材边界，核对结果能否复现&lt;/Text&gt;&#10;            &lt;/Box&gt;&#10;&#10;            &lt;Box style={{ width: 682, height: 128, background: '#ECF7F2', borderRadius: 10, padding: '0 24px', flexDirection: 'column', gap: 4, justifyContent: 'center' }}&gt;&#10;                &lt;Text style={{ fontSize: 19, fontWeight: 'bold', color: '#26816B' }}&gt;从实验新跑 / 从 Run 重跑 / 续跑&lt;/Text&gt;&#10;                &lt;Text style={{ fontSize: 15, color: '#546779', lineHeight: 1.45 }}&gt;新跑取得新 run_id 与首个 attempt_id；重跑读取内嵌实验；续跑同 run_id、新 attempt_id，从下一提交步继续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21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第四份交付：接收与反馈处理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完成到哪一层，就写哪一层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609600" y="2562225"/>
            <a:ext cx="4171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接收的四个层次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609600" y="2857500"/>
            <a:ext cx="41719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接收者无需将所有层次一次做完。层次越深，需要的环境、身份与时间越多，记录的成本也越高。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09600" y="3619500"/>
            <a:ext cx="417195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800100" y="3810000"/>
            <a:ext cx="379095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完成只读回放就准确写只读回放；重新运行尚未执行就保留待执行。把没做的部分写成已完成，是交付里最不该出现的错误。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5086350" y="2000250"/>
            <a:ext cx="649605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5314950" y="2200275"/>
            <a:ext cx="6038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只读回放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5314950" y="2457450"/>
            <a:ext cx="60388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使用已有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run_id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；不执行模型，只看材料能否定位与打开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5086350" y="3028950"/>
            <a:ext cx="6496050" cy="1066800"/>
          </a:xfrm>
          <a:prstGeom prst="roundRect">
            <a:avLst>
              <a:gd name="adj" fmla="val 89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5314950" y="3305175"/>
            <a:ext cx="6038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复算报告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5314950" y="3562350"/>
            <a:ext cx="60388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使用同一判据、同一分母与相同取材边界，核对结果能否复现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5086350" y="4210050"/>
            <a:ext cx="6496050" cy="1219200"/>
          </a:xfrm>
          <a:prstGeom prst="roundRect">
            <a:avLst>
              <a:gd name="adj" fmla="val 781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5314950" y="4438650"/>
            <a:ext cx="6038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从实验新跑</a:t>
            </a:r>
            <a:r>
              <a:rPr lang="en-US" sz="14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从</a:t>
            </a:r>
            <a:r>
              <a:rPr lang="en-US" sz="14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重跑</a:t>
            </a:r>
            <a:r>
              <a:rPr lang="en-US" sz="14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续跑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5314950" y="4695825"/>
            <a:ext cx="60388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新跑取得新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run_id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与首个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attempt_id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；重跑读取内嵌实验；续跑同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run_id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attempt_id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，从下一提交步继续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31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03" name="" descr="&lt;Slide notes={`接到反馈之后，作者要做的是判断处理范围，而不是急着改文件。&#10;&#10;如果修正的只是一个失效路径，通常只影响说明文字，改完再检查一下关联入口就够了。如果更正的是错误判分，那就牵动结果本身，以及由结果派生的图表和摘要，需要一致地复核受影响的样本。&#10;&#10;最容易低估的是改咨询台的行为文本。它会影响实验行为，必须进入一套新的独立实验和运行安排，不能改写既有运行所依据的内容，也不能靠重新打包来掩盖。&#10;&#10;还有一点常被忽略：确实不需要修改的时候，就写出理由。不要为了完成作业硬造一次变更。原始导出要保留，历史输入不要覆盖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0.5　第四份交付：接收与反馈处理&lt;/Text&gt;&#10;            &lt;Text style={{ fontSize: 34, fontWeight: 'bold', color: '#20344B' }}&gt;不同修正牵动不同范围&lt;/Text&gt;&#10;        &lt;/Box&gt;&#10;    &lt;/Box&gt;&#10;&#10;    &lt;Box style={{ height: 540, flexDirection: 'row', alignItems: 'center', gap: 32 }}&gt;&#10;&#10;        &lt;Box style={{ width: 634, flexDirection: 'column', justifyContent: 'center', gap: 12 }}&gt;&#10;&#10;            &lt;Box style={{ width: 634, height: 80, background: '#F4F7FA', borderRadius: 10, padding: '0 22px', flexDirection: 'row', alignItems: 'center', gap: 16 }}&gt;&#10;                &lt;Box style={{ width: 4, height: 44, background: '#276FBF' }} /&gt;&#10;                &lt;Box style={{ width: 568, flexDirection: 'column', gap: 2 }}&gt;&#10;                    &lt;Text style={{ fontSize: 18, fontWeight: 'bold', color: '#20344B' }}&gt;修正一个失效路径&lt;/Text&gt;&#10;                    &lt;Text style={{ fontSize: 15, color: '#546779' }}&gt;通常只影响说明，关联入口一并检查&lt;/Text&gt;&#10;                &lt;/Box&gt;&#10;            &lt;/Box&gt;&#10;&#10;            &lt;Box style={{ width: 634, height: 80, background: '#F4F7FA', borderRadius: 10, padding: '0 22px', flexDirection: 'row', alignItems: 'center', gap: 16 }}&gt;&#10;                &lt;Box style={{ width: 4, height: 44, background: '#26816B' }} /&gt;&#10;                &lt;Box style={{ width: 568, flexDirection: 'column', gap: 2 }}&gt;&#10;                    &lt;Text style={{ fontSize: 18, fontWeight: 'bold', color: '#20344B' }}&gt;更正错误判分&lt;/Text&gt;&#10;                    &lt;Text style={{ fontSize: 15, color: '#546779' }}&gt;更新结果及其派生图表，对受影响样本一致复核&lt;/Text&gt;&#10;                &lt;/Box&gt;&#10;            &lt;/Box&gt;&#10;&#10;            &lt;Box style={{ width: 634, height: 80, background: '#FFF4E6', borderRadius: 10, padding: '0 22px', flexDirection: 'row', alignItems: 'center', gap: 16 }}&gt;&#10;                &lt;Box style={{ width: 4, height: 44, background: '#CB6B28' }} /&gt;&#10;                &lt;Box style={{ width: 568, flexDirection: 'column', gap: 2 }}&gt;&#10;                    &lt;Text style={{ fontSize: 18, fontWeight: 'bold', color: '#CB6B28' }}&gt;改咨询台 SOP&lt;/Text&gt;&#10;                    &lt;Text style={{ fontSize: 15, color: '#546779' }}&gt;影响实验行为，必须进入新的独立实验与运行安排&lt;/Text&gt;&#10;                &lt;/Box&gt;&#10;            &lt;/Box&gt;&#10;&#10;            &lt;Box style={{ width: 634, height: 80, background: '#F4F7FA', borderRadius: 10, padding: '0 22px', flexDirection: 'row', alignItems: 'center', gap: 16 }}&gt;&#10;                &lt;Box style={{ width: 4, height: 44, background: '#276FBF' }} /&gt;&#10;                &lt;Box style={{ width: 568, flexDirection: 'column', gap: 2 }}&gt;&#10;                    &lt;Text style={{ fontSize: 18, fontWeight: 'bold', color: '#20344B' }}&gt;保留原始导出&lt;/Text&gt;&#10;                    &lt;Text style={{ fontSize: 15, color: '#546779' }}&gt;不改写既有运行所依据的内容，历史输入不覆盖&lt;/Text&gt;&#10;                &lt;/Box&gt;&#10;            &lt;/Box&gt;&#10;&#10;            &lt;Box style={{ width: 634, height: 80, background: '#F4F7FA', borderRadius: 10, padding: '0 22px', flexDirection: 'row', alignItems: 'center', gap: 16 }}&gt;&#10;                &lt;Box style={{ width: 4, height: 44, background: '#276FBF' }} /&gt;&#10;                &lt;Box style={{ width: 568, flexDirection: 'column', gap: 2 }}&gt;&#10;                    &lt;Text style={{ fontSize: 18, fontWeight: 'bold', color: '#20344B' }}&gt;确实无需修改&lt;/Text&gt;&#10;                    &lt;Text style={{ fontSize: 15, color: '#546779' }}&gt;写出理由，不为完成作业强造一次变更&lt;/Text&gt;&#10;                &lt;/Box&gt;&#10;            &lt;/Box&gt;&#10;&#10;        &lt;/Box&gt;&#10;&#10;        &lt;Box style={{ width: 486, flexDirection: 'column', justifyContent: 'center', gap: 14 }}&gt;&#10;            &lt;Text style={{ fontSize: 14, color: '#546779' }}&gt;用变更影响表说明处理范围&lt;/Text&gt;&#10;&#10;            &lt;Box style={{ width: 486, height: 108, background: '#EDF4FC', borderRadius: 10, padding: '16px 20px', flexDirection: 'column', gap: 6, justifyContent: 'center' }}&gt;&#10;                &lt;Text style={{ fontSize: 18, fontWeight: 'bold', color: '#276FBF' }}&gt;五类判断，可多选&lt;/Text&gt;&#10;                &lt;Text style={{ fontSize: 15, color: '#546779', lineHeight: 1.45 }}&gt;说明 / 判分 / 作者材料 / 实验行为 / 系统机制&lt;/Text&gt;&#10;            &lt;/Box&gt;&#10;&#10;            &lt;Box style={{ width: 486, height: 74, background: '#F7F3E8', borderRadius: 10, padding: '0 20px', justifyContent: 'center' }}&gt;&#10;                &lt;Text style={{ fontSize: 15, color: '#20344B', lineHeight: 1.5 }}&gt;「修改完成」与「复查通过」分开记&lt;/Text&gt;&#10;            &lt;/Box&gt;&#10;&#10;            &lt;Box style={{ width: 486, height: 130, background: '#FFF4E6', borderRadius: 10, padding: '16px 20px', justifyContent: 'center' }}&gt;&#10;                &lt;Text style={{ fontSize: 15, color: '#CB6B28', lineHeight: 1.7 }}&gt;避免把所有问题都用「重新打包一份最终版」掩盖。重新运行得到成功结果，也不会抹去旧的失败记录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22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第四份交付：接收与反馈处理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不同修正牵动不同范围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609600" y="1581150"/>
            <a:ext cx="603885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9" name=""/>
          <p:cNvSpPr/>
          <p:nvPr/>
        </p:nvSpPr>
        <p:spPr>
          <a:xfrm rot="0" flipH="0" flipV="0">
            <a:off x="819150" y="17526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1009650" y="1762125"/>
            <a:ext cx="5410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修正一个失效路径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1009650" y="1990725"/>
            <a:ext cx="541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通常只影响说明，关联入口一并检查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609600" y="2457450"/>
            <a:ext cx="603885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13" name=""/>
          <p:cNvSpPr/>
          <p:nvPr/>
        </p:nvSpPr>
        <p:spPr>
          <a:xfrm rot="0" flipH="0" flipV="0">
            <a:off x="819150" y="262890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1009650" y="2638425"/>
            <a:ext cx="5410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更正错误判分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1009650" y="2867025"/>
            <a:ext cx="541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更新结果及其派生图表，对受影响样本一致复核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609600" y="3333750"/>
            <a:ext cx="6038850" cy="7620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7" name=""/>
          <p:cNvSpPr/>
          <p:nvPr/>
        </p:nvSpPr>
        <p:spPr>
          <a:xfrm rot="0" flipH="0" flipV="0">
            <a:off x="819150" y="35052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009650" y="3514725"/>
            <a:ext cx="5410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改咨询台</a:t>
            </a: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SOP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1009650" y="3743325"/>
            <a:ext cx="541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影响实验行为，必须进入新的独立实验与运行安排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609600" y="4210050"/>
            <a:ext cx="603885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21" name=""/>
          <p:cNvSpPr/>
          <p:nvPr/>
        </p:nvSpPr>
        <p:spPr>
          <a:xfrm rot="0" flipH="0" flipV="0">
            <a:off x="819150" y="43815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1009650" y="4391025"/>
            <a:ext cx="5410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保留原始导出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1009650" y="4619625"/>
            <a:ext cx="541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不改写既有运行所依据的内容，历史输入不覆盖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609600" y="5086350"/>
            <a:ext cx="603885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25" name=""/>
          <p:cNvSpPr/>
          <p:nvPr/>
        </p:nvSpPr>
        <p:spPr>
          <a:xfrm rot="0" flipH="0" flipV="0">
            <a:off x="819150" y="52578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1009650" y="5267325"/>
            <a:ext cx="5410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确实无需修改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1009650" y="5495925"/>
            <a:ext cx="541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写出理由，不为完成作业强造一次变更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6953250" y="1952625"/>
            <a:ext cx="462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用变更影响表说明处理范围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6953250" y="2247900"/>
            <a:ext cx="4629150" cy="1028700"/>
          </a:xfrm>
          <a:prstGeom prst="roundRect">
            <a:avLst>
              <a:gd name="adj" fmla="val 925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7143750" y="2505075"/>
            <a:ext cx="4248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五类判断，可多选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7143750" y="2771775"/>
            <a:ext cx="42481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说明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判分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作者材料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实验行为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系统机制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6953250" y="3409950"/>
            <a:ext cx="4629150" cy="704850"/>
          </a:xfrm>
          <a:prstGeom prst="roundRect">
            <a:avLst>
              <a:gd name="adj" fmla="val 13514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7143750" y="3638550"/>
            <a:ext cx="4248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「修改完成」与「复查通过」分开记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6953250" y="4248150"/>
            <a:ext cx="462915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7143750" y="4572000"/>
            <a:ext cx="42481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避免把所有问题都用「重新打包一份最终版」掩盖。重新运行得到成功结果，也不会抹去旧的失败记录。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31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38" name="" descr="&lt;Slide notes={`交付做完之后，还需要一个可以说明理由的评分方式。&#10;&#10;先看一百分怎样分配，再按每一项需要的材料去核对。分值相同，但设计交付与运行交付提供的依据并不一样。这就是为什么评分之前必须先选范围：同样是「未要求运行」，和「要求了运行但拿不出证据」，处理方式完全不同。&#10;&#10;这份量表是本书给的教学建议，供讲师调整。它不是系统自动给出的质量分，也不是已经对某一组作业打过的分。&#10;&#10;还有一条原则要写清楚：评价的目的是辨认知识与证据的缺口，不是奖励所有任务成功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10　章末综合项目&lt;/Text&gt;&#10;            &lt;Text style={{ fontSize: 34, fontWeight: 'bold', color: '#20344B' }}&gt;知识块 ⑥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⑥&lt;/Text&gt;&#10;&#10;        &lt;Text style={{ fontSize: 56, fontWeight: 'bold', color: '#20344B', lineHeight: 1.15 }}&gt;一份可以说明理由的评分量表&lt;/Text&gt;&#10;&#10;        &lt;Box style={{ width: 72, height: 4, background: '#276FBF' }} /&gt;&#10;&#10;        &lt;Text style={{ fontSize: 18, color: '#546779', lineHeight: 1.7, width: 900 }}&gt;先明确设计或运行交付范围，再按维度核对材料；失败也可以形成一份合格的交付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先选交付范围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按五个维度给分&lt;/Text&gt;&#10;            &lt;/Box&gt;&#10;            &lt;Box style={{ width: 44, height: 64, justifyContent: 'center', alignItems: 'center' }}&gt;&#10;                &lt;Text style={{ fontSize: 26, color: '#CB6B28' }}&gt;›&lt;/Text&gt;&#10;            &lt;/Box&gt;&#10;            &lt;Box style={{ width: 300, height: 64, background: '#FFF4E6', borderRadius: 8, justifyContent: 'center', alignItems: 'center' }}&gt;&#10;                &lt;Text style={{ fontSize: 18, color: '#CB6B28' }}&gt;每一处写一句理由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23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章末综合项目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733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⑥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609600" y="190500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⑥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一份可以说明理由的评分量表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609600" y="40957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609600" y="430530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先明确设计或运行交付范围，再按维度核对材料；失败也可以形成一份合格的交付。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6096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1524000" y="51244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先选交付范围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363855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38862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4714875" y="51244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按五个维度给分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691515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71628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7905750" y="51244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每一处写一句理由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31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57" name="" descr="&lt;Slide notes={`一百分分成五块，刻度是按教学权重定的，不是本案已经拿到的分数。&#10;&#10;问题与范围十五分，看目标、用户、观察单位和边界是否具体。材料与信息分配二十分，看来源、假设和角色知识里有没有答案泄漏。行为与对照二十分，看标准流程是否精确、唯一变化和依赖是否明确。证据与分析二十五分，权重最高，看判据是否可操作、结论能否追溯到原始事实。接收与表达二十分，看别人能不能独立找到材料并提出反馈。&#10;&#10;总分加起来正好一百分。同一维度可以按充分、部分、缺失给分，然后写一句理由，把给分的依据说出来。&#10;&#10;评价的目的是辨认知识与证据的缺口，不是奖励所有任务成功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0.6　一份可以说明理由的评分量表&lt;/Text&gt;&#10;            &lt;Text style={{ fontSize: 34, fontWeight: 'bold', color: '#20344B' }}&gt;100 分由五部分组成&lt;/Text&gt;&#10;        &lt;/Box&gt;&#10;    &lt;/Box&gt;&#10;&#10;    &lt;Box style={{ height: 540, flexDirection: 'column', justifyContent: 'center', gap: 16 }}&gt;&#10;&#10;        &lt;Text style={{ fontSize: 15, color: '#546779' }}&gt;教学评分建议，供讲师调整；它不是系统自动质量分，也不是已对本章进行的评分&lt;/Text&gt;&#10;&#10;        &lt;Box style={{ width: 1152, flexDirection: 'row', gap: 8 }}&gt;&#10;&#10;            &lt;Box style={{ width: 168, height: 150, background: '#EDF4FC', borderRadius: 8, flexDirection: 'column', gap: 6, justifyContent: 'center', alignItems: 'center' }}&gt;&#10;                &lt;Text style={{ fontSize: 36, fontWeight: 'bold', color: '#276FBF', lineHeight: 1.0 }}&gt;15&lt;/Text&gt;&#10;                &lt;Text style={{ fontSize: 15, color: '#20344B' }}&gt;问题与范围&lt;/Text&gt;&#10;            &lt;/Box&gt;&#10;&#10;            &lt;Box style={{ width: 224, height: 150, background: '#F4F7FA', borderRadius: 8, flexDirection: 'column', gap: 6, justifyContent: 'center', alignItems: 'center' }}&gt;&#10;                &lt;Text style={{ fontSize: 36, fontWeight: 'bold', color: '#20344B', lineHeight: 1.0 }}&gt;20&lt;/Text&gt;&#10;                &lt;Text style={{ fontSize: 15, color: '#20344B' }}&gt;材料与信息分配&lt;/Text&gt;&#10;            &lt;/Box&gt;&#10;&#10;            &lt;Box style={{ width: 224, height: 150, background: '#EDF4FC', borderRadius: 8, flexDirection: 'column', gap: 6, justifyContent: 'center', alignItems: 'center' }}&gt;&#10;                &lt;Text style={{ fontSize: 36, fontWeight: 'bold', color: '#276FBF', lineHeight: 1.0 }}&gt;20&lt;/Text&gt;&#10;                &lt;Text style={{ fontSize: 15, color: '#20344B' }}&gt;行为与对照&lt;/Text&gt;&#10;            &lt;/Box&gt;&#10;&#10;            &lt;Box style={{ width: 280, height: 150, background: '#ECF7F2', borderRadius: 8, flexDirection: 'column', gap: 6, justifyContent: 'center', alignItems: 'center' }}&gt;&#10;                &lt;Text style={{ fontSize: 36, fontWeight: 'bold', color: '#26816B', lineHeight: 1.0 }}&gt;25&lt;/Text&gt;&#10;                &lt;Text style={{ fontSize: 15, color: '#20344B' }}&gt;证据与分析　（权重最高）&lt;/Text&gt;&#10;            &lt;/Box&gt;&#10;&#10;            &lt;Box style={{ width: 224, height: 150, background: '#F4F7FA', borderRadius: 8, flexDirection: 'column', gap: 6, justifyContent: 'center', alignItems: 'center' }}&gt;&#10;                &lt;Text style={{ fontSize: 36, fontWeight: 'bold', color: '#20344B', lineHeight: 1.0 }}&gt;20&lt;/Text&gt;&#10;                &lt;Text style={{ fontSize: 15, color: '#20344B' }}&gt;接收与表达&lt;/Text&gt;&#10;            &lt;/Box&gt;&#10;&#10;        &lt;/Box&gt;&#10;&#10;        &lt;Box style={{ width: 1152, height: 80, background: '#EDF4FC', borderRadius: 10, padding: '0 24px', flexDirection: 'row', alignItems: 'center', justifyContent: 'space-between' }}&gt;&#10;            &lt;Text style={{ fontSize: 22, fontWeight: 'bold', color: '#276FBF' }}&gt;15 + 20 + 20 + 25 + 20 = 100&lt;/Text&gt;&#10;            &lt;Text style={{ fontSize: 16, color: '#546779' }}&gt;同一维度可按充分、部分、缺失给分，并写一句理由&lt;/Text&gt;&#10;        &lt;/Box&gt;&#10;&#10;        &lt;Box style={{ width: 1152, height: 88, background: '#FFF4E6', borderRadius: 10, padding: '0 24px', flexDirection: 'column', gap: 4, justifyContent: 'center' }}&gt;&#10;            &lt;Text style={{ fontSize: 17, fontWeight: 'bold', color: '#CB6B28' }}&gt;评价的目的是辨认知识与证据的缺口，不是奖励所有任务成功&lt;/Text&gt;&#10;            &lt;Text style={{ fontSize: 15, color: '#546779' }}&gt;先选范围，使「未要求运行」和「要求运行但无证据」得到不同处理&lt;/Text&gt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24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71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一份可以说明理由的评分量表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71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100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分由五部分组成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609600" y="18859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教学评分建议，供讲师调整；它不是系统自动质量分，也不是已对本章进行的评分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609600" y="2209800"/>
            <a:ext cx="1600200" cy="1428750"/>
          </a:xfrm>
          <a:prstGeom prst="roundRect">
            <a:avLst>
              <a:gd name="adj" fmla="val 5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1200150" y="2600325"/>
            <a:ext cx="4286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276FBF"/>
                </a:solidFill>
                <a:latin typeface="Microsoft YaHei"/>
                <a:ea typeface="Microsoft YaHei"/>
              </a:rPr>
              <a:t>15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1057275" y="30765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问题与范围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2286000" y="2209800"/>
            <a:ext cx="2133600" cy="142875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3143250" y="2600325"/>
            <a:ext cx="4286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20344B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2857500" y="307657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材料与信息分配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4495800" y="2209800"/>
            <a:ext cx="2133600" cy="1428750"/>
          </a:xfrm>
          <a:prstGeom prst="roundRect">
            <a:avLst>
              <a:gd name="adj" fmla="val 5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5353050" y="2600325"/>
            <a:ext cx="4286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276FBF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5210175" y="30765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行为与对照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6705600" y="2209800"/>
            <a:ext cx="2667000" cy="1428750"/>
          </a:xfrm>
          <a:prstGeom prst="roundRect">
            <a:avLst>
              <a:gd name="adj" fmla="val 5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7829550" y="2600325"/>
            <a:ext cx="4286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26816B"/>
                </a:solidFill>
                <a:latin typeface="Microsoft YaHei"/>
                <a:ea typeface="Microsoft YaHei"/>
              </a:rPr>
              <a:t>25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7181850" y="3076575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证据与分析　（权重最高）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9448800" y="2209800"/>
            <a:ext cx="2133600" cy="142875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10306050" y="2600325"/>
            <a:ext cx="4286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20344B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10163175" y="30765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接收与表达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609600" y="3790950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38200" y="4048125"/>
            <a:ext cx="3105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>15 + 20 + 20 + 25 + 20 = 100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7848600" y="4076700"/>
            <a:ext cx="350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同一维度可按充分、部分、缺失给分，并写一句理由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609600" y="470535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838200" y="4924425"/>
            <a:ext cx="1051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评价的目的是辨认知识与证据的缺口，不是奖励所有任务成功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838200" y="5162550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先选范围，使「未要求运行」和「要求运行但无证据」得到不同处理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31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486" name="" descr="&lt;Slide notes={`同一个维度，在两种交付范围里的依据不一样，这一点必须写进量表。&#10;&#10;问题与范围十五分。设计交付看目标、用户、观察单位和边界是否具体；运行交付还要看实际执行与约定一致，或者偏差有没有说明。&#10;&#10;材料与信息分配二十分。设计交付看来源、假设和角色知识里有没有泄漏答案；运行交付则要看保存后的资源和实验副本有没有核对过。&#10;&#10;行为与对照二十分，设计交付要求标准流程精确、唯一变化和依赖明确；运行交付要看包内文本与共同条件的实际核对。&#10;&#10;证据与分析二十五分是最重的一块。设计交付只要判据可操作、人工练习标注清楚；运行交付则要求全部样本、定位、费用和结论都能追溯。接收与表达二十分，运行交付还多了实际接收范围与复查结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0.6　一份可以说明理由的评分量表&lt;/Text&gt;&#10;            &lt;Text style={{ fontSize: 34, fontWeight: 'bold', color: '#20344B' }}&gt;设计依据与运行依据不同&lt;/Text&gt;&#10;        &lt;/Box&gt;&#10;    &lt;/Box&gt;&#10;&#10;    &lt;Box style={{ height: 540, flexDirection: 'column', justifyContent: 'center', gap: 12 }}&gt;&#10;&#10;        &lt;Text style={{ fontSize: 15, color: '#546779' }}&gt;分值相同，两种交付范围提供的依据不同；评分前先选择作业范围&lt;/Text&gt;&#10;&#10;        &lt;Box style={{ width: 1152, height: 40, background: '#20344B', borderRadius: 8, padding: '0 22px', flexDirection: 'row', alignItems: 'center', gap: 16 }}&gt;&#10;            &lt;Text style={{ fontSize: 14, fontWeight: 'bold', color: '#FFFFFF', width: 240 }}&gt;维度&lt;/Text&gt;&#10;            &lt;Text style={{ fontSize: 14, fontWeight: 'bold', color: '#FFFFFF', width: 90 }}&gt;分值&lt;/Text&gt;&#10;            &lt;Text style={{ fontSize: 14, fontWeight: 'bold', color: '#FFFFFF', width: 390 }}&gt;设计交付的主要依据&lt;/Text&gt;&#10;            &lt;Text style={{ fontSize: 14, fontWeight: 'bold', color: '#FFFFFF', width: 340 }}&gt;运行交付增加的依据&lt;/Text&gt;&#10;        &lt;/Box&gt;&#10;&#10;        &lt;Box style={{ width: 1152, height: 66, background: '#F4F7FA', borderRadius: 8, padding: '0 22px', flexDirection: 'row', alignItems: 'center', gap: 16 }}&gt;&#10;            &lt;Text style={{ fontSize: 15, fontWeight: 'bold', color: '#20344B', width: 240 }}&gt;问题与范围&lt;/Text&gt;&#10;            &lt;Text style={{ fontSize: 17, fontWeight: 'bold', color: '#276FBF', width: 90 }}&gt;15&lt;/Text&gt;&#10;            &lt;Text style={{ fontSize: 14, color: '#546779', width: 390 }}&gt;目标、用户、观察单位和边界具体&lt;/Text&gt;&#10;            &lt;Text style={{ fontSize: 14, color: '#546779', width: 340 }}&gt;实际执行与约定一致或有偏差说明&lt;/Text&gt;&#10;        &lt;/Box&gt;&#10;&#10;        &lt;Box style={{ width: 1152, height: 66, background: '#F4F7FA', borderRadius: 8, padding: '0 22px', flexDirection: 'row', alignItems: 'center', gap: 16 }}&gt;&#10;            &lt;Text style={{ fontSize: 15, fontWeight: 'bold', color: '#20344B', width: 240 }}&gt;材料与信息分配&lt;/Text&gt;&#10;            &lt;Text style={{ fontSize: 17, fontWeight: 'bold', color: '#276FBF', width: 90 }}&gt;20&lt;/Text&gt;&#10;            &lt;Text style={{ fontSize: 14, color: '#546779', width: 390 }}&gt;来源、假设、角色知识无答案泄漏&lt;/Text&gt;&#10;            &lt;Text style={{ fontSize: 14, color: '#546779', width: 340 }}&gt;保存后的资源和实验副本核对&lt;/Text&gt;&#10;        &lt;/Box&gt;&#10;&#10;        &lt;Box style={{ width: 1152, height: 66, background: '#F4F7FA', borderRadius: 8, padding: '0 22px', flexDirection: 'row', alignItems: 'center', gap: 16 }}&gt;&#10;            &lt;Text style={{ fontSize: 15, fontWeight: 'bold', color: '#20344B', width: 240 }}&gt;行为与对照&lt;/Text&gt;&#10;            &lt;Text style={{ fontSize: 17, fontWeight: 'bold', color: '#276FBF', width: 90 }}&gt;20&lt;/Text&gt;&#10;            &lt;Text style={{ fontSize: 14, color: '#546779', width: 390 }}&gt;精确 SOP、唯一变化和依赖明确&lt;/Text&gt;&#10;            &lt;Text style={{ fontSize: 14, color: '#546779', width: 340 }}&gt;包内文本与共同条件的实际核对&lt;/Text&gt;&#10;        &lt;/Box&gt;&#10;&#10;        &lt;Box style={{ width: 1152, height: 66, background: '#ECF7F2', borderRadius: 8, padding: '0 22px', flexDirection: 'row', alignItems: 'center', gap: 16 }}&gt;&#10;            &lt;Text style={{ fontSize: 15, fontWeight: 'bold', color: '#20344B', width: 240 }}&gt;证据与分析&lt;/Text&gt;&#10;            &lt;Text style={{ fontSize: 17, fontWeight: 'bold', color: '#26816B', width: 90 }}&gt;25&lt;/Text&gt;&#10;            &lt;Text style={{ fontSize: 14, color: '#546779', width: 390 }}&gt;判据可操作，人工练习标注清楚&lt;/Text&gt;&#10;            &lt;Text style={{ fontSize: 14, color: '#546779', width: 340 }}&gt;全部样本、定位、费用和结论可追溯&lt;/Text&gt;&#10;        &lt;/Box&gt;&#10;&#10;        &lt;Box style={{ width: 1152, height: 66, background: '#F4F7FA', borderRadius: 8, padding: '0 22px', flexDirection: 'row', alignItems: 'center', gap: 16 }}&gt;&#10;            &lt;Text style={{ fontSize: 15, fontWeight: 'bold', color: '#20344B', width: 240 }}&gt;接收与表达&lt;/Text&gt;&#10;            &lt;Text style={{ fontSize: 17, fontWeight: 'bold', color: '#276FBF', width: 90 }}&gt;20&lt;/Text&gt;&#10;            &lt;Text style={{ fontSize: 14, color: '#546779', width: 390 }}&gt;他人能独立找到材料并提出反馈&lt;/Text&gt;&#10;            &lt;Text style={{ fontSize: 14, color: '#546779', width: 340 }}&gt;实际接收范围、文件及复查结果完整&lt;/Text&gt;&#10;        &lt;/Box&gt;&#10;&#10;        &lt;Box style={{ width: 1152, height: 56, background: '#FFF4E6', borderRadius: 8, padding: '0 22px', flexDirection: 'row', alignItems: 'center', gap: 16 }}&gt;&#10;            &lt;Text style={{ fontSize: 16, fontWeight: 'bold', color: '#CB6B28', width: 240 }}&gt;合计&lt;/Text&gt;&#10;            &lt;Text style={{ fontSize: 18, fontWeight: 'bold', color: '#CB6B28', width: 90 }}&gt;100&lt;/Text&gt;&#10;            &lt;Text style={{ fontSize: 15, color: '#20344B', width: 390 }}&gt;按设计范围评分&lt;/Text&gt;&#10;            &lt;Text style={{ fontSize: 15, color: '#20344B', width: 340 }}&gt;按运行范围评分&lt;/Text&gt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25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一份可以说明理由的评分量表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设计依据与运行依据不同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609600" y="12001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分值相同，两种交付范围提供的依据不同；评分前先选择作业范围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609600" y="1485900"/>
            <a:ext cx="10972800" cy="381000"/>
          </a:xfrm>
          <a:prstGeom prst="roundRect">
            <a:avLst>
              <a:gd name="adj" fmla="val 20000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819150" y="1600200"/>
            <a:ext cx="228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维度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3257550" y="1600200"/>
            <a:ext cx="85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分值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4267200" y="1600200"/>
            <a:ext cx="3714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设计交付的主要依据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8134350" y="1600200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运行交付增加的依据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609600" y="1981200"/>
            <a:ext cx="109728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819150" y="2209800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问题与范围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3257550" y="2200275"/>
            <a:ext cx="857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15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4267200" y="2219325"/>
            <a:ext cx="3714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目标、用户、观察单位和边界具体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8134350" y="221932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实际执行与约定一致或有偏差说明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609600" y="2724150"/>
            <a:ext cx="109728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819150" y="2952750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材料与信息分配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3257550" y="2943225"/>
            <a:ext cx="857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4267200" y="2962275"/>
            <a:ext cx="3714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来源、假设、角色知识无答案泄漏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8134350" y="29622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保存后的资源和实验副本核对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609600" y="3467100"/>
            <a:ext cx="109728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819150" y="3695700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行为与对照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3257550" y="3686175"/>
            <a:ext cx="857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4267200" y="3705225"/>
            <a:ext cx="3714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、唯一变化和依赖明确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8134350" y="370522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包内文本与共同条件的实际核对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609600" y="4210050"/>
            <a:ext cx="10972800" cy="628650"/>
          </a:xfrm>
          <a:prstGeom prst="roundRect">
            <a:avLst>
              <a:gd name="adj" fmla="val 1212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819150" y="4438650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证据与分析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3257550" y="4429125"/>
            <a:ext cx="857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>25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4267200" y="4448175"/>
            <a:ext cx="3714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判据可操作，人工练习标注清楚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8134350" y="44481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全部样本、定位、费用和结论可追溯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609600" y="4953000"/>
            <a:ext cx="109728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819150" y="5181600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接收与表达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3257550" y="5172075"/>
            <a:ext cx="857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4267200" y="5191125"/>
            <a:ext cx="3714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他人能独立找到材料并提出反馈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8134350" y="519112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实际接收范围、文件及复查结果完整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609600" y="5695950"/>
            <a:ext cx="1097280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819150" y="5867400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合计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3257550" y="58578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>100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4267200" y="5876925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按设计范围评分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8134350" y="5876925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按运行范围评分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31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529" name="" descr="&lt;Slide notes={`有几类行为是量表明确不能通过的，处理顺序也要先说清楚。&#10;&#10;第一类是伪造运行身份，明明没有跑过却写成已经运行。第二类是把人工填写的数据标成实测结果，这是把练习冒充证据。第三类最隐蔽：删除不利样本，把没有闭环或者失败的任务从分母里拿掉，让结果看起来好看。&#10;&#10;遇到这些情况，顺序是先要求修正，把材料改到与事实相符，再进入评分。相关维度不能因为报告包装精美就获得通过，因为量表要辨认的是知识与证据的缺口。&#10;&#10;这条规则看起来严格，但它保护的是整份交付的可信度。一旦有一处可以被包装蒙过去，其他所有结论都要重新被怀疑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0.6　一份可以说明理由的评分量表&lt;/Text&gt;&#10;            &lt;Text style={{ fontSize: 34, fontWeight: 'bold', color: '#20344B' }}&gt;伪造与删除：先要求修正&lt;/Text&gt;&#10;        &lt;/Box&gt;&#10;    &lt;/Box&gt;&#10;&#10;    &lt;Box style={{ height: 540, flexDirection: 'column', justifyContent: 'center', gap: 16 }}&gt;&#10;&#10;        &lt;Box style={{ width: 1152, flexDirection: 'row', alignItems: 'flex-start', gap: 32 }}&gt;&#10;&#10;            &lt;Box style={{ width: 700, flexDirection: 'column', gap: 12 }}&gt;&#10;&#10;                &lt;Box style={{ width: 700, height: 112, background: '#F4F7FA', borderRadius: 10, padding: '0 24px', flexDirection: 'row', alignItems: 'center', gap: 18 }}&gt;&#10;                    &lt;Box style={{ width: 4, height: 60, background: '#CB6B28' }} /&gt;&#10;                    &lt;Box style={{ width: 630, flexDirection: 'column', gap: 4 }}&gt;&#10;                        &lt;Text style={{ fontSize: 20, fontWeight: 'bold', color: '#20344B' }}&gt;伪造运行身份&lt;/Text&gt;&#10;                        &lt;Text style={{ fontSize: 15, color: '#546779', lineHeight: 1.5 }}&gt;没有真实运行，却把材料写成已经运行并取得结果&lt;/Text&gt;&#10;                    &lt;/Box&gt;&#10;                &lt;/Box&gt;&#10;&#10;                &lt;Box style={{ width: 700, height: 112, background: '#F4F7FA', borderRadius: 10, padding: '0 24px', flexDirection: 'row', alignItems: 'center', gap: 18 }}&gt;&#10;                    &lt;Box style={{ width: 4, height: 60, background: '#CB6B28' }} /&gt;&#10;                    &lt;Box style={{ width: 630, flexDirection: 'column', gap: 4 }}&gt;&#10;                        &lt;Text style={{ fontSize: 20, fontWeight: 'bold', color: '#20344B' }}&gt;把人工数据标成实测&lt;/Text&gt;&#10;                        &lt;Text style={{ fontSize: 15, color: '#546779', lineHeight: 1.5 }}&gt;把自己填写的人工判分练习当作实验产出提交&lt;/Text&gt;&#10;                    &lt;/Box&gt;&#10;                &lt;/Box&gt;&#10;&#10;                &lt;Box style={{ width: 700, height: 112, background: '#FFF4E6', borderRadius: 10, padding: '0 24px', flexDirection: 'row', alignItems: 'center', gap: 18 }}&gt;&#10;                    &lt;Box style={{ width: 4, height: 60, background: '#CB6B28' }} /&gt;&#10;                    &lt;Box style={{ width: 630, flexDirection: 'column', gap: 4 }}&gt;&#10;                        &lt;Text style={{ fontSize: 20, fontWeight: 'bold', color: '#CB6B28' }}&gt;删除不利样本&lt;/Text&gt;&#10;                        &lt;Text style={{ fontSize: 15, color: '#546779', lineHeight: 1.5 }}&gt;把未闭环或失败的任务从分母里拿掉，让结果看起来更好&lt;/Text&gt;&#10;                    &lt;/Box&gt;&#10;                &lt;/Box&gt;&#10;&#10;            &lt;/Box&gt;&#10;&#10;            &lt;Box style={{ width: 420, flexDirection: 'column', gap: 12 }}&gt;&#10;                &lt;Text style={{ fontSize: 14, color: '#546779' }}&gt;处理顺序&lt;/Text&gt;&#10;&#10;                &lt;Box style={{ width: 420, height: 104, background: '#EDF4FC', borderRadius: 10, padding: '16px 20px', flexDirection: 'column', gap: 6, justifyContent: 'center' }}&gt;&#10;                    &lt;Text style={{ fontSize: 18, fontWeight: 'bold', color: '#276FBF' }}&gt;先要求修正&lt;/Text&gt;&#10;                    &lt;Text style={{ fontSize: 15, color: '#546779', lineHeight: 1.45 }}&gt;把材料改到与事实相符，再进入评分&lt;/Text&gt;&#10;                &lt;/Box&gt;&#10;&#10;                &lt;Box style={{ width: 420, height: 104, background: '#ECF7F2', borderRadius: 10, padding: '16px 20px', flexDirection: 'column', gap: 6, justifyContent: 'center' }}&gt;&#10;                    &lt;Text style={{ fontSize: 18, fontWeight: 'bold', color: '#26816B' }}&gt;再判断维度&lt;/Text&gt;&#10;                    &lt;Text style={{ fontSize: 15, color: '#546779', lineHeight: 1.45 }}&gt;相关维度按缺失处理，不因包装精美而通过&lt;/Text&gt;&#10;                &lt;/Box&gt;&#10;&#10;            &lt;/Box&gt;&#10;&#10;        &lt;/Box&gt;&#10;&#10;        &lt;Box style={{ width: 1152, height: 88, background: '#FFF4E6', borderRadius: 10, padding: '0 24px', flexDirection: 'column', gap: 4, justifyContent: 'center' }}&gt;&#10;            &lt;Text style={{ fontSize: 17, fontWeight: 'bold', color: '#CB6B28' }}&gt;相关维度不能凭包装精美获得通过&lt;/Text&gt;&#10;            &lt;Text style={{ fontSize: 15, color: '#546779' }}&gt;伪造运行身份、把人工数据标成实测或删除不利样本，都应先修正再评分&lt;/Text&gt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26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一份可以说明理由的评分量表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伪造与删除：先要求修正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609600" y="1504950"/>
            <a:ext cx="6667500" cy="1066800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5" name=""/>
          <p:cNvSpPr/>
          <p:nvPr/>
        </p:nvSpPr>
        <p:spPr>
          <a:xfrm rot="0" flipH="0" flipV="0">
            <a:off x="838200" y="175260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1047750" y="1781175"/>
            <a:ext cx="600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伪造运行身份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1047750" y="2047875"/>
            <a:ext cx="6000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没有真实运行，却把材料写成已经运行并取得结果</a:t>
            </a:r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609600" y="2686050"/>
            <a:ext cx="6667500" cy="1066800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9" name=""/>
          <p:cNvSpPr/>
          <p:nvPr/>
        </p:nvSpPr>
        <p:spPr>
          <a:xfrm rot="0" flipH="0" flipV="0">
            <a:off x="838200" y="293370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1047750" y="2962275"/>
            <a:ext cx="600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把人工数据标成实测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1047750" y="3228975"/>
            <a:ext cx="6000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把自己填写的人工判分练习当作实验产出提交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609600" y="3867150"/>
            <a:ext cx="6667500" cy="1066800"/>
          </a:xfrm>
          <a:prstGeom prst="roundRect">
            <a:avLst>
              <a:gd name="adj" fmla="val 89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43" name=""/>
          <p:cNvSpPr/>
          <p:nvPr/>
        </p:nvSpPr>
        <p:spPr>
          <a:xfrm rot="0" flipH="0" flipV="0">
            <a:off x="838200" y="411480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1047750" y="4143375"/>
            <a:ext cx="600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删除不利样本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1047750" y="4410075"/>
            <a:ext cx="6000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把未闭环或失败的任务从分母里拿掉，让结果看起来更好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7581900" y="1504950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处理顺序</a:t>
            </a:r>
            <a:endParaRPr/>
          </a:p>
        </p:txBody>
      </p:sp>
      <p:sp>
        <p:nvSpPr>
          <p:cNvPr id="547" name=""/>
          <p:cNvSpPr/>
          <p:nvPr/>
        </p:nvSpPr>
        <p:spPr>
          <a:xfrm rot="0" flipH="0" flipV="0">
            <a:off x="7581900" y="1781175"/>
            <a:ext cx="40005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7772400" y="2019300"/>
            <a:ext cx="3619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先要求修正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7772400" y="2286000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把材料改到与事实相符，再进入评分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7581900" y="2886075"/>
            <a:ext cx="400050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7772400" y="3124200"/>
            <a:ext cx="3619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再判断维度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7772400" y="3390900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相关维度按缺失处理，不因包装精美而通过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609600" y="508635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838200" y="5305425"/>
            <a:ext cx="1051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相关维度不能凭包装精美获得通过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838200" y="5543550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伪造运行身份、把人工数据标成实测或删除不利样本，都应先修正再评分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26 / 31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558" name="" descr="&lt;Slide notes={`一百分的构成、两种范围的依据差异、以及不能通过的三类行为，合起来是一套可以说明理由的评分方式。&#10;&#10;它给讲师留了调整余地，也给学习者一个明确的预期：什么算交得完整，什么只是看起来完整。同一维度可以按充分、部分、缺失三档给分，每一档都写一句理由，把判断的依据说出来。&#10;&#10;这里要再强调一次：这份量表是教学建议，不是系统自动给出的质量分，也不是本书已经对某一份作业打过的分。&#10;&#10;评价的目的是辨认知识与证据的缺口，不是奖励所有任务成功。失败本身不扣印象分，隐瞒才会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10　章末综合项目&lt;/Text&gt;&#10;            &lt;Text style={{ fontSize: 34, fontWeight: 'bold', color: '#20344B' }}&gt;知识块 ⑦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⑦&lt;/Text&gt;&#10;&#10;        &lt;Text style={{ fontSize: 56, fontWeight: 'bold', color: '#20344B', lineHeight: 1.15 }}&gt;扩展之前，先识别改了哪一层&lt;/Text&gt;&#10;&#10;        &lt;Box style={{ width: 72, height: 4, background: '#276FBF' }} /&gt;&#10;&#10;        &lt;Text style={{ fontSize: 18, color: '#546779', lineHeight: 1.7, width: 900 }}&gt;改策略、改输入与场景、新增系统机制，三类扩展进入完全不同的层，要重新核对的东西也完全不同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改变策略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改变输入与场景&lt;/Text&gt;&#10;            &lt;/Box&gt;&#10;            &lt;Box style={{ width: 44, height: 64, justifyContent: 'center', alignItems: 'center' }}&gt;&#10;                &lt;Text style={{ fontSize: 26, color: '#CB6B28' }}&gt;›&lt;/Text&gt;&#10;            &lt;/Box&gt;&#10;            &lt;Box style={{ width: 300, height: 64, background: '#FFF4E6', borderRadius: 8, justifyContent: 'center', alignItems: 'center' }}&gt;&#10;                &lt;Text style={{ fontSize: 18, color: '#CB6B28' }}&gt;新增系统机制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27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章末综合项目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733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⑦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609600" y="190500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⑦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扩展之前，先识别改了哪一层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609600" y="40957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609600" y="430530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改策略、改输入与场景、新增系统机制，三类扩展进入完全不同的层，要重新核对的东西也完全不同。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6096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1695450" y="51244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改变策略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363855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70" name=""/>
          <p:cNvSpPr/>
          <p:nvPr/>
        </p:nvSpPr>
        <p:spPr>
          <a:xfrm rot="0" flipH="0" flipV="0">
            <a:off x="38862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4714875" y="51244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改变输入与场景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691515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71628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8077200" y="51244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新增系统机制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27 / 31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577" name="" descr="&lt;Slide notes={`做完综合作业之后，很多人会问下一步往哪走。常见的三个方向，各自改变了不同的层，要重新核对的东西也完全不同。&#10;&#10;第一类是改变策略，比如用清单核对替代自由整理。这主要进入 Skill 和研究设计。策略一变，行为文本要重写，研究问题里比较的对象也跟着变。&#10;&#10;第二类是改变输入与场景，比如增加角色数量或者更换通知渠道。这需要重新核对信息分配、空间和比较条件。角色变多会影响走位和拥堵，通知渠道变了会改变信息到达的顺序。&#10;&#10;第三类是新增系统机制，比如真实队列容量、动态碰撞或者新的工具权限。这一类需要独立的工程设计与验证，不能由一句标准流程自动获得。&#10;&#10;先想清楚改的是哪一层，再决定要准备什么证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0.7　进一步扩展时，先识别改变了哪一层&lt;/Text&gt;&#10;            &lt;Text style={{ fontSize: 34, fontWeight: 'bold', color: '#20344B' }}&gt;三类扩展，各自改变哪一层&lt;/Text&gt;&#10;        &lt;/Box&gt;&#10;    &lt;/Box&gt;&#10;&#10;    &lt;Box style={{ height: 540, flexDirection: 'column', justifyContent: 'center', gap: 16 }}&gt;&#10;&#10;        &lt;Text style={{ fontSize: 15, color: '#546779' }}&gt;先识别改变了哪一层，再决定要重新核对什么、需要准备什么证据&lt;/Text&gt;&#10;&#10;        &lt;Box style={{ width: 1152, flexDirection: 'row', gap: 21 }}&gt;&#10;&#10;            &lt;Box style={{ width: 370, height: 340, background: '#EDF4FC', borderRadius: 10, padding: '20px 22px', flexDirection: 'column', gap: 10 }}&gt;&#10;                &lt;Text style={{ fontSize: 21, fontWeight: 'bold', color: '#276FBF' }}&gt;改变策略&lt;/Text&gt;&#10;                &lt;Text style={{ fontSize: 14, color: '#546779', lineHeight: 1.45 }}&gt;例如用清单核对替代自由整理&lt;/Text&gt;&#10;                &lt;Box style={{ width: 326, height: 168, background: '#FFFFFF', borderRadius: 8, padding: '14px 18px', justifyContent: 'center' }}&gt;&#10;                    &lt;Text style={{ fontSize: 15, color: '#20344B', lineHeight: 1.7 }}&gt;主要进入 Skill 和研究设计。策略变了，行为文本要重写，研究问题里比较的对象也跟着变。&lt;/Text&gt;&#10;                &lt;/Box&gt;&#10;            &lt;/Box&gt;&#10;&#10;            &lt;Box style={{ width: 370, height: 340, background: '#ECF7F2', borderRadius: 10, padding: '20px 22px', flexDirection: 'column', gap: 10 }}&gt;&#10;                &lt;Text style={{ fontSize: 21, fontWeight: 'bold', color: '#26816B' }}&gt;改变输入与场景&lt;/Text&gt;&#10;                &lt;Text style={{ fontSize: 14, color: '#546779', lineHeight: 1.45 }}&gt;例如角色数量或通知渠道&lt;/Text&gt;&#10;                &lt;Box style={{ width: 326, height: 168, background: '#FFFFFF', borderRadius: 8, padding: '14px 18px', justifyContent: 'center' }}&gt;&#10;                    &lt;Text style={{ fontSize: 15, color: '#20344B', lineHeight: 1.7 }}&gt;需要重新核对信息分配、空间和比较条件。角色变多会影响走位与拥堵，渠道变了会改变信息到达顺序。&lt;/Text&gt;&#10;                &lt;/Box&gt;&#10;            &lt;/Box&gt;&#10;&#10;            &lt;Box style={{ width: 370, height: 340, background: '#FFF4E6', borderRadius: 10, padding: '20px 22px', flexDirection: 'column', gap: 10 }}&gt;&#10;                &lt;Text style={{ fontSize: 21, fontWeight: 'bold', color: '#CB6B28' }}&gt;新增系统机制&lt;/Text&gt;&#10;                &lt;Text style={{ fontSize: 14, color: '#546779', lineHeight: 1.45 }}&gt;例如真实队列容量、动态碰撞或新的工具权限&lt;/Text&gt;&#10;                &lt;Box style={{ width: 326, height: 168, background: '#FFFFFF', borderRadius: 8, padding: '14px 18px', justifyContent: 'center' }}&gt;&#10;                    &lt;Text style={{ fontSize: 15, color: '#20344B', lineHeight: 1.7 }}&gt;需要独立工程设计与验证。这类改动不能由一句 SOP 自动获得，要像新功能一样设计与核对。&lt;/Text&gt;&#10;                &lt;/Box&gt;&#10;            &lt;/Box&gt;&#10;&#10;        &lt;/Box&gt;&#10;&#10;        &lt;Box style={{ width: 1152, height: 88, background: '#F4F7FA', borderRadius: 10, padding: '0 24px', flexDirection: 'column', gap: 4, justifyContent: 'center' }}&gt;&#10;            &lt;Text style={{ fontSize: 17, fontWeight: 'bold', color: '#20344B' }}&gt;同样的现象，可能来自完全不同的层&lt;/Text&gt;&#10;            &lt;Text style={{ fontSize: 15, color: '#546779' }}&gt;把扩展归到正确的层，才知道要重做哪一段设计、重新取得哪一类证据&lt;/Text&gt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28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进一步扩展时，先识别改变了哪一层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三类扩展，各自改变哪一层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609600" y="1438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先识别改变了哪一层，再决定要重新核对什么、需要准备什么证据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609600" y="1762125"/>
            <a:ext cx="3524250" cy="3238500"/>
          </a:xfrm>
          <a:prstGeom prst="roundRect">
            <a:avLst>
              <a:gd name="adj" fmla="val 294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819150" y="1952625"/>
            <a:ext cx="3105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76FBF"/>
                </a:solidFill>
                <a:latin typeface="Microsoft YaHei"/>
                <a:ea typeface="Microsoft YaHei"/>
              </a:rPr>
              <a:t>改变策略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819150" y="2295525"/>
            <a:ext cx="31051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例如用清单核对替代自由整理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819150" y="2628900"/>
            <a:ext cx="310515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990600" y="2990850"/>
            <a:ext cx="276225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主要进入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和研究设计。策略变了，行为文本要重写，研究问题里比较的对象也跟着变。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4333875" y="1762125"/>
            <a:ext cx="3524250" cy="3238500"/>
          </a:xfrm>
          <a:prstGeom prst="roundRect">
            <a:avLst>
              <a:gd name="adj" fmla="val 294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4543425" y="1952625"/>
            <a:ext cx="3105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6816B"/>
                </a:solidFill>
                <a:latin typeface="Microsoft YaHei"/>
                <a:ea typeface="Microsoft YaHei"/>
              </a:rPr>
              <a:t>改变输入与场景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4543425" y="2295525"/>
            <a:ext cx="31051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例如角色数量或通知渠道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4543425" y="2628900"/>
            <a:ext cx="310515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4714875" y="2990850"/>
            <a:ext cx="276225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需要重新核对信息分配、空间和比较条件。角色变多会影响走位与拥堵，渠道变了会改变信息到达顺序。</a:t>
            </a:r>
            <a:endParaRPr/>
          </a:p>
        </p:txBody>
      </p:sp>
      <p:sp>
        <p:nvSpPr>
          <p:cNvPr id="593" name=""/>
          <p:cNvSpPr/>
          <p:nvPr/>
        </p:nvSpPr>
        <p:spPr>
          <a:xfrm rot="0" flipH="0" flipV="0">
            <a:off x="8058150" y="1762125"/>
            <a:ext cx="3524250" cy="3238500"/>
          </a:xfrm>
          <a:prstGeom prst="roundRect">
            <a:avLst>
              <a:gd name="adj" fmla="val 294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8267700" y="1952625"/>
            <a:ext cx="3105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CB6B28"/>
                </a:solidFill>
                <a:latin typeface="Microsoft YaHei"/>
                <a:ea typeface="Microsoft YaHei"/>
              </a:rPr>
              <a:t>新增系统机制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8267700" y="2295525"/>
            <a:ext cx="31051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例如真实队列容量、动态碰撞或新的工具权限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8267700" y="2628900"/>
            <a:ext cx="310515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8439150" y="2990850"/>
            <a:ext cx="276225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需要独立工程设计与验证。这类改动不能由一句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自动获得，要像新功能一样设计与核对。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609600" y="515302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838200" y="5372100"/>
            <a:ext cx="1051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同样的现象，可能来自完全不同的层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838200" y="5610225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把扩展归到正确的层，才知道要重做哪一段设计、重新取得哪一类证据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28 / 31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603" name="" descr="&lt;Slide notes={`将来更换模型的时候，模型配置与能力评价也要重新进入视野。&#10;&#10;第一章给的模型基准，帮助我们理解候选模型大致能做什么。第二章讲的技术，说明资料、工具和上下文怎样影响实际表现。这两部分都很有用，但它们都不能替代本场景的实际任务评价。&#10;&#10;原因在于评分的对象不一样。一个模型在知识题上得分更高，不保证它在长链请求、记忆与对象反馈中更稳定。服务大厅这类任务需要多轮澄清、记住已说过的字段、在正确窗口给出适配回复，这些能力和知识答题不是一回事。&#10;&#10;所以换模型之后要重新测。用能力证据提出合理预期，再用本场景的实际任务去核对它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0.7　进一步扩展时，先识别改变了哪一层&lt;/Text&gt;&#10;            &lt;Text style={{ fontSize: 34, fontWeight: 'bold', color: '#20344B' }}&gt;换模型时，要重看什么&lt;/Text&gt;&#10;        &lt;/Box&gt;&#10;    &lt;/Box&gt;&#10;&#10;    &lt;Box style={{ height: 540, flexDirection: 'row', alignItems: 'center', gap: 32 }}&gt;&#10;&#10;        &lt;Box style={{ width: 440, flexDirection: 'column', justifyContent: 'center', gap: 14 }}&gt;&#10;            &lt;Text style={{ fontSize: 14, color: '#546779' }}&gt;前两章能提供什么&lt;/Text&gt;&#10;&#10;            &lt;Box style={{ width: 440, height: 108, background: '#EDF4FC', borderRadius: 10, padding: '16px 20px', flexDirection: 'column', gap: 6, justifyContent: 'center' }}&gt;&#10;                &lt;Text style={{ fontSize: 19, fontWeight: 'bold', color: '#276FBF' }}&gt;第一章的基准&lt;/Text&gt;&#10;                &lt;Text style={{ fontSize: 15, color: '#546779', lineHeight: 1.45 }}&gt;帮助理解候选模型大致具备什么能力&lt;/Text&gt;&#10;            &lt;/Box&gt;&#10;&#10;            &lt;Box style={{ width: 440, height: 108, background: '#ECF7F2', borderRadius: 10, padding: '16px 20px', flexDirection: 'column', gap: 6, justifyContent: 'center' }}&gt;&#10;                &lt;Text style={{ fontSize: 19, fontWeight: 'bold', color: '#26816B' }}&gt;第二章的技术&lt;/Text&gt;&#10;                &lt;Text style={{ fontSize: 15, color: '#546779', lineHeight: 1.45 }}&gt;说明资料、工具与上下文怎样影响表现&lt;/Text&gt;&#10;            &lt;/Box&gt;&#10;&#10;            &lt;Box style={{ width: 440, height: 108, background: '#F4F7FA', borderRadius: 10, padding: '16px 20px', flexDirection: 'column', gap: 6, justifyContent: 'center' }}&gt;&#10;                &lt;Text style={{ fontSize: 19, fontWeight: 'bold', color: '#20344B' }}&gt;它们的位置&lt;/Text&gt;&#10;                &lt;Text style={{ fontSize: 15, color: '#546779', lineHeight: 1.45 }}&gt;提出合理预期，而不是给出结论&lt;/Text&gt;&#10;            &lt;/Box&gt;&#10;&#10;        &lt;/Box&gt;&#10;&#10;        &lt;Box style={{ width: 680, flexDirection: 'column', justifyContent: 'center', gap: 12 }}&gt;&#10;            &lt;Text style={{ fontSize: 14, color: '#546779' }}&gt;换模型时要重看的三件事&lt;/Text&gt;&#10;&#10;            &lt;Box style={{ width: 680, height: 92, background: '#F4F7FA', borderRadius: 10, padding: '0 22px', flexDirection: 'row', alignItems: 'center', gap: 16 }}&gt;&#10;                &lt;Box style={{ width: 4, height: 48, background: '#276FBF' }} /&gt;&#10;                &lt;Text style={{ fontSize: 16, color: '#20344B', width: 612, lineHeight: 1.5 }}&gt;模型配置与能力评价要重新进入视野&lt;/Text&gt;&#10;            &lt;/Box&gt;&#10;&#10;            &lt;Box style={{ width: 680, height: 92, background: '#F4F7FA', borderRadius: 10, padding: '0 22px', flexDirection: 'row', alignItems: 'center', gap: 16 }}&gt;&#10;                &lt;Box style={{ width: 4, height: 48, background: '#276FBF' }} /&gt;&#10;                &lt;Text style={{ fontSize: 16, color: '#20344B', width: 612, lineHeight: 1.5 }}&gt;知识题得分更高，不保证长链请求更稳定&lt;/Text&gt;&#10;            &lt;/Box&gt;&#10;&#10;            &lt;Box style={{ width: 680, height: 92, background: '#F4F7FA', borderRadius: 10, padding: '0 22px', flexDirection: 'row', alignItems: 'center', gap: 16 }}&gt;&#10;                &lt;Box style={{ width: 4, height: 48, background: '#276FBF' }} /&gt;&#10;                &lt;Text style={{ fontSize: 16, color: '#20344B', width: 612, lineHeight: 1.5 }}&gt;记忆与对象反馈中的表现要重新测&lt;/Text&gt;&#10;            &lt;/Box&gt;&#10;&#10;            &lt;Box style={{ width: 680, height: 100, background: '#FFF4E6', borderRadius: 10, padding: '16px 22px', justifyContent: 'center' }}&gt;&#10;                &lt;Text style={{ fontSize: 15, color: '#CB6B28', lineHeight: 1.6 }}&gt;它们都不能替代本场景的实际任务评价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29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5.10.7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进一步扩展时，先识别改变了哪一层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换模型时，要重看什么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609600" y="1895475"/>
            <a:ext cx="4191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前两章能提供什么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609600" y="2190750"/>
            <a:ext cx="4191000" cy="1028700"/>
          </a:xfrm>
          <a:prstGeom prst="roundRect">
            <a:avLst>
              <a:gd name="adj" fmla="val 925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800100" y="2438400"/>
            <a:ext cx="3810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第一章的基准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800100" y="2714625"/>
            <a:ext cx="38100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帮助理解候选模型大致具备什么能力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609600" y="3352800"/>
            <a:ext cx="4191000" cy="1028700"/>
          </a:xfrm>
          <a:prstGeom prst="roundRect">
            <a:avLst>
              <a:gd name="adj" fmla="val 925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800100" y="3600450"/>
            <a:ext cx="3810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第二章的技术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800100" y="3876675"/>
            <a:ext cx="38100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说明资料、工具与上下文怎样影响表现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609600" y="4514850"/>
            <a:ext cx="41910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800100" y="4762500"/>
            <a:ext cx="3810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它们的位置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800100" y="5038725"/>
            <a:ext cx="38100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提出合理预期，而不是给出结论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5105400" y="1619250"/>
            <a:ext cx="647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换模型时要重看的三件事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5105400" y="1895475"/>
            <a:ext cx="64770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0" name=""/>
          <p:cNvSpPr/>
          <p:nvPr/>
        </p:nvSpPr>
        <p:spPr>
          <a:xfrm rot="0" flipH="0" flipV="0">
            <a:off x="5314950" y="210502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5505450" y="2200275"/>
            <a:ext cx="58293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模型配置与能力评价要重新进入视野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5105400" y="2886075"/>
            <a:ext cx="64770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3" name=""/>
          <p:cNvSpPr/>
          <p:nvPr/>
        </p:nvSpPr>
        <p:spPr>
          <a:xfrm rot="0" flipH="0" flipV="0">
            <a:off x="5314950" y="309562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5505450" y="3190875"/>
            <a:ext cx="58293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知识题得分更高，不保证长链请求更稳定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5105400" y="3876675"/>
            <a:ext cx="64770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6" name=""/>
          <p:cNvSpPr/>
          <p:nvPr/>
        </p:nvSpPr>
        <p:spPr>
          <a:xfrm rot="0" flipH="0" flipV="0">
            <a:off x="5314950" y="408622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5505450" y="4181475"/>
            <a:ext cx="58293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记忆与对象反馈中的表现要重新测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5105400" y="4867275"/>
            <a:ext cx="647700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5314950" y="5210175"/>
            <a:ext cx="6057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它们都不能替代本场景的实际任务评价。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29 / 31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651" name="" descr="&lt;Slide notes={`第五章到这里结束。回看十节，我们做的其实是同一件事：把准备的材料组织成一份别人能接手的成果。&#10;&#10;5.1 先把愿望改成需求、验收问题和交付范围。5.2 区分设定、假设与观察，处理材料冲突。5.3 把材料分配给正确的接收者，准备资源闭包。5.4 保存完整的咨询台文本和唯一替换段。5.5 估计轮次、调用与费用，登记停止条件。5.6 把每项结论连到判据与已提交事实。5.7 区分文件用途，记录实际接收与重新执行范围。5.8 用清楚的来源和全体结果组织汇报。5.9 依据证据判断变更影响。5.10 完成一次有明确接收者的交付。&#10;&#10;贯穿全章的是四条纪律：需求有范围，材料有来源，行为有精确文本，结果有证据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五章　综合实战与交付　·　5.1 — 5.10&lt;/Text&gt;&#10;    &lt;/Box&gt;&#10;&#10;    &lt;Box style={{ height: 540, flexDirection: 'column', justifyContent: 'center', gap: 14 }}&gt;&#10;&#10;        &lt;Text style={{ fontSize: 15, color: '#276FBF' }}&gt;全章链路&lt;/Text&gt;&#10;&#10;        &lt;Text style={{ fontSize: 56, fontWeight: 'bold', color: '#20344B', lineHeight: 1.15 }}&gt;一条可交接的交付链路&lt;/Text&gt;&#10;&#10;        &lt;Box style={{ width: 72, height: 4, background: '#276FBF' }} /&gt;&#10;&#10;        &lt;Box style={{ width: 1152, flexDirection: 'row', gap: 8, marginTop: 6 }}&gt;&#10;            &lt;Box style={{ width: 108, height: 92, background: '#F4F7FA', borderRadius: 8, flexDirection: 'column', gap: 2, justifyContent: 'center', alignItems: 'center' }}&gt;&#10;                &lt;Text style={{ fontSize: 15, fontWeight: 'bold', color: '#276FBF' }}&gt;5.1&lt;/Text&gt;&#10;                &lt;Text style={{ fontSize: 13, color: '#20344B' }}&gt;项目范围&lt;/Text&gt;&#10;            &lt;/Box&gt;&#10;            &lt;Box style={{ width: 108, height: 92, background: '#F4F7FA', borderRadius: 8, flexDirection: 'column', gap: 2, justifyContent: 'center', alignItems: 'center' }}&gt;&#10;                &lt;Text style={{ fontSize: 15, fontWeight: 'bold', color: '#276FBF' }}&gt;5.2&lt;/Text&gt;&#10;                &lt;Text style={{ fontSize: 13, color: '#20344B' }}&gt;来源假设&lt;/Text&gt;&#10;            &lt;/Box&gt;&#10;            &lt;Box style={{ width: 108, height: 92, background: '#F4F7FA', borderRadius: 8, flexDirection: 'column', gap: 2, justifyContent: 'center', alignItems: 'center' }}&gt;&#10;                &lt;Text style={{ fontSize: 15, fontWeight: 'bold', color: '#276FBF' }}&gt;5.3&lt;/Text&gt;&#10;                &lt;Text style={{ fontSize: 13, color: '#20344B' }}&gt;信息边界&lt;/Text&gt;&#10;            &lt;/Box&gt;&#10;            &lt;Box style={{ width: 108, height: 92, background: '#F4F7FA', borderRadius: 8, flexDirection: 'column', gap: 2, justifyContent: 'center', alignItems: 'center' }}&gt;&#10;                &lt;Text style={{ fontSize: 15, fontWeight: 'bold', color: '#276FBF' }}&gt;5.4&lt;/Text&gt;&#10;                &lt;Text style={{ fontSize: 13, color: '#20344B' }}&gt;精确文本&lt;/Text&gt;&#10;            &lt;/Box&gt;&#10;            &lt;Box style={{ width: 108, height: 92, background: '#F4F7FA', borderRadius: 8, flexDirection: 'column', gap: 2, justifyContent: 'center', alignItems: 'center' }}&gt;&#10;                &lt;Text style={{ fontSize: 15, fontWeight: 'bold', color: '#276FBF' }}&gt;5.5&lt;/Text&gt;&#10;                &lt;Text style={{ fontSize: 13, color: '#20344B' }}&gt;执行预算&lt;/Text&gt;&#10;            &lt;/Box&gt;&#10;            &lt;Box style={{ width: 108, height: 92, background: '#F4F7FA', borderRadius: 8, flexDirection: 'column', gap: 2, justifyContent: 'center', alignItems: 'center' }}&gt;&#10;                &lt;Text style={{ fontSize: 15, fontWeight: 'bold', color: '#276FBF' }}&gt;5.6&lt;/Text&gt;&#10;                &lt;Text style={{ fontSize: 13, color: '#20344B' }}&gt;证据成果&lt;/Text&gt;&#10;            &lt;/Box&gt;&#10;            &lt;Box style={{ width: 108, height: 92, background: '#F4F7FA', borderRadius: 8, flexDirection: 'column', gap: 2, justifyContent: 'center', alignItems: 'center' }}&gt;&#10;                &lt;Text style={{ fontSize: 15, fontWeight: 'bold', color: '#276FBF' }}&gt;5.7&lt;/Text&gt;&#10;                &lt;Text style={{ fontSize: 13, color: '#20344B' }}&gt;交付复现&lt;/Text&gt;&#10;            &lt;/Box&gt;&#10;            &lt;Box style={{ width: 108, height: 92, background: '#F4F7FA', borderRadius: 8, flexDirection: 'column', gap: 2, justifyContent: 'center', alignItems: 'center' }}&gt;&#10;                &lt;Text style={{ fontSize: 15, fontWeight: 'bold', color: '#276FBF' }}&gt;5.8&lt;/Text&gt;&#10;                &lt;Text style={{ fontSize: 13, color: '#20344B' }}&gt;演示评审&lt;/Text&gt;&#10;            &lt;/Box&gt;&#10;            &lt;Box style={{ width: 108, height: 92, background: '#F4F7FA', borderRadius: 8, flexDirection: 'column', gap: 2, justifyContent: 'center', alignItems: 'center' }}&gt;&#10;                &lt;Text style={{ fontSize: 15, fontWeight: 'bold', color: '#276FBF' }}&gt;5.9&lt;/Text&gt;&#10;                &lt;Text style={{ fontSize: 13, color: '#20344B' }}&gt;迭代维护&lt;/Text&gt;&#10;            &lt;/Box&gt;&#10;            &lt;Box style={{ width: 108, height: 92, background: '#ECF7F2', borderRadius: 8, flexDirection: 'column', gap: 2, justifyContent: 'center', alignItems: 'center' }}&gt;&#10;                &lt;Text style={{ fontSize: 15, fontWeight: 'bold', color: '#26816B' }}&gt;5.10&lt;/Text&gt;&#10;                &lt;Text style={{ fontSize: 13, color: '#20344B' }}&gt;综合作业&lt;/Text&gt;&#10;            &lt;/Box&gt;&#10;        &lt;/Box&gt;&#10;&#10;        &lt;Box style={{ width: 1152, height: 100, background: '#FFF4E6', borderRadius: 10, padding: '0 24px', flexDirection: 'column', gap: 6, justifyContent: 'center' }}&gt;&#10;            &lt;Text style={{ fontSize: 17, fontWeight: 'bold', color: '#CB6B28' }}&gt;需求有范围 · 材料有来源 · 行为有精确文本 · 结果有证据 · 接收有记录&lt;/Text&gt;&#10;            &lt;Text style={{ fontSize: 15, color: '#546779' }}&gt;接收者知道哪些检查已经完成、哪些还需要继续，这份工作才真正交了出去&lt;/Text&gt;&#10;        &lt;/Box&gt;&#10;&#10;        &lt;Box style={{ width: 1152, flexDirection: 'row', justifyContent: 'space-between', alignItems: 'center', marginTop: 2 }}&gt;&#10;            &lt;Text style={{ fontSize: 14, color: '#546779' }}&gt;第五章　5.1 — 5.10　完&lt;/Text&gt;&#10;            &lt;Text style={{ fontSize: 15, color: '#276FBF' }}&gt;全书最后一节 —— 把成果交给另一位操作者&lt;/Text&gt;&#10;        &lt;/Box&gt;&#10;&#10;    &lt;/Box&gt;&#10;&#10;    &lt;Box style={{ height: 40, flexDirection: 'row', justifyContent: 'space-between', alignItems: 'center' }}&gt;&#10;        &lt;Text style={{ fontSize: 14, color: '#546779' }}&gt;5.10 章末综合项目&lt;/Text&gt;&#10;        &lt;Text style={{ fontSize: 14, color: '#546779' }}&gt;30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2619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第五章　综合实战与交付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5.1 — 5.10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609600" y="18669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全章链路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609600" y="21717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一条可交接的交付链路</a:t>
            </a:r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609600" y="30480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8" name=""/>
          <p:cNvSpPr/>
          <p:nvPr/>
        </p:nvSpPr>
        <p:spPr>
          <a:xfrm rot="0" flipH="0" flipV="0">
            <a:off x="609600" y="3276600"/>
            <a:ext cx="10287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1019175" y="3543300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5.1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876300" y="37338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项目范围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1714500" y="3276600"/>
            <a:ext cx="10287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2124075" y="3543300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5.2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1981200" y="37338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来源假设</a:t>
            </a:r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2819400" y="3276600"/>
            <a:ext cx="10287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3228975" y="3543300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5.3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3086100" y="37338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信息边界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3924300" y="3276600"/>
            <a:ext cx="10287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4333875" y="3543300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5.4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4191000" y="37338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精确文本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5029200" y="3276600"/>
            <a:ext cx="10287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5438775" y="3543300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5.5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5295900" y="37338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执行预算</a:t>
            </a:r>
            <a:endParaRPr/>
          </a:p>
        </p:txBody>
      </p:sp>
      <p:sp>
        <p:nvSpPr>
          <p:cNvPr id="673" name=""/>
          <p:cNvSpPr/>
          <p:nvPr/>
        </p:nvSpPr>
        <p:spPr>
          <a:xfrm rot="0" flipH="0" flipV="0">
            <a:off x="6134100" y="3276600"/>
            <a:ext cx="10287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6543675" y="3543300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5.6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6400800" y="37338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证据成果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7239000" y="3276600"/>
            <a:ext cx="10287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7648575" y="3543300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5.7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7505700" y="37338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交付复现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8343900" y="3276600"/>
            <a:ext cx="10287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8753475" y="3543300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5.8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8610600" y="37338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演示评审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9448800" y="3276600"/>
            <a:ext cx="10287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9858375" y="3543300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5.9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9715500" y="37338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迭代维护</a:t>
            </a:r>
            <a:endParaRPr/>
          </a:p>
        </p:txBody>
      </p:sp>
      <p:sp>
        <p:nvSpPr>
          <p:cNvPr id="685" name=""/>
          <p:cNvSpPr/>
          <p:nvPr/>
        </p:nvSpPr>
        <p:spPr>
          <a:xfrm rot="0" flipH="0" flipV="0">
            <a:off x="10553700" y="3276600"/>
            <a:ext cx="1028700" cy="876300"/>
          </a:xfrm>
          <a:prstGeom prst="roundRect">
            <a:avLst>
              <a:gd name="adj" fmla="val 869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10915650" y="3543300"/>
            <a:ext cx="314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5.10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10820400" y="37338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综合作业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609600" y="428625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838200" y="4552950"/>
            <a:ext cx="1051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需求有范围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材料有来源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行为有精确文本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结果有证据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接收有记录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838200" y="4810125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接收者知道哪些检查已经完成、哪些还需要继续，这份工作才真正交了出去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609600" y="5400675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 — 5.10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完</a:t>
            </a:r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8753475" y="5391150"/>
            <a:ext cx="2828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全书最后一节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把成果交给另一位操作者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30 / 31</a:t>
            </a:r>
            <a:endParaRPr/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695" name="" descr="&lt;Slide notes={`最后回到整本书的路径上。&#10;&#10;第一章我们认识模型，弄清它大致能做什么、不能做什么。第二章进入应用技术，看资料、工具和上下文怎样改变实际表现。第三章学仿真平台，知道系统怎样使用、资源怎样组织。第四章做实验案例，用一次只改一处的办法，把问题和证据连起来。第五章把这些落成一份别人能接手的交付。&#10;&#10;这条路径是连着的：用能力证据提出合理预期，用技术组织可执行的行为，用系统保存可核验的事实，用研究方法解释差异，最后把材料交给别人检查。&#10;&#10;所以最后的练习不是再加一个功能。它只需要你请接收者指出一条他最想相信的结论，然后让他独立找到足以支持或否定它的证据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全书路径　·　第 1 — 5 章&lt;/Text&gt;&#10;    &lt;/Box&gt;&#10;&#10;    &lt;Box style={{ height: 540, flexDirection: 'column', justifyContent: 'center', gap: 14 }}&gt;&#10;&#10;        &lt;Text style={{ fontSize: 15, color: '#276FBF' }}&gt;全书路径&lt;/Text&gt;&#10;&#10;        &lt;Text style={{ fontSize: 52, fontWeight: 'bold', color: '#20344B', lineHeight: 1.15 }}&gt;从认识模型到综合交付&lt;/Text&gt;&#10;&#10;        &lt;Box style={{ width: 72, height: 4, background: '#276FBF' }} /&gt;&#10;&#10;        &lt;Box style={{ width: 1152, flexDirection: 'row', alignItems: 'flex-end', gap: 44, marginTop: 6 }}&gt;&#10;&#10;            &lt;Box style={{ width: 195, height: 108, background: '#F4F7FA', borderRadius: 8, flexDirection: 'column', gap: 4, justifyContent: 'center', alignItems: 'center' }}&gt;&#10;                &lt;Text style={{ fontSize: 14, color: '#546779' }}&gt;第 1 章&lt;/Text&gt;&#10;                &lt;Text style={{ fontSize: 17, fontWeight: 'bold', color: '#20344B' }}&gt;认识模型&lt;/Text&gt;&#10;                &lt;Text style={{ fontSize: 13, color: '#546779' }}&gt;能力与边界&lt;/Text&gt;&#10;            &lt;/Box&gt;&#10;&#10;            &lt;Box style={{ width: 195, height: 124, background: '#EDF4FC', borderRadius: 8, flexDirection: 'column', gap: 4, justifyContent: 'center', alignItems: 'center' }}&gt;&#10;                &lt;Text style={{ fontSize: 14, color: '#546779' }}&gt;第 2 章&lt;/Text&gt;&#10;                &lt;Text style={{ fontSize: 17, fontWeight: 'bold', color: '#276FBF' }}&gt;应用技术&lt;/Text&gt;&#10;                &lt;Text style={{ fontSize: 13, color: '#546779' }}&gt;资料、工具、上下文&lt;/Text&gt;&#10;            &lt;/Box&gt;&#10;&#10;            &lt;Box style={{ width: 195, height: 140, background: '#EDF4FC', borderRadius: 8, flexDirection: 'column', gap: 4, justifyContent: 'center', alignItems: 'center' }}&gt;&#10;                &lt;Text style={{ fontSize: 14, color: '#546779' }}&gt;第 3 章&lt;/Text&gt;&#10;                &lt;Text style={{ fontSize: 17, fontWeight: 'bold', color: '#276FBF' }}&gt;仿真平台&lt;/Text&gt;&#10;                &lt;Text style={{ fontSize: 13, color: '#546779' }}&gt;系统怎样使用&lt;/Text&gt;&#10;            &lt;/Box&gt;&#10;&#10;            &lt;Box style={{ width: 195, height: 156, background: '#ECF7F2', borderRadius: 8, flexDirection: 'column', gap: 4, justifyContent: 'center', alignItems: 'center' }}&gt;&#10;                &lt;Text style={{ fontSize: 14, color: '#546779' }}&gt;第 4 章&lt;/Text&gt;&#10;                &lt;Text style={{ fontSize: 17, fontWeight: 'bold', color: '#26816B' }}&gt;实验案例&lt;/Text&gt;&#10;                &lt;Text style={{ fontSize: 13, color: '#546779' }}&gt;一次只改一处&lt;/Text&gt;&#10;            &lt;/Box&gt;&#10;&#10;            &lt;Box style={{ width: 195, height: 172, background: '#ECF7F2', borderRadius: 8, flexDirection: 'column', gap: 4, justifyContent: 'center', alignItems: 'center' }}&gt;&#10;                &lt;Text style={{ fontSize: 14, color: '#546779' }}&gt;第 5 章&lt;/Text&gt;&#10;                &lt;Text style={{ fontSize: 17, fontWeight: 'bold', color: '#26816B' }}&gt;综合交付&lt;/Text&gt;&#10;                &lt;Text style={{ fontSize: 13, color: '#546779' }}&gt;别人能独立接手&lt;/Text&gt;&#10;            &lt;/Box&gt;&#10;&#10;        &lt;/Box&gt;&#10;&#10;        &lt;Box style={{ width: 1152, height: 96, background: '#FFF4E6', borderRadius: 10, padding: '0 24px', flexDirection: 'column', gap: 6, justifyContent: 'center' }}&gt;&#10;            &lt;Text style={{ fontSize: 17, fontWeight: 'bold', color: '#CB6B28' }}&gt;最后的练习不是再加一个功能&lt;/Text&gt;&#10;            &lt;Text style={{ fontSize: 15, color: '#546779', lineHeight: 1.5 }}&gt;请接收者指出一条最想相信的结论，并让他独立找到足以支持或否定它的证据&lt;/Text&gt;&#10;        &lt;/Box&gt;&#10;&#10;    &lt;/Box&gt;&#10;&#10;    &lt;Box style={{ height: 40, flexDirection: 'row', justifyContent: 'space-between', alignItems: 'center' }}&gt;&#10;        &lt;Text style={{ fontSize: 14, color: '#546779' }}&gt;5.10 章末综合项目　·　全书完&lt;/Text&gt;&#10;        &lt;Text style={{ fontSize: 14, color: '#546779' }}&gt;31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7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1676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全书路径　·　第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 — 5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609600" y="16954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全书路径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609600" y="2000250"/>
            <a:ext cx="10972800" cy="6858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从认识模型到综合交付</a:t>
            </a:r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609600" y="28194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2" name=""/>
          <p:cNvSpPr/>
          <p:nvPr/>
        </p:nvSpPr>
        <p:spPr>
          <a:xfrm rot="0" flipH="0" flipV="0">
            <a:off x="609600" y="3657600"/>
            <a:ext cx="1857375" cy="1028700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1323975" y="3876675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1219200" y="40767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认识模型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1228725" y="431482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能力与边界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2886075" y="3505200"/>
            <a:ext cx="1857375" cy="1181100"/>
          </a:xfrm>
          <a:prstGeom prst="roundRect">
            <a:avLst>
              <a:gd name="adj" fmla="val 645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3600450" y="3800475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3495675" y="40005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应用技术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3257550" y="423862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资料、工具、上下文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5162550" y="3352800"/>
            <a:ext cx="1857375" cy="1333500"/>
          </a:xfrm>
          <a:prstGeom prst="roundRect">
            <a:avLst>
              <a:gd name="adj" fmla="val 57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5876925" y="3724275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5772150" y="39243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仿真平台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5724525" y="416242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系统怎样使用</a:t>
            </a:r>
            <a:endParaRPr/>
          </a:p>
        </p:txBody>
      </p:sp>
      <p:sp>
        <p:nvSpPr>
          <p:cNvPr id="714" name=""/>
          <p:cNvSpPr/>
          <p:nvPr/>
        </p:nvSpPr>
        <p:spPr>
          <a:xfrm rot="0" flipH="0" flipV="0">
            <a:off x="7439025" y="3200400"/>
            <a:ext cx="1857375" cy="1485900"/>
          </a:xfrm>
          <a:prstGeom prst="roundRect">
            <a:avLst>
              <a:gd name="adj" fmla="val 512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8153400" y="3648075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8048625" y="38481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实验案例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8001000" y="408622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一次只改一处</a:t>
            </a:r>
            <a:endParaRPr/>
          </a:p>
        </p:txBody>
      </p:sp>
      <p:sp>
        <p:nvSpPr>
          <p:cNvPr id="718" name=""/>
          <p:cNvSpPr/>
          <p:nvPr/>
        </p:nvSpPr>
        <p:spPr>
          <a:xfrm rot="0" flipH="0" flipV="0">
            <a:off x="9715500" y="3048000"/>
            <a:ext cx="1857375" cy="1638300"/>
          </a:xfrm>
          <a:prstGeom prst="roundRect">
            <a:avLst>
              <a:gd name="adj" fmla="val 465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10429875" y="3571875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10325100" y="37719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综合交付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10210800" y="401002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别人能独立接手</a:t>
            </a:r>
            <a:endParaRPr/>
          </a:p>
        </p:txBody>
      </p:sp>
      <p:sp>
        <p:nvSpPr>
          <p:cNvPr id="722" name=""/>
          <p:cNvSpPr/>
          <p:nvPr/>
        </p:nvSpPr>
        <p:spPr>
          <a:xfrm rot="0" flipH="0" flipV="0">
            <a:off x="609600" y="481965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838200" y="5019675"/>
            <a:ext cx="1051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最后的练习不是再加一个功能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838200" y="5276850"/>
            <a:ext cx="10515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请接收者指出一条最想相信的结论，并让他独立找到足以支持或否定它的证据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章末综合项目　·　全书完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31 / 31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2026-09-29T10:58:17Z</dcterms:created>
  <dcterms:modified xsi:type="dcterms:W3CDTF">2026-09-29T10:58:17Z</dcterms:modified>
</cp:coreProperties>
</file>