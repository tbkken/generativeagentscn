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slides/slide10.xml" ContentType="application/vnd.openxmlformats-officedocument.presentationml.slide+xml"/>
  <Override PartName="/ppt/slideMasters/slideMaster1.xml" ContentType="application/vnd.openxmlformats-officedocument.presentationml.slideMaster+xml"/>
  <Override PartName="/ppt/presentation.xml" ContentType="application/vnd.openxmlformats-officedocument.presentationml.presentation.main+xml"/>
  <Override PartName="/docProps/core.xml" ContentType="application/vnd.openxmlformats-package.core-properties+xml"/>
  <Override PartName="/ppt/slides/slide21.xml" ContentType="application/vnd.openxmlformats-officedocument.presentationml.slide+xml"/>
  <Override PartName="/ppt/slides/slide1.xml" ContentType="application/vnd.openxmlformats-officedocument.presentationml.slide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presProps.xml" ContentType="application/vnd.openxmlformats-officedocument.presentationml.presProps+xml"/>
  <Override PartName="/ppt/slides/slide15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4.xml" ContentType="application/vnd.openxmlformats-officedocument.presentationml.slide+xml"/>
  <Override PartName="/ppt/slides/slide13.xml" ContentType="application/vnd.openxmlformats-officedocument.presentationml.slide+xml"/>
  <Override PartName="/ppt/slides/slide19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2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23.xml" ContentType="application/vnd.openxmlformats-officedocument.presentationml.slide+xml"/>
  <Override PartName="/ppt/slides/slide20.xml" ContentType="application/vnd.openxmlformats-officedocument.presentationml.slide+xml"/>
  <Override PartName="/ppt/notesMasters/notesMaster1.xml" ContentType="application/vnd.openxmlformats-officedocument.presentationml.notesMaster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slides/slide5.xml" ContentType="application/vnd.openxmlformats-officedocument.presentationml.slide+xml"/>
  <Override PartName="/ppt/slides/slide7.xml" ContentType="application/vnd.openxmlformats-officedocument.presentationml.slide+xml"/>
  <Override PartName="/ppt/viewProps.xml" ContentType="application/vnd.openxmlformats-officedocument.presentationml.viewProps+xml"/>
  <Override PartName="/ppt/slides/slide4.xml" ContentType="application/vnd.openxmlformats-officedocument.presentationml.slide+xml"/>
  <Override PartName="/ppt/slides/slide6.xml" ContentType="application/vnd.openxmlformats-officedocument.presentationml.slide+xml"/>
  <Override PartName="/ppt/slides/slide8.xml" ContentType="application/vnd.openxmlformats-officedocument.presentationml.slide+xml"/>
  <Override PartName="/ppt/theme/theme1.xml" ContentType="application/vnd.openxmlformats-officedocument.theme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</Types>
</file>

<file path=_rels/.rels><?xml version="1.0" encoding="UTF-8" standalone="yes"?><Relationships xmlns="http://schemas.openxmlformats.org/package/2006/relationships"><Relationship Id="rId0" Type="http://schemas.openxmlformats.org/officeDocument/2006/relationships/officeDocument" Target="ppt/presentation.xml" /><Relationship Id="rId1" Type="http://schemas.openxmlformats.org/package/2006/relationships/metadata/core-properties" Target="docProps/core.xml" /><Relationship Id="rId2" Type="http://schemas.openxmlformats.org/officeDocument/2006/relationships/extended-properties" Target="docProps/app.xml" /></Relationships>
</file>

<file path=ppt/presentation.xml><?xml version="1.0" encoding="utf-8"?>
<p:presentation xmlns:p="http://schemas.openxmlformats.org/presentationml/2006/main" xmlns:a="http://schemas.openxmlformats.org/drawingml/2006/main" xmlns:r="http://schemas.openxmlformats.org/officeDocument/2006/relationships" firstSlideNum="1">
  <p:sldMasterIdLst>
    <p:sldMasterId id="2147483648" r:id="rId0"/>
  </p:sldMasterIdLst>
  <p:notesMasterIdLst>
    <p:notesMasterId r:id="rId24"/>
  </p:notesMasterIdLst>
  <p:sldIdLst>
    <p:sldId id="256" r:id="rId1"/>
    <p:sldId id="257" r:id="rId2"/>
    <p:sldId id="258" r:id="rId3"/>
    <p:sldId id="259" r:id="rId4"/>
    <p:sldId id="260" r:id="rId5"/>
    <p:sldId id="261" r:id="rId6"/>
    <p:sldId id="262" r:id="rId7"/>
    <p:sldId id="263" r:id="rId8"/>
    <p:sldId id="264" r:id="rId9"/>
    <p:sldId id="265" r:id="rId10"/>
    <p:sldId id="266" r:id="rId11"/>
    <p:sldId id="267" r:id="rId12"/>
    <p:sldId id="268" r:id="rId13"/>
    <p:sldId id="269" r:id="rId14"/>
    <p:sldId id="270" r:id="rId15"/>
    <p:sldId id="271" r:id="rId16"/>
    <p:sldId id="272" r:id="rId17"/>
    <p:sldId id="273" r:id="rId18"/>
    <p:sldId id="274" r:id="rId19"/>
    <p:sldId id="275" r:id="rId20"/>
    <p:sldId id="276" r:id="rId21"/>
    <p:sldId id="277" r:id="rId22"/>
    <p:sldId id="278" r:id="rId23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uri="{E76CE94A-603C-4142-B9EB-6D1370010A27}"/>
    <p:ext uri="{D31A062A-798A-4329-ABDD-BBA856620510}"/>
    <p:ext uri="{FD5EFAAD-0ECE-453E-9831-46B23BE46B34}"/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 xmlns:a="http://schemas.openxmlformats.org/drawing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27" d="100"/>
          <a:sy n="127" d="100"/>
        </p:scale>
        <p:origin x="536" y="19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5" Type="http://schemas.openxmlformats.org/officeDocument/2006/relationships/slide" Target="slides/slide15.xml" /><Relationship Id="rId0" Type="http://schemas.openxmlformats.org/officeDocument/2006/relationships/slideMaster" Target="slideMasters/slideMaster1.xml" /><Relationship Id="rId1" Type="http://schemas.openxmlformats.org/officeDocument/2006/relationships/slide" Target="slides/slide1.xml" /><Relationship Id="rId11" Type="http://schemas.openxmlformats.org/officeDocument/2006/relationships/slide" Target="slides/slide11.xml" /><Relationship Id="rId10" Type="http://schemas.openxmlformats.org/officeDocument/2006/relationships/slide" Target="slides/slide10.xml" /><Relationship Id="rId12" Type="http://schemas.openxmlformats.org/officeDocument/2006/relationships/slide" Target="slides/slide12.xml" /><Relationship Id="rId14" Type="http://schemas.openxmlformats.org/officeDocument/2006/relationships/slide" Target="slides/slide14.xml" /><Relationship Id="rId13" Type="http://schemas.openxmlformats.org/officeDocument/2006/relationships/slide" Target="slides/slide13.xml" /><Relationship Id="rId19" Type="http://schemas.openxmlformats.org/officeDocument/2006/relationships/slide" Target="slides/slide19.xml" /><Relationship Id="rId16" Type="http://schemas.openxmlformats.org/officeDocument/2006/relationships/slide" Target="slides/slide16.xml" /><Relationship Id="rId17" Type="http://schemas.openxmlformats.org/officeDocument/2006/relationships/slide" Target="slides/slide17.xml" /><Relationship Id="rId18" Type="http://schemas.openxmlformats.org/officeDocument/2006/relationships/slide" Target="slides/slide18.xml" /><Relationship Id="rId2" Type="http://schemas.openxmlformats.org/officeDocument/2006/relationships/slide" Target="slides/slide2.xml" /><Relationship Id="rId23" Type="http://schemas.openxmlformats.org/officeDocument/2006/relationships/slide" Target="slides/slide23.xml" /><Relationship Id="rId20" Type="http://schemas.openxmlformats.org/officeDocument/2006/relationships/slide" Target="slides/slide20.xml" /><Relationship Id="rId21" Type="http://schemas.openxmlformats.org/officeDocument/2006/relationships/slide" Target="slides/slide21.xml" /><Relationship Id="rId22" Type="http://schemas.openxmlformats.org/officeDocument/2006/relationships/slide" Target="slides/slide22.xml" /><Relationship Id="rId24" Type="http://schemas.openxmlformats.org/officeDocument/2006/relationships/notesMaster" Target="notesMasters/notesMaster1.xml" /><Relationship Id="rId25" Type="http://schemas.openxmlformats.org/officeDocument/2006/relationships/presProps" Target="presProps.xml" /><Relationship Id="rId9" Type="http://schemas.openxmlformats.org/officeDocument/2006/relationships/slide" Target="slides/slide9.xml" /><Relationship Id="rId26" Type="http://schemas.openxmlformats.org/officeDocument/2006/relationships/tableStyles" Target="tableStyles.xml" /><Relationship Id="rId5" Type="http://schemas.openxmlformats.org/officeDocument/2006/relationships/slide" Target="slides/slide5.xml" /><Relationship Id="rId27" Type="http://schemas.openxmlformats.org/officeDocument/2006/relationships/viewProps" Target="viewProps.xml" /><Relationship Id="rId3" Type="http://schemas.openxmlformats.org/officeDocument/2006/relationships/slide" Target="slides/slide3.xml" /><Relationship Id="rId4" Type="http://schemas.openxmlformats.org/officeDocument/2006/relationships/slide" Target="slides/slide4.xml" /><Relationship Id="rId6" Type="http://schemas.openxmlformats.org/officeDocument/2006/relationships/slide" Target="slides/slide6.xml" /><Relationship Id="rId7" Type="http://schemas.openxmlformats.org/officeDocument/2006/relationships/slide" Target="slides/slide7.xml" /><Relationship Id="rId8" Type="http://schemas.openxmlformats.org/officeDocument/2006/relationships/slide" Target="slides/slide8.xml" /></Relationships>
</file>

<file path=ppt/notesMasters/_rels/notesMaster1.xml.rels><?xml version="1.0" encoding="UTF-8" standalone="yes"?><Relationships xmlns="http://schemas.openxmlformats.org/package/2006/relationships"><Relationship Id="rId0" Type="http://schemas.openxmlformats.org/officeDocument/2006/relationships/theme" Target="../theme/theme2.xml" /></Relationships>
</file>

<file path=ppt/notesMasters/notesMaster1.xml><?xml version="1.0" encoding="utf-8"?>
<p:notesMaster xmlns:p="http://schemas.openxmlformats.org/presentationml/2006/main" xmlns:a="http://schemas.openxmlformats.org/drawing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我们手上拿到的是一叠教案材料：一页服务分工、四份人物任务、一张空间草图、两段咨询策略，还有一张评分表。</a:t>
            </a:r>
          </a:p>
          <a:p>
            <a:r>
              <a:rPr lang="zh-CN" dirty="0"/>
              <a:t>把它们放进同一个文件夹交出去，接收者其实什么也判断不了。他不知道哪一句是本次采用的条件，哪一句只是候选建议；哪里两份材料互相打架，哪里还空着。</a:t>
            </a:r>
          </a:p>
          <a:p>
            <a:r>
              <a:rPr lang="zh-CN" dirty="0"/>
              <a:t>所以这一节要做的第一件事，是给材料标性质。业务约定、作者假设、尚未核实的图片、运行中的行为，这四类东西来源完全不同，写法也不能混。</a:t>
            </a:r>
          </a:p>
          <a:p>
            <a:r>
              <a:rPr lang="zh-CN" dirty="0"/>
              <a:t>它们都可以进入项目资料，但不能合并成一列所谓已验证事实。顺序很重要：先分类，再登记出处，最后才谈怎么使用。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这一节按四个知识块推进，顺序不能打乱，因为前一块的结论是后一块的输入。</a:t>
            </a:r>
          </a:p>
          <a:p>
            <a:r>
              <a:rPr lang="zh-CN" dirty="0"/>
              <a:t>第一块解决怎么说话：给材料标性质，分清场景设定、作者假设、待核实和实际观察。第二块解决怎么找得回来：来源要能定位到原文段落，两份材料打架时先登记冲突编号，再决定采用谁。第三块解决暂时这么定的条件凭什么能改：每一条假设都要配一条会改变它的证据，整理时还要保住原意和空白。第四块解决交出去的东西：接收者要能自己找到采用的原文、明确的条件和未完成事项。</a:t>
            </a:r>
          </a:p>
          <a:p>
            <a:r>
              <a:rPr lang="zh-CN" dirty="0"/>
              <a:t>我建议大家听的时候带着自己的材料想：我手上这一句，属于哪一块。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在进入细节之前，先把一个问题摆正：材料分类是登记出处的前提，不是写完再补的标签。</a:t>
            </a:r>
          </a:p>
          <a:p>
            <a:r>
              <a:rPr lang="zh-CN" dirty="0"/>
              <a:t>我们平时习惯一边读材料一边在心里判断，读到就用。可是交接的时候，心里的判断带不走。别人只看到同样的句子，看不出哪一句来自教案约定，哪一句是我们的选择，哪一句还在等运行验证。</a:t>
            </a:r>
          </a:p>
          <a:p>
            <a:r>
              <a:rPr lang="zh-CN" dirty="0"/>
              <a:t>所以我的要求很直接：任何一句要进入本轮实验的话，先标性质。标完性质，登记出处才有意义；出处登记完，才谈得上它能不能用、能支持什么结论。</a:t>
            </a:r>
          </a:p>
          <a:p>
            <a:r>
              <a:rPr lang="zh-CN" dirty="0"/>
              <a:t>顺序是：先分类，再登记出处，最后才决定能不能使用。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这四类材料我用同一句话来对照，方便大家记住差别。</a:t>
            </a:r>
          </a:p>
          <a:p>
            <a:r>
              <a:rPr lang="zh-CN" dirty="0"/>
              <a:t>第一类是场景设定，比如 A 窗口负责场地使用咨询。这是本案约定的业务范围，是作者定的，不是现实社区的规章，它约束的是这次实验。</a:t>
            </a:r>
          </a:p>
          <a:p>
            <a:r>
              <a:rPr lang="zh-CN" dirty="0"/>
              <a:t>第二类是作者假设，比如本案不研究排队。这类话决定了结论能用在哪里、不能用在哪里。</a:t>
            </a:r>
          </a:p>
          <a:p>
            <a:r>
              <a:rPr lang="zh-CN" dirty="0"/>
              <a:t>第三类是待核实，比如图片和路径还没有验收。它绝不能写成系统中可达，那是两回事。</a:t>
            </a:r>
          </a:p>
          <a:p>
            <a:r>
              <a:rPr lang="zh-CN" dirty="0"/>
              <a:t>第四类是实际观察，比如孟川是否已经在 B 窗口得到回复。这一栏必须有真实 Run 和记录。</a:t>
            </a:r>
          </a:p>
          <a:p>
            <a:r>
              <a:rPr lang="zh-CN" dirty="0"/>
              <a:t>服务大厅还没有新 Run，所以这一栏应当保持空白，等运行事实来填。</a:t>
            </a: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这四句话来自四个不同的地方，所以它们不能合成一列。</a:t>
            </a:r>
          </a:p>
          <a:p>
            <a:r>
              <a:rPr lang="zh-CN" dirty="0"/>
              <a:t>A 窗口提供场地使用咨询，是本案约定的业务范围。孟川发现东侧一盏灯不亮，是人物初始材料里的虚构经历。地图采用二十乘十六格，是作者的空间方案。</a:t>
            </a:r>
          </a:p>
          <a:p>
            <a:r>
              <a:rPr lang="zh-CN" dirty="0"/>
              <a:t>而孟川已经在 B 窗口得到回复，这句话不一样：它必须等运行事实支持。服务大厅现在还没有新 Run，它只能是待运行支持。</a:t>
            </a:r>
          </a:p>
          <a:p>
            <a:r>
              <a:rPr lang="zh-CN" dirty="0"/>
              <a:t>四句话都能进项目资料，来源也说得清，但不能合并成一列“已验证事实”。合并之后来源没了，适用范围没了，出了问题也回查不了。</a:t>
            </a:r>
          </a:p>
          <a:p>
            <a:r>
              <a:rPr lang="zh-CN" dirty="0"/>
              <a:t>还要注明适用范围：是只用于这次虚构咨询，还是只说明历史案例的某一次 Run。</a:t>
            </a: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有两个说法特别容易被人误读，我先替大家挡住。</a:t>
            </a:r>
          </a:p>
          <a:p>
            <a:r>
              <a:rPr lang="zh-CN" dirty="0"/>
              <a:t>第一个是“采用”。我们说本次采用二十乘十六格、采用两段咨询台文本，意思是作者决定这一轮用这些条件。它约束的是这次实验，不是现实社区的办事规章。别人拿它去指导真实大厅的窗口分工，就跑偏了。</a:t>
            </a:r>
          </a:p>
          <a:p>
            <a:r>
              <a:rPr lang="zh-CN" dirty="0"/>
              <a:t>第二个是“未知”。很多人看到材料里写着“日期待定”，第一反应是补一个上去，觉得表格整齐一点更好看。但周澈还没确定具体日期和人数，恰恰是 A 窗口需要问他的原因。如果我们擅自补成某个日期、二十人和一个已经成功的预约，问题就消失了，实验也就没得做了。</a:t>
            </a:r>
          </a:p>
          <a:p>
            <a:r>
              <a:rPr lang="zh-CN" dirty="0"/>
              <a:t>所以未知不是缺陷，它是有用的信息。你要做的是把它标出来，而不是替它下结论。</a:t>
            </a: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这一块解决两个问题：一句话从哪来，以及两份材料互相矛盾的时候听谁的。</a:t>
            </a:r>
          </a:p>
          <a:p>
            <a:r>
              <a:rPr lang="zh-CN" dirty="0"/>
              <a:t>我特别想强调一句话：来源不是一句“来自文档”。你说来自文档，接收者还是没法回查。至少要能定位到哪一份文档的哪一段，最好连版本和采用段落都留下来。</a:t>
            </a:r>
          </a:p>
          <a:p>
            <a:r>
              <a:rPr lang="zh-CN" dirty="0"/>
              <a:t>因为文件是会变的。作者后来又改了两句，你当时用的是哪一句，只有把原文和摘要一起保留，接收者才能解释这次实验为什么用这些文字。</a:t>
            </a:r>
          </a:p>
          <a:p>
            <a:r>
              <a:rPr lang="zh-CN" dirty="0"/>
              <a:t>第二件事是冲突。两份材料不一致的时候，最危险的做法是折中，把两句话拼成一个看起来更完整的版本，让对象自己去选相信谁。正确做法是先登记冲突编号，记录它影响什么，再由作者决定本次采用哪一条。</a:t>
            </a: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来源登记就是资料集的主干，这六项我逐条说。</a:t>
            </a:r>
          </a:p>
          <a:p>
            <a:r>
              <a:rPr lang="zh-CN" dirty="0"/>
              <a:t>S01 是窗口分工：A 为场地使用咨询，B 为设施问题咨询，只能证明教案规定的分工，不是审批规则。S02 是四项任务与首次话语，证明的是角色初始目的，不是到场后的实测发言。</a:t>
            </a:r>
          </a:p>
          <a:p>
            <a:r>
              <a:rPr lang="zh-CN" dirty="0"/>
              <a:t>S03 是地图与出生区域方案，只能证明草图存在，还没证明系统中可达。S04 是两段咨询台决策文本，待写入 Skill，尚未证明实际执行。S05 是时间方案：九点到十点十五、每步一分钟、共七十六步。S06 是咨询闭环条件，它是判据，不是任务已经成功的答案。</a:t>
            </a:r>
          </a:p>
          <a:p>
            <a:r>
              <a:rPr lang="zh-CN" dirty="0"/>
              <a:t>每一项都要写清现在能证明什么，不能因为编号整齐就往前多推一步。</a:t>
            </a: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S 编号只是作者自己的资料索引，它不是系统里的资源 ID，也不是实验的 UUID。这一点要提前说清，否则接收者会以为拿编号就能在系统里找到东西。</a:t>
            </a:r>
          </a:p>
          <a:p>
            <a:r>
              <a:rPr lang="zh-CN" dirty="0"/>
              <a:t>除了编号，实际工作表还要补七样。原文件位置，说明是哪一份文件、存在哪里。获取日期，说明我们拿到的是哪一版。整理人，出了问题知道找谁。采用段落，这是回查的关键。关联材料，说明它和哪些编号互相引用。待确认问题，把还没定的项明确写出来。最后一栏是内容摘要。</a:t>
            </a:r>
          </a:p>
          <a:p>
            <a:r>
              <a:rPr lang="zh-CN" dirty="0"/>
              <a:t>摘要的作用是辨认。过两天你看到一份摘要，能认出这是哪一份材料、哪一版，这就够了。它本身不能证明材料正确，也不能证明来源权威。</a:t>
            </a:r>
          </a:p>
          <a:p>
            <a:r>
              <a:rPr lang="zh-CN" dirty="0"/>
              <a:t>记住这条线：摘要负责辨认，原文负责证明。</a:t>
            </a: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摘要这件事我想多说一句，因为它最容易被误用。</a:t>
            </a:r>
          </a:p>
          <a:p>
            <a:r>
              <a:rPr lang="zh-CN" dirty="0"/>
              <a:t>摘要是给人看的，作用是辨认。文件多了以后，你翻到一份摘要，能认出这是哪一份材料、哪一版，就不至于张冠李戴。它还带来一个好处：文件后来被改了，你手上还留着当时用的内容和摘要，接收者就能解释这次实验为什么用了这些文字。</a:t>
            </a:r>
          </a:p>
          <a:p>
            <a:r>
              <a:rPr lang="zh-CN" dirty="0"/>
              <a:t>但摘要本身不证明资料正确。它没有来源权威，也不因为写得流畅就更可信。</a:t>
            </a:r>
          </a:p>
          <a:p>
            <a:r>
              <a:rPr lang="zh-CN" dirty="0"/>
              <a:t>还有一个容易混的地方：作者文稿的修改记录，不是公共资源的业务 Revision。前者是作者侧的版本痕迹，后者是资源身份。后续进入 Studio 时，仍然按稳定资源身份和独立实验副本管理，这部分在第三章讲过。</a:t>
            </a:r>
          </a:p>
          <a:p>
            <a:r>
              <a:rPr lang="zh-CN" dirty="0"/>
              <a:t>所以看摘要的时候，把它当索引，不要当证据。</a:t>
            </a: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冲突不是单独一句话的问题，而是两份材料汇合以后才出现的。</a:t>
            </a:r>
          </a:p>
          <a:p>
            <a:r>
              <a:rPr lang="zh-CN" dirty="0"/>
              <a:t>一边是 S01 里的既有设定，B 窗口提供设施问题咨询。另一边是资料包里多出来的一张教学便签，写着 B 窗口也能审批场地预约。把两句话放在一起，冲突就出现了——咨询被扩大成了审批。</a:t>
            </a:r>
          </a:p>
          <a:p>
            <a:r>
              <a:rPr lang="zh-CN" dirty="0"/>
              <a:t>为什么这很要紧？因为一旦 B 窗口变成能审批，正确窗口的判断变了，任务设计要改，评分判据也要改。这不是补一句说明就能解决的事。</a:t>
            </a:r>
          </a:p>
          <a:p>
            <a:r>
              <a:rPr lang="zh-CN" dirty="0"/>
              <a:t>所以本次决定是：便签不纳入当前场景。将来如果真需要审批机制，那是新需求，要另议范围。</a:t>
            </a:r>
          </a:p>
          <a:p>
            <a:r>
              <a:rPr lang="zh-CN" dirty="0"/>
              <a:t>我还要强调一句：这张便签是为练习构造的反例，它被我们读到，并不等于对象就多了一项能力。</a:t>
            </a:r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冲突不止一条，我把手上三条都登记下来，处置方式也一起写清楚。</a:t>
            </a:r>
          </a:p>
          <a:p>
            <a:r>
              <a:rPr lang="zh-CN" dirty="0"/>
              <a:t>C01 就是那张便签：S01 规定咨询分工，便签给它加了审批能力，改变的是正确窗口和成功含义。本次处置：便签不纳入当前场景，需要新需求时另议范围。</a:t>
            </a:r>
          </a:p>
          <a:p>
            <a:r>
              <a:rPr lang="zh-CN" dirty="0"/>
              <a:t>C02 是清单和原教案不一致。草稿写四名人物，原教案里还有引导员余真；漏掉她，协助渠道就没了。本次处置：按原教案核对为五名 Agent。</a:t>
            </a:r>
          </a:p>
          <a:p>
            <a:r>
              <a:rPr lang="zh-CN" dirty="0"/>
              <a:t>C03 更隐蔽：某份整理稿把七十五分钟写成七十五步，听着差不多，其实最后时间点会提前一分钟。本次处置：保留七十六步，注明 Step 1 是九点。</a:t>
            </a:r>
          </a:p>
          <a:p>
            <a:r>
              <a:rPr lang="zh-CN" dirty="0"/>
              <a:t>接收者要看的不是结论，而是结论挡住了什么后果。</a:t>
            </a:r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处理冲突之前，先问三句话。</a:t>
            </a:r>
          </a:p>
          <a:p>
            <a:r>
              <a:rPr lang="zh-CN" dirty="0"/>
              <a:t>第一，这句话来自哪里：是原教案、草稿，还是别人转述。第二，是否针对同一个用途——同一句“可以审批”，写在真实规定里和写在教学练习里，含义完全不同。第三，作者是否已明确采用；没被采用的材料，不会因为出现次数多就占上风。</a:t>
            </a:r>
          </a:p>
          <a:p>
            <a:r>
              <a:rPr lang="zh-CN" dirty="0"/>
              <a:t>还有一条反直觉的提醒：较新的文件不自动更可靠，写得更自信也不是优先依据。</a:t>
            </a:r>
          </a:p>
          <a:p>
            <a:r>
              <a:rPr lang="zh-CN" dirty="0"/>
              <a:t>确认不了的业务条件进待办，注明它会影响哪个资源或判断；不要让模型偷偷替团队完成需求决策。</a:t>
            </a:r>
          </a:p>
          <a:p>
            <a:r>
              <a:rPr lang="zh-CN" dirty="0"/>
              <a:t>最后是有意保留的差异。H1 和 H3 首句相同、私人目的不同，不是重复数据。若有人把首句“优化”成写明预约或报修，就在配置之前消掉了要观察的问题。</a:t>
            </a:r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接下来这一块，处理的是最容易被含糊过去的部分：那些“暂时这么定”的条件。</a:t>
            </a:r>
          </a:p>
          <a:p>
            <a:r>
              <a:rPr lang="zh-CN" dirty="0"/>
              <a:t>我先说清一件事：本轮采用的值，不是从真实大厅统计里估计出来的。五名 Agent、三个对象、二十乘十六格地图、四个 Arena、七十六步，这些都是作者为这次实验选定的条件。承认这一点，不会让实验变差，反而让它可解释。</a:t>
            </a:r>
          </a:p>
          <a:p>
            <a:r>
              <a:rPr lang="zh-CN" dirty="0"/>
              <a:t>既然它们是选择，就必须能检查。第一步，把假设写在材料表上，不要藏在正文里。第二步，写明它为什么这么处理。第三步，写清楚需要什么证据才能推翻它。第四步，只有证据到手，状态才从“未检查”变成有依据的结论。</a:t>
            </a:r>
          </a:p>
          <a:p>
            <a:r>
              <a:rPr lang="zh-CN" dirty="0"/>
              <a:t>我想强调第三步。没有写清证据的假设，会一直含糊下去，谁也说不清什么时候该改。</a:t>
            </a:r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先把本轮采用的固定条件列清楚，接收者才有对照的基准。</a:t>
            </a:r>
          </a:p>
          <a:p>
            <a:r>
              <a:rPr lang="zh-CN" dirty="0"/>
              <a:t>四项咨询任务；四位来访者加引导员余真，共五名 Agent；咨询台加两个窗口，共三个对象；二十乘十六格地图，入口、等候区、A 服务区、B 服务区共四个 Arena；时间从二零二六年十月十八日九点到十点十五分，时区上海，步长一分钟，共七十六步。</a:t>
            </a:r>
          </a:p>
          <a:p>
            <a:r>
              <a:rPr lang="zh-CN" dirty="0"/>
              <a:t>这些值不是估计出来的，是本次采用的条件。这句话要写在材料表上，不然接收者会以为它们来自真实大厅的统计。</a:t>
            </a:r>
          </a:p>
          <a:p>
            <a:r>
              <a:rPr lang="zh-CN" dirty="0"/>
              <a:t>材料表还要多一栏：假设怎样影响结论。内部通道设计为连通，实际录入后的路线待验；人物从规定 Arena 出生，坐标待空间选择器保存；对象可按 SOP 答复多个请求，不能据此推出真实窗口的服务速度。</a:t>
            </a:r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这四条假设我逐条说一遍，不妨照这个结构做一份。</a:t>
            </a:r>
          </a:p>
          <a:p>
            <a:r>
              <a:rPr lang="zh-CN" dirty="0"/>
              <a:t>第一行，两组除澄清段外使用相同内容。暂这样处理是为了便于解释策略差异；改变它需要保存后的资源内容逐项比较。</a:t>
            </a:r>
          </a:p>
          <a:p>
            <a:r>
              <a:rPr lang="zh-CN" dirty="0"/>
              <a:t>第二行，四位来访者能够接近咨询台及窗口，这是完成任务的空间前提；改变它需要实际地图路径与运行位移核对。</a:t>
            </a:r>
          </a:p>
          <a:p>
            <a:r>
              <a:rPr lang="zh-CN" dirty="0"/>
              <a:t>第三行，模型配置可以支持所需调用。这里要坦白：当前还没填写实测结论，需要先选用可用服务；改变它要分别核对真实配置、连接与运行记录。</a:t>
            </a:r>
          </a:p>
          <a:p>
            <a:r>
              <a:rPr lang="zh-CN" dirty="0"/>
              <a:t>第四行，对象没有业务队列与审批流程，本案只研究咨询，不模拟办理。要加机制应重新定义项目，不能补一句提示冒充实现。</a:t>
            </a:r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整理材料时最容易出问题的地方，是把原意改掉，而且改得还很有道理。</a:t>
            </a:r>
          </a:p>
          <a:p>
            <a:r>
              <a:rPr lang="zh-CN" dirty="0"/>
              <a:t>孟川的原文是：“今天发现活动室东侧一盏灯不亮，想了解如何报告。”这句话可以拆成三个字段：人物初始经历，东侧一盏灯不亮；咨询目的，想了解如何报告；规定的首次话语，保留原句。</a:t>
            </a:r>
          </a:p>
          <a:p>
            <a:r>
              <a:rPr lang="zh-CN" dirty="0"/>
              <a:t>但很多人会顺手改成另外三句：设施已确认损坏、需要更换灯具、已经提交报修。这三句听起来更专业，其实是往里补了东西。第一句补了诊断，第二句补了方案，第三句补了执行结果。原材料都不支持。</a:t>
            </a:r>
          </a:p>
          <a:p>
            <a:r>
              <a:rPr lang="zh-CN" dirty="0"/>
              <a:t>所以我建议每条整理内容都附一列变化说明：只是分段、改为同义表达、补充了作者假设，还是仍待确认。这一列不好看，但它是接收者判断可靠性的依据。</a:t>
            </a:r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有人会问：既然有那么多的未确认信息，是不是这些材料都不能做？我的回答是，要看它卡在哪一步。</a:t>
            </a:r>
          </a:p>
          <a:p>
            <a:r>
              <a:rPr lang="zh-CN" dirty="0"/>
              <a:t>背景图片可以先画。地图草图、语义资料、碰撞资料，这些都不改变任务答案，先做出来不影响后面的判断。</a:t>
            </a:r>
          </a:p>
          <a:p>
            <a:r>
              <a:rPr lang="zh-CN" dirty="0"/>
              <a:t>但依赖错误服务范围的 Skill 不能定稿。因为服务范围一改，它答复的内容就变了，这正是要比较的东西。</a:t>
            </a:r>
          </a:p>
          <a:p>
            <a:r>
              <a:rPr lang="zh-CN" dirty="0"/>
              <a:t>判断标准可以这么记：如果这项未知会改变任务答案、权限或主要比较条件，就先处理它，再形成正式比较材料；如果不会，可以先画，标清状态。</a:t>
            </a:r>
          </a:p>
          <a:p>
            <a:r>
              <a:rPr lang="zh-CN" dirty="0"/>
              <a:t>还有一条边界必须守住：不要边运行边悄悄换条件。中途改一个参数，前面的结果就不能和后面对照了，整轮实验也就白做。</a:t>
            </a:r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整理完材料，别急着交，先按四类关键信息再过一遍。</a:t>
            </a:r>
          </a:p>
          <a:p>
            <a:r>
              <a:rPr lang="zh-CN" dirty="0"/>
              <a:t>第一类，数字与时间。七十五分钟和七十五步差一个字，结果差一分钟。第二类，否定词。“未确认恢复”缩成“恢复”，意思完全反过来。第三类，条件。“可咨询”写成“已办理”，把询问变成了办成。第四类，信息来源：这句话是谁写的、写在哪。</a:t>
            </a:r>
          </a:p>
          <a:p>
            <a:r>
              <a:rPr lang="zh-CN" dirty="0"/>
              <a:t>这四类我建议手工核，不要全交给助手。用第二章的助手整理资料也一样，生成结果要人工核对关键变化，流畅不等于忠实。</a:t>
            </a:r>
          </a:p>
          <a:p>
            <a:r>
              <a:rPr lang="zh-CN" dirty="0"/>
              <a:t>边界也说清楚：本项目不需要真实来访者的姓名、电话、证件或住址，沿用虚构人物就够。收到来源不明的图片或资料时，记录来源与使用限制；说不清的继续标为待处理。</a:t>
            </a:r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最后一块，讲交出去的东西。这也是整节的落点：我们做这些整理，是为了让别人能接着做。</a:t>
            </a:r>
          </a:p>
          <a:p>
            <a:r>
              <a:rPr lang="zh-CN" dirty="0"/>
              <a:t>接收者拿到资料集，应该能自己找到三种内容。第一种，本次采用的原文与来源，他能回查。第二种，整理后的明确条件，他知道这一轮是用什么跑的。第三种，冲突、假设和未完成事项，他清楚哪里还悬着。</a:t>
            </a:r>
          </a:p>
          <a:p>
            <a:r>
              <a:rPr lang="zh-CN" dirty="0"/>
              <a:t>这三种缺一样，资料集就不完整。只有结论没有来源，他没法验证；只有原文没有整理，他要重新读一遍；没有未完成事项清单，他会以为一切都已确定，然后在错误的假设上继续往下做。</a:t>
            </a:r>
          </a:p>
          <a:p>
            <a:r>
              <a:rPr lang="zh-CN" dirty="0"/>
              <a:t>所以交接的目标不是把材料交出去，而是让对方能解释你的决定。</a:t>
            </a:r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资料集里具体放什么，我建议按这三种内容来组织。</a:t>
            </a:r>
          </a:p>
          <a:p>
            <a:r>
              <a:rPr lang="zh-CN" dirty="0"/>
              <a:t>第一种，采用的原文与来源。按 S 编号排，每一项都能定位到原文段落，接收者想核对随时能翻回去。第二种，整理后的明确条件。这一轮用什么时间、多少个人、多少个对象，写清楚，并且注明它对本轮结论的影响。</a:t>
            </a:r>
          </a:p>
          <a:p>
            <a:r>
              <a:rPr lang="zh-CN" dirty="0"/>
              <a:t>第三种，冲突、假设和未完成事项。C 编号的冲突、材料表里的假设、还有那些仍然待确认的问题，都放在一起。</a:t>
            </a:r>
          </a:p>
          <a:p>
            <a:r>
              <a:rPr lang="zh-CN" dirty="0"/>
              <a:t>目录可以按原始材料、采用说明、待办和接收检查这样分类。但我必须强调一句：它只是作者侧的资料组织方式，不是可以直接导入的 ga-package 清单。这两件事别混。</a:t>
            </a:r>
          </a:p>
          <a:p>
            <a:r>
              <a:rPr lang="zh-CN" dirty="0"/>
              <a:t>目录的示意只是帮助理解分组思路，它不是系统界面，也不是可以直接导入的清单。</a:t>
            </a:r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整理完之后怎么自检？四条条件式检查，遇到就直接处理，不用开会讨论。</a:t>
            </a:r>
          </a:p>
          <a:p>
            <a:r>
              <a:rPr lang="zh-CN" dirty="0"/>
              <a:t>发现没有来源的数值，退回，标注为作者设定或待确认。发现两份分工不一致，记录影响并确定本次采用者。发现一句话暗含运行成功，比如写成已经得到回复，就要求实际证据；没有证据就改回目标或候选。发现材料混进另一个人物的私人目的，留给下一节拆分，不要整份投进共同 Brain。</a:t>
            </a:r>
          </a:p>
          <a:p>
            <a:r>
              <a:rPr lang="zh-CN" dirty="0"/>
              <a:t>再留一道练习：把“余真会帮助所有人快速完成业务”拆成材料与假设。思路是，余真的职责与帮助条件可以写入人物材料；但所有人、快速、完成业务都不是已取得的结果，本案只以咨询闭环评价。你再找一个应保留的空白，比如周澈还没填写活动人数，说明它为什么不该被擅自补齐。</a:t>
            </a:r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我们用三个问题收尾。接收者能回答这三个问题，说明这套资料集是可以解释的。</a:t>
            </a:r>
          </a:p>
          <a:p>
            <a:r>
              <a:rPr lang="zh-CN" dirty="0"/>
              <a:t>第一个，为什么是五个人、三个对象、七十六步？第二个，为什么两个人的首句相同，却去了不同的窗口？第三个，哪些信息到现在仍然不知道？</a:t>
            </a:r>
          </a:p>
          <a:p>
            <a:r>
              <a:rPr lang="zh-CN" dirty="0"/>
              <a:t>第一个问题考的是采用条件有没有写清楚；第二个问题考的是你分得清相同表达背后的不同目的；第三个问题考的恰恰是你的诚实——空白有没有被偷偷补齐。</a:t>
            </a:r>
          </a:p>
          <a:p>
            <a:r>
              <a:rPr lang="zh-CN" dirty="0"/>
              <a:t>我要提醒一句：能回答这三个问题，只能说明资料集可解释。它还不能支持你说“系统已配置”或者“咨询策略有效”。那两句话要有实际执行记录和证据才说得出口。</a:t>
            </a:r>
          </a:p>
          <a:p>
            <a:r>
              <a:rPr lang="zh-CN" dirty="0"/>
              <a:t>本节就到这里，接下去的一节处理作者资源与信息边界。</a:t>
            </a:r>
          </a:p>
        </p:txBody>
      </p:sp>
    </p:spTree>
  </p:cSld>
  <p:clrMapOvr>
    <a:masterClrMapping/>
  </p:clrMapOvr>
</p:notes>
</file>

<file path=ppt/slideLayouts/_rels/slideLayout1.xml.rels><?xml version="1.0" encoding="UTF-8" standalone="yes"?><Relationships xmlns="http://schemas.openxmlformats.org/package/2006/relationships"><Relationship Id="rId0" Type="http://schemas.openxmlformats.org/officeDocument/2006/relationships/slideMaster" Target="../slideMasters/slideMaster1.xml" /></Relationships>
</file>

<file path=ppt/slideLayouts/slideLayout1.xml><?xml version="1.0" encoding="utf-8"?>
<p:sldLayout xmlns:p="http://schemas.openxmlformats.org/presentationml/2006/main" xmlns:a="http://schemas.openxmlformats.org/drawingml/2006/main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Relationship Id="rId1" Type="http://schemas.openxmlformats.org/officeDocument/2006/relationships/theme" Target="../theme/theme1.xml" /></Relationships>
</file>

<file path=ppt/slideMasters/slideMaster1.xml><?xml version="1.0" encoding="utf-8"?>
<p:sldMaster xmlns:p="http://schemas.openxmlformats.org/presentationml/2006/main" xmlns:a="http://schemas.openxmlformats.org/drawing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0"/>
  </p:sldLayoutIdLst>
  <p:hf sldNum="0" hdr="0" ftr="0" dt="0"/>
  <p:txStyles>
    <p:titleStyle>
      <a:lvl1pPr algn="ctr" defTabSz="914400" rtl="0" eaLnBrk="1" latinLnBrk="0" hangingPunct="1">
        <a:spcBef>
          <a:spcPct val="1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Relationship Id="rId900" Type="http://schemas.openxmlformats.org/officeDocument/2006/relationships/notesSlide" Target="../notesSlides/notesSlide1.xml"/></Relationships>
</file>

<file path=ppt/slides/_rels/slide2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Relationship Id="rId900" Type="http://schemas.openxmlformats.org/officeDocument/2006/relationships/notesSlide" Target="../notesSlides/notesSlide2.xml"/></Relationships>
</file>

<file path=ppt/slides/_rels/slide3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Relationship Id="rId900" Type="http://schemas.openxmlformats.org/officeDocument/2006/relationships/notesSlide" Target="../notesSlides/notesSlide3.xml"/></Relationships>
</file>

<file path=ppt/slides/_rels/slide4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Relationship Id="rId900" Type="http://schemas.openxmlformats.org/officeDocument/2006/relationships/notesSlide" Target="../notesSlides/notesSlide4.xml"/></Relationships>
</file>

<file path=ppt/slides/_rels/slide5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Relationship Id="rId900" Type="http://schemas.openxmlformats.org/officeDocument/2006/relationships/notesSlide" Target="../notesSlides/notesSlide5.xml"/></Relationships>
</file>

<file path=ppt/slides/_rels/slide6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Relationship Id="rId900" Type="http://schemas.openxmlformats.org/officeDocument/2006/relationships/notesSlide" Target="../notesSlides/notesSlide6.xml"/></Relationships>
</file>

<file path=ppt/slides/_rels/slide7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Relationship Id="rId900" Type="http://schemas.openxmlformats.org/officeDocument/2006/relationships/notesSlide" Target="../notesSlides/notesSlide7.xml"/></Relationships>
</file>

<file path=ppt/slides/_rels/slide8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Relationship Id="rId900" Type="http://schemas.openxmlformats.org/officeDocument/2006/relationships/notesSlide" Target="../notesSlides/notesSlide8.xml"/></Relationships>
</file>

<file path=ppt/slides/_rels/slide9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Relationship Id="rId900" Type="http://schemas.openxmlformats.org/officeDocument/2006/relationships/notesSlide" Target="../notesSlides/notesSlide9.xml"/></Relationships>
</file>

<file path=ppt/slides/_rels/slide10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Relationship Id="rId900" Type="http://schemas.openxmlformats.org/officeDocument/2006/relationships/notesSlide" Target="../notesSlides/notesSlide10.xml"/></Relationships>
</file>

<file path=ppt/slides/_rels/slide11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Relationship Id="rId900" Type="http://schemas.openxmlformats.org/officeDocument/2006/relationships/notesSlide" Target="../notesSlides/notesSlide11.xml"/></Relationships>
</file>

<file path=ppt/slides/_rels/slide12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Relationship Id="rId900" Type="http://schemas.openxmlformats.org/officeDocument/2006/relationships/notesSlide" Target="../notesSlides/notesSlide12.xml"/></Relationships>
</file>

<file path=ppt/slides/_rels/slide13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Relationship Id="rId900" Type="http://schemas.openxmlformats.org/officeDocument/2006/relationships/notesSlide" Target="../notesSlides/notesSlide13.xml"/></Relationships>
</file>

<file path=ppt/slides/_rels/slide14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Relationship Id="rId900" Type="http://schemas.openxmlformats.org/officeDocument/2006/relationships/notesSlide" Target="../notesSlides/notesSlide14.xml"/></Relationships>
</file>

<file path=ppt/slides/_rels/slide15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Relationship Id="rId900" Type="http://schemas.openxmlformats.org/officeDocument/2006/relationships/notesSlide" Target="../notesSlides/notesSlide15.xml"/></Relationships>
</file>

<file path=ppt/slides/_rels/slide16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Relationship Id="rId900" Type="http://schemas.openxmlformats.org/officeDocument/2006/relationships/notesSlide" Target="../notesSlides/notesSlide16.xml"/></Relationships>
</file>

<file path=ppt/slides/_rels/slide17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Relationship Id="rId900" Type="http://schemas.openxmlformats.org/officeDocument/2006/relationships/notesSlide" Target="../notesSlides/notesSlide17.xml"/></Relationships>
</file>

<file path=ppt/slides/_rels/slide18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Relationship Id="rId900" Type="http://schemas.openxmlformats.org/officeDocument/2006/relationships/notesSlide" Target="../notesSlides/notesSlide18.xml"/></Relationships>
</file>

<file path=ppt/slides/_rels/slide19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Relationship Id="rId900" Type="http://schemas.openxmlformats.org/officeDocument/2006/relationships/notesSlide" Target="../notesSlides/notesSlide19.xml"/></Relationships>
</file>

<file path=ppt/slides/_rels/slide20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Relationship Id="rId900" Type="http://schemas.openxmlformats.org/officeDocument/2006/relationships/notesSlide" Target="../notesSlides/notesSlide20.xml"/></Relationships>
</file>

<file path=ppt/slides/_rels/slide21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Relationship Id="rId900" Type="http://schemas.openxmlformats.org/officeDocument/2006/relationships/notesSlide" Target="../notesSlides/notesSlide21.xml"/></Relationships>
</file>

<file path=ppt/slides/_rels/slide22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Relationship Id="rId900" Type="http://schemas.openxmlformats.org/officeDocument/2006/relationships/notesSlide" Target="../notesSlides/notesSlide22.xml"/></Relationships>
</file>

<file path=ppt/slides/_rels/slide23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Relationship Id="rId900" Type="http://schemas.openxmlformats.org/officeDocument/2006/relationships/notesSlide" Target="../notesSlides/notesSlide23.xml"/></Relationships>
</file>

<file path=ppt/slides/slide1.xml><?xml version="1.0" encoding="utf-8"?>
<p:sld xmlns:p="http://schemas.openxmlformats.org/presentationml/2006/main" xmlns:a="http://schemas.openxmlformats.org/drawingml/2006/main">
  <p:cSld>
    <p:spTree>
      <p:nvGrpSpPr>
        <p:cNvPr id="1" name="" descr="&lt;Slide notes={`我们手上拿到的是一叠教案材料：一页服务分工、四份人物任务、一张空间草图、两段咨询策略，还有一张评分表。&#10;&#10;把它们放进同一个文件夹交出去，接收者其实什么也判断不了。他不知道哪一句是本次采用的条件，哪一句只是候选建议；哪里两份材料互相打架，哪里还空着。&#10;&#10;所以这一节要做的第一件事，是给材料标性质。业务约定、作者假设、尚未核实的图片、运行中的行为，这四类东西来源完全不同，写法也不能混。&#10;&#10;它们都可以进入项目资料，但不能合并成一列所谓已验证事实。顺序很重要：先分类，再登记出处，最后才谈怎么使用。`} style={{ width: 1280, height: 720, background: '#FFFFFF', flexDirection: 'column', padding: '20px 64px' }}&gt;&#10;&#10;    &lt;Box style={{ height: 100, flexDirection: 'row', alignItems: 'center', gap: 12 }}&gt;&#10;        &lt;Box style={{ width: 4, height: 36, background: '#276FBF' }} /&gt;&#10;        &lt;Text style={{ fontSize: 15, color: '#546779' }}&gt;第五章　综合实战与交付　·　5.2　材料来源、假设与可用范围&lt;/Text&gt;&#10;    &lt;/Box&gt;&#10;&#10;    &lt;Box style={{ height: 540, flexDirection: 'row', alignItems: 'center', gap: 32 }}&gt;&#10;&#10;        &lt;Box style={{ width: 520, flexDirection: 'column', justifyContent: 'center', gap: 14 }}&gt;&#10;            &lt;Text style={{ fontSize: 52, fontWeight: 'bold', color: '#20344B', lineHeight: 1.2 }}&gt;材料先说清性质，{'\n'}再谈怎么用&lt;/Text&gt;&#10;            &lt;Box style={{ width: 72, height: 4, background: '#276FBF' }} /&gt;&#10;            &lt;Text style={{ fontSize: 17, color: '#546779', lineHeight: 1.7, width: 520 }}&gt;同一批教案材料里，业务约定、作者选择、尚未核实的图片和运行中的行为，来源完全不同。接收者拿到文件夹，仍然不知道哪些是本次采用的条件，哪些只是候选建议。&lt;/Text&gt;&#10;            &lt;Box style={{ flexDirection: 'row', gap: 12, marginTop: 4 }}&gt;&#10;                &lt;Box style={{ width: 156, height: 42, background: '#EDF4FC', borderRadius: 8, justifyContent: 'center', alignItems: 'center' }}&gt;&#10;                    &lt;Text style={{ fontSize: 15, color: '#276FBF' }}&gt;四类性质&lt;/Text&gt;&#10;                &lt;/Box&gt;&#10;                &lt;Box style={{ width: 156, height: 42, background: '#ECF7F2', borderRadius: 8, justifyContent: 'center', alignItems: 'center' }}&gt;&#10;                    &lt;Text style={{ fontSize: 15, color: '#26816B' }}&gt;来源与冲突&lt;/Text&gt;&#10;                &lt;/Box&gt;&#10;                &lt;Box style={{ width: 156, height: 42, background: '#FFF4E6', borderRadius: 8, justifyContent: 'center', alignItems: 'center' }}&gt;&#10;                    &lt;Text style={{ fontSize: 15, color: '#CB6B28' }}&gt;假设与空白&lt;/Text&gt;&#10;                &lt;/Box&gt;&#10;            &lt;/Box&gt;&#10;        &lt;/Box&gt;&#10;&#10;        &lt;Box style={{ width: 600, flexDirection: 'column', justifyContent: 'center' }}&gt;&#10;&#10;            &lt;Box style={{ width: 600, height: 84, background: '#F4F7FA', borderRadius: 10, padding: '0 22px', flexDirection: 'column', gap: 4, justifyContent: 'center' }}&gt;&#10;                &lt;Text style={{ fontSize: 14, color: '#546779' }}&gt;材料包里的一句话&lt;/Text&gt;&#10;                &lt;Text style={{ fontSize: 18, fontWeight: 'bold', color: '#20344B' }}&gt;“B 窗口也能审批场地预约。”&lt;/Text&gt;&#10;            &lt;/Box&gt;&#10;&#10;            &lt;Box style={{ width: 600, height: 36, justifyContent: 'center', alignItems: 'center' }}&gt;&#10;                &lt;Text style={{ fontSize: 22, color: '#CB6B28' }}&gt;↓&lt;/Text&gt;&#10;            &lt;/Box&gt;&#10;&#10;            &lt;Box style={{ width: 600, flexDirection: 'row', gap: 20 }}&gt;&#10;                &lt;Box style={{ width: 290, flexDirection: 'column', gap: 12 }}&gt;&#10;                    &lt;Box style={{ width: 290, height: 74, background: '#EDF4FC', borderRadius: 10, padding: '0 16px', flexDirection: 'column', gap: 2, justifyContent: 'center' }}&gt;&#10;                        &lt;Text style={{ fontSize: 16, fontWeight: 'bold', color: '#276FBF' }}&gt;场景设定&lt;/Text&gt;&#10;                        &lt;Text style={{ fontSize: 13, color: '#546779' }}&gt;本案约定的业务范围&lt;/Text&gt;&#10;                    &lt;/Box&gt;&#10;                    &lt;Box style={{ width: 290, height: 74, background: '#FFF4E6', borderRadius: 10, padding: '0 16px', flexDirection: 'column', gap: 2, justifyContent: 'center' }}&gt;&#10;                        &lt;Text style={{ fontSize: 16, fontWeight: 'bold', color: '#CB6B28' }}&gt;待核实&lt;/Text&gt;&#10;                        &lt;Text style={{ fontSize: 13, color: '#546779' }}&gt;图片与路径尚未验收&lt;/Text&gt;&#10;                    &lt;/Box&gt;&#10;                &lt;/Box&gt;&#10;                &lt;Box style={{ width: 290, flexDirection: 'column', gap: 12 }}&gt;&#10;                    &lt;Box style={{ width: 290, height: 74, background: '#ECF7F2', borderRadius: 10, padding: '0 16px', flexDirection: 'column', gap: 2, justifyContent: 'center' }}&gt;&#10;                        &lt;Text style={{ fontSize: 16, fontWeight: 'bold', color: '#26816B' }}&gt;作者假设&lt;/Text&gt;&#10;                        &lt;Text style={{ fontSize: 13, color: '#546779' }}&gt;本案不研究排队&lt;/Text&gt;&#10;                    &lt;/Box&gt;&#10;                    &lt;Box style={{ width: 290, height: 74, background: '#F7F3E8', borderRadius: 10, padding: '0 16px', flexDirection: 'column', gap: 2, justifyContent: 'center' }}&gt;&#10;                        &lt;Text style={{ fontSize: 16, fontWeight: 'bold', color: '#546779' }}&gt;实际观察&lt;/Text&gt;&#10;                        &lt;Text style={{ fontSize: 13, color: '#546779' }}&gt;需真实 Run 与记录&lt;/Text&gt;&#10;                    &lt;/Box&gt;&#10;                &lt;/Box&gt;&#10;            &lt;/Box&gt;&#10;&#10;            &lt;Box style={{ width: 600, height: 36, justifyContent: 'center', alignItems: 'center' }}&gt;&#10;                &lt;Text style={{ fontSize: 22, color: '#CB6B28' }}&gt;↓&lt;/Text&gt;&#10;            &lt;/Box&gt;&#10;&#10;            &lt;Box style={{ width: 600, height: 76, background: '#FFF4E6', borderRadius: 10, padding: '0 22px', flexDirection: 'column', gap: 4, justifyContent: 'center' }}&gt;&#10;                &lt;Text style={{ fontSize: 15, fontWeight: 'bold', color: '#CB6B28' }}&gt;没有性质标注的材料&lt;/Text&gt;&#10;                &lt;Text style={{ fontSize: 14, color: '#546779' }}&gt;不能直接变成本轮实验的采用条件&lt;/Text&gt;&#10;            &lt;/Box&gt;&#10;&#10;        &lt;/Box&gt;&#10;&#10;    &lt;/Box&gt;&#10;&#10;    &lt;Box style={{ height: 40, flexDirection: 'row', justifyContent: 'space-between', alignItems: 'center' }}&gt;&#10;        &lt;Text style={{ fontSize: 14, color: '#546779' }}&gt;5.2 材料来源、假设与可用范围&lt;/Text&gt;&#10;        &lt;Text style={{ fontSize: 14, color: '#546779' }}&gt;01 / 23&lt;/Text&gt;&#10;    &lt;/Box&gt;&#10;&#10;&lt;/Slide&gt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3" name=""/>
          <p:cNvSpPr/>
          <p:nvPr/>
        </p:nvSpPr>
        <p:spPr>
          <a:xfrm rot="0" flipH="0" flipV="0">
            <a:off x="609600" y="495300"/>
            <a:ext cx="38100" cy="342900"/>
          </a:xfrm>
          <a:prstGeom prst="rect">
            <a:avLst/>
          </a:prstGeom>
          <a:solidFill>
            <a:srgbClr val="276FBF"/>
          </a:solidFill>
          <a:ln/>
        </p:spPr>
        <p:txBody>
          <a:bodyPr/>
          <a:p/>
        </p:txBody>
      </p:sp>
      <p:sp>
        <p:nvSpPr>
          <p:cNvPr id="4" name="" descr="{&quot;isTemplate&quot;:true,&quot;type&quot;:&quot;text&quot;}"/>
          <p:cNvSpPr txBox="1"/>
          <p:nvPr/>
        </p:nvSpPr>
        <p:spPr>
          <a:xfrm rot="0" flipH="0" flipV="0">
            <a:off x="762000" y="581025"/>
            <a:ext cx="3952875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>
                <a:solidFill>
                  <a:srgbClr val="546779"/>
                </a:solidFill>
                <a:latin typeface="Microsoft YaHei"/>
                <a:ea typeface="Microsoft YaHei"/>
              </a:rPr>
              <a:t>第五章　综合实战与交付　·　</a:t>
            </a:r>
            <a:r>
              <a:rPr lang="en-US" sz="1125">
                <a:solidFill>
                  <a:srgbClr val="546779"/>
                </a:solidFill>
                <a:latin typeface="Microsoft YaHei"/>
                <a:ea typeface="Microsoft YaHei"/>
              </a:rPr>
              <a:t>5.2</a:t>
            </a:r>
            <a:r>
              <a:rPr lang="zh-CN" sz="1125">
                <a:solidFill>
                  <a:srgbClr val="546779"/>
                </a:solidFill>
                <a:latin typeface="Microsoft YaHei"/>
                <a:ea typeface="Microsoft YaHei"/>
              </a:rPr>
              <a:t>　材料来源、假设与可用范围</a:t>
            </a:r>
            <a:endParaRPr/>
          </a:p>
        </p:txBody>
      </p:sp>
      <p:sp>
        <p:nvSpPr>
          <p:cNvPr id="5" name="" descr="{&quot;isTemplate&quot;:true,&quot;type&quot;:&quot;text&quot;}"/>
          <p:cNvSpPr txBox="1"/>
          <p:nvPr/>
        </p:nvSpPr>
        <p:spPr>
          <a:xfrm rot="0" flipH="0" flipV="0">
            <a:off x="609600" y="2066925"/>
            <a:ext cx="4953000" cy="1428750"/>
          </a:xfrm>
          <a:prstGeom prst="rect"/>
        </p:spPr>
        <p:txBody>
          <a:bodyPr wrap="none" lIns="0" tIns="0" rIns="0" bIns="0"/>
          <a:p>
            <a:pPr>
              <a:lnSpc>
                <a:spcPct val="120000"/>
              </a:lnSpc>
            </a:pPr>
            <a:r>
              <a:rPr lang="zh-CN" sz="3900" b="1">
                <a:solidFill>
                  <a:srgbClr val="20344B"/>
                </a:solidFill>
                <a:latin typeface="Microsoft YaHei"/>
                <a:ea typeface="Microsoft YaHei"/>
              </a:rPr>
              <a:t>材料先说清性质，</a:t>
            </a:r>
            <a:endParaRPr/>
          </a:p>
          <a:p>
            <a:pPr>
              <a:lnSpc>
                <a:spcPct val="120000"/>
              </a:lnSpc>
            </a:pPr>
            <a:r>
              <a:rPr lang="zh-CN" sz="3900" b="1">
                <a:solidFill>
                  <a:srgbClr val="20344B"/>
                </a:solidFill>
                <a:latin typeface="Microsoft YaHei"/>
                <a:ea typeface="Microsoft YaHei"/>
              </a:rPr>
              <a:t>再谈怎么用</a:t>
            </a:r>
            <a:endParaRPr/>
          </a:p>
        </p:txBody>
      </p:sp>
      <p:sp>
        <p:nvSpPr>
          <p:cNvPr id="6" name=""/>
          <p:cNvSpPr/>
          <p:nvPr/>
        </p:nvSpPr>
        <p:spPr>
          <a:xfrm rot="0" flipH="0" flipV="0">
            <a:off x="609600" y="3629025"/>
            <a:ext cx="685800" cy="38100"/>
          </a:xfrm>
          <a:prstGeom prst="rect">
            <a:avLst/>
          </a:prstGeom>
          <a:solidFill>
            <a:srgbClr val="276FBF"/>
          </a:solidFill>
          <a:ln/>
        </p:spPr>
        <p:txBody>
          <a:bodyPr/>
          <a:p/>
        </p:txBody>
      </p:sp>
      <p:sp>
        <p:nvSpPr>
          <p:cNvPr id="7" name="" descr="{&quot;isTemplate&quot;:true,&quot;type&quot;:&quot;text&quot;}"/>
          <p:cNvSpPr txBox="1"/>
          <p:nvPr/>
        </p:nvSpPr>
        <p:spPr>
          <a:xfrm rot="0" flipH="0" flipV="0">
            <a:off x="609600" y="3800475"/>
            <a:ext cx="4953000" cy="1000125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70000"/>
              </a:lnSpc>
            </a:pPr>
            <a:r>
              <a:rPr lang="zh-CN" sz="1275">
                <a:solidFill>
                  <a:srgbClr val="546779"/>
                </a:solidFill>
                <a:latin typeface="Microsoft YaHei"/>
                <a:ea typeface="Microsoft YaHei"/>
              </a:rPr>
              <a:t>同一批教案材料里，业务约定、作者选择、尚未核实的图片和运行中的行为，来源完全不同。接收者拿到文件夹，仍然不知道哪些是本次采用的条件，哪些只是候选建议。</a:t>
            </a:r>
            <a:endParaRPr/>
          </a:p>
        </p:txBody>
      </p:sp>
      <p:sp>
        <p:nvSpPr>
          <p:cNvPr id="8" name=""/>
          <p:cNvSpPr/>
          <p:nvPr/>
        </p:nvSpPr>
        <p:spPr>
          <a:xfrm rot="0" flipH="0" flipV="0">
            <a:off x="609600" y="4972050"/>
            <a:ext cx="1485900" cy="400050"/>
          </a:xfrm>
          <a:prstGeom prst="roundRect">
            <a:avLst>
              <a:gd name="adj" fmla="val 19048"/>
            </a:avLst>
          </a:prstGeom>
          <a:solidFill>
            <a:srgbClr val="EDF4FC"/>
          </a:solidFill>
          <a:ln/>
        </p:spPr>
        <p:txBody>
          <a:bodyPr/>
          <a:p/>
        </p:txBody>
      </p:sp>
      <p:sp>
        <p:nvSpPr>
          <p:cNvPr id="9" name="" descr="{&quot;isTemplate&quot;:true,&quot;type&quot;:&quot;text&quot;}"/>
          <p:cNvSpPr txBox="1"/>
          <p:nvPr/>
        </p:nvSpPr>
        <p:spPr>
          <a:xfrm rot="0" flipH="0" flipV="0">
            <a:off x="1066800" y="5086350"/>
            <a:ext cx="57150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>
                <a:solidFill>
                  <a:srgbClr val="276FBF"/>
                </a:solidFill>
                <a:latin typeface="Microsoft YaHei"/>
                <a:ea typeface="Microsoft YaHei"/>
              </a:rPr>
              <a:t>四类性质</a:t>
            </a:r>
            <a:endParaRPr/>
          </a:p>
        </p:txBody>
      </p:sp>
      <p:sp>
        <p:nvSpPr>
          <p:cNvPr id="10" name=""/>
          <p:cNvSpPr/>
          <p:nvPr/>
        </p:nvSpPr>
        <p:spPr>
          <a:xfrm rot="0" flipH="0" flipV="0">
            <a:off x="2209800" y="4972050"/>
            <a:ext cx="1485900" cy="400050"/>
          </a:xfrm>
          <a:prstGeom prst="roundRect">
            <a:avLst>
              <a:gd name="adj" fmla="val 19048"/>
            </a:avLst>
          </a:prstGeom>
          <a:solidFill>
            <a:srgbClr val="ECF7F2"/>
          </a:solidFill>
          <a:ln/>
        </p:spPr>
        <p:txBody>
          <a:bodyPr/>
          <a:p/>
        </p:txBody>
      </p:sp>
      <p:sp>
        <p:nvSpPr>
          <p:cNvPr id="11" name="" descr="{&quot;isTemplate&quot;:true,&quot;type&quot;:&quot;text&quot;}"/>
          <p:cNvSpPr txBox="1"/>
          <p:nvPr/>
        </p:nvSpPr>
        <p:spPr>
          <a:xfrm rot="0" flipH="0" flipV="0">
            <a:off x="2600325" y="5086350"/>
            <a:ext cx="714375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>
                <a:solidFill>
                  <a:srgbClr val="26816B"/>
                </a:solidFill>
                <a:latin typeface="Microsoft YaHei"/>
                <a:ea typeface="Microsoft YaHei"/>
              </a:rPr>
              <a:t>来源与冲突</a:t>
            </a:r>
            <a:endParaRPr/>
          </a:p>
        </p:txBody>
      </p:sp>
      <p:sp>
        <p:nvSpPr>
          <p:cNvPr id="12" name=""/>
          <p:cNvSpPr/>
          <p:nvPr/>
        </p:nvSpPr>
        <p:spPr>
          <a:xfrm rot="0" flipH="0" flipV="0">
            <a:off x="3810000" y="4972050"/>
            <a:ext cx="1485900" cy="400050"/>
          </a:xfrm>
          <a:prstGeom prst="roundRect">
            <a:avLst>
              <a:gd name="adj" fmla="val 19048"/>
            </a:avLst>
          </a:prstGeom>
          <a:solidFill>
            <a:srgbClr val="FFF4E6"/>
          </a:solidFill>
          <a:ln/>
        </p:spPr>
        <p:txBody>
          <a:bodyPr/>
          <a:p/>
        </p:txBody>
      </p:sp>
      <p:sp>
        <p:nvSpPr>
          <p:cNvPr id="13" name="" descr="{&quot;isTemplate&quot;:true,&quot;type&quot;:&quot;text&quot;}"/>
          <p:cNvSpPr txBox="1"/>
          <p:nvPr/>
        </p:nvSpPr>
        <p:spPr>
          <a:xfrm rot="0" flipH="0" flipV="0">
            <a:off x="4200525" y="5086350"/>
            <a:ext cx="714375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>
                <a:solidFill>
                  <a:srgbClr val="CB6B28"/>
                </a:solidFill>
                <a:latin typeface="Microsoft YaHei"/>
                <a:ea typeface="Microsoft YaHei"/>
              </a:rPr>
              <a:t>假设与空白</a:t>
            </a:r>
            <a:endParaRPr/>
          </a:p>
        </p:txBody>
      </p:sp>
      <p:sp>
        <p:nvSpPr>
          <p:cNvPr id="14" name=""/>
          <p:cNvSpPr/>
          <p:nvPr/>
        </p:nvSpPr>
        <p:spPr>
          <a:xfrm rot="0" flipH="0" flipV="0">
            <a:off x="5867400" y="1847850"/>
            <a:ext cx="5715000" cy="800100"/>
          </a:xfrm>
          <a:prstGeom prst="roundRect">
            <a:avLst>
              <a:gd name="adj" fmla="val 11905"/>
            </a:avLst>
          </a:prstGeom>
          <a:solidFill>
            <a:srgbClr val="F4F7FA"/>
          </a:solidFill>
          <a:ln/>
        </p:spPr>
        <p:txBody>
          <a:bodyPr/>
          <a:p/>
        </p:txBody>
      </p:sp>
      <p:sp>
        <p:nvSpPr>
          <p:cNvPr id="15" name="" descr="{&quot;isTemplate&quot;:true,&quot;type&quot;:&quot;text&quot;}"/>
          <p:cNvSpPr txBox="1"/>
          <p:nvPr/>
        </p:nvSpPr>
        <p:spPr>
          <a:xfrm rot="0" flipH="0" flipV="0">
            <a:off x="6076950" y="2047875"/>
            <a:ext cx="52959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材料包里的一句话</a:t>
            </a:r>
            <a:endParaRPr/>
          </a:p>
        </p:txBody>
      </p:sp>
      <p:sp>
        <p:nvSpPr>
          <p:cNvPr id="16" name="" descr="{&quot;isTemplate&quot;:true,&quot;type&quot;:&quot;text&quot;}"/>
          <p:cNvSpPr txBox="1"/>
          <p:nvPr/>
        </p:nvSpPr>
        <p:spPr>
          <a:xfrm rot="0" flipH="0" flipV="0">
            <a:off x="6076950" y="2247900"/>
            <a:ext cx="5295900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350" b="1">
                <a:solidFill>
                  <a:srgbClr val="20344B"/>
                </a:solidFill>
                <a:latin typeface="Microsoft YaHei"/>
                <a:ea typeface="Microsoft YaHei"/>
              </a:rPr>
              <a:t xml:space="preserve">“B </a:t>
            </a:r>
            <a:r>
              <a:rPr lang="zh-CN" sz="1350" b="1">
                <a:solidFill>
                  <a:srgbClr val="20344B"/>
                </a:solidFill>
                <a:latin typeface="Microsoft YaHei"/>
                <a:ea typeface="Microsoft YaHei"/>
              </a:rPr>
              <a:t>窗口也能审批场地预约。”</a:t>
            </a:r>
            <a:endParaRPr/>
          </a:p>
        </p:txBody>
      </p:sp>
      <p:sp>
        <p:nvSpPr>
          <p:cNvPr id="17" name="" descr="{&quot;isTemplate&quot;:true,&quot;type&quot;:&quot;text&quot;}"/>
          <p:cNvSpPr txBox="1"/>
          <p:nvPr/>
        </p:nvSpPr>
        <p:spPr>
          <a:xfrm rot="0" flipH="0" flipV="0">
            <a:off x="8677275" y="2695575"/>
            <a:ext cx="104775" cy="2571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sz="1650">
                <a:solidFill>
                  <a:srgbClr val="CB6B28"/>
                </a:solidFill>
                <a:latin typeface="Microsoft YaHei"/>
                <a:ea typeface="Microsoft YaHei"/>
              </a:rPr>
              <a:t>↓</a:t>
            </a:r>
            <a:endParaRPr/>
          </a:p>
        </p:txBody>
      </p:sp>
      <p:sp>
        <p:nvSpPr>
          <p:cNvPr id="18" name=""/>
          <p:cNvSpPr/>
          <p:nvPr/>
        </p:nvSpPr>
        <p:spPr>
          <a:xfrm rot="0" flipH="0" flipV="0">
            <a:off x="5867400" y="2990850"/>
            <a:ext cx="2762250" cy="704850"/>
          </a:xfrm>
          <a:prstGeom prst="roundRect">
            <a:avLst>
              <a:gd name="adj" fmla="val 13514"/>
            </a:avLst>
          </a:prstGeom>
          <a:solidFill>
            <a:srgbClr val="EDF4FC"/>
          </a:solidFill>
          <a:ln/>
        </p:spPr>
        <p:txBody>
          <a:bodyPr/>
          <a:p/>
        </p:txBody>
      </p:sp>
      <p:sp>
        <p:nvSpPr>
          <p:cNvPr id="19" name="" descr="{&quot;isTemplate&quot;:true,&quot;type&quot;:&quot;text&quot;}"/>
          <p:cNvSpPr txBox="1"/>
          <p:nvPr/>
        </p:nvSpPr>
        <p:spPr>
          <a:xfrm rot="0" flipH="0" flipV="0">
            <a:off x="6019800" y="3162300"/>
            <a:ext cx="245745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 b="1">
                <a:solidFill>
                  <a:srgbClr val="276FBF"/>
                </a:solidFill>
                <a:latin typeface="Microsoft YaHei"/>
                <a:ea typeface="Microsoft YaHei"/>
              </a:rPr>
              <a:t>场景设定</a:t>
            </a:r>
            <a:endParaRPr/>
          </a:p>
        </p:txBody>
      </p:sp>
      <p:sp>
        <p:nvSpPr>
          <p:cNvPr id="20" name="" descr="{&quot;isTemplate&quot;:true,&quot;type&quot;:&quot;text&quot;}"/>
          <p:cNvSpPr txBox="1"/>
          <p:nvPr/>
        </p:nvSpPr>
        <p:spPr>
          <a:xfrm rot="0" flipH="0" flipV="0">
            <a:off x="6019800" y="3371850"/>
            <a:ext cx="2457450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75">
                <a:solidFill>
                  <a:srgbClr val="546779"/>
                </a:solidFill>
                <a:latin typeface="Microsoft YaHei"/>
                <a:ea typeface="Microsoft YaHei"/>
              </a:rPr>
              <a:t>本案约定的业务范围</a:t>
            </a:r>
            <a:endParaRPr/>
          </a:p>
        </p:txBody>
      </p:sp>
      <p:sp>
        <p:nvSpPr>
          <p:cNvPr id="21" name=""/>
          <p:cNvSpPr/>
          <p:nvPr/>
        </p:nvSpPr>
        <p:spPr>
          <a:xfrm rot="0" flipH="0" flipV="0">
            <a:off x="5867400" y="3810000"/>
            <a:ext cx="2762250" cy="704850"/>
          </a:xfrm>
          <a:prstGeom prst="roundRect">
            <a:avLst>
              <a:gd name="adj" fmla="val 13514"/>
            </a:avLst>
          </a:prstGeom>
          <a:solidFill>
            <a:srgbClr val="FFF4E6"/>
          </a:solidFill>
          <a:ln/>
        </p:spPr>
        <p:txBody>
          <a:bodyPr/>
          <a:p/>
        </p:txBody>
      </p:sp>
      <p:sp>
        <p:nvSpPr>
          <p:cNvPr id="22" name="" descr="{&quot;isTemplate&quot;:true,&quot;type&quot;:&quot;text&quot;}"/>
          <p:cNvSpPr txBox="1"/>
          <p:nvPr/>
        </p:nvSpPr>
        <p:spPr>
          <a:xfrm rot="0" flipH="0" flipV="0">
            <a:off x="6019800" y="3981450"/>
            <a:ext cx="245745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 b="1">
                <a:solidFill>
                  <a:srgbClr val="CB6B28"/>
                </a:solidFill>
                <a:latin typeface="Microsoft YaHei"/>
                <a:ea typeface="Microsoft YaHei"/>
              </a:rPr>
              <a:t>待核实</a:t>
            </a:r>
            <a:endParaRPr/>
          </a:p>
        </p:txBody>
      </p:sp>
      <p:sp>
        <p:nvSpPr>
          <p:cNvPr id="23" name="" descr="{&quot;isTemplate&quot;:true,&quot;type&quot;:&quot;text&quot;}"/>
          <p:cNvSpPr txBox="1"/>
          <p:nvPr/>
        </p:nvSpPr>
        <p:spPr>
          <a:xfrm rot="0" flipH="0" flipV="0">
            <a:off x="6019800" y="4191000"/>
            <a:ext cx="2457450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75">
                <a:solidFill>
                  <a:srgbClr val="546779"/>
                </a:solidFill>
                <a:latin typeface="Microsoft YaHei"/>
                <a:ea typeface="Microsoft YaHei"/>
              </a:rPr>
              <a:t>图片与路径尚未验收</a:t>
            </a:r>
            <a:endParaRPr/>
          </a:p>
        </p:txBody>
      </p:sp>
      <p:sp>
        <p:nvSpPr>
          <p:cNvPr id="24" name=""/>
          <p:cNvSpPr/>
          <p:nvPr/>
        </p:nvSpPr>
        <p:spPr>
          <a:xfrm rot="0" flipH="0" flipV="0">
            <a:off x="8820150" y="2990850"/>
            <a:ext cx="2762250" cy="704850"/>
          </a:xfrm>
          <a:prstGeom prst="roundRect">
            <a:avLst>
              <a:gd name="adj" fmla="val 13514"/>
            </a:avLst>
          </a:prstGeom>
          <a:solidFill>
            <a:srgbClr val="ECF7F2"/>
          </a:solidFill>
          <a:ln/>
        </p:spPr>
        <p:txBody>
          <a:bodyPr/>
          <a:p/>
        </p:txBody>
      </p:sp>
      <p:sp>
        <p:nvSpPr>
          <p:cNvPr id="25" name="" descr="{&quot;isTemplate&quot;:true,&quot;type&quot;:&quot;text&quot;}"/>
          <p:cNvSpPr txBox="1"/>
          <p:nvPr/>
        </p:nvSpPr>
        <p:spPr>
          <a:xfrm rot="0" flipH="0" flipV="0">
            <a:off x="8972550" y="3162300"/>
            <a:ext cx="245745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 b="1">
                <a:solidFill>
                  <a:srgbClr val="26816B"/>
                </a:solidFill>
                <a:latin typeface="Microsoft YaHei"/>
                <a:ea typeface="Microsoft YaHei"/>
              </a:rPr>
              <a:t>作者假设</a:t>
            </a:r>
            <a:endParaRPr/>
          </a:p>
        </p:txBody>
      </p:sp>
      <p:sp>
        <p:nvSpPr>
          <p:cNvPr id="26" name="" descr="{&quot;isTemplate&quot;:true,&quot;type&quot;:&quot;text&quot;}"/>
          <p:cNvSpPr txBox="1"/>
          <p:nvPr/>
        </p:nvSpPr>
        <p:spPr>
          <a:xfrm rot="0" flipH="0" flipV="0">
            <a:off x="8972550" y="3371850"/>
            <a:ext cx="2457450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75">
                <a:solidFill>
                  <a:srgbClr val="546779"/>
                </a:solidFill>
                <a:latin typeface="Microsoft YaHei"/>
                <a:ea typeface="Microsoft YaHei"/>
              </a:rPr>
              <a:t>本案不研究排队</a:t>
            </a:r>
            <a:endParaRPr/>
          </a:p>
        </p:txBody>
      </p:sp>
      <p:sp>
        <p:nvSpPr>
          <p:cNvPr id="27" name=""/>
          <p:cNvSpPr/>
          <p:nvPr/>
        </p:nvSpPr>
        <p:spPr>
          <a:xfrm rot="0" flipH="0" flipV="0">
            <a:off x="8820150" y="3810000"/>
            <a:ext cx="2762250" cy="704850"/>
          </a:xfrm>
          <a:prstGeom prst="roundRect">
            <a:avLst>
              <a:gd name="adj" fmla="val 13514"/>
            </a:avLst>
          </a:prstGeom>
          <a:solidFill>
            <a:srgbClr val="F7F3E8"/>
          </a:solidFill>
          <a:ln/>
        </p:spPr>
        <p:txBody>
          <a:bodyPr/>
          <a:p/>
        </p:txBody>
      </p:sp>
      <p:sp>
        <p:nvSpPr>
          <p:cNvPr id="28" name="" descr="{&quot;isTemplate&quot;:true,&quot;type&quot;:&quot;text&quot;}"/>
          <p:cNvSpPr txBox="1"/>
          <p:nvPr/>
        </p:nvSpPr>
        <p:spPr>
          <a:xfrm rot="0" flipH="0" flipV="0">
            <a:off x="8972550" y="3981450"/>
            <a:ext cx="245745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 b="1">
                <a:solidFill>
                  <a:srgbClr val="546779"/>
                </a:solidFill>
                <a:latin typeface="Microsoft YaHei"/>
                <a:ea typeface="Microsoft YaHei"/>
              </a:rPr>
              <a:t>实际观察</a:t>
            </a:r>
            <a:endParaRPr/>
          </a:p>
        </p:txBody>
      </p:sp>
      <p:sp>
        <p:nvSpPr>
          <p:cNvPr id="29" name="" descr="{&quot;isTemplate&quot;:true,&quot;type&quot;:&quot;text&quot;}"/>
          <p:cNvSpPr txBox="1"/>
          <p:nvPr/>
        </p:nvSpPr>
        <p:spPr>
          <a:xfrm rot="0" flipH="0" flipV="0">
            <a:off x="8972550" y="4191000"/>
            <a:ext cx="2457450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75">
                <a:solidFill>
                  <a:srgbClr val="546779"/>
                </a:solidFill>
                <a:latin typeface="Microsoft YaHei"/>
                <a:ea typeface="Microsoft YaHei"/>
              </a:rPr>
              <a:t>需真实</a:t>
            </a:r>
            <a:r>
              <a:rPr lang="en-US" sz="975">
                <a:solidFill>
                  <a:srgbClr val="546779"/>
                </a:solidFill>
                <a:latin typeface="Microsoft YaHei"/>
                <a:ea typeface="Microsoft YaHei"/>
              </a:rPr>
              <a:t xml:space="preserve"> Run </a:t>
            </a:r>
            <a:r>
              <a:rPr lang="zh-CN" sz="975">
                <a:solidFill>
                  <a:srgbClr val="546779"/>
                </a:solidFill>
                <a:latin typeface="Microsoft YaHei"/>
                <a:ea typeface="Microsoft YaHei"/>
              </a:rPr>
              <a:t>与记录</a:t>
            </a:r>
            <a:endParaRPr/>
          </a:p>
        </p:txBody>
      </p:sp>
      <p:sp>
        <p:nvSpPr>
          <p:cNvPr id="30" name="" descr="{&quot;isTemplate&quot;:true,&quot;type&quot;:&quot;text&quot;}"/>
          <p:cNvSpPr txBox="1"/>
          <p:nvPr/>
        </p:nvSpPr>
        <p:spPr>
          <a:xfrm rot="0" flipH="0" flipV="0">
            <a:off x="8677275" y="4562475"/>
            <a:ext cx="104775" cy="2571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sz="1650">
                <a:solidFill>
                  <a:srgbClr val="CB6B28"/>
                </a:solidFill>
                <a:latin typeface="Microsoft YaHei"/>
                <a:ea typeface="Microsoft YaHei"/>
              </a:rPr>
              <a:t>↓</a:t>
            </a:r>
            <a:endParaRPr/>
          </a:p>
        </p:txBody>
      </p:sp>
      <p:sp>
        <p:nvSpPr>
          <p:cNvPr id="31" name=""/>
          <p:cNvSpPr/>
          <p:nvPr/>
        </p:nvSpPr>
        <p:spPr>
          <a:xfrm rot="0" flipH="0" flipV="0">
            <a:off x="5867400" y="4857750"/>
            <a:ext cx="5715000" cy="723900"/>
          </a:xfrm>
          <a:prstGeom prst="roundRect">
            <a:avLst>
              <a:gd name="adj" fmla="val 13158"/>
            </a:avLst>
          </a:prstGeom>
          <a:solidFill>
            <a:srgbClr val="FFF4E6"/>
          </a:solidFill>
          <a:ln/>
        </p:spPr>
        <p:txBody>
          <a:bodyPr/>
          <a:p/>
        </p:txBody>
      </p:sp>
      <p:sp>
        <p:nvSpPr>
          <p:cNvPr id="32" name="" descr="{&quot;isTemplate&quot;:true,&quot;type&quot;:&quot;text&quot;}"/>
          <p:cNvSpPr txBox="1"/>
          <p:nvPr/>
        </p:nvSpPr>
        <p:spPr>
          <a:xfrm rot="0" flipH="0" flipV="0">
            <a:off x="6076950" y="5038725"/>
            <a:ext cx="529590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 b="1">
                <a:solidFill>
                  <a:srgbClr val="CB6B28"/>
                </a:solidFill>
                <a:latin typeface="Microsoft YaHei"/>
                <a:ea typeface="Microsoft YaHei"/>
              </a:rPr>
              <a:t>没有性质标注的材料</a:t>
            </a:r>
            <a:endParaRPr/>
          </a:p>
        </p:txBody>
      </p:sp>
      <p:sp>
        <p:nvSpPr>
          <p:cNvPr id="33" name="" descr="{&quot;isTemplate&quot;:true,&quot;type&quot;:&quot;text&quot;}"/>
          <p:cNvSpPr txBox="1"/>
          <p:nvPr/>
        </p:nvSpPr>
        <p:spPr>
          <a:xfrm rot="0" flipH="0" flipV="0">
            <a:off x="6076950" y="5248275"/>
            <a:ext cx="52959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不能直接变成本轮实验的采用条件</a:t>
            </a:r>
            <a:endParaRPr/>
          </a:p>
        </p:txBody>
      </p:sp>
      <p:sp>
        <p:nvSpPr>
          <p:cNvPr id="34" name="" descr="{&quot;isTemplate&quot;:true,&quot;type&quot;:&quot;text&quot;}"/>
          <p:cNvSpPr txBox="1"/>
          <p:nvPr/>
        </p:nvSpPr>
        <p:spPr>
          <a:xfrm rot="0" flipH="0" flipV="0">
            <a:off x="609600" y="6400800"/>
            <a:ext cx="18288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 xml:space="preserve">5.2 </a:t>
            </a: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材料来源、假设与可用范围</a:t>
            </a:r>
            <a:endParaRPr/>
          </a:p>
        </p:txBody>
      </p:sp>
      <p:sp>
        <p:nvSpPr>
          <p:cNvPr id="35" name="" descr="{&quot;isTemplate&quot;:true,&quot;type&quot;:&quot;text&quot;}"/>
          <p:cNvSpPr txBox="1"/>
          <p:nvPr/>
        </p:nvSpPr>
        <p:spPr>
          <a:xfrm rot="0" flipH="0" flipV="0">
            <a:off x="11125200" y="6400800"/>
            <a:ext cx="4572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>01 / 23</a:t>
            </a:r>
            <a:endParaRPr/>
          </a:p>
        </p:txBody>
      </p:sp>
    </p:spTree>
  </p:cSld>
</p:sld>
</file>

<file path=ppt/slides/slide2.xml><?xml version="1.0" encoding="utf-8"?>
<p:sld xmlns:p="http://schemas.openxmlformats.org/presentationml/2006/main" xmlns:a="http://schemas.openxmlformats.org/drawingml/2006/main">
  <p:cSld>
    <p:spTree>
      <p:nvGrpSpPr>
        <p:cNvPr id="298" name="" descr="&lt;Slide notes={`这一节按四个知识块推进，顺序不能打乱，因为前一块的结论是后一块的输入。&#10;&#10;第一块解决怎么说话：给材料标性质，分清场景设定、作者假设、待核实和实际观察。第二块解决怎么找得回来：来源要能定位到原文段落，两份材料打架时先登记冲突编号，再决定采用谁。第三块解决暂时这么定的条件凭什么能改：每一条假设都要配一条会改变它的证据，整理时还要保住原意和空白。第四块解决交出去的东西：接收者要能自己找到采用的原文、明确的条件和未完成事项。&#10;&#10;我建议大家听的时候带着自己的材料想：我手上这一句，属于哪一块。`} style={{ width: 1280, height: 720, background: '#FFFFFF', flexDirection: 'column', padding: '20px 64px' }}&gt;&#10;&#10;    &lt;Box style={{ height: 100, flexDirection: 'row', alignItems: 'center', gap: 20 }}&gt;&#10;        &lt;Box style={{ width: 4, height: 44, background: '#276FBF' }} /&gt;&#10;        &lt;Box style={{ flexDirection: 'column', gap: 4 }}&gt;&#10;            &lt;Text style={{ fontSize: 14, color: '#546779' }}&gt;本节地图&lt;/Text&gt;&#10;            &lt;Text style={{ fontSize: 34, fontWeight: 'bold', color: '#20344B' }}&gt;把材料整理成一套能解释的资料集&lt;/Text&gt;&#10;        &lt;/Box&gt;&#10;    &lt;/Box&gt;&#10;&#10;    &lt;Box style={{ height: 540, flexDirection: 'row', gap: 24, alignItems: 'center' }}&gt;&#10;&#10;        &lt;Box style={{ width: 380, flexDirection: 'column', justifyContent: 'center', gap: 16 }}&gt;&#10;            &lt;Text style={{ fontSize: 17, color: '#546779', lineHeight: 1.7 }}&gt;接收者要能自己回答：哪些是本次采用的条件、每条来源能不能定位到原文、哪些空白必须保留。&lt;/Text&gt;&#10;            &lt;Box style={{ width: 72, height: 4, background: '#276FBF' }} /&gt;&#10;            &lt;Text style={{ fontSize: 15, color: '#546779', lineHeight: 1.7 }}&gt;四个知识块按 5.2.1 到 5.2.6 的顺序推进，编号与后面四张扉页一一对应。&lt;/Text&gt;&#10;        &lt;/Box&gt;&#10;&#10;        &lt;Box style={{ width: 748, flexDirection: 'column', gap: 12 }}&gt;&#10;&#10;            &lt;Box style={{ width: 748, height: 108, background: '#F4F7FA', borderRadius: 10, padding: '0 20px', flexDirection: 'row', alignItems: 'center', gap: 16 }}&gt;&#10;                &lt;Box style={{ width: 44, height: 44, background: '#276FBF', borderRadius: 8, justifyContent: 'center', alignItems: 'center' }}&gt;&#10;                    &lt;Text style={{ fontSize: 20, fontWeight: 'bold', color: '#FFFFFF' }}&gt;①&lt;/Text&gt;&#10;                &lt;/Box&gt;&#10;                &lt;Box style={{ flex: 1, flexDirection: 'column', gap: 4 }}&gt;&#10;                    &lt;Text style={{ fontSize: 20, fontWeight: 'bold', color: '#20344B' }}&gt;5.2.1　先给每句话标明性质&lt;/Text&gt;&#10;                    &lt;Text style={{ fontSize: 14, color: '#546779', lineHeight: 1.5 }}&gt;场景设定、作者假设、待核实事项、实际观察，四类材料不能合并成一列“已验证事实”。&lt;/Text&gt;&#10;                &lt;/Box&gt;&#10;            &lt;/Box&gt;&#10;&#10;            &lt;Box style={{ width: 748, height: 108, background: '#F4F7FA', borderRadius: 10, padding: '0 20px', flexDirection: 'row', alignItems: 'center', gap: 16 }}&gt;&#10;                &lt;Box style={{ width: 44, height: 44, background: '#276FBF', borderRadius: 8, justifyContent: 'center', alignItems: 'center' }}&gt;&#10;                    &lt;Text style={{ fontSize: 20, fontWeight: 'bold', color: '#FFFFFF' }}&gt;②&lt;/Text&gt;&#10;                &lt;/Box&gt;&#10;                &lt;Box style={{ flex: 1, flexDirection: 'column', gap: 4 }}&gt;&#10;                    &lt;Text style={{ fontSize: 20, fontWeight: 'bold', color: '#20344B' }}&gt;5.2.2 — 5.2.3　来源能追到原文，冲突先登记&lt;/Text&gt;&#10;                    &lt;Text style={{ fontSize: 14, color: '#546779', lineHeight: 1.5 }}&gt;来源要定位到哪一份文档的哪一段；两份材料打架时先登记冲突编号，再决定本次采用谁。&lt;/Text&gt;&#10;                &lt;/Box&gt;&#10;            &lt;/Box&gt;&#10;&#10;            &lt;Box style={{ width: 748, height: 108, background: '#F4F7FA', borderRadius: 10, padding: '0 20px', flexDirection: 'row', alignItems: 'center', gap: 16 }}&gt;&#10;                &lt;Box style={{ width: 44, height: 44, background: '#26816B', borderRadius: 8, justifyContent: 'center', alignItems: 'center' }}&gt;&#10;                    &lt;Text style={{ fontSize: 20, fontWeight: 'bold', color: '#FFFFFF' }}&gt;③&lt;/Text&gt;&#10;                &lt;/Box&gt;&#10;                &lt;Box style={{ flex: 1, flexDirection: 'column', gap: 4 }}&gt;&#10;                    &lt;Text style={{ fontSize: 20, fontWeight: 'bold', color: '#20344B' }}&gt;5.2.4 — 5.2.5　假设写成可检查的约束，整理时保住原意&lt;/Text&gt;&#10;                    &lt;Text style={{ fontSize: 14, color: '#546779', lineHeight: 1.5 }}&gt;每个“暂时这么定”都要配一条会改变它的证据；整理不能把目标改写成已经取得的结果。&lt;/Text&gt;&#10;                &lt;/Box&gt;&#10;            &lt;/Box&gt;&#10;&#10;            &lt;Box style={{ width: 748, height: 108, background: '#F4F7FA', borderRadius: 10, padding: '0 20px', flexDirection: 'row', alignItems: 'center', gap: 16 }}&gt;&#10;                &lt;Box style={{ width: 44, height: 44, background: '#26816B', borderRadius: 8, justifyContent: 'center', alignItems: 'center' }}&gt;&#10;                    &lt;Text style={{ fontSize: 20, fontWeight: 'bold', color: '#FFFFFF' }}&gt;④&lt;/Text&gt;&#10;                &lt;/Box&gt;&#10;                &lt;Box style={{ flex: 1, flexDirection: 'column', gap: 4 }}&gt;&#10;                    &lt;Text style={{ fontSize: 20, fontWeight: 'bold', color: '#20344B' }}&gt;5.2.6　交给下一位作者的是什么&lt;/Text&gt;&#10;                    &lt;Text style={{ fontSize: 14, color: '#546779', lineHeight: 1.5 }}&gt;采用的原文与来源、整理后的明确条件、冲突与未完成事项——接收者要能自己找到这三样。&lt;/Text&gt;&#10;                &lt;/Box&gt;&#10;            &lt;/Box&gt;&#10;&#10;        &lt;/Box&gt;&#10;&#10;    &lt;/Box&gt;&#10;&#10;    &lt;Box style={{ height: 40, flexDirection: 'row', justifyContent: 'space-between', alignItems: 'center' }}&gt;&#10;        &lt;Text style={{ fontSize: 14, color: '#546779' }}&gt;5.2 材料来源、假设与可用范围&lt;/Text&gt;&#10;        &lt;Text style={{ fontSize: 14, color: '#546779' }}&gt;02 / 23&lt;/Text&gt;&#10;    &lt;/Box&gt;&#10;&#10;&lt;/Slide&gt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9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300" name=""/>
          <p:cNvSpPr/>
          <p:nvPr/>
        </p:nvSpPr>
        <p:spPr>
          <a:xfrm rot="0" flipH="0" flipV="0">
            <a:off x="609600" y="457200"/>
            <a:ext cx="38100" cy="419100"/>
          </a:xfrm>
          <a:prstGeom prst="rect">
            <a:avLst/>
          </a:prstGeom>
          <a:solidFill>
            <a:srgbClr val="276FBF"/>
          </a:solidFill>
          <a:ln/>
        </p:spPr>
        <p:txBody>
          <a:bodyPr/>
          <a:p/>
        </p:txBody>
      </p:sp>
      <p:sp>
        <p:nvSpPr>
          <p:cNvPr id="301" name="" descr="{&quot;isTemplate&quot;:true,&quot;type&quot;:&quot;text&quot;}"/>
          <p:cNvSpPr txBox="1"/>
          <p:nvPr/>
        </p:nvSpPr>
        <p:spPr>
          <a:xfrm rot="0" flipH="0" flipV="0">
            <a:off x="838200" y="371475"/>
            <a:ext cx="48577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本节地图</a:t>
            </a:r>
            <a:endParaRPr/>
          </a:p>
        </p:txBody>
      </p:sp>
      <p:sp>
        <p:nvSpPr>
          <p:cNvPr id="302" name="" descr="{&quot;isTemplate&quot;:true,&quot;type&quot;:&quot;text&quot;}"/>
          <p:cNvSpPr txBox="1"/>
          <p:nvPr/>
        </p:nvSpPr>
        <p:spPr>
          <a:xfrm rot="0" flipH="0" flipV="0">
            <a:off x="838200" y="571500"/>
            <a:ext cx="4857750" cy="3905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550" b="1">
                <a:solidFill>
                  <a:srgbClr val="20344B"/>
                </a:solidFill>
                <a:latin typeface="Microsoft YaHei"/>
                <a:ea typeface="Microsoft YaHei"/>
              </a:rPr>
              <a:t>把材料整理成一套能解释的资料集</a:t>
            </a:r>
            <a:endParaRPr/>
          </a:p>
        </p:txBody>
      </p:sp>
      <p:sp>
        <p:nvSpPr>
          <p:cNvPr id="303" name="" descr="{&quot;isTemplate&quot;:true,&quot;type&quot;:&quot;text&quot;}"/>
          <p:cNvSpPr txBox="1"/>
          <p:nvPr/>
        </p:nvSpPr>
        <p:spPr>
          <a:xfrm rot="0" flipH="0" flipV="0">
            <a:off x="609600" y="2914650"/>
            <a:ext cx="3619500" cy="66675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70000"/>
              </a:lnSpc>
            </a:pPr>
            <a:r>
              <a:rPr lang="zh-CN" sz="1275">
                <a:solidFill>
                  <a:srgbClr val="546779"/>
                </a:solidFill>
                <a:latin typeface="Microsoft YaHei"/>
                <a:ea typeface="Microsoft YaHei"/>
              </a:rPr>
              <a:t>接收者要能自己回答：哪些是本次采用的条件、每条来源能不能定位到原文、哪些空白必须保留。</a:t>
            </a:r>
            <a:endParaRPr/>
          </a:p>
        </p:txBody>
      </p:sp>
      <p:sp>
        <p:nvSpPr>
          <p:cNvPr id="304" name=""/>
          <p:cNvSpPr/>
          <p:nvPr/>
        </p:nvSpPr>
        <p:spPr>
          <a:xfrm rot="0" flipH="0" flipV="0">
            <a:off x="609600" y="3733800"/>
            <a:ext cx="685800" cy="38100"/>
          </a:xfrm>
          <a:prstGeom prst="rect">
            <a:avLst/>
          </a:prstGeom>
          <a:solidFill>
            <a:srgbClr val="276FBF"/>
          </a:solidFill>
          <a:ln/>
        </p:spPr>
        <p:txBody>
          <a:bodyPr/>
          <a:p/>
        </p:txBody>
      </p:sp>
      <p:sp>
        <p:nvSpPr>
          <p:cNvPr id="305" name="" descr="{&quot;isTemplate&quot;:true,&quot;type&quot;:&quot;text&quot;}"/>
          <p:cNvSpPr txBox="1"/>
          <p:nvPr/>
        </p:nvSpPr>
        <p:spPr>
          <a:xfrm rot="0" flipH="0" flipV="0">
            <a:off x="609600" y="3924300"/>
            <a:ext cx="3619500" cy="59055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70000"/>
              </a:lnSpc>
            </a:pPr>
            <a:r>
              <a:rPr lang="zh-CN" sz="1125">
                <a:solidFill>
                  <a:srgbClr val="546779"/>
                </a:solidFill>
                <a:latin typeface="Microsoft YaHei"/>
                <a:ea typeface="Microsoft YaHei"/>
              </a:rPr>
              <a:t>四个知识块按</a:t>
            </a:r>
            <a:r>
              <a:rPr lang="en-US" sz="1125">
                <a:solidFill>
                  <a:srgbClr val="546779"/>
                </a:solidFill>
                <a:latin typeface="Microsoft YaHei"/>
                <a:ea typeface="Microsoft YaHei"/>
              </a:rPr>
              <a:t xml:space="preserve"> 5.2.1 </a:t>
            </a:r>
            <a:r>
              <a:rPr lang="zh-CN" sz="1125">
                <a:solidFill>
                  <a:srgbClr val="546779"/>
                </a:solidFill>
                <a:latin typeface="Microsoft YaHei"/>
                <a:ea typeface="Microsoft YaHei"/>
              </a:rPr>
              <a:t>到</a:t>
            </a:r>
            <a:r>
              <a:rPr lang="en-US" sz="1125">
                <a:solidFill>
                  <a:srgbClr val="546779"/>
                </a:solidFill>
                <a:latin typeface="Microsoft YaHei"/>
                <a:ea typeface="Microsoft YaHei"/>
              </a:rPr>
              <a:t xml:space="preserve"> 5.2.6 </a:t>
            </a:r>
            <a:r>
              <a:rPr lang="zh-CN" sz="1125">
                <a:solidFill>
                  <a:srgbClr val="546779"/>
                </a:solidFill>
                <a:latin typeface="Microsoft YaHei"/>
                <a:ea typeface="Microsoft YaHei"/>
              </a:rPr>
              <a:t>的顺序推进，编号与后面四张扉页一一对应。</a:t>
            </a:r>
            <a:endParaRPr/>
          </a:p>
        </p:txBody>
      </p:sp>
      <p:sp>
        <p:nvSpPr>
          <p:cNvPr id="306" name=""/>
          <p:cNvSpPr/>
          <p:nvPr/>
        </p:nvSpPr>
        <p:spPr>
          <a:xfrm rot="0" flipH="0" flipV="0">
            <a:off x="4457700" y="1485900"/>
            <a:ext cx="7124700" cy="1028700"/>
          </a:xfrm>
          <a:prstGeom prst="roundRect">
            <a:avLst>
              <a:gd name="adj" fmla="val 9259"/>
            </a:avLst>
          </a:prstGeom>
          <a:solidFill>
            <a:srgbClr val="F4F7FA"/>
          </a:solidFill>
          <a:ln/>
        </p:spPr>
        <p:txBody>
          <a:bodyPr/>
          <a:p/>
        </p:txBody>
      </p:sp>
      <p:sp>
        <p:nvSpPr>
          <p:cNvPr id="307" name=""/>
          <p:cNvSpPr/>
          <p:nvPr/>
        </p:nvSpPr>
        <p:spPr>
          <a:xfrm rot="0" flipH="0" flipV="0">
            <a:off x="4648200" y="1790700"/>
            <a:ext cx="419100" cy="419100"/>
          </a:xfrm>
          <a:prstGeom prst="roundRect">
            <a:avLst>
              <a:gd name="adj" fmla="val 18182"/>
            </a:avLst>
          </a:prstGeom>
          <a:solidFill>
            <a:srgbClr val="276FBF"/>
          </a:solidFill>
          <a:ln/>
        </p:spPr>
        <p:txBody>
          <a:bodyPr/>
          <a:p/>
        </p:txBody>
      </p:sp>
      <p:sp>
        <p:nvSpPr>
          <p:cNvPr id="308" name="" descr="{&quot;isTemplate&quot;:true,&quot;type&quot;:&quot;text&quot;}"/>
          <p:cNvSpPr txBox="1"/>
          <p:nvPr/>
        </p:nvSpPr>
        <p:spPr>
          <a:xfrm rot="0" flipH="0" flipV="0">
            <a:off x="4762500" y="1885950"/>
            <a:ext cx="190500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sz="1500" b="1">
                <a:solidFill>
                  <a:srgbClr val="FFFFFF"/>
                </a:solidFill>
                <a:latin typeface="Microsoft YaHei"/>
                <a:ea typeface="Microsoft YaHei"/>
              </a:rPr>
              <a:t>①</a:t>
            </a:r>
            <a:endParaRPr/>
          </a:p>
        </p:txBody>
      </p:sp>
      <p:sp>
        <p:nvSpPr>
          <p:cNvPr id="309" name="" descr="{&quot;isTemplate&quot;:true,&quot;type&quot;:&quot;text&quot;}"/>
          <p:cNvSpPr txBox="1"/>
          <p:nvPr/>
        </p:nvSpPr>
        <p:spPr>
          <a:xfrm rot="0" flipH="0" flipV="0">
            <a:off x="5219700" y="1743075"/>
            <a:ext cx="6172200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500" b="1">
                <a:solidFill>
                  <a:srgbClr val="20344B"/>
                </a:solidFill>
                <a:latin typeface="Microsoft YaHei"/>
                <a:ea typeface="Microsoft YaHei"/>
              </a:rPr>
              <a:t>5.2.1</a:t>
            </a:r>
            <a:r>
              <a:rPr lang="zh-CN" sz="1500" b="1">
                <a:solidFill>
                  <a:srgbClr val="20344B"/>
                </a:solidFill>
                <a:latin typeface="Microsoft YaHei"/>
                <a:ea typeface="Microsoft YaHei"/>
              </a:rPr>
              <a:t>　先给每句话标明性质</a:t>
            </a:r>
            <a:endParaRPr/>
          </a:p>
        </p:txBody>
      </p:sp>
      <p:sp>
        <p:nvSpPr>
          <p:cNvPr id="310" name="" descr="{&quot;isTemplate&quot;:true,&quot;type&quot;:&quot;text&quot;}"/>
          <p:cNvSpPr txBox="1"/>
          <p:nvPr/>
        </p:nvSpPr>
        <p:spPr>
          <a:xfrm rot="0" flipH="0" flipV="0">
            <a:off x="5219700" y="2009775"/>
            <a:ext cx="6172200" cy="247650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场景设定、作者假设、待核实事项、实际观察，四类材料不能合并成一列“已验证事实”。</a:t>
            </a:r>
            <a:endParaRPr/>
          </a:p>
        </p:txBody>
      </p:sp>
      <p:sp>
        <p:nvSpPr>
          <p:cNvPr id="311" name=""/>
          <p:cNvSpPr/>
          <p:nvPr/>
        </p:nvSpPr>
        <p:spPr>
          <a:xfrm rot="0" flipH="0" flipV="0">
            <a:off x="4457700" y="2628900"/>
            <a:ext cx="7124700" cy="1028700"/>
          </a:xfrm>
          <a:prstGeom prst="roundRect">
            <a:avLst>
              <a:gd name="adj" fmla="val 9259"/>
            </a:avLst>
          </a:prstGeom>
          <a:solidFill>
            <a:srgbClr val="F4F7FA"/>
          </a:solidFill>
          <a:ln/>
        </p:spPr>
        <p:txBody>
          <a:bodyPr/>
          <a:p/>
        </p:txBody>
      </p:sp>
      <p:sp>
        <p:nvSpPr>
          <p:cNvPr id="312" name=""/>
          <p:cNvSpPr/>
          <p:nvPr/>
        </p:nvSpPr>
        <p:spPr>
          <a:xfrm rot="0" flipH="0" flipV="0">
            <a:off x="4648200" y="2933700"/>
            <a:ext cx="419100" cy="419100"/>
          </a:xfrm>
          <a:prstGeom prst="roundRect">
            <a:avLst>
              <a:gd name="adj" fmla="val 18182"/>
            </a:avLst>
          </a:prstGeom>
          <a:solidFill>
            <a:srgbClr val="276FBF"/>
          </a:solidFill>
          <a:ln/>
        </p:spPr>
        <p:txBody>
          <a:bodyPr/>
          <a:p/>
        </p:txBody>
      </p:sp>
      <p:sp>
        <p:nvSpPr>
          <p:cNvPr id="313" name="" descr="{&quot;isTemplate&quot;:true,&quot;type&quot;:&quot;text&quot;}"/>
          <p:cNvSpPr txBox="1"/>
          <p:nvPr/>
        </p:nvSpPr>
        <p:spPr>
          <a:xfrm rot="0" flipH="0" flipV="0">
            <a:off x="4762500" y="3028950"/>
            <a:ext cx="190500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sz="1500" b="1">
                <a:solidFill>
                  <a:srgbClr val="FFFFFF"/>
                </a:solidFill>
                <a:latin typeface="Microsoft YaHei"/>
                <a:ea typeface="Microsoft YaHei"/>
              </a:rPr>
              <a:t>②</a:t>
            </a:r>
            <a:endParaRPr/>
          </a:p>
        </p:txBody>
      </p:sp>
      <p:sp>
        <p:nvSpPr>
          <p:cNvPr id="314" name="" descr="{&quot;isTemplate&quot;:true,&quot;type&quot;:&quot;text&quot;}"/>
          <p:cNvSpPr txBox="1"/>
          <p:nvPr/>
        </p:nvSpPr>
        <p:spPr>
          <a:xfrm rot="0" flipH="0" flipV="0">
            <a:off x="5219700" y="2886075"/>
            <a:ext cx="6172200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500" b="1">
                <a:solidFill>
                  <a:srgbClr val="20344B"/>
                </a:solidFill>
                <a:latin typeface="Microsoft YaHei"/>
                <a:ea typeface="Microsoft YaHei"/>
              </a:rPr>
              <a:t>5.2.2 — 5.2.3</a:t>
            </a:r>
            <a:r>
              <a:rPr lang="zh-CN" sz="1500" b="1">
                <a:solidFill>
                  <a:srgbClr val="20344B"/>
                </a:solidFill>
                <a:latin typeface="Microsoft YaHei"/>
                <a:ea typeface="Microsoft YaHei"/>
              </a:rPr>
              <a:t>　来源能追到原文，冲突先登记</a:t>
            </a:r>
            <a:endParaRPr/>
          </a:p>
        </p:txBody>
      </p:sp>
      <p:sp>
        <p:nvSpPr>
          <p:cNvPr id="315" name="" descr="{&quot;isTemplate&quot;:true,&quot;type&quot;:&quot;text&quot;}"/>
          <p:cNvSpPr txBox="1"/>
          <p:nvPr/>
        </p:nvSpPr>
        <p:spPr>
          <a:xfrm rot="0" flipH="0" flipV="0">
            <a:off x="5219700" y="3152775"/>
            <a:ext cx="6172200" cy="247650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来源要定位到哪一份文档的哪一段；两份材料打架时先登记冲突编号，再决定本次采用谁。</a:t>
            </a:r>
            <a:endParaRPr/>
          </a:p>
        </p:txBody>
      </p:sp>
      <p:sp>
        <p:nvSpPr>
          <p:cNvPr id="316" name=""/>
          <p:cNvSpPr/>
          <p:nvPr/>
        </p:nvSpPr>
        <p:spPr>
          <a:xfrm rot="0" flipH="0" flipV="0">
            <a:off x="4457700" y="3771900"/>
            <a:ext cx="7124700" cy="1028700"/>
          </a:xfrm>
          <a:prstGeom prst="roundRect">
            <a:avLst>
              <a:gd name="adj" fmla="val 9259"/>
            </a:avLst>
          </a:prstGeom>
          <a:solidFill>
            <a:srgbClr val="F4F7FA"/>
          </a:solidFill>
          <a:ln/>
        </p:spPr>
        <p:txBody>
          <a:bodyPr/>
          <a:p/>
        </p:txBody>
      </p:sp>
      <p:sp>
        <p:nvSpPr>
          <p:cNvPr id="317" name=""/>
          <p:cNvSpPr/>
          <p:nvPr/>
        </p:nvSpPr>
        <p:spPr>
          <a:xfrm rot="0" flipH="0" flipV="0">
            <a:off x="4648200" y="4076700"/>
            <a:ext cx="419100" cy="419100"/>
          </a:xfrm>
          <a:prstGeom prst="roundRect">
            <a:avLst>
              <a:gd name="adj" fmla="val 18182"/>
            </a:avLst>
          </a:prstGeom>
          <a:solidFill>
            <a:srgbClr val="26816B"/>
          </a:solidFill>
          <a:ln/>
        </p:spPr>
        <p:txBody>
          <a:bodyPr/>
          <a:p/>
        </p:txBody>
      </p:sp>
      <p:sp>
        <p:nvSpPr>
          <p:cNvPr id="318" name="" descr="{&quot;isTemplate&quot;:true,&quot;type&quot;:&quot;text&quot;}"/>
          <p:cNvSpPr txBox="1"/>
          <p:nvPr/>
        </p:nvSpPr>
        <p:spPr>
          <a:xfrm rot="0" flipH="0" flipV="0">
            <a:off x="4762500" y="4171950"/>
            <a:ext cx="190500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sz="1500" b="1">
                <a:solidFill>
                  <a:srgbClr val="FFFFFF"/>
                </a:solidFill>
                <a:latin typeface="Microsoft YaHei"/>
                <a:ea typeface="Microsoft YaHei"/>
              </a:rPr>
              <a:t>③</a:t>
            </a:r>
            <a:endParaRPr/>
          </a:p>
        </p:txBody>
      </p:sp>
      <p:sp>
        <p:nvSpPr>
          <p:cNvPr id="319" name="" descr="{&quot;isTemplate&quot;:true,&quot;type&quot;:&quot;text&quot;}"/>
          <p:cNvSpPr txBox="1"/>
          <p:nvPr/>
        </p:nvSpPr>
        <p:spPr>
          <a:xfrm rot="0" flipH="0" flipV="0">
            <a:off x="5219700" y="4029075"/>
            <a:ext cx="6172200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500" b="1">
                <a:solidFill>
                  <a:srgbClr val="20344B"/>
                </a:solidFill>
                <a:latin typeface="Microsoft YaHei"/>
                <a:ea typeface="Microsoft YaHei"/>
              </a:rPr>
              <a:t>5.2.4 — 5.2.5</a:t>
            </a:r>
            <a:r>
              <a:rPr lang="zh-CN" sz="1500" b="1">
                <a:solidFill>
                  <a:srgbClr val="20344B"/>
                </a:solidFill>
                <a:latin typeface="Microsoft YaHei"/>
                <a:ea typeface="Microsoft YaHei"/>
              </a:rPr>
              <a:t>　假设写成可检查的约束，整理时保住原意</a:t>
            </a:r>
            <a:endParaRPr/>
          </a:p>
        </p:txBody>
      </p:sp>
      <p:sp>
        <p:nvSpPr>
          <p:cNvPr id="320" name="" descr="{&quot;isTemplate&quot;:true,&quot;type&quot;:&quot;text&quot;}"/>
          <p:cNvSpPr txBox="1"/>
          <p:nvPr/>
        </p:nvSpPr>
        <p:spPr>
          <a:xfrm rot="0" flipH="0" flipV="0">
            <a:off x="5219700" y="4295775"/>
            <a:ext cx="6172200" cy="247650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每个“暂时这么定”都要配一条会改变它的证据；整理不能把目标改写成已经取得的结果。</a:t>
            </a:r>
            <a:endParaRPr/>
          </a:p>
        </p:txBody>
      </p:sp>
      <p:sp>
        <p:nvSpPr>
          <p:cNvPr id="321" name=""/>
          <p:cNvSpPr/>
          <p:nvPr/>
        </p:nvSpPr>
        <p:spPr>
          <a:xfrm rot="0" flipH="0" flipV="0">
            <a:off x="4457700" y="4914900"/>
            <a:ext cx="7124700" cy="1028700"/>
          </a:xfrm>
          <a:prstGeom prst="roundRect">
            <a:avLst>
              <a:gd name="adj" fmla="val 9259"/>
            </a:avLst>
          </a:prstGeom>
          <a:solidFill>
            <a:srgbClr val="F4F7FA"/>
          </a:solidFill>
          <a:ln/>
        </p:spPr>
        <p:txBody>
          <a:bodyPr/>
          <a:p/>
        </p:txBody>
      </p:sp>
      <p:sp>
        <p:nvSpPr>
          <p:cNvPr id="322" name=""/>
          <p:cNvSpPr/>
          <p:nvPr/>
        </p:nvSpPr>
        <p:spPr>
          <a:xfrm rot="0" flipH="0" flipV="0">
            <a:off x="4648200" y="5219700"/>
            <a:ext cx="419100" cy="419100"/>
          </a:xfrm>
          <a:prstGeom prst="roundRect">
            <a:avLst>
              <a:gd name="adj" fmla="val 18182"/>
            </a:avLst>
          </a:prstGeom>
          <a:solidFill>
            <a:srgbClr val="26816B"/>
          </a:solidFill>
          <a:ln/>
        </p:spPr>
        <p:txBody>
          <a:bodyPr/>
          <a:p/>
        </p:txBody>
      </p:sp>
      <p:sp>
        <p:nvSpPr>
          <p:cNvPr id="323" name="" descr="{&quot;isTemplate&quot;:true,&quot;type&quot;:&quot;text&quot;}"/>
          <p:cNvSpPr txBox="1"/>
          <p:nvPr/>
        </p:nvSpPr>
        <p:spPr>
          <a:xfrm rot="0" flipH="0" flipV="0">
            <a:off x="4762500" y="5314950"/>
            <a:ext cx="190500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sz="1500" b="1">
                <a:solidFill>
                  <a:srgbClr val="FFFFFF"/>
                </a:solidFill>
                <a:latin typeface="Microsoft YaHei"/>
                <a:ea typeface="Microsoft YaHei"/>
              </a:rPr>
              <a:t>④</a:t>
            </a:r>
            <a:endParaRPr/>
          </a:p>
        </p:txBody>
      </p:sp>
      <p:sp>
        <p:nvSpPr>
          <p:cNvPr id="324" name="" descr="{&quot;isTemplate&quot;:true,&quot;type&quot;:&quot;text&quot;}"/>
          <p:cNvSpPr txBox="1"/>
          <p:nvPr/>
        </p:nvSpPr>
        <p:spPr>
          <a:xfrm rot="0" flipH="0" flipV="0">
            <a:off x="5219700" y="5172075"/>
            <a:ext cx="6172200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500" b="1">
                <a:solidFill>
                  <a:srgbClr val="20344B"/>
                </a:solidFill>
                <a:latin typeface="Microsoft YaHei"/>
                <a:ea typeface="Microsoft YaHei"/>
              </a:rPr>
              <a:t>5.2.6</a:t>
            </a:r>
            <a:r>
              <a:rPr lang="zh-CN" sz="1500" b="1">
                <a:solidFill>
                  <a:srgbClr val="20344B"/>
                </a:solidFill>
                <a:latin typeface="Microsoft YaHei"/>
                <a:ea typeface="Microsoft YaHei"/>
              </a:rPr>
              <a:t>　交给下一位作者的是什么</a:t>
            </a:r>
            <a:endParaRPr/>
          </a:p>
        </p:txBody>
      </p:sp>
      <p:sp>
        <p:nvSpPr>
          <p:cNvPr id="325" name="" descr="{&quot;isTemplate&quot;:true,&quot;type&quot;:&quot;text&quot;}"/>
          <p:cNvSpPr txBox="1"/>
          <p:nvPr/>
        </p:nvSpPr>
        <p:spPr>
          <a:xfrm rot="0" flipH="0" flipV="0">
            <a:off x="5219700" y="5438775"/>
            <a:ext cx="6172200" cy="247650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采用的原文与来源、整理后的明确条件、冲突与未完成事项——接收者要能自己找到这三样。</a:t>
            </a:r>
            <a:endParaRPr/>
          </a:p>
        </p:txBody>
      </p:sp>
      <p:sp>
        <p:nvSpPr>
          <p:cNvPr id="326" name="" descr="{&quot;isTemplate&quot;:true,&quot;type&quot;:&quot;text&quot;}"/>
          <p:cNvSpPr txBox="1"/>
          <p:nvPr/>
        </p:nvSpPr>
        <p:spPr>
          <a:xfrm rot="0" flipH="0" flipV="0">
            <a:off x="609600" y="6400800"/>
            <a:ext cx="18288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 xml:space="preserve">5.2 </a:t>
            </a: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材料来源、假设与可用范围</a:t>
            </a:r>
            <a:endParaRPr/>
          </a:p>
        </p:txBody>
      </p:sp>
      <p:sp>
        <p:nvSpPr>
          <p:cNvPr id="327" name="" descr="{&quot;isTemplate&quot;:true,&quot;type&quot;:&quot;text&quot;}"/>
          <p:cNvSpPr txBox="1"/>
          <p:nvPr/>
        </p:nvSpPr>
        <p:spPr>
          <a:xfrm rot="0" flipH="0" flipV="0">
            <a:off x="11125200" y="6400800"/>
            <a:ext cx="4572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>02 / 23</a:t>
            </a:r>
            <a:endParaRPr/>
          </a:p>
        </p:txBody>
      </p:sp>
    </p:spTree>
  </p:cSld>
</p:sld>
</file>

<file path=ppt/slides/slide3.xml><?xml version="1.0" encoding="utf-8"?>
<p:sld xmlns:p="http://schemas.openxmlformats.org/presentationml/2006/main" xmlns:a="http://schemas.openxmlformats.org/drawingml/2006/main">
  <p:cSld>
    <p:spTree>
      <p:nvGrpSpPr>
        <p:cNvPr id="425" name="" descr="&lt;Slide notes={`在进入细节之前，先把一个问题摆正：材料分类是登记出处的前提，不是写完再补的标签。&#10;&#10;我们平时习惯一边读材料一边在心里判断，读到就用。可是交接的时候，心里的判断带不走。别人只看到同样的句子，看不出哪一句来自教案约定，哪一句是我们的选择，哪一句还在等运行验证。&#10;&#10;所以我的要求很直接：任何一句要进入本轮实验的话，先标性质。标完性质，登记出处才有意义；出处登记完，才谈得上它能不能用、能支持什么结论。&#10;&#10;顺序是：先分类，再登记出处，最后才决定能不能使用。`} style={{ width: 1280, height: 720, background: '#FFFFFF', flexDirection: 'column', padding: '20px 64px' }}&gt;&#10;&#10;    &lt;Box style={{ height: 640, flexDirection: 'column', justifyContent: 'center', gap: 22 }}&gt;&#10;&#10;        &lt;Text style={{ fontSize: 15, color: '#276FBF' }}&gt;1　　5.2.1&lt;/Text&gt;&#10;&#10;        &lt;Text style={{ fontSize: 56, fontWeight: 'bold', color: '#20344B', lineHeight: 1.15 }}&gt;先给每句话标明性质&lt;/Text&gt;&#10;&#10;        &lt;Box style={{ width: 72, height: 4, background: '#276FBF' }} /&gt;&#10;&#10;        &lt;Text style={{ fontSize: 18, color: '#546779', lineHeight: 1.7, width: 940 }}&gt;“A 窗口负责哪类咨询”“本案是否研究排队”“图片是否已保存”“角色实际做了什么”——它们分别来自不同性质的材料。&lt;/Text&gt;&#10;&#10;        &lt;Box style={{ flexDirection: 'row', alignItems: 'center', marginTop: 10 }}&gt;&#10;            &lt;Box style={{ width: 300, height: 64, background: '#EDF4FC', borderRadius: 8, justifyContent: 'center', alignItems: 'center' }}&gt;&#10;                &lt;Text style={{ fontSize: 18, color: '#276FBF' }}&gt;先分类&lt;/Text&gt;&#10;            &lt;/Box&gt;&#10;            &lt;Box style={{ width: 44, height: 64, justifyContent: 'center', alignItems: 'center' }}&gt;&#10;                &lt;Text style={{ fontSize: 26, color: '#276FBF' }}&gt;›&lt;/Text&gt;&#10;            &lt;/Box&gt;&#10;            &lt;Box style={{ width: 300, height: 64, background: '#ECF7F2', borderRadius: 8, justifyContent: 'center', alignItems: 'center' }}&gt;&#10;                &lt;Text style={{ fontSize: 18, color: '#26816B' }}&gt;再登记出处&lt;/Text&gt;&#10;            &lt;/Box&gt;&#10;            &lt;Box style={{ width: 44, height: 64, justifyContent: 'center', alignItems: 'center' }}&gt;&#10;                &lt;Text style={{ fontSize: 26, color: '#26816B' }}&gt;›&lt;/Text&gt;&#10;            &lt;/Box&gt;&#10;            &lt;Box style={{ width: 300, height: 64, background: '#F7F3E8', borderRadius: 8, justifyContent: 'center', alignItems: 'center' }}&gt;&#10;                &lt;Text style={{ fontSize: 18, color: '#546779' }}&gt;再决定能否使用&lt;/Text&gt;&#10;            &lt;/Box&gt;&#10;        &lt;/Box&gt;&#10;&#10;    &lt;/Box&gt;&#10;&#10;    &lt;Box style={{ height: 40, flexDirection: 'row', justifyContent: 'space-between', alignItems: 'center' }}&gt;&#10;        &lt;Text style={{ fontSize: 14, color: '#546779' }}&gt;5.2 材料来源、假设与可用范围&lt;/Text&gt;&#10;        &lt;Text style={{ fontSize: 14, color: '#546779' }}&gt;03 / 23&lt;/Text&gt;&#10;    &lt;/Box&gt;&#10;&#10;&lt;/Slide&gt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6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427" name="" descr="{&quot;isTemplate&quot;:true,&quot;type&quot;:&quot;text&quot;}"/>
          <p:cNvSpPr txBox="1"/>
          <p:nvPr/>
        </p:nvSpPr>
        <p:spPr>
          <a:xfrm rot="0" flipH="0" flipV="0">
            <a:off x="609600" y="1638300"/>
            <a:ext cx="1097280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125">
                <a:solidFill>
                  <a:srgbClr val="276FBF"/>
                </a:solidFill>
                <a:latin typeface="Microsoft YaHei"/>
                <a:ea typeface="Microsoft YaHei"/>
              </a:rPr>
              <a:t>1</a:t>
            </a:r>
            <a:r>
              <a:rPr lang="zh-CN" sz="1125">
                <a:solidFill>
                  <a:srgbClr val="276FBF"/>
                </a:solidFill>
                <a:latin typeface="Microsoft YaHei"/>
                <a:ea typeface="Microsoft YaHei"/>
              </a:rPr>
              <a:t>　　</a:t>
            </a:r>
            <a:r>
              <a:rPr lang="en-US" sz="1125">
                <a:solidFill>
                  <a:srgbClr val="276FBF"/>
                </a:solidFill>
                <a:latin typeface="Microsoft YaHei"/>
                <a:ea typeface="Microsoft YaHei"/>
              </a:rPr>
              <a:t>5.2.1</a:t>
            </a:r>
            <a:endParaRPr/>
          </a:p>
        </p:txBody>
      </p:sp>
      <p:sp>
        <p:nvSpPr>
          <p:cNvPr id="428" name="" descr="{&quot;isTemplate&quot;:true,&quot;type&quot;:&quot;text&quot;}"/>
          <p:cNvSpPr txBox="1"/>
          <p:nvPr/>
        </p:nvSpPr>
        <p:spPr>
          <a:xfrm rot="0" flipH="0" flipV="0">
            <a:off x="609600" y="2019300"/>
            <a:ext cx="10972800" cy="742950"/>
          </a:xfrm>
          <a:prstGeom prst="rect"/>
        </p:spPr>
        <p:txBody>
          <a:bodyPr wrap="none" lIns="0" tIns="0" rIns="0" bIns="0"/>
          <a:p>
            <a:pPr>
              <a:lnSpc>
                <a:spcPct val="114999"/>
              </a:lnSpc>
            </a:pPr>
            <a:r>
              <a:rPr lang="zh-CN" sz="4200" b="1">
                <a:solidFill>
                  <a:srgbClr val="20344B"/>
                </a:solidFill>
                <a:latin typeface="Microsoft YaHei"/>
                <a:ea typeface="Microsoft YaHei"/>
              </a:rPr>
              <a:t>先给每句话标明性质</a:t>
            </a:r>
            <a:endParaRPr/>
          </a:p>
        </p:txBody>
      </p:sp>
      <p:sp>
        <p:nvSpPr>
          <p:cNvPr id="429" name=""/>
          <p:cNvSpPr/>
          <p:nvPr/>
        </p:nvSpPr>
        <p:spPr>
          <a:xfrm rot="0" flipH="0" flipV="0">
            <a:off x="609600" y="2971800"/>
            <a:ext cx="685800" cy="38100"/>
          </a:xfrm>
          <a:prstGeom prst="rect">
            <a:avLst/>
          </a:prstGeom>
          <a:solidFill>
            <a:srgbClr val="276FBF"/>
          </a:solidFill>
          <a:ln/>
        </p:spPr>
        <p:txBody>
          <a:bodyPr/>
          <a:p/>
        </p:txBody>
      </p:sp>
      <p:sp>
        <p:nvSpPr>
          <p:cNvPr id="430" name="" descr="{&quot;isTemplate&quot;:true,&quot;type&quot;:&quot;text&quot;}"/>
          <p:cNvSpPr txBox="1"/>
          <p:nvPr/>
        </p:nvSpPr>
        <p:spPr>
          <a:xfrm rot="0" flipH="0" flipV="0">
            <a:off x="609600" y="3219450"/>
            <a:ext cx="8953500" cy="70485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70000"/>
              </a:lnSpc>
            </a:pPr>
            <a:r>
              <a:rPr lang="en-US" sz="1350">
                <a:solidFill>
                  <a:srgbClr val="546779"/>
                </a:solidFill>
                <a:latin typeface="Microsoft YaHei"/>
                <a:ea typeface="Microsoft YaHei"/>
              </a:rPr>
              <a:t xml:space="preserve">“A </a:t>
            </a:r>
            <a:r>
              <a:rPr lang="zh-CN" sz="1350">
                <a:solidFill>
                  <a:srgbClr val="546779"/>
                </a:solidFill>
                <a:latin typeface="Microsoft YaHei"/>
                <a:ea typeface="Microsoft YaHei"/>
              </a:rPr>
              <a:t>窗口负责哪类咨询”“本案是否研究排队”“图片是否已保存”“角色实际做了什么”——它们分别来自不同性质的材料。</a:t>
            </a:r>
            <a:endParaRPr/>
          </a:p>
        </p:txBody>
      </p:sp>
      <p:sp>
        <p:nvSpPr>
          <p:cNvPr id="431" name=""/>
          <p:cNvSpPr/>
          <p:nvPr/>
        </p:nvSpPr>
        <p:spPr>
          <a:xfrm rot="0" flipH="0" flipV="0">
            <a:off x="609600" y="4229100"/>
            <a:ext cx="2857500" cy="609600"/>
          </a:xfrm>
          <a:prstGeom prst="roundRect">
            <a:avLst>
              <a:gd name="adj" fmla="val 12500"/>
            </a:avLst>
          </a:prstGeom>
          <a:solidFill>
            <a:srgbClr val="EDF4FC"/>
          </a:solidFill>
          <a:ln/>
        </p:spPr>
        <p:txBody>
          <a:bodyPr/>
          <a:p/>
        </p:txBody>
      </p:sp>
      <p:sp>
        <p:nvSpPr>
          <p:cNvPr id="432" name="" descr="{&quot;isTemplate&quot;:true,&quot;type&quot;:&quot;text&quot;}"/>
          <p:cNvSpPr txBox="1"/>
          <p:nvPr/>
        </p:nvSpPr>
        <p:spPr>
          <a:xfrm rot="0" flipH="0" flipV="0">
            <a:off x="1781175" y="4429125"/>
            <a:ext cx="514350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350">
                <a:solidFill>
                  <a:srgbClr val="276FBF"/>
                </a:solidFill>
                <a:latin typeface="Microsoft YaHei"/>
                <a:ea typeface="Microsoft YaHei"/>
              </a:rPr>
              <a:t>先分类</a:t>
            </a:r>
            <a:endParaRPr/>
          </a:p>
        </p:txBody>
      </p:sp>
      <p:sp>
        <p:nvSpPr>
          <p:cNvPr id="433" name="" descr="{&quot;isTemplate&quot;:true,&quot;type&quot;:&quot;text&quot;}"/>
          <p:cNvSpPr txBox="1"/>
          <p:nvPr/>
        </p:nvSpPr>
        <p:spPr>
          <a:xfrm rot="0" flipH="0" flipV="0">
            <a:off x="3638550" y="4381500"/>
            <a:ext cx="85725" cy="3048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sz="1950">
                <a:solidFill>
                  <a:srgbClr val="276FBF"/>
                </a:solidFill>
                <a:latin typeface="Microsoft YaHei"/>
                <a:ea typeface="Microsoft YaHei"/>
              </a:rPr>
              <a:t>›</a:t>
            </a:r>
            <a:endParaRPr/>
          </a:p>
        </p:txBody>
      </p:sp>
      <p:sp>
        <p:nvSpPr>
          <p:cNvPr id="434" name=""/>
          <p:cNvSpPr/>
          <p:nvPr/>
        </p:nvSpPr>
        <p:spPr>
          <a:xfrm rot="0" flipH="0" flipV="0">
            <a:off x="3886200" y="4229100"/>
            <a:ext cx="2857500" cy="609600"/>
          </a:xfrm>
          <a:prstGeom prst="roundRect">
            <a:avLst>
              <a:gd name="adj" fmla="val 12500"/>
            </a:avLst>
          </a:prstGeom>
          <a:solidFill>
            <a:srgbClr val="ECF7F2"/>
          </a:solidFill>
          <a:ln/>
        </p:spPr>
        <p:txBody>
          <a:bodyPr/>
          <a:p/>
        </p:txBody>
      </p:sp>
      <p:sp>
        <p:nvSpPr>
          <p:cNvPr id="435" name="" descr="{&quot;isTemplate&quot;:true,&quot;type&quot;:&quot;text&quot;}"/>
          <p:cNvSpPr txBox="1"/>
          <p:nvPr/>
        </p:nvSpPr>
        <p:spPr>
          <a:xfrm rot="0" flipH="0" flipV="0">
            <a:off x="4886325" y="4429125"/>
            <a:ext cx="857250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350">
                <a:solidFill>
                  <a:srgbClr val="26816B"/>
                </a:solidFill>
                <a:latin typeface="Microsoft YaHei"/>
                <a:ea typeface="Microsoft YaHei"/>
              </a:rPr>
              <a:t>再登记出处</a:t>
            </a:r>
            <a:endParaRPr/>
          </a:p>
        </p:txBody>
      </p:sp>
      <p:sp>
        <p:nvSpPr>
          <p:cNvPr id="436" name="" descr="{&quot;isTemplate&quot;:true,&quot;type&quot;:&quot;text&quot;}"/>
          <p:cNvSpPr txBox="1"/>
          <p:nvPr/>
        </p:nvSpPr>
        <p:spPr>
          <a:xfrm rot="0" flipH="0" flipV="0">
            <a:off x="6915150" y="4381500"/>
            <a:ext cx="85725" cy="3048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sz="1950">
                <a:solidFill>
                  <a:srgbClr val="26816B"/>
                </a:solidFill>
                <a:latin typeface="Microsoft YaHei"/>
                <a:ea typeface="Microsoft YaHei"/>
              </a:rPr>
              <a:t>›</a:t>
            </a:r>
            <a:endParaRPr/>
          </a:p>
        </p:txBody>
      </p:sp>
      <p:sp>
        <p:nvSpPr>
          <p:cNvPr id="437" name=""/>
          <p:cNvSpPr/>
          <p:nvPr/>
        </p:nvSpPr>
        <p:spPr>
          <a:xfrm rot="0" flipH="0" flipV="0">
            <a:off x="7162800" y="4229100"/>
            <a:ext cx="2857500" cy="609600"/>
          </a:xfrm>
          <a:prstGeom prst="roundRect">
            <a:avLst>
              <a:gd name="adj" fmla="val 12500"/>
            </a:avLst>
          </a:prstGeom>
          <a:solidFill>
            <a:srgbClr val="F7F3E8"/>
          </a:solidFill>
          <a:ln/>
        </p:spPr>
        <p:txBody>
          <a:bodyPr/>
          <a:p/>
        </p:txBody>
      </p:sp>
      <p:sp>
        <p:nvSpPr>
          <p:cNvPr id="438" name="" descr="{&quot;isTemplate&quot;:true,&quot;type&quot;:&quot;text&quot;}"/>
          <p:cNvSpPr txBox="1"/>
          <p:nvPr/>
        </p:nvSpPr>
        <p:spPr>
          <a:xfrm rot="0" flipH="0" flipV="0">
            <a:off x="7991475" y="4429125"/>
            <a:ext cx="1200150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350">
                <a:solidFill>
                  <a:srgbClr val="546779"/>
                </a:solidFill>
                <a:latin typeface="Microsoft YaHei"/>
                <a:ea typeface="Microsoft YaHei"/>
              </a:rPr>
              <a:t>再决定能否使用</a:t>
            </a:r>
            <a:endParaRPr/>
          </a:p>
        </p:txBody>
      </p:sp>
      <p:sp>
        <p:nvSpPr>
          <p:cNvPr id="439" name="" descr="{&quot;isTemplate&quot;:true,&quot;type&quot;:&quot;text&quot;}"/>
          <p:cNvSpPr txBox="1"/>
          <p:nvPr/>
        </p:nvSpPr>
        <p:spPr>
          <a:xfrm rot="0" flipH="0" flipV="0">
            <a:off x="609600" y="6400800"/>
            <a:ext cx="18288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 xml:space="preserve">5.2 </a:t>
            </a: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材料来源、假设与可用范围</a:t>
            </a:r>
            <a:endParaRPr/>
          </a:p>
        </p:txBody>
      </p:sp>
      <p:sp>
        <p:nvSpPr>
          <p:cNvPr id="440" name="" descr="{&quot;isTemplate&quot;:true,&quot;type&quot;:&quot;text&quot;}"/>
          <p:cNvSpPr txBox="1"/>
          <p:nvPr/>
        </p:nvSpPr>
        <p:spPr>
          <a:xfrm rot="0" flipH="0" flipV="0">
            <a:off x="11125200" y="6400800"/>
            <a:ext cx="4572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>03 / 23</a:t>
            </a:r>
            <a:endParaRPr/>
          </a:p>
        </p:txBody>
      </p:sp>
    </p:spTree>
  </p:cSld>
</p:sld>
</file>

<file path=ppt/slides/slide4.xml><?xml version="1.0" encoding="utf-8"?>
<p:sld xmlns:p="http://schemas.openxmlformats.org/presentationml/2006/main" xmlns:a="http://schemas.openxmlformats.org/drawingml/2006/main">
  <p:cSld>
    <p:spTree>
      <p:nvGrpSpPr>
        <p:cNvPr id="441" name="" descr="&lt;Slide notes={`这四类材料我用同一句话来对照，方便大家记住差别。&#10;&#10;第一类是场景设定，比如 A 窗口负责场地使用咨询。这是本案约定的业务范围，是作者定的，不是现实社区的规章，它约束的是这次实验。&#10;&#10;第二类是作者假设，比如本案不研究排队。这类话决定了结论能用在哪里、不能用在哪里。&#10;&#10;第三类是待核实，比如图片和路径还没有验收。它绝不能写成系统中可达，那是两回事。&#10;&#10;第四类是实际观察，比如孟川是否已经在 B 窗口得到回复。这一栏必须有真实 Run 和记录。&#10;&#10;服务大厅还没有新 Run，所以这一栏应当保持空白，等运行事实来填。`} style={{ width: 1280, height: 720, background: '#FFFFFF', flexDirection: 'column', padding: '20px 64px' }}&gt;&#10;&#10;    &lt;Box style={{ height: 100, flexDirection: 'row', alignItems: 'center', gap: 20 }}&gt;&#10;        &lt;Box style={{ width: 4, height: 44, background: '#276FBF' }} /&gt;&#10;        &lt;Box style={{ flexDirection: 'column', gap: 4 }}&gt;&#10;            &lt;Text style={{ fontSize: 14, color: '#546779' }}&gt;5.2.1　先给每句话标明性质&lt;/Text&gt;&#10;            &lt;Text style={{ fontSize: 34, fontWeight: 'bold', color: '#20344B' }}&gt;一句话先标性质，再决定如何使用&lt;/Text&gt;&#10;        &lt;/Box&gt;&#10;    &lt;/Box&gt;&#10;&#10;    &lt;Box style={{ height: 540, flexDirection: 'column', justifyContent: 'center' }}&gt;&#10;&#10;        &lt;Box style={{ width: 1152, height: 76, background: '#F4F7FA', borderRadius: 10, padding: '0 22px', flexDirection: 'row', alignItems: 'center', gap: 18 }}&gt;&#10;            &lt;Text style={{ fontSize: 14, color: '#546779', width: 150 }}&gt;拿到一句话&lt;/Text&gt;&#10;            &lt;Text style={{ fontSize: 18, fontWeight: 'bold', color: '#20344B' }}&gt;先问：它是约定的业务范围、作者的假设、还没核实的项，还是运行里真正发生的事？&lt;/Text&gt;&#10;        &lt;/Box&gt;&#10;&#10;        &lt;Box style={{ width: 1152, height: 36, justifyContent: 'center', alignItems: 'center' }}&gt;&#10;            &lt;Text style={{ fontSize: 22, color: '#276FBF' }}&gt;↓&lt;/Text&gt;&#10;        &lt;/Box&gt;&#10;&#10;        &lt;Box style={{ width: 1152, flexDirection: 'row', gap: 16 }}&gt;&#10;&#10;            &lt;Box style={{ width: 270, height: 250, background: '#EDF4FC', borderRadius: 10, padding: '18px 16px', flexDirection: 'column', gap: 8 }}&gt;&#10;                &lt;Text style={{ fontSize: 20, fontWeight: 'bold', color: '#276FBF' }}&gt;场景设定&lt;/Text&gt;&#10;                &lt;Text style={{ fontSize: 15, color: '#20344B', lineHeight: 1.5 }}&gt;“A 窗口负责使用咨询”&lt;/Text&gt;&#10;                &lt;Text style={{ fontSize: 14, color: '#546779', lineHeight: 1.5 }}&gt;本案约定的业务范围。作者定义，不是现实规章。&lt;/Text&gt;&#10;            &lt;/Box&gt;&#10;&#10;            &lt;Box style={{ width: 270, height: 250, background: '#ECF7F2', borderRadius: 10, padding: '18px 16px', flexDirection: 'column', gap: 8 }}&gt;&#10;                &lt;Text style={{ fontSize: 20, fontWeight: 'bold', color: '#26816B' }}&gt;作者假设&lt;/Text&gt;&#10;                &lt;Text style={{ fontSize: 15, color: '#20344B', lineHeight: 1.5 }}&gt;“本案不研究排队”&lt;/Text&gt;&#10;                &lt;Text style={{ fontSize: 14, color: '#546779', lineHeight: 1.5 }}&gt;限制结论的用途：结果不能回答排队问题。&lt;/Text&gt;&#10;            &lt;/Box&gt;&#10;&#10;            &lt;Box style={{ width: 270, height: 250, background: '#FFF4E6', borderRadius: 10, padding: '18px 16px', flexDirection: 'column', gap: 8 }}&gt;&#10;                &lt;Text style={{ fontSize: 20, fontWeight: 'bold', color: '#CB6B28' }}&gt;待核实&lt;/Text&gt;&#10;                &lt;Text style={{ fontSize: 15, color: '#20344B', lineHeight: 1.5 }}&gt;“图片与路径尚未验收”&lt;/Text&gt;&#10;                &lt;Text style={{ fontSize: 14, color: '#546779', lineHeight: 1.5 }}&gt;不能写成“系统中可达”，验收之前只算候选。&lt;/Text&gt;&#10;            &lt;/Box&gt;&#10;&#10;            &lt;Box style={{ width: 270, height: 250, background: '#F7F3E8', borderRadius: 10, padding: '18px 16px', flexDirection: 'column', gap: 8 }}&gt;&#10;                &lt;Text style={{ fontSize: 20, fontWeight: 'bold', color: '#546779' }}&gt;实际观察&lt;/Text&gt;&#10;                &lt;Text style={{ fontSize: 15, color: '#20344B', lineHeight: 1.5 }}&gt;“孟川已在 B 窗口得到回复”&lt;/Text&gt;&#10;                &lt;Text style={{ fontSize: 14, color: '#546779', lineHeight: 1.5 }}&gt;需要真实 Run 与记录。当前服务大厅尚无，保持空白。&lt;/Text&gt;&#10;            &lt;/Box&gt;&#10;&#10;        &lt;/Box&gt;&#10;&#10;        &lt;Box style={{ width: 1152, height: 60, background: '#FFF4E6', borderRadius: 10, padding: '0 22px', flexDirection: 'row', alignItems: 'center', marginTop: 16 }}&gt;&#10;            &lt;Text style={{ fontSize: 15, color: '#CB6B28' }}&gt;前三类都不能替代真实 Run 中的行为记录；实际观察栏等运行事实，不靠推断填满。&lt;/Text&gt;&#10;        &lt;/Box&gt;&#10;&#10;    &lt;/Box&gt;&#10;&#10;    &lt;Box style={{ height: 40, flexDirection: 'row', justifyContent: 'space-between', alignItems: 'center' }}&gt;&#10;        &lt;Text style={{ fontSize: 14, color: '#546779' }}&gt;5.2 材料来源、假设与可用范围&lt;/Text&gt;&#10;        &lt;Text style={{ fontSize: 14, color: '#546779' }}&gt;04 / 23&lt;/Text&gt;&#10;    &lt;/Box&gt;&#10;&#10;&lt;/Slide&gt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2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443" name=""/>
          <p:cNvSpPr/>
          <p:nvPr/>
        </p:nvSpPr>
        <p:spPr>
          <a:xfrm rot="0" flipH="0" flipV="0">
            <a:off x="609600" y="457200"/>
            <a:ext cx="38100" cy="419100"/>
          </a:xfrm>
          <a:prstGeom prst="rect">
            <a:avLst/>
          </a:prstGeom>
          <a:solidFill>
            <a:srgbClr val="276FBF"/>
          </a:solidFill>
          <a:ln/>
        </p:spPr>
        <p:txBody>
          <a:bodyPr/>
          <a:p/>
        </p:txBody>
      </p:sp>
      <p:sp>
        <p:nvSpPr>
          <p:cNvPr id="444" name="" descr="{&quot;isTemplate&quot;:true,&quot;type&quot;:&quot;text&quot;}"/>
          <p:cNvSpPr txBox="1"/>
          <p:nvPr/>
        </p:nvSpPr>
        <p:spPr>
          <a:xfrm rot="0" flipH="0" flipV="0">
            <a:off x="838200" y="371475"/>
            <a:ext cx="48577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>5.2.1</a:t>
            </a: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　先给每句话标明性质</a:t>
            </a:r>
            <a:endParaRPr/>
          </a:p>
        </p:txBody>
      </p:sp>
      <p:sp>
        <p:nvSpPr>
          <p:cNvPr id="445" name="" descr="{&quot;isTemplate&quot;:true,&quot;type&quot;:&quot;text&quot;}"/>
          <p:cNvSpPr txBox="1"/>
          <p:nvPr/>
        </p:nvSpPr>
        <p:spPr>
          <a:xfrm rot="0" flipH="0" flipV="0">
            <a:off x="838200" y="571500"/>
            <a:ext cx="4857750" cy="3905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550" b="1">
                <a:solidFill>
                  <a:srgbClr val="20344B"/>
                </a:solidFill>
                <a:latin typeface="Microsoft YaHei"/>
                <a:ea typeface="Microsoft YaHei"/>
              </a:rPr>
              <a:t>一句话先标性质，再决定如何使用</a:t>
            </a:r>
            <a:endParaRPr/>
          </a:p>
        </p:txBody>
      </p:sp>
      <p:sp>
        <p:nvSpPr>
          <p:cNvPr id="446" name=""/>
          <p:cNvSpPr/>
          <p:nvPr/>
        </p:nvSpPr>
        <p:spPr>
          <a:xfrm rot="0" flipH="0" flipV="0">
            <a:off x="609600" y="1628775"/>
            <a:ext cx="10972800" cy="723900"/>
          </a:xfrm>
          <a:prstGeom prst="roundRect">
            <a:avLst>
              <a:gd name="adj" fmla="val 13158"/>
            </a:avLst>
          </a:prstGeom>
          <a:solidFill>
            <a:srgbClr val="F4F7FA"/>
          </a:solidFill>
          <a:ln/>
        </p:spPr>
        <p:txBody>
          <a:bodyPr/>
          <a:p/>
        </p:txBody>
      </p:sp>
      <p:sp>
        <p:nvSpPr>
          <p:cNvPr id="447" name="" descr="{&quot;isTemplate&quot;:true,&quot;type&quot;:&quot;text&quot;}"/>
          <p:cNvSpPr txBox="1"/>
          <p:nvPr/>
        </p:nvSpPr>
        <p:spPr>
          <a:xfrm rot="0" flipH="0" flipV="0">
            <a:off x="819150" y="1914525"/>
            <a:ext cx="14287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拿到一句话</a:t>
            </a:r>
            <a:endParaRPr/>
          </a:p>
        </p:txBody>
      </p:sp>
      <p:sp>
        <p:nvSpPr>
          <p:cNvPr id="448" name="" descr="{&quot;isTemplate&quot;:true,&quot;type&quot;:&quot;text&quot;}"/>
          <p:cNvSpPr txBox="1"/>
          <p:nvPr/>
        </p:nvSpPr>
        <p:spPr>
          <a:xfrm rot="0" flipH="0" flipV="0">
            <a:off x="2419350" y="1885950"/>
            <a:ext cx="6515100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350" b="1">
                <a:solidFill>
                  <a:srgbClr val="20344B"/>
                </a:solidFill>
                <a:latin typeface="Microsoft YaHei"/>
                <a:ea typeface="Microsoft YaHei"/>
              </a:rPr>
              <a:t>先问：它是约定的业务范围、作者的假设、还没核实的项，还是运行里真正发生的事？</a:t>
            </a:r>
            <a:endParaRPr/>
          </a:p>
        </p:txBody>
      </p:sp>
      <p:sp>
        <p:nvSpPr>
          <p:cNvPr id="449" name="" descr="{&quot;isTemplate&quot;:true,&quot;type&quot;:&quot;text&quot;}"/>
          <p:cNvSpPr txBox="1"/>
          <p:nvPr/>
        </p:nvSpPr>
        <p:spPr>
          <a:xfrm rot="0" flipH="0" flipV="0">
            <a:off x="6048375" y="2400300"/>
            <a:ext cx="104775" cy="2571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sz="1650">
                <a:solidFill>
                  <a:srgbClr val="276FBF"/>
                </a:solidFill>
                <a:latin typeface="Microsoft YaHei"/>
                <a:ea typeface="Microsoft YaHei"/>
              </a:rPr>
              <a:t>↓</a:t>
            </a:r>
            <a:endParaRPr/>
          </a:p>
        </p:txBody>
      </p:sp>
      <p:sp>
        <p:nvSpPr>
          <p:cNvPr id="450" name=""/>
          <p:cNvSpPr/>
          <p:nvPr/>
        </p:nvSpPr>
        <p:spPr>
          <a:xfrm rot="0" flipH="0" flipV="0">
            <a:off x="609600" y="2695575"/>
            <a:ext cx="2571750" cy="2381250"/>
          </a:xfrm>
          <a:prstGeom prst="roundRect">
            <a:avLst>
              <a:gd name="adj" fmla="val 4000"/>
            </a:avLst>
          </a:prstGeom>
          <a:solidFill>
            <a:srgbClr val="EDF4FC"/>
          </a:solidFill>
          <a:ln/>
        </p:spPr>
        <p:txBody>
          <a:bodyPr/>
          <a:p/>
        </p:txBody>
      </p:sp>
      <p:sp>
        <p:nvSpPr>
          <p:cNvPr id="451" name="" descr="{&quot;isTemplate&quot;:true,&quot;type&quot;:&quot;text&quot;}"/>
          <p:cNvSpPr txBox="1"/>
          <p:nvPr/>
        </p:nvSpPr>
        <p:spPr>
          <a:xfrm rot="0" flipH="0" flipV="0">
            <a:off x="762000" y="2867025"/>
            <a:ext cx="2266950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00" b="1">
                <a:solidFill>
                  <a:srgbClr val="276FBF"/>
                </a:solidFill>
                <a:latin typeface="Microsoft YaHei"/>
                <a:ea typeface="Microsoft YaHei"/>
              </a:rPr>
              <a:t>场景设定</a:t>
            </a:r>
            <a:endParaRPr/>
          </a:p>
        </p:txBody>
      </p:sp>
      <p:sp>
        <p:nvSpPr>
          <p:cNvPr id="452" name="" descr="{&quot;isTemplate&quot;:true,&quot;type&quot;:&quot;text&quot;}"/>
          <p:cNvSpPr txBox="1"/>
          <p:nvPr/>
        </p:nvSpPr>
        <p:spPr>
          <a:xfrm rot="0" flipH="0" flipV="0">
            <a:off x="762000" y="3171825"/>
            <a:ext cx="2266950" cy="257175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en-US" sz="1125">
                <a:solidFill>
                  <a:srgbClr val="20344B"/>
                </a:solidFill>
                <a:latin typeface="Microsoft YaHei"/>
                <a:ea typeface="Microsoft YaHei"/>
              </a:rPr>
              <a:t xml:space="preserve">“A </a:t>
            </a:r>
            <a:r>
              <a:rPr lang="zh-CN" sz="1125">
                <a:solidFill>
                  <a:srgbClr val="20344B"/>
                </a:solidFill>
                <a:latin typeface="Microsoft YaHei"/>
                <a:ea typeface="Microsoft YaHei"/>
              </a:rPr>
              <a:t>窗口负责使用咨询”</a:t>
            </a:r>
            <a:endParaRPr/>
          </a:p>
        </p:txBody>
      </p:sp>
      <p:sp>
        <p:nvSpPr>
          <p:cNvPr id="453" name="" descr="{&quot;isTemplate&quot;:true,&quot;type&quot;:&quot;text&quot;}"/>
          <p:cNvSpPr txBox="1"/>
          <p:nvPr/>
        </p:nvSpPr>
        <p:spPr>
          <a:xfrm rot="0" flipH="0" flipV="0">
            <a:off x="762000" y="3505200"/>
            <a:ext cx="2266950" cy="485775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50000"/>
              </a:lnSpc>
            </a:pP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本案约定的业务范围。作者定义，不是现实规章。</a:t>
            </a:r>
            <a:endParaRPr/>
          </a:p>
        </p:txBody>
      </p:sp>
      <p:sp>
        <p:nvSpPr>
          <p:cNvPr id="454" name=""/>
          <p:cNvSpPr/>
          <p:nvPr/>
        </p:nvSpPr>
        <p:spPr>
          <a:xfrm rot="0" flipH="0" flipV="0">
            <a:off x="3333750" y="2695575"/>
            <a:ext cx="2571750" cy="2381250"/>
          </a:xfrm>
          <a:prstGeom prst="roundRect">
            <a:avLst>
              <a:gd name="adj" fmla="val 4000"/>
            </a:avLst>
          </a:prstGeom>
          <a:solidFill>
            <a:srgbClr val="ECF7F2"/>
          </a:solidFill>
          <a:ln/>
        </p:spPr>
        <p:txBody>
          <a:bodyPr/>
          <a:p/>
        </p:txBody>
      </p:sp>
      <p:sp>
        <p:nvSpPr>
          <p:cNvPr id="455" name="" descr="{&quot;isTemplate&quot;:true,&quot;type&quot;:&quot;text&quot;}"/>
          <p:cNvSpPr txBox="1"/>
          <p:nvPr/>
        </p:nvSpPr>
        <p:spPr>
          <a:xfrm rot="0" flipH="0" flipV="0">
            <a:off x="3486150" y="2867025"/>
            <a:ext cx="2266950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00" b="1">
                <a:solidFill>
                  <a:srgbClr val="26816B"/>
                </a:solidFill>
                <a:latin typeface="Microsoft YaHei"/>
                <a:ea typeface="Microsoft YaHei"/>
              </a:rPr>
              <a:t>作者假设</a:t>
            </a:r>
            <a:endParaRPr/>
          </a:p>
        </p:txBody>
      </p:sp>
      <p:sp>
        <p:nvSpPr>
          <p:cNvPr id="456" name="" descr="{&quot;isTemplate&quot;:true,&quot;type&quot;:&quot;text&quot;}"/>
          <p:cNvSpPr txBox="1"/>
          <p:nvPr/>
        </p:nvSpPr>
        <p:spPr>
          <a:xfrm rot="0" flipH="0" flipV="0">
            <a:off x="3486150" y="3171825"/>
            <a:ext cx="2266950" cy="257175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1125">
                <a:solidFill>
                  <a:srgbClr val="20344B"/>
                </a:solidFill>
                <a:latin typeface="Microsoft YaHei"/>
                <a:ea typeface="Microsoft YaHei"/>
              </a:rPr>
              <a:t>“本案不研究排队”</a:t>
            </a:r>
            <a:endParaRPr/>
          </a:p>
        </p:txBody>
      </p:sp>
      <p:sp>
        <p:nvSpPr>
          <p:cNvPr id="457" name="" descr="{&quot;isTemplate&quot;:true,&quot;type&quot;:&quot;text&quot;}"/>
          <p:cNvSpPr txBox="1"/>
          <p:nvPr/>
        </p:nvSpPr>
        <p:spPr>
          <a:xfrm rot="0" flipH="0" flipV="0">
            <a:off x="3486150" y="3505200"/>
            <a:ext cx="2266950" cy="485775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50000"/>
              </a:lnSpc>
            </a:pP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限制结论的用途：结果不能回答排队问题。</a:t>
            </a:r>
            <a:endParaRPr/>
          </a:p>
        </p:txBody>
      </p:sp>
      <p:sp>
        <p:nvSpPr>
          <p:cNvPr id="458" name=""/>
          <p:cNvSpPr/>
          <p:nvPr/>
        </p:nvSpPr>
        <p:spPr>
          <a:xfrm rot="0" flipH="0" flipV="0">
            <a:off x="6057900" y="2695575"/>
            <a:ext cx="2571750" cy="2381250"/>
          </a:xfrm>
          <a:prstGeom prst="roundRect">
            <a:avLst>
              <a:gd name="adj" fmla="val 4000"/>
            </a:avLst>
          </a:prstGeom>
          <a:solidFill>
            <a:srgbClr val="FFF4E6"/>
          </a:solidFill>
          <a:ln/>
        </p:spPr>
        <p:txBody>
          <a:bodyPr/>
          <a:p/>
        </p:txBody>
      </p:sp>
      <p:sp>
        <p:nvSpPr>
          <p:cNvPr id="459" name="" descr="{&quot;isTemplate&quot;:true,&quot;type&quot;:&quot;text&quot;}"/>
          <p:cNvSpPr txBox="1"/>
          <p:nvPr/>
        </p:nvSpPr>
        <p:spPr>
          <a:xfrm rot="0" flipH="0" flipV="0">
            <a:off x="6210300" y="2867025"/>
            <a:ext cx="2266950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00" b="1">
                <a:solidFill>
                  <a:srgbClr val="CB6B28"/>
                </a:solidFill>
                <a:latin typeface="Microsoft YaHei"/>
                <a:ea typeface="Microsoft YaHei"/>
              </a:rPr>
              <a:t>待核实</a:t>
            </a:r>
            <a:endParaRPr/>
          </a:p>
        </p:txBody>
      </p:sp>
      <p:sp>
        <p:nvSpPr>
          <p:cNvPr id="460" name="" descr="{&quot;isTemplate&quot;:true,&quot;type&quot;:&quot;text&quot;}"/>
          <p:cNvSpPr txBox="1"/>
          <p:nvPr/>
        </p:nvSpPr>
        <p:spPr>
          <a:xfrm rot="0" flipH="0" flipV="0">
            <a:off x="6210300" y="3171825"/>
            <a:ext cx="2266950" cy="257175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1125">
                <a:solidFill>
                  <a:srgbClr val="20344B"/>
                </a:solidFill>
                <a:latin typeface="Microsoft YaHei"/>
                <a:ea typeface="Microsoft YaHei"/>
              </a:rPr>
              <a:t>“图片与路径尚未验收”</a:t>
            </a:r>
            <a:endParaRPr/>
          </a:p>
        </p:txBody>
      </p:sp>
      <p:sp>
        <p:nvSpPr>
          <p:cNvPr id="461" name="" descr="{&quot;isTemplate&quot;:true,&quot;type&quot;:&quot;text&quot;}"/>
          <p:cNvSpPr txBox="1"/>
          <p:nvPr/>
        </p:nvSpPr>
        <p:spPr>
          <a:xfrm rot="0" flipH="0" flipV="0">
            <a:off x="6210300" y="3505200"/>
            <a:ext cx="2266950" cy="485775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50000"/>
              </a:lnSpc>
            </a:pP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不能写成“系统中可达”，验收之前只算候选。</a:t>
            </a:r>
            <a:endParaRPr/>
          </a:p>
        </p:txBody>
      </p:sp>
      <p:sp>
        <p:nvSpPr>
          <p:cNvPr id="462" name=""/>
          <p:cNvSpPr/>
          <p:nvPr/>
        </p:nvSpPr>
        <p:spPr>
          <a:xfrm rot="0" flipH="0" flipV="0">
            <a:off x="8782050" y="2695575"/>
            <a:ext cx="2571750" cy="2381250"/>
          </a:xfrm>
          <a:prstGeom prst="roundRect">
            <a:avLst>
              <a:gd name="adj" fmla="val 4000"/>
            </a:avLst>
          </a:prstGeom>
          <a:solidFill>
            <a:srgbClr val="F7F3E8"/>
          </a:solidFill>
          <a:ln/>
        </p:spPr>
        <p:txBody>
          <a:bodyPr/>
          <a:p/>
        </p:txBody>
      </p:sp>
      <p:sp>
        <p:nvSpPr>
          <p:cNvPr id="463" name="" descr="{&quot;isTemplate&quot;:true,&quot;type&quot;:&quot;text&quot;}"/>
          <p:cNvSpPr txBox="1"/>
          <p:nvPr/>
        </p:nvSpPr>
        <p:spPr>
          <a:xfrm rot="0" flipH="0" flipV="0">
            <a:off x="8934450" y="2867025"/>
            <a:ext cx="2266950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00" b="1">
                <a:solidFill>
                  <a:srgbClr val="546779"/>
                </a:solidFill>
                <a:latin typeface="Microsoft YaHei"/>
                <a:ea typeface="Microsoft YaHei"/>
              </a:rPr>
              <a:t>实际观察</a:t>
            </a:r>
            <a:endParaRPr/>
          </a:p>
        </p:txBody>
      </p:sp>
      <p:sp>
        <p:nvSpPr>
          <p:cNvPr id="464" name="" descr="{&quot;isTemplate&quot;:true,&quot;type&quot;:&quot;text&quot;}"/>
          <p:cNvSpPr txBox="1"/>
          <p:nvPr/>
        </p:nvSpPr>
        <p:spPr>
          <a:xfrm rot="0" flipH="0" flipV="0">
            <a:off x="8934450" y="3171825"/>
            <a:ext cx="2266950" cy="257175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1125">
                <a:solidFill>
                  <a:srgbClr val="20344B"/>
                </a:solidFill>
                <a:latin typeface="Microsoft YaHei"/>
                <a:ea typeface="Microsoft YaHei"/>
              </a:rPr>
              <a:t>“孟川已在</a:t>
            </a:r>
            <a:r>
              <a:rPr lang="en-US" sz="1125">
                <a:solidFill>
                  <a:srgbClr val="20344B"/>
                </a:solidFill>
                <a:latin typeface="Microsoft YaHei"/>
                <a:ea typeface="Microsoft YaHei"/>
              </a:rPr>
              <a:t xml:space="preserve"> B </a:t>
            </a:r>
            <a:r>
              <a:rPr lang="zh-CN" sz="1125">
                <a:solidFill>
                  <a:srgbClr val="20344B"/>
                </a:solidFill>
                <a:latin typeface="Microsoft YaHei"/>
                <a:ea typeface="Microsoft YaHei"/>
              </a:rPr>
              <a:t>窗口得到回复”</a:t>
            </a:r>
            <a:endParaRPr/>
          </a:p>
        </p:txBody>
      </p:sp>
      <p:sp>
        <p:nvSpPr>
          <p:cNvPr id="465" name="" descr="{&quot;isTemplate&quot;:true,&quot;type&quot;:&quot;text&quot;}"/>
          <p:cNvSpPr txBox="1"/>
          <p:nvPr/>
        </p:nvSpPr>
        <p:spPr>
          <a:xfrm rot="0" flipH="0" flipV="0">
            <a:off x="8934450" y="3505200"/>
            <a:ext cx="2266950" cy="485775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50000"/>
              </a:lnSpc>
            </a:pP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需要真实</a:t>
            </a: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 xml:space="preserve"> Run </a:t>
            </a: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与记录。当前服务大厅尚无，保持空白。</a:t>
            </a:r>
            <a:endParaRPr/>
          </a:p>
        </p:txBody>
      </p:sp>
      <p:sp>
        <p:nvSpPr>
          <p:cNvPr id="466" name=""/>
          <p:cNvSpPr/>
          <p:nvPr/>
        </p:nvSpPr>
        <p:spPr>
          <a:xfrm rot="0" flipH="0" flipV="0">
            <a:off x="609600" y="5229225"/>
            <a:ext cx="10972800" cy="571500"/>
          </a:xfrm>
          <a:prstGeom prst="roundRect">
            <a:avLst>
              <a:gd name="adj" fmla="val 16667"/>
            </a:avLst>
          </a:prstGeom>
          <a:solidFill>
            <a:srgbClr val="FFF4E6"/>
          </a:solidFill>
          <a:ln/>
        </p:spPr>
        <p:txBody>
          <a:bodyPr/>
          <a:p/>
        </p:txBody>
      </p:sp>
      <p:sp>
        <p:nvSpPr>
          <p:cNvPr id="467" name="" descr="{&quot;isTemplate&quot;:true,&quot;type&quot;:&quot;text&quot;}"/>
          <p:cNvSpPr txBox="1"/>
          <p:nvPr/>
        </p:nvSpPr>
        <p:spPr>
          <a:xfrm rot="0" flipH="0" flipV="0">
            <a:off x="819150" y="5429250"/>
            <a:ext cx="5362575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>
                <a:solidFill>
                  <a:srgbClr val="CB6B28"/>
                </a:solidFill>
                <a:latin typeface="Microsoft YaHei"/>
                <a:ea typeface="Microsoft YaHei"/>
              </a:rPr>
              <a:t>前三类都不能替代真实</a:t>
            </a:r>
            <a:r>
              <a:rPr lang="en-US" sz="1125">
                <a:solidFill>
                  <a:srgbClr val="CB6B28"/>
                </a:solidFill>
                <a:latin typeface="Microsoft YaHei"/>
                <a:ea typeface="Microsoft YaHei"/>
              </a:rPr>
              <a:t xml:space="preserve"> Run </a:t>
            </a:r>
            <a:r>
              <a:rPr lang="zh-CN" sz="1125">
                <a:solidFill>
                  <a:srgbClr val="CB6B28"/>
                </a:solidFill>
                <a:latin typeface="Microsoft YaHei"/>
                <a:ea typeface="Microsoft YaHei"/>
              </a:rPr>
              <a:t>中的行为记录；实际观察栏等运行事实，不靠推断填满。</a:t>
            </a:r>
            <a:endParaRPr/>
          </a:p>
        </p:txBody>
      </p:sp>
      <p:sp>
        <p:nvSpPr>
          <p:cNvPr id="468" name="" descr="{&quot;isTemplate&quot;:true,&quot;type&quot;:&quot;text&quot;}"/>
          <p:cNvSpPr txBox="1"/>
          <p:nvPr/>
        </p:nvSpPr>
        <p:spPr>
          <a:xfrm rot="0" flipH="0" flipV="0">
            <a:off x="609600" y="6400800"/>
            <a:ext cx="18288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 xml:space="preserve">5.2 </a:t>
            </a: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材料来源、假设与可用范围</a:t>
            </a:r>
            <a:endParaRPr/>
          </a:p>
        </p:txBody>
      </p:sp>
      <p:sp>
        <p:nvSpPr>
          <p:cNvPr id="469" name="" descr="{&quot;isTemplate&quot;:true,&quot;type&quot;:&quot;text&quot;}"/>
          <p:cNvSpPr txBox="1"/>
          <p:nvPr/>
        </p:nvSpPr>
        <p:spPr>
          <a:xfrm rot="0" flipH="0" flipV="0">
            <a:off x="11125200" y="6400800"/>
            <a:ext cx="4572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>04 / 23</a:t>
            </a:r>
            <a:endParaRPr/>
          </a:p>
        </p:txBody>
      </p:sp>
    </p:spTree>
  </p:cSld>
</p:sld>
</file>

<file path=ppt/slides/slide5.xml><?xml version="1.0" encoding="utf-8"?>
<p:sld xmlns:p="http://schemas.openxmlformats.org/presentationml/2006/main" xmlns:a="http://schemas.openxmlformats.org/drawingml/2006/main">
  <p:cSld>
    <p:spTree>
      <p:nvGrpSpPr>
        <p:cNvPr id="470" name="" descr="&lt;Slide notes={`这四句话来自四个不同的地方，所以它们不能合成一列。&#10;&#10;A 窗口提供场地使用咨询，这是本案约定的业务范围，属于场景设定。孟川发现东侧一盏灯不亮，这是人物初始材料里的虚构经历，属于人物材料。地图采用二十乘十六格，这是作者的空间方案，属于作者假设。&#10;&#10;而孟川已经在 B 窗口得到回复，这句话不一样：它必须等运行事实支持。服务大厅现在还没有新 Run，它就只能是待运行支持。&#10;&#10;四句话都可以写进项目资料，来源也都能说明白，但它们不能合并成一列叫已验证事实。这样合并之后，来源没了，适用范围没了，出了问题也回查不了。&#10;&#10;另外提醒一句：每条材料还要注明适用范围，是只用于这次虚构咨询，还是只说明历史案例的某一次 Run。`} style={{ width: 1280, height: 720, background: '#FFFFFF', flexDirection: 'column', padding: '20px 64px' }}&gt;&#10;&#10;    &lt;Box style={{ height: 100, flexDirection: 'row', alignItems: 'center', gap: 20 }}&gt;&#10;        &lt;Box style={{ width: 4, height: 44, background: '#276FBF' }} /&gt;&#10;        &lt;Box style={{ flexDirection: 'column', gap: 4 }}&gt;&#10;            &lt;Text style={{ fontSize: 14, color: '#546779' }}&gt;5.2.1　先给每句话标明性质&lt;/Text&gt;&#10;            &lt;Text style={{ fontSize: 34, fontWeight: 'bold', color: '#20344B' }}&gt;同一批材料，四个来源&lt;/Text&gt;&#10;        &lt;/Box&gt;&#10;    &lt;/Box&gt;&#10;&#10;    &lt;Box style={{ height: 540, flexDirection: 'row', gap: 24, alignItems: 'center' }}&gt;&#10;&#10;        &lt;Box style={{ width: 700, flexDirection: 'column', gap: 12 }}&gt;&#10;&#10;            &lt;Box style={{ width: 700, height: 104, background: '#EDF4FC', borderRadius: 10, padding: '0 18px', flexDirection: 'row', alignItems: 'center', gap: 14 }}&gt;&#10;                &lt;Box style={{ width: 4, height: 56, background: '#276FBF' }} /&gt;&#10;                &lt;Box style={{ flex: 1, flexDirection: 'column', gap: 4 }}&gt;&#10;                    &lt;Text style={{ fontSize: 16, color: '#20344B', lineHeight: 1.5 }}&gt;“A 窗口提供场地使用咨询”&lt;/Text&gt;&#10;                    &lt;Text style={{ fontSize: 14, color: '#546779', lineHeight: 1.5 }}&gt;本案约定的业务范围&lt;/Text&gt;&#10;                &lt;/Box&gt;&#10;                &lt;Box style={{ width: 108, height: 40, background: '#FFFFFF', borderRadius: 8, justifyContent: 'center', alignItems: 'center' }}&gt;&#10;                    &lt;Text style={{ fontSize: 14, fontWeight: 'bold', color: '#276FBF' }}&gt;场景设定&lt;/Text&gt;&#10;                &lt;/Box&gt;&#10;            &lt;/Box&gt;&#10;&#10;            &lt;Box style={{ width: 700, height: 104, background: '#EDF4FC', borderRadius: 10, padding: '0 18px', flexDirection: 'row', alignItems: 'center', gap: 14 }}&gt;&#10;                &lt;Box style={{ width: 4, height: 56, background: '#276FBF' }} /&gt;&#10;                &lt;Box style={{ flex: 1, flexDirection: 'column', gap: 4 }}&gt;&#10;                    &lt;Text style={{ fontSize: 16, color: '#20344B', lineHeight: 1.5 }}&gt;“孟川发现东侧一盏灯不亮”&lt;/Text&gt;&#10;                    &lt;Text style={{ fontSize: 14, color: '#546779', lineHeight: 1.5 }}&gt;人物初始材料中的虚构经历&lt;/Text&gt;&#10;                &lt;/Box&gt;&#10;                &lt;Box style={{ width: 108, height: 40, background: '#FFFFFF', borderRadius: 8, justifyContent: 'center', alignItems: 'center' }}&gt;&#10;                    &lt;Text style={{ fontSize: 14, fontWeight: 'bold', color: '#276FBF' }}&gt;人物材料&lt;/Text&gt;&#10;                &lt;/Box&gt;&#10;            &lt;/Box&gt;&#10;&#10;            &lt;Box style={{ width: 700, height: 104, background: '#ECF7F2', borderRadius: 10, padding: '0 18px', flexDirection: 'row', alignItems: 'center', gap: 14 }}&gt;&#10;                &lt;Box style={{ width: 4, height: 56, background: '#26816B' }} /&gt;&#10;                &lt;Box style={{ flex: 1, flexDirection: 'column', gap: 4 }}&gt;&#10;                    &lt;Text style={{ fontSize: 16, color: '#20344B', lineHeight: 1.5 }}&gt;“地图采用 20×16 格”&lt;/Text&gt;&#10;                    &lt;Text style={{ fontSize: 14, color: '#546779', lineHeight: 1.5 }}&gt;作者的空间方案&lt;/Text&gt;&#10;                &lt;/Box&gt;&#10;                &lt;Box style={{ width: 108, height: 40, background: '#FFFFFF', borderRadius: 8, justifyContent: 'center', alignItems: 'center' }}&gt;&#10;                    &lt;Text style={{ fontSize: 14, fontWeight: 'bold', color: '#26816B' }}&gt;作者假设&lt;/Text&gt;&#10;                &lt;/Box&gt;&#10;            &lt;/Box&gt;&#10;&#10;            &lt;Box style={{ width: 700, height: 104, background: '#FFF4E6', borderRadius: 10, padding: '0 18px', flexDirection: 'row', alignItems: 'center', gap: 14 }}&gt;&#10;                &lt;Box style={{ width: 4, height: 56, background: '#CB6B28' }} /&gt;&#10;                &lt;Box style={{ flex: 1, flexDirection: 'column', gap: 4 }}&gt;&#10;                    &lt;Text style={{ fontSize: 16, color: '#20344B', lineHeight: 1.5 }}&gt;“孟川已在 B 窗口得到回复”&lt;/Text&gt;&#10;                    &lt;Text style={{ fontSize: 14, color: '#546779', lineHeight: 1.5 }}&gt;必须等待运行事实支持&lt;/Text&gt;&#10;                &lt;/Box&gt;&#10;                &lt;Box style={{ width: 108, height: 40, background: '#FFFFFF', borderRadius: 8, justifyContent: 'center', alignItems: 'center' }}&gt;&#10;                    &lt;Text style={{ fontSize: 14, fontWeight: 'bold', color: '#CB6B28' }}&gt;待运行支持&lt;/Text&gt;&#10;                &lt;/Box&gt;&#10;            &lt;/Box&gt;&#10;&#10;        &lt;/Box&gt;&#10;&#10;        &lt;Box style={{ width: 428, flexDirection: 'column', gap: 14, justifyContent: 'center' }}&gt;&#10;&#10;            &lt;Box style={{ width: 428, height: 140, background: '#F4F7FA', borderRadius: 12, padding: 20, flexDirection: 'column', gap: 8 }}&gt;&#10;                &lt;Text style={{ fontSize: 15, color: '#276FBF' }}&gt;共同的底线&lt;/Text&gt;&#10;                &lt;Text style={{ fontSize: 16, color: '#20344B', lineHeight: 1.7 }}&gt;这些话都可以进入项目资料，但不能合并成一列“已验证事实”。&lt;/Text&gt;&#10;            &lt;/Box&gt;&#10;&#10;            &lt;Box style={{ width: 428, height: 148, background: '#EDF4FC', borderRadius: 12, padding: 20, flexDirection: 'column', gap: 8 }}&gt;&#10;                &lt;Text style={{ fontSize: 15, color: '#276FBF' }}&gt;四个抽屉&lt;/Text&gt;&#10;                &lt;Text style={{ fontSize: 15, color: '#20344B', lineHeight: 1.7 }}&gt;采用的场景设定、作者假设、待核实事项、实际观察，分开放。&lt;/Text&gt;&#10;            &lt;/Box&gt;&#10;&#10;            &lt;Box style={{ width: 428, height: 124, background: '#FFF4E6', borderRadius: 12, padding: 20, flexDirection: 'column', gap: 8 }}&gt;&#10;                &lt;Text style={{ fontSize: 15, color: '#CB6B28' }}&gt;还要注明适用范围&lt;/Text&gt;&#10;                &lt;Text style={{ fontSize: 15, color: '#20344B', lineHeight: 1.6 }}&gt;只用于这次虚构咨询，还是只说明历史案例的某一次 Run。&lt;/Text&gt;&#10;            &lt;/Box&gt;&#10;&#10;        &lt;/Box&gt;&#10;&#10;    &lt;/Box&gt;&#10;&#10;    &lt;Box style={{ height: 40, flexDirection: 'row', justifyContent: 'space-between', alignItems: 'center' }}&gt;&#10;        &lt;Text style={{ fontSize: 14, color: '#546779' }}&gt;5.2 材料来源、假设与可用范围&lt;/Text&gt;&#10;        &lt;Text style={{ fontSize: 14, color: '#546779' }}&gt;05 / 23&lt;/Text&gt;&#10;    &lt;/Box&gt;&#10;&#10;&lt;/Slide&gt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1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472" name=""/>
          <p:cNvSpPr/>
          <p:nvPr/>
        </p:nvSpPr>
        <p:spPr>
          <a:xfrm rot="0" flipH="0" flipV="0">
            <a:off x="609600" y="457200"/>
            <a:ext cx="38100" cy="419100"/>
          </a:xfrm>
          <a:prstGeom prst="rect">
            <a:avLst/>
          </a:prstGeom>
          <a:solidFill>
            <a:srgbClr val="276FBF"/>
          </a:solidFill>
          <a:ln/>
        </p:spPr>
        <p:txBody>
          <a:bodyPr/>
          <a:p/>
        </p:txBody>
      </p:sp>
      <p:sp>
        <p:nvSpPr>
          <p:cNvPr id="473" name="" descr="{&quot;isTemplate&quot;:true,&quot;type&quot;:&quot;text&quot;}"/>
          <p:cNvSpPr txBox="1"/>
          <p:nvPr/>
        </p:nvSpPr>
        <p:spPr>
          <a:xfrm rot="0" flipH="0" flipV="0">
            <a:off x="838200" y="371475"/>
            <a:ext cx="32385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>5.2.1</a:t>
            </a: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　先给每句话标明性质</a:t>
            </a:r>
            <a:endParaRPr/>
          </a:p>
        </p:txBody>
      </p:sp>
      <p:sp>
        <p:nvSpPr>
          <p:cNvPr id="474" name="" descr="{&quot;isTemplate&quot;:true,&quot;type&quot;:&quot;text&quot;}"/>
          <p:cNvSpPr txBox="1"/>
          <p:nvPr/>
        </p:nvSpPr>
        <p:spPr>
          <a:xfrm rot="0" flipH="0" flipV="0">
            <a:off x="838200" y="571500"/>
            <a:ext cx="3238500" cy="3905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550" b="1">
                <a:solidFill>
                  <a:srgbClr val="20344B"/>
                </a:solidFill>
                <a:latin typeface="Microsoft YaHei"/>
                <a:ea typeface="Microsoft YaHei"/>
              </a:rPr>
              <a:t>同一批材料，四个来源</a:t>
            </a:r>
            <a:endParaRPr/>
          </a:p>
        </p:txBody>
      </p:sp>
      <p:sp>
        <p:nvSpPr>
          <p:cNvPr id="475" name=""/>
          <p:cNvSpPr/>
          <p:nvPr/>
        </p:nvSpPr>
        <p:spPr>
          <a:xfrm rot="0" flipH="0" flipV="0">
            <a:off x="609600" y="1562100"/>
            <a:ext cx="6667500" cy="990600"/>
          </a:xfrm>
          <a:prstGeom prst="roundRect">
            <a:avLst>
              <a:gd name="adj" fmla="val 9615"/>
            </a:avLst>
          </a:prstGeom>
          <a:solidFill>
            <a:srgbClr val="EDF4FC"/>
          </a:solidFill>
          <a:ln/>
        </p:spPr>
        <p:txBody>
          <a:bodyPr/>
          <a:p/>
        </p:txBody>
      </p:sp>
      <p:sp>
        <p:nvSpPr>
          <p:cNvPr id="476" name=""/>
          <p:cNvSpPr/>
          <p:nvPr/>
        </p:nvSpPr>
        <p:spPr>
          <a:xfrm rot="0" flipH="0" flipV="0">
            <a:off x="781050" y="1790700"/>
            <a:ext cx="38100" cy="533400"/>
          </a:xfrm>
          <a:prstGeom prst="rect">
            <a:avLst/>
          </a:prstGeom>
          <a:solidFill>
            <a:srgbClr val="276FBF"/>
          </a:solidFill>
          <a:ln/>
        </p:spPr>
        <p:txBody>
          <a:bodyPr/>
          <a:p/>
        </p:txBody>
      </p:sp>
      <p:sp>
        <p:nvSpPr>
          <p:cNvPr id="477" name="" descr="{&quot;isTemplate&quot;:true,&quot;type&quot;:&quot;text&quot;}"/>
          <p:cNvSpPr txBox="1"/>
          <p:nvPr/>
        </p:nvSpPr>
        <p:spPr>
          <a:xfrm rot="0" flipH="0" flipV="0">
            <a:off x="952500" y="1781175"/>
            <a:ext cx="4991100" cy="276225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en-US" sz="1200">
                <a:solidFill>
                  <a:srgbClr val="20344B"/>
                </a:solidFill>
                <a:latin typeface="Microsoft YaHei"/>
                <a:ea typeface="Microsoft YaHei"/>
              </a:rPr>
              <a:t xml:space="preserve">“A </a:t>
            </a:r>
            <a:r>
              <a:rPr lang="zh-CN" sz="1200">
                <a:solidFill>
                  <a:srgbClr val="20344B"/>
                </a:solidFill>
                <a:latin typeface="Microsoft YaHei"/>
                <a:ea typeface="Microsoft YaHei"/>
              </a:rPr>
              <a:t>窗口提供场地使用咨询”</a:t>
            </a:r>
            <a:endParaRPr/>
          </a:p>
        </p:txBody>
      </p:sp>
      <p:sp>
        <p:nvSpPr>
          <p:cNvPr id="478" name="" descr="{&quot;isTemplate&quot;:true,&quot;type&quot;:&quot;text&quot;}"/>
          <p:cNvSpPr txBox="1"/>
          <p:nvPr/>
        </p:nvSpPr>
        <p:spPr>
          <a:xfrm rot="0" flipH="0" flipV="0">
            <a:off x="952500" y="2095500"/>
            <a:ext cx="4991100" cy="247650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本案约定的业务范围</a:t>
            </a:r>
            <a:endParaRPr/>
          </a:p>
        </p:txBody>
      </p:sp>
      <p:sp>
        <p:nvSpPr>
          <p:cNvPr id="479" name=""/>
          <p:cNvSpPr/>
          <p:nvPr/>
        </p:nvSpPr>
        <p:spPr>
          <a:xfrm rot="0" flipH="0" flipV="0">
            <a:off x="6076950" y="1866900"/>
            <a:ext cx="1028700" cy="38100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480" name="" descr="{&quot;isTemplate&quot;:true,&quot;type&quot;:&quot;text&quot;}"/>
          <p:cNvSpPr txBox="1"/>
          <p:nvPr/>
        </p:nvSpPr>
        <p:spPr>
          <a:xfrm rot="0" flipH="0" flipV="0">
            <a:off x="6324600" y="1981200"/>
            <a:ext cx="5334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 b="1">
                <a:solidFill>
                  <a:srgbClr val="276FBF"/>
                </a:solidFill>
                <a:latin typeface="Microsoft YaHei"/>
                <a:ea typeface="Microsoft YaHei"/>
              </a:rPr>
              <a:t>场景设定</a:t>
            </a:r>
            <a:endParaRPr/>
          </a:p>
        </p:txBody>
      </p:sp>
      <p:sp>
        <p:nvSpPr>
          <p:cNvPr id="481" name=""/>
          <p:cNvSpPr/>
          <p:nvPr/>
        </p:nvSpPr>
        <p:spPr>
          <a:xfrm rot="0" flipH="0" flipV="0">
            <a:off x="609600" y="2667000"/>
            <a:ext cx="6667500" cy="990600"/>
          </a:xfrm>
          <a:prstGeom prst="roundRect">
            <a:avLst>
              <a:gd name="adj" fmla="val 9615"/>
            </a:avLst>
          </a:prstGeom>
          <a:solidFill>
            <a:srgbClr val="EDF4FC"/>
          </a:solidFill>
          <a:ln/>
        </p:spPr>
        <p:txBody>
          <a:bodyPr/>
          <a:p/>
        </p:txBody>
      </p:sp>
      <p:sp>
        <p:nvSpPr>
          <p:cNvPr id="482" name=""/>
          <p:cNvSpPr/>
          <p:nvPr/>
        </p:nvSpPr>
        <p:spPr>
          <a:xfrm rot="0" flipH="0" flipV="0">
            <a:off x="781050" y="2895600"/>
            <a:ext cx="38100" cy="533400"/>
          </a:xfrm>
          <a:prstGeom prst="rect">
            <a:avLst/>
          </a:prstGeom>
          <a:solidFill>
            <a:srgbClr val="276FBF"/>
          </a:solidFill>
          <a:ln/>
        </p:spPr>
        <p:txBody>
          <a:bodyPr/>
          <a:p/>
        </p:txBody>
      </p:sp>
      <p:sp>
        <p:nvSpPr>
          <p:cNvPr id="483" name="" descr="{&quot;isTemplate&quot;:true,&quot;type&quot;:&quot;text&quot;}"/>
          <p:cNvSpPr txBox="1"/>
          <p:nvPr/>
        </p:nvSpPr>
        <p:spPr>
          <a:xfrm rot="0" flipH="0" flipV="0">
            <a:off x="952500" y="2886075"/>
            <a:ext cx="4991100" cy="276225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1200">
                <a:solidFill>
                  <a:srgbClr val="20344B"/>
                </a:solidFill>
                <a:latin typeface="Microsoft YaHei"/>
                <a:ea typeface="Microsoft YaHei"/>
              </a:rPr>
              <a:t>“孟川发现东侧一盏灯不亮”</a:t>
            </a:r>
            <a:endParaRPr/>
          </a:p>
        </p:txBody>
      </p:sp>
      <p:sp>
        <p:nvSpPr>
          <p:cNvPr id="484" name="" descr="{&quot;isTemplate&quot;:true,&quot;type&quot;:&quot;text&quot;}"/>
          <p:cNvSpPr txBox="1"/>
          <p:nvPr/>
        </p:nvSpPr>
        <p:spPr>
          <a:xfrm rot="0" flipH="0" flipV="0">
            <a:off x="952500" y="3200400"/>
            <a:ext cx="4991100" cy="247650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人物初始材料中的虚构经历</a:t>
            </a:r>
            <a:endParaRPr/>
          </a:p>
        </p:txBody>
      </p:sp>
      <p:sp>
        <p:nvSpPr>
          <p:cNvPr id="485" name=""/>
          <p:cNvSpPr/>
          <p:nvPr/>
        </p:nvSpPr>
        <p:spPr>
          <a:xfrm rot="0" flipH="0" flipV="0">
            <a:off x="6076950" y="2971800"/>
            <a:ext cx="1028700" cy="38100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486" name="" descr="{&quot;isTemplate&quot;:true,&quot;type&quot;:&quot;text&quot;}"/>
          <p:cNvSpPr txBox="1"/>
          <p:nvPr/>
        </p:nvSpPr>
        <p:spPr>
          <a:xfrm rot="0" flipH="0" flipV="0">
            <a:off x="6324600" y="3086100"/>
            <a:ext cx="5334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 b="1">
                <a:solidFill>
                  <a:srgbClr val="276FBF"/>
                </a:solidFill>
                <a:latin typeface="Microsoft YaHei"/>
                <a:ea typeface="Microsoft YaHei"/>
              </a:rPr>
              <a:t>人物材料</a:t>
            </a:r>
            <a:endParaRPr/>
          </a:p>
        </p:txBody>
      </p:sp>
      <p:sp>
        <p:nvSpPr>
          <p:cNvPr id="487" name=""/>
          <p:cNvSpPr/>
          <p:nvPr/>
        </p:nvSpPr>
        <p:spPr>
          <a:xfrm rot="0" flipH="0" flipV="0">
            <a:off x="609600" y="3771900"/>
            <a:ext cx="6667500" cy="990600"/>
          </a:xfrm>
          <a:prstGeom prst="roundRect">
            <a:avLst>
              <a:gd name="adj" fmla="val 9615"/>
            </a:avLst>
          </a:prstGeom>
          <a:solidFill>
            <a:srgbClr val="ECF7F2"/>
          </a:solidFill>
          <a:ln/>
        </p:spPr>
        <p:txBody>
          <a:bodyPr/>
          <a:p/>
        </p:txBody>
      </p:sp>
      <p:sp>
        <p:nvSpPr>
          <p:cNvPr id="488" name=""/>
          <p:cNvSpPr/>
          <p:nvPr/>
        </p:nvSpPr>
        <p:spPr>
          <a:xfrm rot="0" flipH="0" flipV="0">
            <a:off x="781050" y="4000500"/>
            <a:ext cx="38100" cy="533400"/>
          </a:xfrm>
          <a:prstGeom prst="rect">
            <a:avLst/>
          </a:prstGeom>
          <a:solidFill>
            <a:srgbClr val="26816B"/>
          </a:solidFill>
          <a:ln/>
        </p:spPr>
        <p:txBody>
          <a:bodyPr/>
          <a:p/>
        </p:txBody>
      </p:sp>
      <p:sp>
        <p:nvSpPr>
          <p:cNvPr id="489" name="" descr="{&quot;isTemplate&quot;:true,&quot;type&quot;:&quot;text&quot;}"/>
          <p:cNvSpPr txBox="1"/>
          <p:nvPr/>
        </p:nvSpPr>
        <p:spPr>
          <a:xfrm rot="0" flipH="0" flipV="0">
            <a:off x="952500" y="3990975"/>
            <a:ext cx="4991100" cy="276225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1200">
                <a:solidFill>
                  <a:srgbClr val="20344B"/>
                </a:solidFill>
                <a:latin typeface="Microsoft YaHei"/>
                <a:ea typeface="Microsoft YaHei"/>
              </a:rPr>
              <a:t>“地图采用</a:t>
            </a:r>
            <a:r>
              <a:rPr lang="en-US" sz="1200">
                <a:solidFill>
                  <a:srgbClr val="20344B"/>
                </a:solidFill>
                <a:latin typeface="Microsoft YaHei"/>
                <a:ea typeface="Microsoft YaHei"/>
              </a:rPr>
              <a:t xml:space="preserve"> 20×16 </a:t>
            </a:r>
            <a:r>
              <a:rPr lang="zh-CN" sz="1200">
                <a:solidFill>
                  <a:srgbClr val="20344B"/>
                </a:solidFill>
                <a:latin typeface="Microsoft YaHei"/>
                <a:ea typeface="Microsoft YaHei"/>
              </a:rPr>
              <a:t>格”</a:t>
            </a:r>
            <a:endParaRPr/>
          </a:p>
        </p:txBody>
      </p:sp>
      <p:sp>
        <p:nvSpPr>
          <p:cNvPr id="490" name="" descr="{&quot;isTemplate&quot;:true,&quot;type&quot;:&quot;text&quot;}"/>
          <p:cNvSpPr txBox="1"/>
          <p:nvPr/>
        </p:nvSpPr>
        <p:spPr>
          <a:xfrm rot="0" flipH="0" flipV="0">
            <a:off x="952500" y="4305300"/>
            <a:ext cx="4991100" cy="247650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作者的空间方案</a:t>
            </a:r>
            <a:endParaRPr/>
          </a:p>
        </p:txBody>
      </p:sp>
      <p:sp>
        <p:nvSpPr>
          <p:cNvPr id="491" name=""/>
          <p:cNvSpPr/>
          <p:nvPr/>
        </p:nvSpPr>
        <p:spPr>
          <a:xfrm rot="0" flipH="0" flipV="0">
            <a:off x="6076950" y="4076700"/>
            <a:ext cx="1028700" cy="38100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492" name="" descr="{&quot;isTemplate&quot;:true,&quot;type&quot;:&quot;text&quot;}"/>
          <p:cNvSpPr txBox="1"/>
          <p:nvPr/>
        </p:nvSpPr>
        <p:spPr>
          <a:xfrm rot="0" flipH="0" flipV="0">
            <a:off x="6324600" y="4191000"/>
            <a:ext cx="5334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 b="1">
                <a:solidFill>
                  <a:srgbClr val="26816B"/>
                </a:solidFill>
                <a:latin typeface="Microsoft YaHei"/>
                <a:ea typeface="Microsoft YaHei"/>
              </a:rPr>
              <a:t>作者假设</a:t>
            </a:r>
            <a:endParaRPr/>
          </a:p>
        </p:txBody>
      </p:sp>
      <p:sp>
        <p:nvSpPr>
          <p:cNvPr id="493" name=""/>
          <p:cNvSpPr/>
          <p:nvPr/>
        </p:nvSpPr>
        <p:spPr>
          <a:xfrm rot="0" flipH="0" flipV="0">
            <a:off x="609600" y="4876800"/>
            <a:ext cx="6667500" cy="990600"/>
          </a:xfrm>
          <a:prstGeom prst="roundRect">
            <a:avLst>
              <a:gd name="adj" fmla="val 9615"/>
            </a:avLst>
          </a:prstGeom>
          <a:solidFill>
            <a:srgbClr val="FFF4E6"/>
          </a:solidFill>
          <a:ln/>
        </p:spPr>
        <p:txBody>
          <a:bodyPr/>
          <a:p/>
        </p:txBody>
      </p:sp>
      <p:sp>
        <p:nvSpPr>
          <p:cNvPr id="494" name=""/>
          <p:cNvSpPr/>
          <p:nvPr/>
        </p:nvSpPr>
        <p:spPr>
          <a:xfrm rot="0" flipH="0" flipV="0">
            <a:off x="781050" y="5105400"/>
            <a:ext cx="38100" cy="533400"/>
          </a:xfrm>
          <a:prstGeom prst="rect">
            <a:avLst/>
          </a:prstGeom>
          <a:solidFill>
            <a:srgbClr val="CB6B28"/>
          </a:solidFill>
          <a:ln/>
        </p:spPr>
        <p:txBody>
          <a:bodyPr/>
          <a:p/>
        </p:txBody>
      </p:sp>
      <p:sp>
        <p:nvSpPr>
          <p:cNvPr id="495" name="" descr="{&quot;isTemplate&quot;:true,&quot;type&quot;:&quot;text&quot;}"/>
          <p:cNvSpPr txBox="1"/>
          <p:nvPr/>
        </p:nvSpPr>
        <p:spPr>
          <a:xfrm rot="0" flipH="0" flipV="0">
            <a:off x="952500" y="5095875"/>
            <a:ext cx="4991100" cy="276225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1200">
                <a:solidFill>
                  <a:srgbClr val="20344B"/>
                </a:solidFill>
                <a:latin typeface="Microsoft YaHei"/>
                <a:ea typeface="Microsoft YaHei"/>
              </a:rPr>
              <a:t>“孟川已在</a:t>
            </a:r>
            <a:r>
              <a:rPr lang="en-US" sz="1200">
                <a:solidFill>
                  <a:srgbClr val="20344B"/>
                </a:solidFill>
                <a:latin typeface="Microsoft YaHei"/>
                <a:ea typeface="Microsoft YaHei"/>
              </a:rPr>
              <a:t xml:space="preserve"> B </a:t>
            </a:r>
            <a:r>
              <a:rPr lang="zh-CN" sz="1200">
                <a:solidFill>
                  <a:srgbClr val="20344B"/>
                </a:solidFill>
                <a:latin typeface="Microsoft YaHei"/>
                <a:ea typeface="Microsoft YaHei"/>
              </a:rPr>
              <a:t>窗口得到回复”</a:t>
            </a:r>
            <a:endParaRPr/>
          </a:p>
        </p:txBody>
      </p:sp>
      <p:sp>
        <p:nvSpPr>
          <p:cNvPr id="496" name="" descr="{&quot;isTemplate&quot;:true,&quot;type&quot;:&quot;text&quot;}"/>
          <p:cNvSpPr txBox="1"/>
          <p:nvPr/>
        </p:nvSpPr>
        <p:spPr>
          <a:xfrm rot="0" flipH="0" flipV="0">
            <a:off x="952500" y="5410200"/>
            <a:ext cx="4991100" cy="247650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必须等待运行事实支持</a:t>
            </a:r>
            <a:endParaRPr/>
          </a:p>
        </p:txBody>
      </p:sp>
      <p:sp>
        <p:nvSpPr>
          <p:cNvPr id="497" name=""/>
          <p:cNvSpPr/>
          <p:nvPr/>
        </p:nvSpPr>
        <p:spPr>
          <a:xfrm rot="0" flipH="0" flipV="0">
            <a:off x="6076950" y="5181600"/>
            <a:ext cx="1028700" cy="38100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498" name="" descr="{&quot;isTemplate&quot;:true,&quot;type&quot;:&quot;text&quot;}"/>
          <p:cNvSpPr txBox="1"/>
          <p:nvPr/>
        </p:nvSpPr>
        <p:spPr>
          <a:xfrm rot="0" flipH="0" flipV="0">
            <a:off x="6257925" y="5295900"/>
            <a:ext cx="6667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 b="1">
                <a:solidFill>
                  <a:srgbClr val="CB6B28"/>
                </a:solidFill>
                <a:latin typeface="Microsoft YaHei"/>
                <a:ea typeface="Microsoft YaHei"/>
              </a:rPr>
              <a:t>待运行支持</a:t>
            </a:r>
            <a:endParaRPr/>
          </a:p>
        </p:txBody>
      </p:sp>
      <p:sp>
        <p:nvSpPr>
          <p:cNvPr id="499" name=""/>
          <p:cNvSpPr/>
          <p:nvPr/>
        </p:nvSpPr>
        <p:spPr>
          <a:xfrm rot="0" flipH="0" flipV="0">
            <a:off x="7505700" y="1619250"/>
            <a:ext cx="4076700" cy="1333500"/>
          </a:xfrm>
          <a:prstGeom prst="roundRect">
            <a:avLst>
              <a:gd name="adj" fmla="val 8571"/>
            </a:avLst>
          </a:prstGeom>
          <a:solidFill>
            <a:srgbClr val="F4F7FA"/>
          </a:solidFill>
          <a:ln/>
        </p:spPr>
        <p:txBody>
          <a:bodyPr/>
          <a:p/>
        </p:txBody>
      </p:sp>
      <p:sp>
        <p:nvSpPr>
          <p:cNvPr id="500" name="" descr="{&quot;isTemplate&quot;:true,&quot;type&quot;:&quot;text&quot;}"/>
          <p:cNvSpPr txBox="1"/>
          <p:nvPr/>
        </p:nvSpPr>
        <p:spPr>
          <a:xfrm rot="0" flipH="0" flipV="0">
            <a:off x="7696200" y="1809750"/>
            <a:ext cx="369570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>
                <a:solidFill>
                  <a:srgbClr val="276FBF"/>
                </a:solidFill>
                <a:latin typeface="Microsoft YaHei"/>
                <a:ea typeface="Microsoft YaHei"/>
              </a:rPr>
              <a:t>共同的底线</a:t>
            </a:r>
            <a:endParaRPr/>
          </a:p>
        </p:txBody>
      </p:sp>
      <p:sp>
        <p:nvSpPr>
          <p:cNvPr id="501" name="" descr="{&quot;isTemplate&quot;:true,&quot;type&quot;:&quot;text&quot;}"/>
          <p:cNvSpPr txBox="1"/>
          <p:nvPr/>
        </p:nvSpPr>
        <p:spPr>
          <a:xfrm rot="0" flipH="0" flipV="0">
            <a:off x="7696200" y="2057400"/>
            <a:ext cx="3695700" cy="62865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70000"/>
              </a:lnSpc>
            </a:pPr>
            <a:r>
              <a:rPr lang="zh-CN" sz="1200">
                <a:solidFill>
                  <a:srgbClr val="20344B"/>
                </a:solidFill>
                <a:latin typeface="Microsoft YaHei"/>
                <a:ea typeface="Microsoft YaHei"/>
              </a:rPr>
              <a:t>这些话都可以进入项目资料，但不能合并成一列“已验证事实”。</a:t>
            </a:r>
            <a:endParaRPr/>
          </a:p>
        </p:txBody>
      </p:sp>
      <p:sp>
        <p:nvSpPr>
          <p:cNvPr id="502" name=""/>
          <p:cNvSpPr/>
          <p:nvPr/>
        </p:nvSpPr>
        <p:spPr>
          <a:xfrm rot="0" flipH="0" flipV="0">
            <a:off x="7505700" y="3086100"/>
            <a:ext cx="4076700" cy="1409700"/>
          </a:xfrm>
          <a:prstGeom prst="roundRect">
            <a:avLst>
              <a:gd name="adj" fmla="val 8108"/>
            </a:avLst>
          </a:prstGeom>
          <a:solidFill>
            <a:srgbClr val="EDF4FC"/>
          </a:solidFill>
          <a:ln/>
        </p:spPr>
        <p:txBody>
          <a:bodyPr/>
          <a:p/>
        </p:txBody>
      </p:sp>
      <p:sp>
        <p:nvSpPr>
          <p:cNvPr id="503" name="" descr="{&quot;isTemplate&quot;:true,&quot;type&quot;:&quot;text&quot;}"/>
          <p:cNvSpPr txBox="1"/>
          <p:nvPr/>
        </p:nvSpPr>
        <p:spPr>
          <a:xfrm rot="0" flipH="0" flipV="0">
            <a:off x="7696200" y="3276600"/>
            <a:ext cx="369570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>
                <a:solidFill>
                  <a:srgbClr val="276FBF"/>
                </a:solidFill>
                <a:latin typeface="Microsoft YaHei"/>
                <a:ea typeface="Microsoft YaHei"/>
              </a:rPr>
              <a:t>四个抽屉</a:t>
            </a:r>
            <a:endParaRPr/>
          </a:p>
        </p:txBody>
      </p:sp>
      <p:sp>
        <p:nvSpPr>
          <p:cNvPr id="504" name="" descr="{&quot;isTemplate&quot;:true,&quot;type&quot;:&quot;text&quot;}"/>
          <p:cNvSpPr txBox="1"/>
          <p:nvPr/>
        </p:nvSpPr>
        <p:spPr>
          <a:xfrm rot="0" flipH="0" flipV="0">
            <a:off x="7696200" y="3524250"/>
            <a:ext cx="3695700" cy="59055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70000"/>
              </a:lnSpc>
            </a:pPr>
            <a:r>
              <a:rPr lang="zh-CN" sz="1125">
                <a:solidFill>
                  <a:srgbClr val="20344B"/>
                </a:solidFill>
                <a:latin typeface="Microsoft YaHei"/>
                <a:ea typeface="Microsoft YaHei"/>
              </a:rPr>
              <a:t>采用的场景设定、作者假设、待核实事项、实际观察，分开放。</a:t>
            </a:r>
            <a:endParaRPr/>
          </a:p>
        </p:txBody>
      </p:sp>
      <p:sp>
        <p:nvSpPr>
          <p:cNvPr id="505" name=""/>
          <p:cNvSpPr/>
          <p:nvPr/>
        </p:nvSpPr>
        <p:spPr>
          <a:xfrm rot="0" flipH="0" flipV="0">
            <a:off x="7505700" y="4629150"/>
            <a:ext cx="4076700" cy="1181100"/>
          </a:xfrm>
          <a:prstGeom prst="roundRect">
            <a:avLst>
              <a:gd name="adj" fmla="val 9677"/>
            </a:avLst>
          </a:prstGeom>
          <a:solidFill>
            <a:srgbClr val="FFF4E6"/>
          </a:solidFill>
          <a:ln/>
        </p:spPr>
        <p:txBody>
          <a:bodyPr/>
          <a:p/>
        </p:txBody>
      </p:sp>
      <p:sp>
        <p:nvSpPr>
          <p:cNvPr id="506" name="" descr="{&quot;isTemplate&quot;:true,&quot;type&quot;:&quot;text&quot;}"/>
          <p:cNvSpPr txBox="1"/>
          <p:nvPr/>
        </p:nvSpPr>
        <p:spPr>
          <a:xfrm rot="0" flipH="0" flipV="0">
            <a:off x="7696200" y="4819650"/>
            <a:ext cx="369570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>
                <a:solidFill>
                  <a:srgbClr val="CB6B28"/>
                </a:solidFill>
                <a:latin typeface="Microsoft YaHei"/>
                <a:ea typeface="Microsoft YaHei"/>
              </a:rPr>
              <a:t>还要注明适用范围</a:t>
            </a:r>
            <a:endParaRPr/>
          </a:p>
        </p:txBody>
      </p:sp>
      <p:sp>
        <p:nvSpPr>
          <p:cNvPr id="507" name="" descr="{&quot;isTemplate&quot;:true,&quot;type&quot;:&quot;text&quot;}"/>
          <p:cNvSpPr txBox="1"/>
          <p:nvPr/>
        </p:nvSpPr>
        <p:spPr>
          <a:xfrm rot="0" flipH="0" flipV="0">
            <a:off x="7696200" y="5067300"/>
            <a:ext cx="3695700" cy="55245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60000"/>
              </a:lnSpc>
            </a:pPr>
            <a:r>
              <a:rPr lang="zh-CN" sz="1125">
                <a:solidFill>
                  <a:srgbClr val="20344B"/>
                </a:solidFill>
                <a:latin typeface="Microsoft YaHei"/>
                <a:ea typeface="Microsoft YaHei"/>
              </a:rPr>
              <a:t>只用于这次虚构咨询，还是只说明历史案例的某一次</a:t>
            </a:r>
            <a:r>
              <a:rPr lang="en-US" sz="1125">
                <a:solidFill>
                  <a:srgbClr val="20344B"/>
                </a:solidFill>
                <a:latin typeface="Microsoft YaHei"/>
                <a:ea typeface="Microsoft YaHei"/>
              </a:rPr>
              <a:t xml:space="preserve"> Run</a:t>
            </a:r>
            <a:r>
              <a:rPr lang="zh-CN" sz="1125">
                <a:solidFill>
                  <a:srgbClr val="20344B"/>
                </a:solidFill>
                <a:latin typeface="Microsoft YaHei"/>
                <a:ea typeface="Microsoft YaHei"/>
              </a:rPr>
              <a:t>。</a:t>
            </a:r>
            <a:endParaRPr/>
          </a:p>
        </p:txBody>
      </p:sp>
      <p:sp>
        <p:nvSpPr>
          <p:cNvPr id="508" name="" descr="{&quot;isTemplate&quot;:true,&quot;type&quot;:&quot;text&quot;}"/>
          <p:cNvSpPr txBox="1"/>
          <p:nvPr/>
        </p:nvSpPr>
        <p:spPr>
          <a:xfrm rot="0" flipH="0" flipV="0">
            <a:off x="609600" y="6400800"/>
            <a:ext cx="18288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 xml:space="preserve">5.2 </a:t>
            </a: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材料来源、假设与可用范围</a:t>
            </a:r>
            <a:endParaRPr/>
          </a:p>
        </p:txBody>
      </p:sp>
      <p:sp>
        <p:nvSpPr>
          <p:cNvPr id="509" name="" descr="{&quot;isTemplate&quot;:true,&quot;type&quot;:&quot;text&quot;}"/>
          <p:cNvSpPr txBox="1"/>
          <p:nvPr/>
        </p:nvSpPr>
        <p:spPr>
          <a:xfrm rot="0" flipH="0" flipV="0">
            <a:off x="11125200" y="6400800"/>
            <a:ext cx="4572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>05 / 23</a:t>
            </a:r>
            <a:endParaRPr/>
          </a:p>
        </p:txBody>
      </p:sp>
    </p:spTree>
  </p:cSld>
</p:sld>
</file>

<file path=ppt/slides/slide6.xml><?xml version="1.0" encoding="utf-8"?>
<p:sld xmlns:p="http://schemas.openxmlformats.org/presentationml/2006/main" xmlns:a="http://schemas.openxmlformats.org/drawingml/2006/main">
  <p:cSld>
    <p:spTree>
      <p:nvGrpSpPr>
        <p:cNvPr id="510" name="" descr="&lt;Slide notes={`有两个说法特别容易被人误读，我先替大家挡住。&#10;&#10;第一个是“采用”。我们说本次采用二十乘十六格、采用两段咨询台文本，意思是作者决定这一轮用这些条件。它约束的是这次实验，不是现实社区的办事规章。别人拿它去指导真实大厅的窗口分工，就跑偏了。&#10;&#10;第二个是“未知”。很多人看到材料里写着“日期待定”，第一反应是补一个上去，觉得表格整齐一点更好看。但周澈还没确定具体日期和人数，恰恰是 A 窗口需要问他的原因。如果我们擅自补成某个日期、二十人和一个已经成功的预约，问题就消失了，实验也就没得做了。&#10;&#10;所以未知不是缺陷，它是有用的信息。你要做的是把它标出来，而不是替它下结论。`} style={{ width: 1280, height: 720, background: '#FFFFFF', flexDirection: 'column', padding: '20px 64px' }}&gt;&#10;&#10;    &lt;Box style={{ height: 100, flexDirection: 'row', alignItems: 'center', gap: 20 }}&gt;&#10;        &lt;Box style={{ width: 4, height: 44, background: '#276FBF' }} /&gt;&#10;        &lt;Box style={{ flexDirection: 'column', gap: 4 }}&gt;&#10;            &lt;Text style={{ fontSize: 14, color: '#546779' }}&gt;5.2.1　先给每句话标明性质&lt;/Text&gt;&#10;            &lt;Text style={{ fontSize: 34, fontWeight: 'bold', color: '#20344B' }}&gt;“采用”不等于规章，“未知”也不是错误&lt;/Text&gt;&#10;        &lt;/Box&gt;&#10;    &lt;/Box&gt;&#10;&#10;    &lt;Box style={{ height: 540, flexDirection: 'row', gap: 24, alignItems: 'center' }}&gt;&#10;&#10;        &lt;Box style={{ width: 400, flexDirection: 'column', justifyContent: 'center', gap: 16 }}&gt;&#10;            &lt;Text style={{ fontSize: 17, color: '#546779', lineHeight: 1.7 }}&gt;先接住两个容易混淆的说法，后面的登记表才不会写成另一件事。&lt;/Text&gt;&#10;            &lt;Box style={{ width: 72, height: 4, background: '#276FBF' }} /&gt;&#10;            &lt;Text style={{ fontSize: 15, color: '#546779', lineHeight: 1.7 }}&gt;分清这两件事，整理材料时就不会把作者的判断写成规定，也不会把空白填成结论。&lt;/Text&gt;&#10;        &lt;/Box&gt;&#10;&#10;        &lt;Box style={{ width: 728, flexDirection: 'column', gap: 16, justifyContent: 'center' }}&gt;&#10;&#10;            &lt;Box style={{ width: 728, height: 148, background: '#EDF4FC', borderRadius: 12, padding: 24, flexDirection: 'column', gap: 10 }}&gt;&#10;                &lt;Text style={{ fontSize: 15, color: '#276FBF' }}&gt;“采用”的含义&lt;/Text&gt;&#10;                &lt;Text style={{ fontSize: 17, color: '#20344B', lineHeight: 1.65 }}&gt;本轮用什么条件，由作者决定。它约束的是这次实验，不是真实社区的规章，也不是审批规则。&lt;/Text&gt;&#10;            &lt;/Box&gt;&#10;&#10;            &lt;Box style={{ width: 728, height: 232, background: '#FFF4E6', borderRadius: 12, padding: 24, flexDirection: 'column', gap: 12 }}&gt;&#10;                &lt;Text style={{ fontSize: 15, color: '#CB6B28' }}&gt;“未知”也可能是有用的&lt;/Text&gt;&#10;                &lt;Text style={{ fontSize: 16, color: '#20344B', lineHeight: 1.6 }}&gt;周澈尚未确定具体日期和人数——A 窗口才需要告诉他准备哪些信息。&lt;/Text&gt;&#10;                &lt;Text style={{ fontSize: 16, color: '#20344B', lineHeight: 1.6 }}&gt;不能为了表格整齐，擅自补成某个日期、二十人和一个已经成功的预约。&lt;/Text&gt;&#10;            &lt;/Box&gt;&#10;&#10;        &lt;/Box&gt;&#10;&#10;    &lt;/Box&gt;&#10;&#10;    &lt;Box style={{ height: 40, flexDirection: 'row', justifyContent: 'space-between', alignItems: 'center' }}&gt;&#10;        &lt;Text style={{ fontSize: 14, color: '#546779' }}&gt;5.2 材料来源、假设与可用范围&lt;/Text&gt;&#10;        &lt;Text style={{ fontSize: 14, color: '#546779' }}&gt;06 / 23&lt;/Text&gt;&#10;    &lt;/Box&gt;&#10;&#10;&lt;/Slide&gt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1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512" name=""/>
          <p:cNvSpPr/>
          <p:nvPr/>
        </p:nvSpPr>
        <p:spPr>
          <a:xfrm rot="0" flipH="0" flipV="0">
            <a:off x="609600" y="457200"/>
            <a:ext cx="38100" cy="419100"/>
          </a:xfrm>
          <a:prstGeom prst="rect">
            <a:avLst/>
          </a:prstGeom>
          <a:solidFill>
            <a:srgbClr val="276FBF"/>
          </a:solidFill>
          <a:ln/>
        </p:spPr>
        <p:txBody>
          <a:bodyPr/>
          <a:p/>
        </p:txBody>
      </p:sp>
      <p:sp>
        <p:nvSpPr>
          <p:cNvPr id="513" name="" descr="{&quot;isTemplate&quot;:true,&quot;type&quot;:&quot;text&quot;}"/>
          <p:cNvSpPr txBox="1"/>
          <p:nvPr/>
        </p:nvSpPr>
        <p:spPr>
          <a:xfrm rot="0" flipH="0" flipV="0">
            <a:off x="838200" y="371475"/>
            <a:ext cx="61531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>5.2.1</a:t>
            </a: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　先给每句话标明性质</a:t>
            </a:r>
            <a:endParaRPr/>
          </a:p>
        </p:txBody>
      </p:sp>
      <p:sp>
        <p:nvSpPr>
          <p:cNvPr id="514" name="" descr="{&quot;isTemplate&quot;:true,&quot;type&quot;:&quot;text&quot;}"/>
          <p:cNvSpPr txBox="1"/>
          <p:nvPr/>
        </p:nvSpPr>
        <p:spPr>
          <a:xfrm rot="0" flipH="0" flipV="0">
            <a:off x="838200" y="571500"/>
            <a:ext cx="6153150" cy="3905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550" b="1">
                <a:solidFill>
                  <a:srgbClr val="20344B"/>
                </a:solidFill>
                <a:latin typeface="Microsoft YaHei"/>
                <a:ea typeface="Microsoft YaHei"/>
              </a:rPr>
              <a:t>“采用”不等于规章，“未知”也不是错误</a:t>
            </a:r>
            <a:endParaRPr/>
          </a:p>
        </p:txBody>
      </p:sp>
      <p:sp>
        <p:nvSpPr>
          <p:cNvPr id="515" name="" descr="{&quot;isTemplate&quot;:true,&quot;type&quot;:&quot;text&quot;}"/>
          <p:cNvSpPr txBox="1"/>
          <p:nvPr/>
        </p:nvSpPr>
        <p:spPr>
          <a:xfrm rot="0" flipH="0" flipV="0">
            <a:off x="609600" y="2914650"/>
            <a:ext cx="3810000" cy="66675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70000"/>
              </a:lnSpc>
            </a:pPr>
            <a:r>
              <a:rPr lang="zh-CN" sz="1275">
                <a:solidFill>
                  <a:srgbClr val="546779"/>
                </a:solidFill>
                <a:latin typeface="Microsoft YaHei"/>
                <a:ea typeface="Microsoft YaHei"/>
              </a:rPr>
              <a:t>先接住两个容易混淆的说法，后面的登记表才不会写成另一件事。</a:t>
            </a:r>
            <a:endParaRPr/>
          </a:p>
        </p:txBody>
      </p:sp>
      <p:sp>
        <p:nvSpPr>
          <p:cNvPr id="516" name=""/>
          <p:cNvSpPr/>
          <p:nvPr/>
        </p:nvSpPr>
        <p:spPr>
          <a:xfrm rot="0" flipH="0" flipV="0">
            <a:off x="609600" y="3733800"/>
            <a:ext cx="685800" cy="38100"/>
          </a:xfrm>
          <a:prstGeom prst="rect">
            <a:avLst/>
          </a:prstGeom>
          <a:solidFill>
            <a:srgbClr val="276FBF"/>
          </a:solidFill>
          <a:ln/>
        </p:spPr>
        <p:txBody>
          <a:bodyPr/>
          <a:p/>
        </p:txBody>
      </p:sp>
      <p:sp>
        <p:nvSpPr>
          <p:cNvPr id="517" name="" descr="{&quot;isTemplate&quot;:true,&quot;type&quot;:&quot;text&quot;}"/>
          <p:cNvSpPr txBox="1"/>
          <p:nvPr/>
        </p:nvSpPr>
        <p:spPr>
          <a:xfrm rot="0" flipH="0" flipV="0">
            <a:off x="609600" y="3924300"/>
            <a:ext cx="3810000" cy="59055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70000"/>
              </a:lnSpc>
            </a:pPr>
            <a:r>
              <a:rPr lang="zh-CN" sz="1125">
                <a:solidFill>
                  <a:srgbClr val="546779"/>
                </a:solidFill>
                <a:latin typeface="Microsoft YaHei"/>
                <a:ea typeface="Microsoft YaHei"/>
              </a:rPr>
              <a:t>分清这两件事，整理材料时就不会把作者的判断写成规定，也不会把空白填成结论。</a:t>
            </a:r>
            <a:endParaRPr/>
          </a:p>
        </p:txBody>
      </p:sp>
      <p:sp>
        <p:nvSpPr>
          <p:cNvPr id="518" name=""/>
          <p:cNvSpPr/>
          <p:nvPr/>
        </p:nvSpPr>
        <p:spPr>
          <a:xfrm rot="0" flipH="0" flipV="0">
            <a:off x="4648200" y="1828800"/>
            <a:ext cx="6934200" cy="1409700"/>
          </a:xfrm>
          <a:prstGeom prst="roundRect">
            <a:avLst>
              <a:gd name="adj" fmla="val 8108"/>
            </a:avLst>
          </a:prstGeom>
          <a:solidFill>
            <a:srgbClr val="EDF4FC"/>
          </a:solidFill>
          <a:ln/>
        </p:spPr>
        <p:txBody>
          <a:bodyPr/>
          <a:p/>
        </p:txBody>
      </p:sp>
      <p:sp>
        <p:nvSpPr>
          <p:cNvPr id="519" name="" descr="{&quot;isTemplate&quot;:true,&quot;type&quot;:&quot;text&quot;}"/>
          <p:cNvSpPr txBox="1"/>
          <p:nvPr/>
        </p:nvSpPr>
        <p:spPr>
          <a:xfrm rot="0" flipH="0" flipV="0">
            <a:off x="4876800" y="2057400"/>
            <a:ext cx="647700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>
                <a:solidFill>
                  <a:srgbClr val="276FBF"/>
                </a:solidFill>
                <a:latin typeface="Microsoft YaHei"/>
                <a:ea typeface="Microsoft YaHei"/>
              </a:rPr>
              <a:t>“采用”的含义</a:t>
            </a:r>
            <a:endParaRPr/>
          </a:p>
        </p:txBody>
      </p:sp>
      <p:sp>
        <p:nvSpPr>
          <p:cNvPr id="520" name="" descr="{&quot;isTemplate&quot;:true,&quot;type&quot;:&quot;text&quot;}"/>
          <p:cNvSpPr txBox="1"/>
          <p:nvPr/>
        </p:nvSpPr>
        <p:spPr>
          <a:xfrm rot="0" flipH="0" flipV="0">
            <a:off x="4876800" y="2324100"/>
            <a:ext cx="6477000" cy="64770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65000"/>
              </a:lnSpc>
            </a:pPr>
            <a:r>
              <a:rPr lang="zh-CN" sz="1275">
                <a:solidFill>
                  <a:srgbClr val="20344B"/>
                </a:solidFill>
                <a:latin typeface="Microsoft YaHei"/>
                <a:ea typeface="Microsoft YaHei"/>
              </a:rPr>
              <a:t>本轮用什么条件，由作者决定。它约束的是这次实验，不是真实社区的规章，也不是审批规则。</a:t>
            </a:r>
            <a:endParaRPr/>
          </a:p>
        </p:txBody>
      </p:sp>
      <p:sp>
        <p:nvSpPr>
          <p:cNvPr id="521" name=""/>
          <p:cNvSpPr/>
          <p:nvPr/>
        </p:nvSpPr>
        <p:spPr>
          <a:xfrm rot="0" flipH="0" flipV="0">
            <a:off x="4648200" y="3390900"/>
            <a:ext cx="6934200" cy="2209800"/>
          </a:xfrm>
          <a:prstGeom prst="roundRect">
            <a:avLst>
              <a:gd name="adj" fmla="val 5172"/>
            </a:avLst>
          </a:prstGeom>
          <a:solidFill>
            <a:srgbClr val="FFF4E6"/>
          </a:solidFill>
          <a:ln/>
        </p:spPr>
        <p:txBody>
          <a:bodyPr/>
          <a:p/>
        </p:txBody>
      </p:sp>
      <p:sp>
        <p:nvSpPr>
          <p:cNvPr id="522" name="" descr="{&quot;isTemplate&quot;:true,&quot;type&quot;:&quot;text&quot;}"/>
          <p:cNvSpPr txBox="1"/>
          <p:nvPr/>
        </p:nvSpPr>
        <p:spPr>
          <a:xfrm rot="0" flipH="0" flipV="0">
            <a:off x="4876800" y="3619500"/>
            <a:ext cx="647700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>
                <a:solidFill>
                  <a:srgbClr val="CB6B28"/>
                </a:solidFill>
                <a:latin typeface="Microsoft YaHei"/>
                <a:ea typeface="Microsoft YaHei"/>
              </a:rPr>
              <a:t>“未知”也可能是有用的</a:t>
            </a:r>
            <a:endParaRPr/>
          </a:p>
        </p:txBody>
      </p:sp>
      <p:sp>
        <p:nvSpPr>
          <p:cNvPr id="523" name="" descr="{&quot;isTemplate&quot;:true,&quot;type&quot;:&quot;text&quot;}"/>
          <p:cNvSpPr txBox="1"/>
          <p:nvPr/>
        </p:nvSpPr>
        <p:spPr>
          <a:xfrm rot="0" flipH="0" flipV="0">
            <a:off x="4876800" y="3905250"/>
            <a:ext cx="6477000" cy="295275"/>
          </a:xfrm>
          <a:prstGeom prst="rect"/>
        </p:spPr>
        <p:txBody>
          <a:bodyPr wrap="none" lIns="0" tIns="0" rIns="0" bIns="0"/>
          <a:p>
            <a:pPr>
              <a:lnSpc>
                <a:spcPct val="160000"/>
              </a:lnSpc>
            </a:pPr>
            <a:r>
              <a:rPr lang="zh-CN" sz="1200">
                <a:solidFill>
                  <a:srgbClr val="20344B"/>
                </a:solidFill>
                <a:latin typeface="Microsoft YaHei"/>
                <a:ea typeface="Microsoft YaHei"/>
              </a:rPr>
              <a:t>周澈尚未确定具体日期和人数——</a:t>
            </a:r>
            <a:r>
              <a:rPr lang="en-US" sz="1200">
                <a:solidFill>
                  <a:srgbClr val="20344B"/>
                </a:solidFill>
                <a:latin typeface="Microsoft YaHei"/>
                <a:ea typeface="Microsoft YaHei"/>
              </a:rPr>
              <a:t xml:space="preserve">A </a:t>
            </a:r>
            <a:r>
              <a:rPr lang="zh-CN" sz="1200">
                <a:solidFill>
                  <a:srgbClr val="20344B"/>
                </a:solidFill>
                <a:latin typeface="Microsoft YaHei"/>
                <a:ea typeface="Microsoft YaHei"/>
              </a:rPr>
              <a:t>窗口才需要告诉他准备哪些信息。</a:t>
            </a:r>
            <a:endParaRPr/>
          </a:p>
        </p:txBody>
      </p:sp>
      <p:sp>
        <p:nvSpPr>
          <p:cNvPr id="524" name="" descr="{&quot;isTemplate&quot;:true,&quot;type&quot;:&quot;text&quot;}"/>
          <p:cNvSpPr txBox="1"/>
          <p:nvPr/>
        </p:nvSpPr>
        <p:spPr>
          <a:xfrm rot="0" flipH="0" flipV="0">
            <a:off x="4876800" y="4314825"/>
            <a:ext cx="6477000" cy="295275"/>
          </a:xfrm>
          <a:prstGeom prst="rect"/>
        </p:spPr>
        <p:txBody>
          <a:bodyPr wrap="none" lIns="0" tIns="0" rIns="0" bIns="0"/>
          <a:p>
            <a:pPr>
              <a:lnSpc>
                <a:spcPct val="160000"/>
              </a:lnSpc>
            </a:pPr>
            <a:r>
              <a:rPr lang="zh-CN" sz="1200">
                <a:solidFill>
                  <a:srgbClr val="20344B"/>
                </a:solidFill>
                <a:latin typeface="Microsoft YaHei"/>
                <a:ea typeface="Microsoft YaHei"/>
              </a:rPr>
              <a:t>不能为了表格整齐，擅自补成某个日期、二十人和一个已经成功的预约。</a:t>
            </a:r>
            <a:endParaRPr/>
          </a:p>
        </p:txBody>
      </p:sp>
      <p:sp>
        <p:nvSpPr>
          <p:cNvPr id="525" name="" descr="{&quot;isTemplate&quot;:true,&quot;type&quot;:&quot;text&quot;}"/>
          <p:cNvSpPr txBox="1"/>
          <p:nvPr/>
        </p:nvSpPr>
        <p:spPr>
          <a:xfrm rot="0" flipH="0" flipV="0">
            <a:off x="609600" y="6400800"/>
            <a:ext cx="18288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 xml:space="preserve">5.2 </a:t>
            </a: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材料来源、假设与可用范围</a:t>
            </a:r>
            <a:endParaRPr/>
          </a:p>
        </p:txBody>
      </p:sp>
      <p:sp>
        <p:nvSpPr>
          <p:cNvPr id="526" name="" descr="{&quot;isTemplate&quot;:true,&quot;type&quot;:&quot;text&quot;}"/>
          <p:cNvSpPr txBox="1"/>
          <p:nvPr/>
        </p:nvSpPr>
        <p:spPr>
          <a:xfrm rot="0" flipH="0" flipV="0">
            <a:off x="11125200" y="6400800"/>
            <a:ext cx="4572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>06 / 23</a:t>
            </a:r>
            <a:endParaRPr/>
          </a:p>
        </p:txBody>
      </p:sp>
    </p:spTree>
  </p:cSld>
</p:sld>
</file>

<file path=ppt/slides/slide7.xml><?xml version="1.0" encoding="utf-8"?>
<p:sld xmlns:p="http://schemas.openxmlformats.org/presentationml/2006/main" xmlns:a="http://schemas.openxmlformats.org/drawingml/2006/main">
  <p:cSld>
    <p:spTree>
      <p:nvGrpSpPr>
        <p:cNvPr id="527" name="" descr="&lt;Slide notes={`这一块解决两个问题：一句话从哪来，以及两份材料互相矛盾的时候听谁的。&#10;&#10;我特别想强调一句话：来源不是一句“来自文档”。你说来自文档，接收者还是没法回查。至少要能定位到哪一份文档的哪一段，最好连版本和采用段落都留下来。&#10;&#10;因为文件是会变的。作者后来又改了两句，你当时用的是哪一句，只有把原文和摘要一起保留，接收者才能解释这次实验为什么用这些文字。&#10;&#10;第二件事是冲突。两份材料不一致的时候，最危险的做法是折中，把两句话拼成一个看起来更完整的版本，让对象自己去选相信谁。正确做法是先登记冲突编号，记录它影响什么，再由作者决定本次采用哪一条。`} style={{ width: 1280, height: 720, background: '#FFFFFF', flexDirection: 'column', padding: '20px 64px' }}&gt;&#10;&#10;    &lt;Box style={{ height: 640, flexDirection: 'column', justifyContent: 'center', gap: 22 }}&gt;&#10;&#10;        &lt;Text style={{ fontSize: 15, color: '#276FBF' }}&gt;2　　5.2.2 — 5.2.3&lt;/Text&gt;&#10;&#10;        &lt;Text style={{ fontSize: 56, fontWeight: 'bold', color: '#20344B', lineHeight: 1.15 }}&gt;来源能追到原文，冲突先登记&lt;/Text&gt;&#10;&#10;        &lt;Box style={{ width: 72, height: 4, background: '#276FBF' }} /&gt;&#10;&#10;        &lt;Text style={{ fontSize: 18, color: '#546779', lineHeight: 1.7, width: 940 }}&gt;先保存收到的原文，再写整理稿；来源至少要能定位到哪一份文档的哪一段。两份材料打架时，先登记，再决定本次采用谁。&lt;/Text&gt;&#10;&#10;        &lt;Box style={{ flexDirection: 'row', alignItems: 'center', marginTop: 10 }}&gt;&#10;            &lt;Box style={{ width: 300, height: 64, background: '#EDF4FC', borderRadius: 8, justifyContent: 'center', alignItems: 'center' }}&gt;&#10;                &lt;Text style={{ fontSize: 18, color: '#276FBF' }}&gt;收到的原文&lt;/Text&gt;&#10;            &lt;/Box&gt;&#10;            &lt;Box style={{ width: 44, height: 64, justifyContent: 'center', alignItems: 'center' }}&gt;&#10;                &lt;Text style={{ fontSize: 26, color: '#276FBF' }}&gt;›&lt;/Text&gt;&#10;            &lt;/Box&gt;&#10;            &lt;Box style={{ width: 300, height: 64, background: '#ECF7F2', borderRadius: 8, justifyContent: 'center', alignItems: 'center' }}&gt;&#10;                &lt;Text style={{ fontSize: 18, color: '#26816B' }}&gt;整理稿&lt;/Text&gt;&#10;            &lt;/Box&gt;&#10;            &lt;Box style={{ width: 44, height: 64, justifyContent: 'center', alignItems: 'center' }}&gt;&#10;                &lt;Text style={{ fontSize: 26, color: '#26816B' }}&gt;›&lt;/Text&gt;&#10;            &lt;/Box&gt;&#10;            &lt;Box style={{ width: 300, height: 64, background: '#F7F3E8', borderRadius: 8, justifyContent: 'center', alignItems: 'center' }}&gt;&#10;                &lt;Text style={{ fontSize: 18, color: '#546779' }}&gt;来源登记（可回查段落）&lt;/Text&gt;&#10;            &lt;/Box&gt;&#10;        &lt;/Box&gt;&#10;&#10;    &lt;/Box&gt;&#10;&#10;    &lt;Box style={{ height: 40, flexDirection: 'row', justifyContent: 'space-between', alignItems: 'center' }}&gt;&#10;        &lt;Text style={{ fontSize: 14, color: '#546779' }}&gt;5.2 材料来源、假设与可用范围&lt;/Text&gt;&#10;        &lt;Text style={{ fontSize: 14, color: '#546779' }}&gt;07 / 23&lt;/Text&gt;&#10;    &lt;/Box&gt;&#10;&#10;&lt;/Slide&gt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8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529" name="" descr="{&quot;isTemplate&quot;:true,&quot;type&quot;:&quot;text&quot;}"/>
          <p:cNvSpPr txBox="1"/>
          <p:nvPr/>
        </p:nvSpPr>
        <p:spPr>
          <a:xfrm rot="0" flipH="0" flipV="0">
            <a:off x="609600" y="1638300"/>
            <a:ext cx="1097280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125">
                <a:solidFill>
                  <a:srgbClr val="276FBF"/>
                </a:solidFill>
                <a:latin typeface="Microsoft YaHei"/>
                <a:ea typeface="Microsoft YaHei"/>
              </a:rPr>
              <a:t>2</a:t>
            </a:r>
            <a:r>
              <a:rPr lang="zh-CN" sz="1125">
                <a:solidFill>
                  <a:srgbClr val="276FBF"/>
                </a:solidFill>
                <a:latin typeface="Microsoft YaHei"/>
                <a:ea typeface="Microsoft YaHei"/>
              </a:rPr>
              <a:t>　　</a:t>
            </a:r>
            <a:r>
              <a:rPr lang="en-US" sz="1125">
                <a:solidFill>
                  <a:srgbClr val="276FBF"/>
                </a:solidFill>
                <a:latin typeface="Microsoft YaHei"/>
                <a:ea typeface="Microsoft YaHei"/>
              </a:rPr>
              <a:t>5.2.2 — 5.2.3</a:t>
            </a:r>
            <a:endParaRPr/>
          </a:p>
        </p:txBody>
      </p:sp>
      <p:sp>
        <p:nvSpPr>
          <p:cNvPr id="530" name="" descr="{&quot;isTemplate&quot;:true,&quot;type&quot;:&quot;text&quot;}"/>
          <p:cNvSpPr txBox="1"/>
          <p:nvPr/>
        </p:nvSpPr>
        <p:spPr>
          <a:xfrm rot="0" flipH="0" flipV="0">
            <a:off x="609600" y="2019300"/>
            <a:ext cx="10972800" cy="742950"/>
          </a:xfrm>
          <a:prstGeom prst="rect"/>
        </p:spPr>
        <p:txBody>
          <a:bodyPr wrap="none" lIns="0" tIns="0" rIns="0" bIns="0"/>
          <a:p>
            <a:pPr>
              <a:lnSpc>
                <a:spcPct val="114999"/>
              </a:lnSpc>
            </a:pPr>
            <a:r>
              <a:rPr lang="zh-CN" sz="4200" b="1">
                <a:solidFill>
                  <a:srgbClr val="20344B"/>
                </a:solidFill>
                <a:latin typeface="Microsoft YaHei"/>
                <a:ea typeface="Microsoft YaHei"/>
              </a:rPr>
              <a:t>来源能追到原文，冲突先登记</a:t>
            </a:r>
            <a:endParaRPr/>
          </a:p>
        </p:txBody>
      </p:sp>
      <p:sp>
        <p:nvSpPr>
          <p:cNvPr id="531" name=""/>
          <p:cNvSpPr/>
          <p:nvPr/>
        </p:nvSpPr>
        <p:spPr>
          <a:xfrm rot="0" flipH="0" flipV="0">
            <a:off x="609600" y="2971800"/>
            <a:ext cx="685800" cy="38100"/>
          </a:xfrm>
          <a:prstGeom prst="rect">
            <a:avLst/>
          </a:prstGeom>
          <a:solidFill>
            <a:srgbClr val="276FBF"/>
          </a:solidFill>
          <a:ln/>
        </p:spPr>
        <p:txBody>
          <a:bodyPr/>
          <a:p/>
        </p:txBody>
      </p:sp>
      <p:sp>
        <p:nvSpPr>
          <p:cNvPr id="532" name="" descr="{&quot;isTemplate&quot;:true,&quot;type&quot;:&quot;text&quot;}"/>
          <p:cNvSpPr txBox="1"/>
          <p:nvPr/>
        </p:nvSpPr>
        <p:spPr>
          <a:xfrm rot="0" flipH="0" flipV="0">
            <a:off x="609600" y="3219450"/>
            <a:ext cx="8953500" cy="70485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70000"/>
              </a:lnSpc>
            </a:pPr>
            <a:r>
              <a:rPr lang="zh-CN" sz="1350">
                <a:solidFill>
                  <a:srgbClr val="546779"/>
                </a:solidFill>
                <a:latin typeface="Microsoft YaHei"/>
                <a:ea typeface="Microsoft YaHei"/>
              </a:rPr>
              <a:t>先保存收到的原文，再写整理稿；来源至少要能定位到哪一份文档的哪一段。两份材料打架时，先登记，再决定本次采用谁。</a:t>
            </a:r>
            <a:endParaRPr/>
          </a:p>
        </p:txBody>
      </p:sp>
      <p:sp>
        <p:nvSpPr>
          <p:cNvPr id="533" name=""/>
          <p:cNvSpPr/>
          <p:nvPr/>
        </p:nvSpPr>
        <p:spPr>
          <a:xfrm rot="0" flipH="0" flipV="0">
            <a:off x="609600" y="4229100"/>
            <a:ext cx="2857500" cy="609600"/>
          </a:xfrm>
          <a:prstGeom prst="roundRect">
            <a:avLst>
              <a:gd name="adj" fmla="val 12500"/>
            </a:avLst>
          </a:prstGeom>
          <a:solidFill>
            <a:srgbClr val="EDF4FC"/>
          </a:solidFill>
          <a:ln/>
        </p:spPr>
        <p:txBody>
          <a:bodyPr/>
          <a:p/>
        </p:txBody>
      </p:sp>
      <p:sp>
        <p:nvSpPr>
          <p:cNvPr id="534" name="" descr="{&quot;isTemplate&quot;:true,&quot;type&quot;:&quot;text&quot;}"/>
          <p:cNvSpPr txBox="1"/>
          <p:nvPr/>
        </p:nvSpPr>
        <p:spPr>
          <a:xfrm rot="0" flipH="0" flipV="0">
            <a:off x="1609725" y="4429125"/>
            <a:ext cx="857250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350">
                <a:solidFill>
                  <a:srgbClr val="276FBF"/>
                </a:solidFill>
                <a:latin typeface="Microsoft YaHei"/>
                <a:ea typeface="Microsoft YaHei"/>
              </a:rPr>
              <a:t>收到的原文</a:t>
            </a:r>
            <a:endParaRPr/>
          </a:p>
        </p:txBody>
      </p:sp>
      <p:sp>
        <p:nvSpPr>
          <p:cNvPr id="535" name="" descr="{&quot;isTemplate&quot;:true,&quot;type&quot;:&quot;text&quot;}"/>
          <p:cNvSpPr txBox="1"/>
          <p:nvPr/>
        </p:nvSpPr>
        <p:spPr>
          <a:xfrm rot="0" flipH="0" flipV="0">
            <a:off x="3638550" y="4381500"/>
            <a:ext cx="85725" cy="3048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sz="1950">
                <a:solidFill>
                  <a:srgbClr val="276FBF"/>
                </a:solidFill>
                <a:latin typeface="Microsoft YaHei"/>
                <a:ea typeface="Microsoft YaHei"/>
              </a:rPr>
              <a:t>›</a:t>
            </a:r>
            <a:endParaRPr/>
          </a:p>
        </p:txBody>
      </p:sp>
      <p:sp>
        <p:nvSpPr>
          <p:cNvPr id="536" name=""/>
          <p:cNvSpPr/>
          <p:nvPr/>
        </p:nvSpPr>
        <p:spPr>
          <a:xfrm rot="0" flipH="0" flipV="0">
            <a:off x="3886200" y="4229100"/>
            <a:ext cx="2857500" cy="609600"/>
          </a:xfrm>
          <a:prstGeom prst="roundRect">
            <a:avLst>
              <a:gd name="adj" fmla="val 12500"/>
            </a:avLst>
          </a:prstGeom>
          <a:solidFill>
            <a:srgbClr val="ECF7F2"/>
          </a:solidFill>
          <a:ln/>
        </p:spPr>
        <p:txBody>
          <a:bodyPr/>
          <a:p/>
        </p:txBody>
      </p:sp>
      <p:sp>
        <p:nvSpPr>
          <p:cNvPr id="537" name="" descr="{&quot;isTemplate&quot;:true,&quot;type&quot;:&quot;text&quot;}"/>
          <p:cNvSpPr txBox="1"/>
          <p:nvPr/>
        </p:nvSpPr>
        <p:spPr>
          <a:xfrm rot="0" flipH="0" flipV="0">
            <a:off x="5057775" y="4429125"/>
            <a:ext cx="514350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350">
                <a:solidFill>
                  <a:srgbClr val="26816B"/>
                </a:solidFill>
                <a:latin typeface="Microsoft YaHei"/>
                <a:ea typeface="Microsoft YaHei"/>
              </a:rPr>
              <a:t>整理稿</a:t>
            </a:r>
            <a:endParaRPr/>
          </a:p>
        </p:txBody>
      </p:sp>
      <p:sp>
        <p:nvSpPr>
          <p:cNvPr id="538" name="" descr="{&quot;isTemplate&quot;:true,&quot;type&quot;:&quot;text&quot;}"/>
          <p:cNvSpPr txBox="1"/>
          <p:nvPr/>
        </p:nvSpPr>
        <p:spPr>
          <a:xfrm rot="0" flipH="0" flipV="0">
            <a:off x="6915150" y="4381500"/>
            <a:ext cx="85725" cy="3048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sz="1950">
                <a:solidFill>
                  <a:srgbClr val="26816B"/>
                </a:solidFill>
                <a:latin typeface="Microsoft YaHei"/>
                <a:ea typeface="Microsoft YaHei"/>
              </a:rPr>
              <a:t>›</a:t>
            </a:r>
            <a:endParaRPr/>
          </a:p>
        </p:txBody>
      </p:sp>
      <p:sp>
        <p:nvSpPr>
          <p:cNvPr id="539" name=""/>
          <p:cNvSpPr/>
          <p:nvPr/>
        </p:nvSpPr>
        <p:spPr>
          <a:xfrm rot="0" flipH="0" flipV="0">
            <a:off x="7162800" y="4229100"/>
            <a:ext cx="2857500" cy="609600"/>
          </a:xfrm>
          <a:prstGeom prst="roundRect">
            <a:avLst>
              <a:gd name="adj" fmla="val 12500"/>
            </a:avLst>
          </a:prstGeom>
          <a:solidFill>
            <a:srgbClr val="F7F3E8"/>
          </a:solidFill>
          <a:ln/>
        </p:spPr>
        <p:txBody>
          <a:bodyPr/>
          <a:p/>
        </p:txBody>
      </p:sp>
      <p:sp>
        <p:nvSpPr>
          <p:cNvPr id="540" name="" descr="{&quot;isTemplate&quot;:true,&quot;type&quot;:&quot;text&quot;}"/>
          <p:cNvSpPr txBox="1"/>
          <p:nvPr/>
        </p:nvSpPr>
        <p:spPr>
          <a:xfrm rot="0" flipH="0" flipV="0">
            <a:off x="7648575" y="4429125"/>
            <a:ext cx="1885950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350">
                <a:solidFill>
                  <a:srgbClr val="546779"/>
                </a:solidFill>
                <a:latin typeface="Microsoft YaHei"/>
                <a:ea typeface="Microsoft YaHei"/>
              </a:rPr>
              <a:t>来源登记（可回查段落）</a:t>
            </a:r>
            <a:endParaRPr/>
          </a:p>
        </p:txBody>
      </p:sp>
      <p:sp>
        <p:nvSpPr>
          <p:cNvPr id="541" name="" descr="{&quot;isTemplate&quot;:true,&quot;type&quot;:&quot;text&quot;}"/>
          <p:cNvSpPr txBox="1"/>
          <p:nvPr/>
        </p:nvSpPr>
        <p:spPr>
          <a:xfrm rot="0" flipH="0" flipV="0">
            <a:off x="609600" y="6400800"/>
            <a:ext cx="18288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 xml:space="preserve">5.2 </a:t>
            </a: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材料来源、假设与可用范围</a:t>
            </a:r>
            <a:endParaRPr/>
          </a:p>
        </p:txBody>
      </p:sp>
      <p:sp>
        <p:nvSpPr>
          <p:cNvPr id="542" name="" descr="{&quot;isTemplate&quot;:true,&quot;type&quot;:&quot;text&quot;}"/>
          <p:cNvSpPr txBox="1"/>
          <p:nvPr/>
        </p:nvSpPr>
        <p:spPr>
          <a:xfrm rot="0" flipH="0" flipV="0">
            <a:off x="11125200" y="6400800"/>
            <a:ext cx="4572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>07 / 23</a:t>
            </a:r>
            <a:endParaRPr/>
          </a:p>
        </p:txBody>
      </p:sp>
    </p:spTree>
  </p:cSld>
</p:sld>
</file>

<file path=ppt/slides/slide8.xml><?xml version="1.0" encoding="utf-8"?>
<p:sld xmlns:p="http://schemas.openxmlformats.org/presentationml/2006/main" xmlns:a="http://schemas.openxmlformats.org/drawingml/2006/main">
  <p:cSld>
    <p:spTree>
      <p:nvGrpSpPr>
        <p:cNvPr id="543" name="" descr="&lt;Slide notes={`来源登记就是资料集的主干，这六项我逐条说一下为什么这么写。&#10;&#10;S01 是窗口分工，A 为场地使用咨询，B 为设施问题咨询。它当前能证明的只是教案规定的分工，不是审批规则。S02 是四项任务和首次话语，用来制作四份独立人物材料；它证明的是角色的初始目的，不是到场以后实测的发言。&#10;&#10;S03 是地图与出生区域方案，只能证明草图存在，还没证明系统中可达。S04 是两段咨询台决策文本，待写入 Skill，尚未证明实际执行。S05 是时间方案，写明九点到十点十五、每步一分钟、共七十六步。S06 是咨询闭环条件，它是判据，不是任务已经成功的答案。&#10;&#10;请留意最后一列。每一项都写清楚它现在能证明什么，不能因为编号整齐就往前多推一步。`} style={{ width: 1280, height: 720, background: '#FFFFFF', flexDirection: 'column', padding: '20px 64px' }}&gt;&#10;&#10;    &lt;Box style={{ height: 100, flexDirection: 'row', alignItems: 'center', gap: 20 }}&gt;&#10;        &lt;Box style={{ width: 4, height: 44, background: '#276FBF' }} /&gt;&#10;        &lt;Box style={{ flexDirection: 'column', gap: 4 }}&gt;&#10;            &lt;Text style={{ fontSize: 14, color: '#546779' }}&gt;5.2.2　建一张能追到原文的来源表&lt;/Text&gt;&#10;            &lt;Text style={{ fontSize: 34, fontWeight: 'bold', color: '#20344B' }}&gt;S01–S06：每一项能证明什么&lt;/Text&gt;&#10;        &lt;/Box&gt;&#10;    &lt;/Box&gt;&#10;&#10;    &lt;Box style={{ height: 540, flexDirection: 'column', justifyContent: 'center', gap: 8 }}&gt;&#10;&#10;        &lt;Box style={{ width: 1152, height: 40, padding: '0 12px', flexDirection: 'row', gap: 12, alignItems: 'center' }}&gt;&#10;            &lt;Text style={{ fontSize: 14, color: '#546779', width: 88 }}&gt;资料索引&lt;/Text&gt;&#10;            &lt;Text style={{ fontSize: 14, color: '#546779', width: 488 }}&gt;来源与采用内容&lt;/Text&gt;&#10;            &lt;Text style={{ fontSize: 14, color: '#546779', width: 232 }}&gt;用途&lt;/Text&gt;&#10;            &lt;Text style={{ fontSize: 14, color: '#546779', width: 284 }}&gt;当前可证明的范围&lt;/Text&gt;&#10;        &lt;/Box&gt;&#10;&#10;        &lt;Box style={{ width: 1152, height: 66, background: '#F4F7FA', borderRadius: 8, padding: '0 12px', flexDirection: 'row', gap: 12, alignItems: 'center' }}&gt;&#10;            &lt;Text style={{ fontSize: 16, fontWeight: 'bold', color: '#276FBF', width: 88 }}&gt;S01&lt;/Text&gt;&#10;            &lt;Text style={{ fontSize: 15, color: '#20344B', width: 488, lineHeight: 1.45 }}&gt;4.1.1 的窗口分工：A 为场地使用咨询，B 为设施问题咨询&lt;/Text&gt;&#10;            &lt;Text style={{ fontSize: 14, color: '#546779', width: 232, lineHeight: 1.45 }}&gt;编写三个设施及引导员的服务知识&lt;/Text&gt;&#10;            &lt;Text style={{ fontSize: 14, color: '#546779', width: 284, lineHeight: 1.45 }}&gt;教案规定的分工，不是审批规则&lt;/Text&gt;&#10;        &lt;/Box&gt;&#10;&#10;        &lt;Box style={{ width: 1152, height: 66, background: '#F4F7FA', borderRadius: 8, padding: '0 12px', flexDirection: 'row', gap: 12, alignItems: 'center' }}&gt;&#10;            &lt;Text style={{ fontSize: 16, fontWeight: 'bold', color: '#276FBF', width: 88 }}&gt;S02&lt;/Text&gt;&#10;            &lt;Text style={{ fontSize: 15, color: '#20344B', width: 488, lineHeight: 1.45 }}&gt;4.1.1 的四项任务 H1—H4 与首次话语&lt;/Text&gt;&#10;            &lt;Text style={{ fontSize: 14, color: '#546779', width: 232, lineHeight: 1.45 }}&gt;制作四份独立人物材料&lt;/Text&gt;&#10;            &lt;Text style={{ fontSize: 14, color: '#546779', width: 284, lineHeight: 1.45 }}&gt;角色初始目的，不是到场后的实测发言&lt;/Text&gt;&#10;        &lt;/Box&gt;&#10;&#10;        &lt;Box style={{ width: 1152, height: 66, background: '#F4F7FA', borderRadius: 8, padding: '0 12px', flexDirection: 'row', gap: 12, alignItems: 'center' }}&gt;&#10;            &lt;Text style={{ fontSize: 16, fontWeight: 'bold', color: '#276FBF', width: 88 }}&gt;S03&lt;/Text&gt;&#10;            &lt;Text style={{ fontSize: 15, color: '#20344B', width: 488, lineHeight: 1.45 }}&gt;4.1.2 的地图与出生区域方案&lt;/Text&gt;&#10;            &lt;Text style={{ fontSize: 14, color: '#546779', width: 232, lineHeight: 1.45 }}&gt;制作图像、语义和碰撞资料&lt;/Text&gt;&#10;            &lt;Text style={{ fontSize: 14, color: '#CB6B28', width: 284, lineHeight: 1.45 }}&gt;空间草图，未证明系统中可达&lt;/Text&gt;&#10;        &lt;/Box&gt;&#10;&#10;        &lt;Box style={{ width: 1152, height: 66, background: '#F4F7FA', borderRadius: 8, padding: '0 12px', flexDirection: 'row', gap: 12, alignItems: 'center' }}&gt;&#10;            &lt;Text style={{ fontSize: 16, fontWeight: 'bold', color: '#276FBF', width: 88 }}&gt;S04&lt;/Text&gt;&#10;            &lt;Text style={{ fontSize: 15, color: '#20344B', width: 488, lineHeight: 1.45 }}&gt;4.1.3 的两段咨询台决策文本&lt;/Text&gt;&#10;            &lt;Text style={{ fontSize: 14, color: '#546779', width: 232, lineHeight: 1.45 }}&gt;保存基线与对照的唯一策略差异&lt;/Text&gt;&#10;            &lt;Text style={{ fontSize: 14, color: '#CB6B28', width: 284, lineHeight: 1.45 }}&gt;待写入 Skill，未证明实际执行&lt;/Text&gt;&#10;        &lt;/Box&gt;&#10;&#10;        &lt;Box style={{ width: 1152, height: 66, background: '#F4F7FA', borderRadius: 8, padding: '0 12px', flexDirection: 'row', gap: 12, alignItems: 'center' }}&gt;&#10;            &lt;Text style={{ fontSize: 16, fontWeight: 'bold', color: '#276FBF', width: 88 }}&gt;S05&lt;/Text&gt;&#10;            &lt;Text style={{ fontSize: 15, color: '#20344B', width: 488, lineHeight: 1.45 }}&gt;4.1.2 的时间方案&lt;/Text&gt;&#10;            &lt;Text style={{ fontSize: 14, color: '#546779', width: 232, lineHeight: 1.45 }}&gt;填写实验装配参数&lt;/Text&gt;&#10;            &lt;Text style={{ fontSize: 14, color: '#546779', width: 284, lineHeight: 1.45 }}&gt;09:00—10:15、每步一分钟、76 步&lt;/Text&gt;&#10;        &lt;/Box&gt;&#10;&#10;        &lt;Box style={{ width: 1152, height: 66, background: '#F4F7FA', borderRadius: 8, padding: '0 12px', flexDirection: 'row', gap: 12, alignItems: 'center' }}&gt;&#10;            &lt;Text style={{ fontSize: 16, fontWeight: 'bold', color: '#276FBF', width: 88 }}&gt;S06&lt;/Text&gt;&#10;            &lt;Text style={{ fontSize: 15, color: '#20344B', width: 488, lineHeight: 1.45 }}&gt;4.1.5 的咨询闭环条件&lt;/Text&gt;&#10;            &lt;Text style={{ fontSize: 14, color: '#546779', width: 232, lineHeight: 1.45 }}&gt;制作评分材料&lt;/Text&gt;&#10;            &lt;Text style={{ fontSize: 14, color: '#CB6B28', width: 284, lineHeight: 1.45 }}&gt;判据，不是任务已经成功的答案&lt;/Text&gt;&#10;        &lt;/Box&gt;&#10;&#10;    &lt;/Box&gt;&#10;&#10;    &lt;Box style={{ height: 40, flexDirection: 'row', justifyContent: 'space-between', alignItems: 'center' }}&gt;&#10;        &lt;Text style={{ fontSize: 14, color: '#546779' }}&gt;5.2 材料来源、假设与可用范围&lt;/Text&gt;&#10;        &lt;Text style={{ fontSize: 14, color: '#546779' }}&gt;08 / 23&lt;/Text&gt;&#10;    &lt;/Box&gt;&#10;&#10;&lt;/Slide&gt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4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545" name=""/>
          <p:cNvSpPr/>
          <p:nvPr/>
        </p:nvSpPr>
        <p:spPr>
          <a:xfrm rot="0" flipH="0" flipV="0">
            <a:off x="609600" y="457200"/>
            <a:ext cx="38100" cy="419100"/>
          </a:xfrm>
          <a:prstGeom prst="rect">
            <a:avLst/>
          </a:prstGeom>
          <a:solidFill>
            <a:srgbClr val="276FBF"/>
          </a:solidFill>
          <a:ln/>
        </p:spPr>
        <p:txBody>
          <a:bodyPr/>
          <a:p/>
        </p:txBody>
      </p:sp>
      <p:sp>
        <p:nvSpPr>
          <p:cNvPr id="546" name="" descr="{&quot;isTemplate&quot;:true,&quot;type&quot;:&quot;text&quot;}"/>
          <p:cNvSpPr txBox="1"/>
          <p:nvPr/>
        </p:nvSpPr>
        <p:spPr>
          <a:xfrm rot="0" flipH="0" flipV="0">
            <a:off x="838200" y="371475"/>
            <a:ext cx="42862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>5.2.2</a:t>
            </a: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　建一张能追到原文的来源表</a:t>
            </a:r>
            <a:endParaRPr/>
          </a:p>
        </p:txBody>
      </p:sp>
      <p:sp>
        <p:nvSpPr>
          <p:cNvPr id="547" name="" descr="{&quot;isTemplate&quot;:true,&quot;type&quot;:&quot;text&quot;}"/>
          <p:cNvSpPr txBox="1"/>
          <p:nvPr/>
        </p:nvSpPr>
        <p:spPr>
          <a:xfrm rot="0" flipH="0" flipV="0">
            <a:off x="838200" y="571500"/>
            <a:ext cx="4286250" cy="3905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2550" b="1">
                <a:solidFill>
                  <a:srgbClr val="20344B"/>
                </a:solidFill>
                <a:latin typeface="Microsoft YaHei"/>
                <a:ea typeface="Microsoft YaHei"/>
              </a:rPr>
              <a:t>S01–S06</a:t>
            </a:r>
            <a:r>
              <a:rPr lang="zh-CN" sz="2550" b="1">
                <a:solidFill>
                  <a:srgbClr val="20344B"/>
                </a:solidFill>
                <a:latin typeface="Microsoft YaHei"/>
                <a:ea typeface="Microsoft YaHei"/>
              </a:rPr>
              <a:t>：每一项能证明什么</a:t>
            </a:r>
            <a:endParaRPr/>
          </a:p>
        </p:txBody>
      </p:sp>
      <p:sp>
        <p:nvSpPr>
          <p:cNvPr id="548" name="" descr="{&quot;isTemplate&quot;:true,&quot;type&quot;:&quot;text&quot;}"/>
          <p:cNvSpPr txBox="1"/>
          <p:nvPr/>
        </p:nvSpPr>
        <p:spPr>
          <a:xfrm rot="0" flipH="0" flipV="0">
            <a:off x="723900" y="1524000"/>
            <a:ext cx="8382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资料索引</a:t>
            </a:r>
            <a:endParaRPr/>
          </a:p>
        </p:txBody>
      </p:sp>
      <p:sp>
        <p:nvSpPr>
          <p:cNvPr id="549" name="" descr="{&quot;isTemplate&quot;:true,&quot;type&quot;:&quot;text&quot;}"/>
          <p:cNvSpPr txBox="1"/>
          <p:nvPr/>
        </p:nvSpPr>
        <p:spPr>
          <a:xfrm rot="0" flipH="0" flipV="0">
            <a:off x="1676400" y="1524000"/>
            <a:ext cx="46482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来源与采用内容</a:t>
            </a:r>
            <a:endParaRPr/>
          </a:p>
        </p:txBody>
      </p:sp>
      <p:sp>
        <p:nvSpPr>
          <p:cNvPr id="550" name="" descr="{&quot;isTemplate&quot;:true,&quot;type&quot;:&quot;text&quot;}"/>
          <p:cNvSpPr txBox="1"/>
          <p:nvPr/>
        </p:nvSpPr>
        <p:spPr>
          <a:xfrm rot="0" flipH="0" flipV="0">
            <a:off x="6438900" y="1524000"/>
            <a:ext cx="22098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用途</a:t>
            </a:r>
            <a:endParaRPr/>
          </a:p>
        </p:txBody>
      </p:sp>
      <p:sp>
        <p:nvSpPr>
          <p:cNvPr id="551" name="" descr="{&quot;isTemplate&quot;:true,&quot;type&quot;:&quot;text&quot;}"/>
          <p:cNvSpPr txBox="1"/>
          <p:nvPr/>
        </p:nvSpPr>
        <p:spPr>
          <a:xfrm rot="0" flipH="0" flipV="0">
            <a:off x="8763000" y="1524000"/>
            <a:ext cx="27051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当前可证明的范围</a:t>
            </a:r>
            <a:endParaRPr/>
          </a:p>
        </p:txBody>
      </p:sp>
      <p:sp>
        <p:nvSpPr>
          <p:cNvPr id="552" name=""/>
          <p:cNvSpPr/>
          <p:nvPr/>
        </p:nvSpPr>
        <p:spPr>
          <a:xfrm rot="0" flipH="0" flipV="0">
            <a:off x="609600" y="1866900"/>
            <a:ext cx="10972800" cy="628650"/>
          </a:xfrm>
          <a:prstGeom prst="roundRect">
            <a:avLst>
              <a:gd name="adj" fmla="val 12121"/>
            </a:avLst>
          </a:prstGeom>
          <a:solidFill>
            <a:srgbClr val="F4F7FA"/>
          </a:solidFill>
          <a:ln/>
        </p:spPr>
        <p:txBody>
          <a:bodyPr/>
          <a:p/>
        </p:txBody>
      </p:sp>
      <p:sp>
        <p:nvSpPr>
          <p:cNvPr id="553" name="" descr="{&quot;isTemplate&quot;:true,&quot;type&quot;:&quot;text&quot;}"/>
          <p:cNvSpPr txBox="1"/>
          <p:nvPr/>
        </p:nvSpPr>
        <p:spPr>
          <a:xfrm rot="0" flipH="0" flipV="0">
            <a:off x="723900" y="2085975"/>
            <a:ext cx="83820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00" b="1">
                <a:solidFill>
                  <a:srgbClr val="276FBF"/>
                </a:solidFill>
                <a:latin typeface="Microsoft YaHei"/>
                <a:ea typeface="Microsoft YaHei"/>
              </a:rPr>
              <a:t>S01</a:t>
            </a:r>
            <a:endParaRPr/>
          </a:p>
        </p:txBody>
      </p:sp>
      <p:sp>
        <p:nvSpPr>
          <p:cNvPr id="554" name="" descr="{&quot;isTemplate&quot;:true,&quot;type&quot;:&quot;text&quot;}"/>
          <p:cNvSpPr txBox="1"/>
          <p:nvPr/>
        </p:nvSpPr>
        <p:spPr>
          <a:xfrm rot="0" flipH="0" flipV="0">
            <a:off x="1676400" y="2057400"/>
            <a:ext cx="4648200" cy="257175"/>
          </a:xfrm>
          <a:prstGeom prst="rect"/>
        </p:spPr>
        <p:txBody>
          <a:bodyPr wrap="none" lIns="0" tIns="0" rIns="0" bIns="0"/>
          <a:p>
            <a:pPr>
              <a:lnSpc>
                <a:spcPct val="145000"/>
              </a:lnSpc>
            </a:pPr>
            <a:r>
              <a:rPr lang="en-US" sz="1125">
                <a:solidFill>
                  <a:srgbClr val="20344B"/>
                </a:solidFill>
                <a:latin typeface="Microsoft YaHei"/>
                <a:ea typeface="Microsoft YaHei"/>
              </a:rPr>
              <a:t xml:space="preserve">4.1.1 </a:t>
            </a:r>
            <a:r>
              <a:rPr lang="zh-CN" sz="1125">
                <a:solidFill>
                  <a:srgbClr val="20344B"/>
                </a:solidFill>
                <a:latin typeface="Microsoft YaHei"/>
                <a:ea typeface="Microsoft YaHei"/>
              </a:rPr>
              <a:t>的窗口分工：</a:t>
            </a:r>
            <a:r>
              <a:rPr lang="en-US" sz="1125">
                <a:solidFill>
                  <a:srgbClr val="20344B"/>
                </a:solidFill>
                <a:latin typeface="Microsoft YaHei"/>
                <a:ea typeface="Microsoft YaHei"/>
              </a:rPr>
              <a:t xml:space="preserve">A </a:t>
            </a:r>
            <a:r>
              <a:rPr lang="zh-CN" sz="1125">
                <a:solidFill>
                  <a:srgbClr val="20344B"/>
                </a:solidFill>
                <a:latin typeface="Microsoft YaHei"/>
                <a:ea typeface="Microsoft YaHei"/>
              </a:rPr>
              <a:t>为场地使用咨询，</a:t>
            </a:r>
            <a:r>
              <a:rPr lang="en-US" sz="1125">
                <a:solidFill>
                  <a:srgbClr val="20344B"/>
                </a:solidFill>
                <a:latin typeface="Microsoft YaHei"/>
                <a:ea typeface="Microsoft YaHei"/>
              </a:rPr>
              <a:t xml:space="preserve">B </a:t>
            </a:r>
            <a:r>
              <a:rPr lang="zh-CN" sz="1125">
                <a:solidFill>
                  <a:srgbClr val="20344B"/>
                </a:solidFill>
                <a:latin typeface="Microsoft YaHei"/>
                <a:ea typeface="Microsoft YaHei"/>
              </a:rPr>
              <a:t>为设施问题咨询</a:t>
            </a:r>
            <a:endParaRPr/>
          </a:p>
        </p:txBody>
      </p:sp>
      <p:sp>
        <p:nvSpPr>
          <p:cNvPr id="555" name="" descr="{&quot;isTemplate&quot;:true,&quot;type&quot;:&quot;text&quot;}"/>
          <p:cNvSpPr txBox="1"/>
          <p:nvPr/>
        </p:nvSpPr>
        <p:spPr>
          <a:xfrm rot="0" flipH="0" flipV="0">
            <a:off x="6438900" y="2066925"/>
            <a:ext cx="2209800" cy="238125"/>
          </a:xfrm>
          <a:prstGeom prst="rect"/>
        </p:spPr>
        <p:txBody>
          <a:bodyPr wrap="none" lIns="0" tIns="0" rIns="0" bIns="0"/>
          <a:p>
            <a:pPr>
              <a:lnSpc>
                <a:spcPct val="145000"/>
              </a:lnSpc>
            </a:pP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编写三个设施及引导员的服务知识</a:t>
            </a:r>
            <a:endParaRPr/>
          </a:p>
        </p:txBody>
      </p:sp>
      <p:sp>
        <p:nvSpPr>
          <p:cNvPr id="556" name="" descr="{&quot;isTemplate&quot;:true,&quot;type&quot;:&quot;text&quot;}"/>
          <p:cNvSpPr txBox="1"/>
          <p:nvPr/>
        </p:nvSpPr>
        <p:spPr>
          <a:xfrm rot="0" flipH="0" flipV="0">
            <a:off x="8763000" y="2066925"/>
            <a:ext cx="2705100" cy="238125"/>
          </a:xfrm>
          <a:prstGeom prst="rect"/>
        </p:spPr>
        <p:txBody>
          <a:bodyPr wrap="none" lIns="0" tIns="0" rIns="0" bIns="0"/>
          <a:p>
            <a:pPr>
              <a:lnSpc>
                <a:spcPct val="145000"/>
              </a:lnSpc>
            </a:pP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教案规定的分工，不是审批规则</a:t>
            </a:r>
            <a:endParaRPr/>
          </a:p>
        </p:txBody>
      </p:sp>
      <p:sp>
        <p:nvSpPr>
          <p:cNvPr id="557" name=""/>
          <p:cNvSpPr/>
          <p:nvPr/>
        </p:nvSpPr>
        <p:spPr>
          <a:xfrm rot="0" flipH="0" flipV="0">
            <a:off x="609600" y="2571750"/>
            <a:ext cx="10972800" cy="628650"/>
          </a:xfrm>
          <a:prstGeom prst="roundRect">
            <a:avLst>
              <a:gd name="adj" fmla="val 12121"/>
            </a:avLst>
          </a:prstGeom>
          <a:solidFill>
            <a:srgbClr val="F4F7FA"/>
          </a:solidFill>
          <a:ln/>
        </p:spPr>
        <p:txBody>
          <a:bodyPr/>
          <a:p/>
        </p:txBody>
      </p:sp>
      <p:sp>
        <p:nvSpPr>
          <p:cNvPr id="558" name="" descr="{&quot;isTemplate&quot;:true,&quot;type&quot;:&quot;text&quot;}"/>
          <p:cNvSpPr txBox="1"/>
          <p:nvPr/>
        </p:nvSpPr>
        <p:spPr>
          <a:xfrm rot="0" flipH="0" flipV="0">
            <a:off x="723900" y="2790825"/>
            <a:ext cx="83820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00" b="1">
                <a:solidFill>
                  <a:srgbClr val="276FBF"/>
                </a:solidFill>
                <a:latin typeface="Microsoft YaHei"/>
                <a:ea typeface="Microsoft YaHei"/>
              </a:rPr>
              <a:t>S02</a:t>
            </a:r>
            <a:endParaRPr/>
          </a:p>
        </p:txBody>
      </p:sp>
      <p:sp>
        <p:nvSpPr>
          <p:cNvPr id="559" name="" descr="{&quot;isTemplate&quot;:true,&quot;type&quot;:&quot;text&quot;}"/>
          <p:cNvSpPr txBox="1"/>
          <p:nvPr/>
        </p:nvSpPr>
        <p:spPr>
          <a:xfrm rot="0" flipH="0" flipV="0">
            <a:off x="1676400" y="2762250"/>
            <a:ext cx="4648200" cy="257175"/>
          </a:xfrm>
          <a:prstGeom prst="rect"/>
        </p:spPr>
        <p:txBody>
          <a:bodyPr wrap="none" lIns="0" tIns="0" rIns="0" bIns="0"/>
          <a:p>
            <a:pPr>
              <a:lnSpc>
                <a:spcPct val="145000"/>
              </a:lnSpc>
            </a:pPr>
            <a:r>
              <a:rPr lang="en-US" sz="1125">
                <a:solidFill>
                  <a:srgbClr val="20344B"/>
                </a:solidFill>
                <a:latin typeface="Microsoft YaHei"/>
                <a:ea typeface="Microsoft YaHei"/>
              </a:rPr>
              <a:t xml:space="preserve">4.1.1 </a:t>
            </a:r>
            <a:r>
              <a:rPr lang="zh-CN" sz="1125">
                <a:solidFill>
                  <a:srgbClr val="20344B"/>
                </a:solidFill>
                <a:latin typeface="Microsoft YaHei"/>
                <a:ea typeface="Microsoft YaHei"/>
              </a:rPr>
              <a:t>的四项任务</a:t>
            </a:r>
            <a:r>
              <a:rPr lang="en-US" sz="1125">
                <a:solidFill>
                  <a:srgbClr val="20344B"/>
                </a:solidFill>
                <a:latin typeface="Microsoft YaHei"/>
                <a:ea typeface="Microsoft YaHei"/>
              </a:rPr>
              <a:t xml:space="preserve"> H1—H4 </a:t>
            </a:r>
            <a:r>
              <a:rPr lang="zh-CN" sz="1125">
                <a:solidFill>
                  <a:srgbClr val="20344B"/>
                </a:solidFill>
                <a:latin typeface="Microsoft YaHei"/>
                <a:ea typeface="Microsoft YaHei"/>
              </a:rPr>
              <a:t>与首次话语</a:t>
            </a:r>
            <a:endParaRPr/>
          </a:p>
        </p:txBody>
      </p:sp>
      <p:sp>
        <p:nvSpPr>
          <p:cNvPr id="560" name="" descr="{&quot;isTemplate&quot;:true,&quot;type&quot;:&quot;text&quot;}"/>
          <p:cNvSpPr txBox="1"/>
          <p:nvPr/>
        </p:nvSpPr>
        <p:spPr>
          <a:xfrm rot="0" flipH="0" flipV="0">
            <a:off x="6438900" y="2771775"/>
            <a:ext cx="2209800" cy="238125"/>
          </a:xfrm>
          <a:prstGeom prst="rect"/>
        </p:spPr>
        <p:txBody>
          <a:bodyPr wrap="none" lIns="0" tIns="0" rIns="0" bIns="0"/>
          <a:p>
            <a:pPr>
              <a:lnSpc>
                <a:spcPct val="145000"/>
              </a:lnSpc>
            </a:pP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制作四份独立人物材料</a:t>
            </a:r>
            <a:endParaRPr/>
          </a:p>
        </p:txBody>
      </p:sp>
      <p:sp>
        <p:nvSpPr>
          <p:cNvPr id="561" name="" descr="{&quot;isTemplate&quot;:true,&quot;type&quot;:&quot;text&quot;}"/>
          <p:cNvSpPr txBox="1"/>
          <p:nvPr/>
        </p:nvSpPr>
        <p:spPr>
          <a:xfrm rot="0" flipH="0" flipV="0">
            <a:off x="8763000" y="2771775"/>
            <a:ext cx="2705100" cy="238125"/>
          </a:xfrm>
          <a:prstGeom prst="rect"/>
        </p:spPr>
        <p:txBody>
          <a:bodyPr wrap="none" lIns="0" tIns="0" rIns="0" bIns="0"/>
          <a:p>
            <a:pPr>
              <a:lnSpc>
                <a:spcPct val="145000"/>
              </a:lnSpc>
            </a:pP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角色初始目的，不是到场后的实测发言</a:t>
            </a:r>
            <a:endParaRPr/>
          </a:p>
        </p:txBody>
      </p:sp>
      <p:sp>
        <p:nvSpPr>
          <p:cNvPr id="562" name=""/>
          <p:cNvSpPr/>
          <p:nvPr/>
        </p:nvSpPr>
        <p:spPr>
          <a:xfrm rot="0" flipH="0" flipV="0">
            <a:off x="609600" y="3276600"/>
            <a:ext cx="10972800" cy="628650"/>
          </a:xfrm>
          <a:prstGeom prst="roundRect">
            <a:avLst>
              <a:gd name="adj" fmla="val 12121"/>
            </a:avLst>
          </a:prstGeom>
          <a:solidFill>
            <a:srgbClr val="F4F7FA"/>
          </a:solidFill>
          <a:ln/>
        </p:spPr>
        <p:txBody>
          <a:bodyPr/>
          <a:p/>
        </p:txBody>
      </p:sp>
      <p:sp>
        <p:nvSpPr>
          <p:cNvPr id="563" name="" descr="{&quot;isTemplate&quot;:true,&quot;type&quot;:&quot;text&quot;}"/>
          <p:cNvSpPr txBox="1"/>
          <p:nvPr/>
        </p:nvSpPr>
        <p:spPr>
          <a:xfrm rot="0" flipH="0" flipV="0">
            <a:off x="723900" y="3495675"/>
            <a:ext cx="83820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00" b="1">
                <a:solidFill>
                  <a:srgbClr val="276FBF"/>
                </a:solidFill>
                <a:latin typeface="Microsoft YaHei"/>
                <a:ea typeface="Microsoft YaHei"/>
              </a:rPr>
              <a:t>S03</a:t>
            </a:r>
            <a:endParaRPr/>
          </a:p>
        </p:txBody>
      </p:sp>
      <p:sp>
        <p:nvSpPr>
          <p:cNvPr id="564" name="" descr="{&quot;isTemplate&quot;:true,&quot;type&quot;:&quot;text&quot;}"/>
          <p:cNvSpPr txBox="1"/>
          <p:nvPr/>
        </p:nvSpPr>
        <p:spPr>
          <a:xfrm rot="0" flipH="0" flipV="0">
            <a:off x="1676400" y="3467100"/>
            <a:ext cx="4648200" cy="257175"/>
          </a:xfrm>
          <a:prstGeom prst="rect"/>
        </p:spPr>
        <p:txBody>
          <a:bodyPr wrap="none" lIns="0" tIns="0" rIns="0" bIns="0"/>
          <a:p>
            <a:pPr>
              <a:lnSpc>
                <a:spcPct val="145000"/>
              </a:lnSpc>
            </a:pPr>
            <a:r>
              <a:rPr lang="en-US" sz="1125">
                <a:solidFill>
                  <a:srgbClr val="20344B"/>
                </a:solidFill>
                <a:latin typeface="Microsoft YaHei"/>
                <a:ea typeface="Microsoft YaHei"/>
              </a:rPr>
              <a:t xml:space="preserve">4.1.2 </a:t>
            </a:r>
            <a:r>
              <a:rPr lang="zh-CN" sz="1125">
                <a:solidFill>
                  <a:srgbClr val="20344B"/>
                </a:solidFill>
                <a:latin typeface="Microsoft YaHei"/>
                <a:ea typeface="Microsoft YaHei"/>
              </a:rPr>
              <a:t>的地图与出生区域方案</a:t>
            </a:r>
            <a:endParaRPr/>
          </a:p>
        </p:txBody>
      </p:sp>
      <p:sp>
        <p:nvSpPr>
          <p:cNvPr id="565" name="" descr="{&quot;isTemplate&quot;:true,&quot;type&quot;:&quot;text&quot;}"/>
          <p:cNvSpPr txBox="1"/>
          <p:nvPr/>
        </p:nvSpPr>
        <p:spPr>
          <a:xfrm rot="0" flipH="0" flipV="0">
            <a:off x="6438900" y="3476625"/>
            <a:ext cx="2209800" cy="238125"/>
          </a:xfrm>
          <a:prstGeom prst="rect"/>
        </p:spPr>
        <p:txBody>
          <a:bodyPr wrap="none" lIns="0" tIns="0" rIns="0" bIns="0"/>
          <a:p>
            <a:pPr>
              <a:lnSpc>
                <a:spcPct val="145000"/>
              </a:lnSpc>
            </a:pP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制作图像、语义和碰撞资料</a:t>
            </a:r>
            <a:endParaRPr/>
          </a:p>
        </p:txBody>
      </p:sp>
      <p:sp>
        <p:nvSpPr>
          <p:cNvPr id="566" name="" descr="{&quot;isTemplate&quot;:true,&quot;type&quot;:&quot;text&quot;}"/>
          <p:cNvSpPr txBox="1"/>
          <p:nvPr/>
        </p:nvSpPr>
        <p:spPr>
          <a:xfrm rot="0" flipH="0" flipV="0">
            <a:off x="8763000" y="3476625"/>
            <a:ext cx="2705100" cy="238125"/>
          </a:xfrm>
          <a:prstGeom prst="rect"/>
        </p:spPr>
        <p:txBody>
          <a:bodyPr wrap="none" lIns="0" tIns="0" rIns="0" bIns="0"/>
          <a:p>
            <a:pPr>
              <a:lnSpc>
                <a:spcPct val="145000"/>
              </a:lnSpc>
            </a:pPr>
            <a:r>
              <a:rPr lang="zh-CN" sz="1050">
                <a:solidFill>
                  <a:srgbClr val="CB6B28"/>
                </a:solidFill>
                <a:latin typeface="Microsoft YaHei"/>
                <a:ea typeface="Microsoft YaHei"/>
              </a:rPr>
              <a:t>空间草图，未证明系统中可达</a:t>
            </a:r>
            <a:endParaRPr/>
          </a:p>
        </p:txBody>
      </p:sp>
      <p:sp>
        <p:nvSpPr>
          <p:cNvPr id="567" name=""/>
          <p:cNvSpPr/>
          <p:nvPr/>
        </p:nvSpPr>
        <p:spPr>
          <a:xfrm rot="0" flipH="0" flipV="0">
            <a:off x="609600" y="3981450"/>
            <a:ext cx="10972800" cy="628650"/>
          </a:xfrm>
          <a:prstGeom prst="roundRect">
            <a:avLst>
              <a:gd name="adj" fmla="val 12121"/>
            </a:avLst>
          </a:prstGeom>
          <a:solidFill>
            <a:srgbClr val="F4F7FA"/>
          </a:solidFill>
          <a:ln/>
        </p:spPr>
        <p:txBody>
          <a:bodyPr/>
          <a:p/>
        </p:txBody>
      </p:sp>
      <p:sp>
        <p:nvSpPr>
          <p:cNvPr id="568" name="" descr="{&quot;isTemplate&quot;:true,&quot;type&quot;:&quot;text&quot;}"/>
          <p:cNvSpPr txBox="1"/>
          <p:nvPr/>
        </p:nvSpPr>
        <p:spPr>
          <a:xfrm rot="0" flipH="0" flipV="0">
            <a:off x="723900" y="4200525"/>
            <a:ext cx="83820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00" b="1">
                <a:solidFill>
                  <a:srgbClr val="276FBF"/>
                </a:solidFill>
                <a:latin typeface="Microsoft YaHei"/>
                <a:ea typeface="Microsoft YaHei"/>
              </a:rPr>
              <a:t>S04</a:t>
            </a:r>
            <a:endParaRPr/>
          </a:p>
        </p:txBody>
      </p:sp>
      <p:sp>
        <p:nvSpPr>
          <p:cNvPr id="569" name="" descr="{&quot;isTemplate&quot;:true,&quot;type&quot;:&quot;text&quot;}"/>
          <p:cNvSpPr txBox="1"/>
          <p:nvPr/>
        </p:nvSpPr>
        <p:spPr>
          <a:xfrm rot="0" flipH="0" flipV="0">
            <a:off x="1676400" y="4171950"/>
            <a:ext cx="4648200" cy="257175"/>
          </a:xfrm>
          <a:prstGeom prst="rect"/>
        </p:spPr>
        <p:txBody>
          <a:bodyPr wrap="none" lIns="0" tIns="0" rIns="0" bIns="0"/>
          <a:p>
            <a:pPr>
              <a:lnSpc>
                <a:spcPct val="145000"/>
              </a:lnSpc>
            </a:pPr>
            <a:r>
              <a:rPr lang="en-US" sz="1125">
                <a:solidFill>
                  <a:srgbClr val="20344B"/>
                </a:solidFill>
                <a:latin typeface="Microsoft YaHei"/>
                <a:ea typeface="Microsoft YaHei"/>
              </a:rPr>
              <a:t xml:space="preserve">4.1.3 </a:t>
            </a:r>
            <a:r>
              <a:rPr lang="zh-CN" sz="1125">
                <a:solidFill>
                  <a:srgbClr val="20344B"/>
                </a:solidFill>
                <a:latin typeface="Microsoft YaHei"/>
                <a:ea typeface="Microsoft YaHei"/>
              </a:rPr>
              <a:t>的两段咨询台决策文本</a:t>
            </a:r>
            <a:endParaRPr/>
          </a:p>
        </p:txBody>
      </p:sp>
      <p:sp>
        <p:nvSpPr>
          <p:cNvPr id="570" name="" descr="{&quot;isTemplate&quot;:true,&quot;type&quot;:&quot;text&quot;}"/>
          <p:cNvSpPr txBox="1"/>
          <p:nvPr/>
        </p:nvSpPr>
        <p:spPr>
          <a:xfrm rot="0" flipH="0" flipV="0">
            <a:off x="6438900" y="4181475"/>
            <a:ext cx="2209800" cy="238125"/>
          </a:xfrm>
          <a:prstGeom prst="rect"/>
        </p:spPr>
        <p:txBody>
          <a:bodyPr wrap="none" lIns="0" tIns="0" rIns="0" bIns="0"/>
          <a:p>
            <a:pPr>
              <a:lnSpc>
                <a:spcPct val="145000"/>
              </a:lnSpc>
            </a:pP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保存基线与对照的唯一策略差异</a:t>
            </a:r>
            <a:endParaRPr/>
          </a:p>
        </p:txBody>
      </p:sp>
      <p:sp>
        <p:nvSpPr>
          <p:cNvPr id="571" name="" descr="{&quot;isTemplate&quot;:true,&quot;type&quot;:&quot;text&quot;}"/>
          <p:cNvSpPr txBox="1"/>
          <p:nvPr/>
        </p:nvSpPr>
        <p:spPr>
          <a:xfrm rot="0" flipH="0" flipV="0">
            <a:off x="8763000" y="4181475"/>
            <a:ext cx="2705100" cy="238125"/>
          </a:xfrm>
          <a:prstGeom prst="rect"/>
        </p:spPr>
        <p:txBody>
          <a:bodyPr wrap="none" lIns="0" tIns="0" rIns="0" bIns="0"/>
          <a:p>
            <a:pPr>
              <a:lnSpc>
                <a:spcPct val="145000"/>
              </a:lnSpc>
            </a:pPr>
            <a:r>
              <a:rPr lang="zh-CN" sz="1050">
                <a:solidFill>
                  <a:srgbClr val="CB6B28"/>
                </a:solidFill>
                <a:latin typeface="Microsoft YaHei"/>
                <a:ea typeface="Microsoft YaHei"/>
              </a:rPr>
              <a:t>待写入</a:t>
            </a:r>
            <a:r>
              <a:rPr lang="en-US" sz="1050">
                <a:solidFill>
                  <a:srgbClr val="CB6B28"/>
                </a:solidFill>
                <a:latin typeface="Microsoft YaHei"/>
                <a:ea typeface="Microsoft YaHei"/>
              </a:rPr>
              <a:t xml:space="preserve"> Skill</a:t>
            </a:r>
            <a:r>
              <a:rPr lang="zh-CN" sz="1050">
                <a:solidFill>
                  <a:srgbClr val="CB6B28"/>
                </a:solidFill>
                <a:latin typeface="Microsoft YaHei"/>
                <a:ea typeface="Microsoft YaHei"/>
              </a:rPr>
              <a:t>，未证明实际执行</a:t>
            </a:r>
            <a:endParaRPr/>
          </a:p>
        </p:txBody>
      </p:sp>
      <p:sp>
        <p:nvSpPr>
          <p:cNvPr id="572" name=""/>
          <p:cNvSpPr/>
          <p:nvPr/>
        </p:nvSpPr>
        <p:spPr>
          <a:xfrm rot="0" flipH="0" flipV="0">
            <a:off x="609600" y="4686300"/>
            <a:ext cx="10972800" cy="628650"/>
          </a:xfrm>
          <a:prstGeom prst="roundRect">
            <a:avLst>
              <a:gd name="adj" fmla="val 12121"/>
            </a:avLst>
          </a:prstGeom>
          <a:solidFill>
            <a:srgbClr val="F4F7FA"/>
          </a:solidFill>
          <a:ln/>
        </p:spPr>
        <p:txBody>
          <a:bodyPr/>
          <a:p/>
        </p:txBody>
      </p:sp>
      <p:sp>
        <p:nvSpPr>
          <p:cNvPr id="573" name="" descr="{&quot;isTemplate&quot;:true,&quot;type&quot;:&quot;text&quot;}"/>
          <p:cNvSpPr txBox="1"/>
          <p:nvPr/>
        </p:nvSpPr>
        <p:spPr>
          <a:xfrm rot="0" flipH="0" flipV="0">
            <a:off x="723900" y="4905375"/>
            <a:ext cx="83820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00" b="1">
                <a:solidFill>
                  <a:srgbClr val="276FBF"/>
                </a:solidFill>
                <a:latin typeface="Microsoft YaHei"/>
                <a:ea typeface="Microsoft YaHei"/>
              </a:rPr>
              <a:t>S05</a:t>
            </a:r>
            <a:endParaRPr/>
          </a:p>
        </p:txBody>
      </p:sp>
      <p:sp>
        <p:nvSpPr>
          <p:cNvPr id="574" name="" descr="{&quot;isTemplate&quot;:true,&quot;type&quot;:&quot;text&quot;}"/>
          <p:cNvSpPr txBox="1"/>
          <p:nvPr/>
        </p:nvSpPr>
        <p:spPr>
          <a:xfrm rot="0" flipH="0" flipV="0">
            <a:off x="1676400" y="4876800"/>
            <a:ext cx="4648200" cy="257175"/>
          </a:xfrm>
          <a:prstGeom prst="rect"/>
        </p:spPr>
        <p:txBody>
          <a:bodyPr wrap="none" lIns="0" tIns="0" rIns="0" bIns="0"/>
          <a:p>
            <a:pPr>
              <a:lnSpc>
                <a:spcPct val="145000"/>
              </a:lnSpc>
            </a:pPr>
            <a:r>
              <a:rPr lang="en-US" sz="1125">
                <a:solidFill>
                  <a:srgbClr val="20344B"/>
                </a:solidFill>
                <a:latin typeface="Microsoft YaHei"/>
                <a:ea typeface="Microsoft YaHei"/>
              </a:rPr>
              <a:t xml:space="preserve">4.1.2 </a:t>
            </a:r>
            <a:r>
              <a:rPr lang="zh-CN" sz="1125">
                <a:solidFill>
                  <a:srgbClr val="20344B"/>
                </a:solidFill>
                <a:latin typeface="Microsoft YaHei"/>
                <a:ea typeface="Microsoft YaHei"/>
              </a:rPr>
              <a:t>的时间方案</a:t>
            </a:r>
            <a:endParaRPr/>
          </a:p>
        </p:txBody>
      </p:sp>
      <p:sp>
        <p:nvSpPr>
          <p:cNvPr id="575" name="" descr="{&quot;isTemplate&quot;:true,&quot;type&quot;:&quot;text&quot;}"/>
          <p:cNvSpPr txBox="1"/>
          <p:nvPr/>
        </p:nvSpPr>
        <p:spPr>
          <a:xfrm rot="0" flipH="0" flipV="0">
            <a:off x="6438900" y="4886325"/>
            <a:ext cx="2209800" cy="238125"/>
          </a:xfrm>
          <a:prstGeom prst="rect"/>
        </p:spPr>
        <p:txBody>
          <a:bodyPr wrap="none" lIns="0" tIns="0" rIns="0" bIns="0"/>
          <a:p>
            <a:pPr>
              <a:lnSpc>
                <a:spcPct val="145000"/>
              </a:lnSpc>
            </a:pP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填写实验装配参数</a:t>
            </a:r>
            <a:endParaRPr/>
          </a:p>
        </p:txBody>
      </p:sp>
      <p:sp>
        <p:nvSpPr>
          <p:cNvPr id="576" name="" descr="{&quot;isTemplate&quot;:true,&quot;type&quot;:&quot;text&quot;}"/>
          <p:cNvSpPr txBox="1"/>
          <p:nvPr/>
        </p:nvSpPr>
        <p:spPr>
          <a:xfrm rot="0" flipH="0" flipV="0">
            <a:off x="8763000" y="4886325"/>
            <a:ext cx="2705100" cy="238125"/>
          </a:xfrm>
          <a:prstGeom prst="rect"/>
        </p:spPr>
        <p:txBody>
          <a:bodyPr wrap="none" lIns="0" tIns="0" rIns="0" bIns="0"/>
          <a:p>
            <a:pPr>
              <a:lnSpc>
                <a:spcPct val="145000"/>
              </a:lnSpc>
            </a:pP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>09:00—10:15</a:t>
            </a: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、每步一分钟、</a:t>
            </a: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 xml:space="preserve">76 </a:t>
            </a: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步</a:t>
            </a:r>
            <a:endParaRPr/>
          </a:p>
        </p:txBody>
      </p:sp>
      <p:sp>
        <p:nvSpPr>
          <p:cNvPr id="577" name=""/>
          <p:cNvSpPr/>
          <p:nvPr/>
        </p:nvSpPr>
        <p:spPr>
          <a:xfrm rot="0" flipH="0" flipV="0">
            <a:off x="609600" y="5391150"/>
            <a:ext cx="10972800" cy="628650"/>
          </a:xfrm>
          <a:prstGeom prst="roundRect">
            <a:avLst>
              <a:gd name="adj" fmla="val 12121"/>
            </a:avLst>
          </a:prstGeom>
          <a:solidFill>
            <a:srgbClr val="F4F7FA"/>
          </a:solidFill>
          <a:ln/>
        </p:spPr>
        <p:txBody>
          <a:bodyPr/>
          <a:p/>
        </p:txBody>
      </p:sp>
      <p:sp>
        <p:nvSpPr>
          <p:cNvPr id="578" name="" descr="{&quot;isTemplate&quot;:true,&quot;type&quot;:&quot;text&quot;}"/>
          <p:cNvSpPr txBox="1"/>
          <p:nvPr/>
        </p:nvSpPr>
        <p:spPr>
          <a:xfrm rot="0" flipH="0" flipV="0">
            <a:off x="723900" y="5610225"/>
            <a:ext cx="83820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00" b="1">
                <a:solidFill>
                  <a:srgbClr val="276FBF"/>
                </a:solidFill>
                <a:latin typeface="Microsoft YaHei"/>
                <a:ea typeface="Microsoft YaHei"/>
              </a:rPr>
              <a:t>S06</a:t>
            </a:r>
            <a:endParaRPr/>
          </a:p>
        </p:txBody>
      </p:sp>
      <p:sp>
        <p:nvSpPr>
          <p:cNvPr id="579" name="" descr="{&quot;isTemplate&quot;:true,&quot;type&quot;:&quot;text&quot;}"/>
          <p:cNvSpPr txBox="1"/>
          <p:nvPr/>
        </p:nvSpPr>
        <p:spPr>
          <a:xfrm rot="0" flipH="0" flipV="0">
            <a:off x="1676400" y="5581650"/>
            <a:ext cx="4648200" cy="257175"/>
          </a:xfrm>
          <a:prstGeom prst="rect"/>
        </p:spPr>
        <p:txBody>
          <a:bodyPr wrap="none" lIns="0" tIns="0" rIns="0" bIns="0"/>
          <a:p>
            <a:pPr>
              <a:lnSpc>
                <a:spcPct val="145000"/>
              </a:lnSpc>
            </a:pPr>
            <a:r>
              <a:rPr lang="en-US" sz="1125">
                <a:solidFill>
                  <a:srgbClr val="20344B"/>
                </a:solidFill>
                <a:latin typeface="Microsoft YaHei"/>
                <a:ea typeface="Microsoft YaHei"/>
              </a:rPr>
              <a:t xml:space="preserve">4.1.5 </a:t>
            </a:r>
            <a:r>
              <a:rPr lang="zh-CN" sz="1125">
                <a:solidFill>
                  <a:srgbClr val="20344B"/>
                </a:solidFill>
                <a:latin typeface="Microsoft YaHei"/>
                <a:ea typeface="Microsoft YaHei"/>
              </a:rPr>
              <a:t>的咨询闭环条件</a:t>
            </a:r>
            <a:endParaRPr/>
          </a:p>
        </p:txBody>
      </p:sp>
      <p:sp>
        <p:nvSpPr>
          <p:cNvPr id="580" name="" descr="{&quot;isTemplate&quot;:true,&quot;type&quot;:&quot;text&quot;}"/>
          <p:cNvSpPr txBox="1"/>
          <p:nvPr/>
        </p:nvSpPr>
        <p:spPr>
          <a:xfrm rot="0" flipH="0" flipV="0">
            <a:off x="6438900" y="5591175"/>
            <a:ext cx="2209800" cy="238125"/>
          </a:xfrm>
          <a:prstGeom prst="rect"/>
        </p:spPr>
        <p:txBody>
          <a:bodyPr wrap="none" lIns="0" tIns="0" rIns="0" bIns="0"/>
          <a:p>
            <a:pPr>
              <a:lnSpc>
                <a:spcPct val="145000"/>
              </a:lnSpc>
            </a:pP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制作评分材料</a:t>
            </a:r>
            <a:endParaRPr/>
          </a:p>
        </p:txBody>
      </p:sp>
      <p:sp>
        <p:nvSpPr>
          <p:cNvPr id="581" name="" descr="{&quot;isTemplate&quot;:true,&quot;type&quot;:&quot;text&quot;}"/>
          <p:cNvSpPr txBox="1"/>
          <p:nvPr/>
        </p:nvSpPr>
        <p:spPr>
          <a:xfrm rot="0" flipH="0" flipV="0">
            <a:off x="8763000" y="5591175"/>
            <a:ext cx="2705100" cy="238125"/>
          </a:xfrm>
          <a:prstGeom prst="rect"/>
        </p:spPr>
        <p:txBody>
          <a:bodyPr wrap="none" lIns="0" tIns="0" rIns="0" bIns="0"/>
          <a:p>
            <a:pPr>
              <a:lnSpc>
                <a:spcPct val="145000"/>
              </a:lnSpc>
            </a:pPr>
            <a:r>
              <a:rPr lang="zh-CN" sz="1050">
                <a:solidFill>
                  <a:srgbClr val="CB6B28"/>
                </a:solidFill>
                <a:latin typeface="Microsoft YaHei"/>
                <a:ea typeface="Microsoft YaHei"/>
              </a:rPr>
              <a:t>判据，不是任务已经成功的答案</a:t>
            </a:r>
            <a:endParaRPr/>
          </a:p>
        </p:txBody>
      </p:sp>
      <p:sp>
        <p:nvSpPr>
          <p:cNvPr id="582" name="" descr="{&quot;isTemplate&quot;:true,&quot;type&quot;:&quot;text&quot;}"/>
          <p:cNvSpPr txBox="1"/>
          <p:nvPr/>
        </p:nvSpPr>
        <p:spPr>
          <a:xfrm rot="0" flipH="0" flipV="0">
            <a:off x="609600" y="6400800"/>
            <a:ext cx="18288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 xml:space="preserve">5.2 </a:t>
            </a: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材料来源、假设与可用范围</a:t>
            </a:r>
            <a:endParaRPr/>
          </a:p>
        </p:txBody>
      </p:sp>
      <p:sp>
        <p:nvSpPr>
          <p:cNvPr id="583" name="" descr="{&quot;isTemplate&quot;:true,&quot;type&quot;:&quot;text&quot;}"/>
          <p:cNvSpPr txBox="1"/>
          <p:nvPr/>
        </p:nvSpPr>
        <p:spPr>
          <a:xfrm rot="0" flipH="0" flipV="0">
            <a:off x="11125200" y="6400800"/>
            <a:ext cx="4572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>08 / 23</a:t>
            </a:r>
            <a:endParaRPr/>
          </a:p>
        </p:txBody>
      </p:sp>
    </p:spTree>
  </p:cSld>
</p:sld>
</file>

<file path=ppt/slides/slide9.xml><?xml version="1.0" encoding="utf-8"?>
<p:sld xmlns:p="http://schemas.openxmlformats.org/presentationml/2006/main" xmlns:a="http://schemas.openxmlformats.org/drawingml/2006/main">
  <p:cSld>
    <p:spTree>
      <p:nvGrpSpPr>
        <p:cNvPr id="584" name="" descr="&lt;Slide notes={`S 编号只是作者自己的资料索引，它不是系统里的资源 ID，也不是实验的 UUID。这一点要提前说清，否则接收者会以为拿编号就能在系统里找到东西。&#10;&#10;除了编号，实际工作表还要补七样。原文件位置，说明是哪一份文件、存在哪里。获取日期，说明我们拿到的是哪一版。整理人，出了问题知道找谁。采用段落，这是回查的关键。关联材料，说明它和哪些编号互相引用。待确认问题，把还没定的项明确写出来。最后一栏是内容摘要。&#10;&#10;摘要的作用是辨认。过两天你看到一份摘要，能认出这是哪一份材料、哪一版，这就够了。它本身不能证明材料正确，也不能证明来源权威。&#10;&#10;记住这条线：摘要负责辨认，原文负责证明。`} style={{ width: 1280, height: 720, background: '#FFFFFF', flexDirection: 'column', padding: '20px 64px' }}&gt;&#10;&#10;    &lt;Box style={{ height: 100, flexDirection: 'row', alignItems: 'center', gap: 20 }}&gt;&#10;        &lt;Box style={{ width: 4, height: 44, background: '#276FBF' }} /&gt;&#10;        &lt;Box style={{ flexDirection: 'column', gap: 4 }}&gt;&#10;            &lt;Text style={{ fontSize: 14, color: '#546779' }}&gt;5.2.2　建一张能追到原文的来源表&lt;/Text&gt;&#10;            &lt;Text style={{ fontSize: 34, fontWeight: 'bold', color: '#20344B' }}&gt;除了来源，还要登记什么&lt;/Text&gt;&#10;        &lt;/Box&gt;&#10;    &lt;/Box&gt;&#10;&#10;    &lt;Box style={{ height: 540, flexDirection: 'row', gap: 24, alignItems: 'center' }}&gt;&#10;&#10;        &lt;Box style={{ width: 436, flexDirection: 'column', justifyContent: 'center', gap: 16 }}&gt;&#10;            &lt;Text style={{ fontSize: 17, color: '#546779', lineHeight: 1.7 }}&gt;来源不是一句“来自文档”，至少要能定位到哪一份文档的哪一段。&lt;/Text&gt;&#10;            &lt;Box style={{ width: 72, height: 4, background: '#276FBF' }} /&gt;&#10;            &lt;Box style={{ width: 436, height: 186, background: '#EDF4FC', borderRadius: 12, padding: 20, flexDirection: 'column', gap: 8 }}&gt;&#10;                &lt;Text style={{ fontSize: 15, color: '#276FBF' }}&gt;为什么要留原文&lt;/Text&gt;&#10;                &lt;Text style={{ fontSize: 16, color: '#20344B', lineHeight: 1.7 }}&gt;文件后来改动时，保留本次采用的内容与摘要，接收者才能解释这次实验为什么使用这些文字。&lt;/Text&gt;&#10;            &lt;/Box&gt;&#10;        &lt;/Box&gt;&#10;&#10;        &lt;Box style={{ width: 692, flexDirection: 'column', gap: 10 }}&gt;&#10;&#10;            &lt;Box style={{ width: 692, height: 62, background: '#F4F7FA', borderRadius: 8, padding: '0 18px', flexDirection: 'row', alignItems: 'center', gap: 14 }}&gt;&#10;                &lt;Box style={{ width: 4, height: 34, background: '#276FBF' }} /&gt;&#10;                &lt;Text style={{ fontSize: 16, fontWeight: 'bold', color: '#20344B', width: 150 }}&gt;原文件位置&lt;/Text&gt;&#10;                &lt;Text style={{ fontSize: 15, color: '#546779', flex: 1 }}&gt;是哪一份文件、存在哪里&lt;/Text&gt;&#10;            &lt;/Box&gt;&#10;&#10;            &lt;Box style={{ width: 692, height: 62, background: '#F4F7FA', borderRadius: 8, padding: '0 18px', flexDirection: 'row', alignItems: 'center', gap: 14 }}&gt;&#10;                &lt;Box style={{ width: 4, height: 34, background: '#276FBF' }} /&gt;&#10;                &lt;Text style={{ fontSize: 16, fontWeight: 'bold', color: '#20344B', width: 150 }}&gt;获取日期&lt;/Text&gt;&#10;                &lt;Text style={{ fontSize: 15, color: '#546779', flex: 1 }}&gt;拿到的是哪一版材料&lt;/Text&gt;&#10;            &lt;/Box&gt;&#10;&#10;            &lt;Box style={{ width: 692, height: 62, background: '#F4F7FA', borderRadius: 8, padding: '0 18px', flexDirection: 'row', alignItems: 'center', gap: 14 }}&gt;&#10;                &lt;Box style={{ width: 4, height: 34, background: '#276FBF' }} /&gt;&#10;                &lt;Text style={{ fontSize: 16, fontWeight: 'bold', color: '#20344B', width: 150 }}&gt;整理人&lt;/Text&gt;&#10;                &lt;Text style={{ fontSize: 15, color: '#546779', flex: 1 }}&gt;这次整理由谁完成&lt;/Text&gt;&#10;            &lt;/Box&gt;&#10;&#10;            &lt;Box style={{ width: 692, height: 62, background: '#F4F7FA', borderRadius: 8, padding: '0 18px', flexDirection: 'row', alignItems: 'center', gap: 14 }}&gt;&#10;                &lt;Box style={{ width: 4, height: 34, background: '#276FBF' }} /&gt;&#10;                &lt;Text style={{ fontSize: 16, fontWeight: 'bold', color: '#20344B', width: 150 }}&gt;采用段落&lt;/Text&gt;&#10;                &lt;Text style={{ fontSize: 15, color: '#546779', flex: 1 }}&gt;用的是哪一段，可回查&lt;/Text&gt;&#10;            &lt;/Box&gt;&#10;&#10;            &lt;Box style={{ width: 692, height: 62, background: '#F4F7FA', borderRadius: 8, padding: '0 18px', flexDirection: 'row', alignItems: 'center', gap: 14 }}&gt;&#10;                &lt;Box style={{ width: 4, height: 34, background: '#276FBF' }} /&gt;&#10;                &lt;Text style={{ fontSize: 16, fontWeight: 'bold', color: '#20344B', width: 150 }}&gt;关联材料&lt;/Text&gt;&#10;                &lt;Text style={{ fontSize: 15, color: '#546779', flex: 1 }}&gt;与哪些 S 编号互相引用&lt;/Text&gt;&#10;            &lt;/Box&gt;&#10;&#10;            &lt;Box style={{ width: 692, height: 62, background: '#FFF4E6', borderRadius: 8, padding: '0 18px', flexDirection: 'row', alignItems: 'center', gap: 14 }}&gt;&#10;                &lt;Box style={{ width: 4, height: 34, background: '#CB6B28' }} /&gt;&#10;                &lt;Text style={{ fontSize: 16, fontWeight: 'bold', color: '#CB6B28', width: 150 }}&gt;待确认问题&lt;/Text&gt;&#10;                &lt;Text style={{ fontSize: 15, color: '#546779', flex: 1 }}&gt;尚未确认、会影响判断的项&lt;/Text&gt;&#10;            &lt;/Box&gt;&#10;&#10;            &lt;Box style={{ width: 692, height: 62, background: '#ECF7F2', borderRadius: 8, padding: '0 18px', flexDirection: 'row', alignItems: 'center', gap: 14 }}&gt;&#10;                &lt;Box style={{ width: 4, height: 34, background: '#26816B' }} /&gt;&#10;                &lt;Text style={{ fontSize: 16, fontWeight: 'bold', color: '#26816B', width: 150 }}&gt;内容摘要&lt;/Text&gt;&#10;                &lt;Text style={{ fontSize: 15, color: '#546779', flex: 1 }}&gt;用于辨认资料，不用于证明正确&lt;/Text&gt;&#10;            &lt;/Box&gt;&#10;&#10;        &lt;/Box&gt;&#10;&#10;    &lt;/Box&gt;&#10;&#10;    &lt;Box style={{ height: 40, flexDirection: 'row', justifyContent: 'space-between', alignItems: 'center' }}&gt;&#10;        &lt;Text style={{ fontSize: 14, color: '#546779' }}&gt;5.2 材料来源、假设与可用范围&lt;/Text&gt;&#10;        &lt;Text style={{ fontSize: 14, color: '#546779' }}&gt;09 / 23&lt;/Text&gt;&#10;    &lt;/Box&gt;&#10;&#10;&lt;/Slide&gt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5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586" name=""/>
          <p:cNvSpPr/>
          <p:nvPr/>
        </p:nvSpPr>
        <p:spPr>
          <a:xfrm rot="0" flipH="0" flipV="0">
            <a:off x="609600" y="457200"/>
            <a:ext cx="38100" cy="419100"/>
          </a:xfrm>
          <a:prstGeom prst="rect">
            <a:avLst/>
          </a:prstGeom>
          <a:solidFill>
            <a:srgbClr val="276FBF"/>
          </a:solidFill>
          <a:ln/>
        </p:spPr>
        <p:txBody>
          <a:bodyPr/>
          <a:p/>
        </p:txBody>
      </p:sp>
      <p:sp>
        <p:nvSpPr>
          <p:cNvPr id="587" name="" descr="{&quot;isTemplate&quot;:true,&quot;type&quot;:&quot;text&quot;}"/>
          <p:cNvSpPr txBox="1"/>
          <p:nvPr/>
        </p:nvSpPr>
        <p:spPr>
          <a:xfrm rot="0" flipH="0" flipV="0">
            <a:off x="838200" y="371475"/>
            <a:ext cx="35623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>5.2.2</a:t>
            </a: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　建一张能追到原文的来源表</a:t>
            </a:r>
            <a:endParaRPr/>
          </a:p>
        </p:txBody>
      </p:sp>
      <p:sp>
        <p:nvSpPr>
          <p:cNvPr id="588" name="" descr="{&quot;isTemplate&quot;:true,&quot;type&quot;:&quot;text&quot;}"/>
          <p:cNvSpPr txBox="1"/>
          <p:nvPr/>
        </p:nvSpPr>
        <p:spPr>
          <a:xfrm rot="0" flipH="0" flipV="0">
            <a:off x="838200" y="571500"/>
            <a:ext cx="3562350" cy="3905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550" b="1">
                <a:solidFill>
                  <a:srgbClr val="20344B"/>
                </a:solidFill>
                <a:latin typeface="Microsoft YaHei"/>
                <a:ea typeface="Microsoft YaHei"/>
              </a:rPr>
              <a:t>除了来源，还要登记什么</a:t>
            </a:r>
            <a:endParaRPr/>
          </a:p>
        </p:txBody>
      </p:sp>
      <p:sp>
        <p:nvSpPr>
          <p:cNvPr id="589" name="" descr="{&quot;isTemplate&quot;:true,&quot;type&quot;:&quot;text&quot;}"/>
          <p:cNvSpPr txBox="1"/>
          <p:nvPr/>
        </p:nvSpPr>
        <p:spPr>
          <a:xfrm rot="0" flipH="0" flipV="0">
            <a:off x="609600" y="2324100"/>
            <a:ext cx="4152900" cy="66675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70000"/>
              </a:lnSpc>
            </a:pPr>
            <a:r>
              <a:rPr lang="zh-CN" sz="1275">
                <a:solidFill>
                  <a:srgbClr val="546779"/>
                </a:solidFill>
                <a:latin typeface="Microsoft YaHei"/>
                <a:ea typeface="Microsoft YaHei"/>
              </a:rPr>
              <a:t>来源不是一句“来自文档”，至少要能定位到哪一份文档的哪一段。</a:t>
            </a:r>
            <a:endParaRPr/>
          </a:p>
        </p:txBody>
      </p:sp>
      <p:sp>
        <p:nvSpPr>
          <p:cNvPr id="590" name=""/>
          <p:cNvSpPr/>
          <p:nvPr/>
        </p:nvSpPr>
        <p:spPr>
          <a:xfrm rot="0" flipH="0" flipV="0">
            <a:off x="609600" y="3143250"/>
            <a:ext cx="685800" cy="38100"/>
          </a:xfrm>
          <a:prstGeom prst="rect">
            <a:avLst/>
          </a:prstGeom>
          <a:solidFill>
            <a:srgbClr val="276FBF"/>
          </a:solidFill>
          <a:ln/>
        </p:spPr>
        <p:txBody>
          <a:bodyPr/>
          <a:p/>
        </p:txBody>
      </p:sp>
      <p:sp>
        <p:nvSpPr>
          <p:cNvPr id="591" name=""/>
          <p:cNvSpPr/>
          <p:nvPr/>
        </p:nvSpPr>
        <p:spPr>
          <a:xfrm rot="0" flipH="0" flipV="0">
            <a:off x="609600" y="3333750"/>
            <a:ext cx="4152900" cy="1771650"/>
          </a:xfrm>
          <a:prstGeom prst="roundRect">
            <a:avLst>
              <a:gd name="adj" fmla="val 6452"/>
            </a:avLst>
          </a:prstGeom>
          <a:solidFill>
            <a:srgbClr val="EDF4FC"/>
          </a:solidFill>
          <a:ln/>
        </p:spPr>
        <p:txBody>
          <a:bodyPr/>
          <a:p/>
        </p:txBody>
      </p:sp>
      <p:sp>
        <p:nvSpPr>
          <p:cNvPr id="592" name="" descr="{&quot;isTemplate&quot;:true,&quot;type&quot;:&quot;text&quot;}"/>
          <p:cNvSpPr txBox="1"/>
          <p:nvPr/>
        </p:nvSpPr>
        <p:spPr>
          <a:xfrm rot="0" flipH="0" flipV="0">
            <a:off x="800100" y="3524250"/>
            <a:ext cx="377190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>
                <a:solidFill>
                  <a:srgbClr val="276FBF"/>
                </a:solidFill>
                <a:latin typeface="Microsoft YaHei"/>
                <a:ea typeface="Microsoft YaHei"/>
              </a:rPr>
              <a:t>为什么要留原文</a:t>
            </a:r>
            <a:endParaRPr/>
          </a:p>
        </p:txBody>
      </p:sp>
      <p:sp>
        <p:nvSpPr>
          <p:cNvPr id="593" name="" descr="{&quot;isTemplate&quot;:true,&quot;type&quot;:&quot;text&quot;}"/>
          <p:cNvSpPr txBox="1"/>
          <p:nvPr/>
        </p:nvSpPr>
        <p:spPr>
          <a:xfrm rot="0" flipH="0" flipV="0">
            <a:off x="800100" y="3771900"/>
            <a:ext cx="3771900" cy="62865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70000"/>
              </a:lnSpc>
            </a:pPr>
            <a:r>
              <a:rPr lang="zh-CN" sz="1200">
                <a:solidFill>
                  <a:srgbClr val="20344B"/>
                </a:solidFill>
                <a:latin typeface="Microsoft YaHei"/>
                <a:ea typeface="Microsoft YaHei"/>
              </a:rPr>
              <a:t>文件后来改动时，保留本次采用的内容与摘要，接收者才能解释这次实验为什么使用这些文字。</a:t>
            </a:r>
            <a:endParaRPr/>
          </a:p>
        </p:txBody>
      </p:sp>
      <p:sp>
        <p:nvSpPr>
          <p:cNvPr id="594" name=""/>
          <p:cNvSpPr/>
          <p:nvPr/>
        </p:nvSpPr>
        <p:spPr>
          <a:xfrm rot="0" flipH="0" flipV="0">
            <a:off x="4991100" y="1362075"/>
            <a:ext cx="6591300" cy="590550"/>
          </a:xfrm>
          <a:prstGeom prst="roundRect">
            <a:avLst>
              <a:gd name="adj" fmla="val 12903"/>
            </a:avLst>
          </a:prstGeom>
          <a:solidFill>
            <a:srgbClr val="F4F7FA"/>
          </a:solidFill>
          <a:ln/>
        </p:spPr>
        <p:txBody>
          <a:bodyPr/>
          <a:p/>
        </p:txBody>
      </p:sp>
      <p:sp>
        <p:nvSpPr>
          <p:cNvPr id="595" name=""/>
          <p:cNvSpPr/>
          <p:nvPr/>
        </p:nvSpPr>
        <p:spPr>
          <a:xfrm rot="0" flipH="0" flipV="0">
            <a:off x="5162550" y="1495425"/>
            <a:ext cx="38100" cy="323850"/>
          </a:xfrm>
          <a:prstGeom prst="rect">
            <a:avLst/>
          </a:prstGeom>
          <a:solidFill>
            <a:srgbClr val="276FBF"/>
          </a:solidFill>
          <a:ln/>
        </p:spPr>
        <p:txBody>
          <a:bodyPr/>
          <a:p/>
        </p:txBody>
      </p:sp>
      <p:sp>
        <p:nvSpPr>
          <p:cNvPr id="596" name="" descr="{&quot;isTemplate&quot;:true,&quot;type&quot;:&quot;text&quot;}"/>
          <p:cNvSpPr txBox="1"/>
          <p:nvPr/>
        </p:nvSpPr>
        <p:spPr>
          <a:xfrm rot="0" flipH="0" flipV="0">
            <a:off x="5334000" y="1562100"/>
            <a:ext cx="142875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 b="1">
                <a:solidFill>
                  <a:srgbClr val="20344B"/>
                </a:solidFill>
                <a:latin typeface="Microsoft YaHei"/>
                <a:ea typeface="Microsoft YaHei"/>
              </a:rPr>
              <a:t>原文件位置</a:t>
            </a:r>
            <a:endParaRPr/>
          </a:p>
        </p:txBody>
      </p:sp>
      <p:sp>
        <p:nvSpPr>
          <p:cNvPr id="597" name="" descr="{&quot;isTemplate&quot;:true,&quot;type&quot;:&quot;text&quot;}"/>
          <p:cNvSpPr txBox="1"/>
          <p:nvPr/>
        </p:nvSpPr>
        <p:spPr>
          <a:xfrm rot="0" flipH="0" flipV="0">
            <a:off x="6896100" y="1571625"/>
            <a:ext cx="451485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>
                <a:solidFill>
                  <a:srgbClr val="546779"/>
                </a:solidFill>
                <a:latin typeface="Microsoft YaHei"/>
                <a:ea typeface="Microsoft YaHei"/>
              </a:rPr>
              <a:t>是哪一份文件、存在哪里</a:t>
            </a:r>
            <a:endParaRPr/>
          </a:p>
        </p:txBody>
      </p:sp>
      <p:sp>
        <p:nvSpPr>
          <p:cNvPr id="598" name=""/>
          <p:cNvSpPr/>
          <p:nvPr/>
        </p:nvSpPr>
        <p:spPr>
          <a:xfrm rot="0" flipH="0" flipV="0">
            <a:off x="4991100" y="2047875"/>
            <a:ext cx="6591300" cy="590550"/>
          </a:xfrm>
          <a:prstGeom prst="roundRect">
            <a:avLst>
              <a:gd name="adj" fmla="val 12903"/>
            </a:avLst>
          </a:prstGeom>
          <a:solidFill>
            <a:srgbClr val="F4F7FA"/>
          </a:solidFill>
          <a:ln/>
        </p:spPr>
        <p:txBody>
          <a:bodyPr/>
          <a:p/>
        </p:txBody>
      </p:sp>
      <p:sp>
        <p:nvSpPr>
          <p:cNvPr id="599" name=""/>
          <p:cNvSpPr/>
          <p:nvPr/>
        </p:nvSpPr>
        <p:spPr>
          <a:xfrm rot="0" flipH="0" flipV="0">
            <a:off x="5162550" y="2181225"/>
            <a:ext cx="38100" cy="323850"/>
          </a:xfrm>
          <a:prstGeom prst="rect">
            <a:avLst/>
          </a:prstGeom>
          <a:solidFill>
            <a:srgbClr val="276FBF"/>
          </a:solidFill>
          <a:ln/>
        </p:spPr>
        <p:txBody>
          <a:bodyPr/>
          <a:p/>
        </p:txBody>
      </p:sp>
      <p:sp>
        <p:nvSpPr>
          <p:cNvPr id="600" name="" descr="{&quot;isTemplate&quot;:true,&quot;type&quot;:&quot;text&quot;}"/>
          <p:cNvSpPr txBox="1"/>
          <p:nvPr/>
        </p:nvSpPr>
        <p:spPr>
          <a:xfrm rot="0" flipH="0" flipV="0">
            <a:off x="5334000" y="2247900"/>
            <a:ext cx="142875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 b="1">
                <a:solidFill>
                  <a:srgbClr val="20344B"/>
                </a:solidFill>
                <a:latin typeface="Microsoft YaHei"/>
                <a:ea typeface="Microsoft YaHei"/>
              </a:rPr>
              <a:t>获取日期</a:t>
            </a:r>
            <a:endParaRPr/>
          </a:p>
        </p:txBody>
      </p:sp>
      <p:sp>
        <p:nvSpPr>
          <p:cNvPr id="601" name="" descr="{&quot;isTemplate&quot;:true,&quot;type&quot;:&quot;text&quot;}"/>
          <p:cNvSpPr txBox="1"/>
          <p:nvPr/>
        </p:nvSpPr>
        <p:spPr>
          <a:xfrm rot="0" flipH="0" flipV="0">
            <a:off x="6896100" y="2257425"/>
            <a:ext cx="451485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>
                <a:solidFill>
                  <a:srgbClr val="546779"/>
                </a:solidFill>
                <a:latin typeface="Microsoft YaHei"/>
                <a:ea typeface="Microsoft YaHei"/>
              </a:rPr>
              <a:t>拿到的是哪一版材料</a:t>
            </a:r>
            <a:endParaRPr/>
          </a:p>
        </p:txBody>
      </p:sp>
      <p:sp>
        <p:nvSpPr>
          <p:cNvPr id="602" name=""/>
          <p:cNvSpPr/>
          <p:nvPr/>
        </p:nvSpPr>
        <p:spPr>
          <a:xfrm rot="0" flipH="0" flipV="0">
            <a:off x="4991100" y="2733675"/>
            <a:ext cx="6591300" cy="590550"/>
          </a:xfrm>
          <a:prstGeom prst="roundRect">
            <a:avLst>
              <a:gd name="adj" fmla="val 12903"/>
            </a:avLst>
          </a:prstGeom>
          <a:solidFill>
            <a:srgbClr val="F4F7FA"/>
          </a:solidFill>
          <a:ln/>
        </p:spPr>
        <p:txBody>
          <a:bodyPr/>
          <a:p/>
        </p:txBody>
      </p:sp>
      <p:sp>
        <p:nvSpPr>
          <p:cNvPr id="603" name=""/>
          <p:cNvSpPr/>
          <p:nvPr/>
        </p:nvSpPr>
        <p:spPr>
          <a:xfrm rot="0" flipH="0" flipV="0">
            <a:off x="5162550" y="2867025"/>
            <a:ext cx="38100" cy="323850"/>
          </a:xfrm>
          <a:prstGeom prst="rect">
            <a:avLst/>
          </a:prstGeom>
          <a:solidFill>
            <a:srgbClr val="276FBF"/>
          </a:solidFill>
          <a:ln/>
        </p:spPr>
        <p:txBody>
          <a:bodyPr/>
          <a:p/>
        </p:txBody>
      </p:sp>
      <p:sp>
        <p:nvSpPr>
          <p:cNvPr id="604" name="" descr="{&quot;isTemplate&quot;:true,&quot;type&quot;:&quot;text&quot;}"/>
          <p:cNvSpPr txBox="1"/>
          <p:nvPr/>
        </p:nvSpPr>
        <p:spPr>
          <a:xfrm rot="0" flipH="0" flipV="0">
            <a:off x="5334000" y="2933700"/>
            <a:ext cx="142875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 b="1">
                <a:solidFill>
                  <a:srgbClr val="20344B"/>
                </a:solidFill>
                <a:latin typeface="Microsoft YaHei"/>
                <a:ea typeface="Microsoft YaHei"/>
              </a:rPr>
              <a:t>整理人</a:t>
            </a:r>
            <a:endParaRPr/>
          </a:p>
        </p:txBody>
      </p:sp>
      <p:sp>
        <p:nvSpPr>
          <p:cNvPr id="605" name="" descr="{&quot;isTemplate&quot;:true,&quot;type&quot;:&quot;text&quot;}"/>
          <p:cNvSpPr txBox="1"/>
          <p:nvPr/>
        </p:nvSpPr>
        <p:spPr>
          <a:xfrm rot="0" flipH="0" flipV="0">
            <a:off x="6896100" y="2943225"/>
            <a:ext cx="451485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>
                <a:solidFill>
                  <a:srgbClr val="546779"/>
                </a:solidFill>
                <a:latin typeface="Microsoft YaHei"/>
                <a:ea typeface="Microsoft YaHei"/>
              </a:rPr>
              <a:t>这次整理由谁完成</a:t>
            </a:r>
            <a:endParaRPr/>
          </a:p>
        </p:txBody>
      </p:sp>
      <p:sp>
        <p:nvSpPr>
          <p:cNvPr id="606" name=""/>
          <p:cNvSpPr/>
          <p:nvPr/>
        </p:nvSpPr>
        <p:spPr>
          <a:xfrm rot="0" flipH="0" flipV="0">
            <a:off x="4991100" y="3419475"/>
            <a:ext cx="6591300" cy="590550"/>
          </a:xfrm>
          <a:prstGeom prst="roundRect">
            <a:avLst>
              <a:gd name="adj" fmla="val 12903"/>
            </a:avLst>
          </a:prstGeom>
          <a:solidFill>
            <a:srgbClr val="F4F7FA"/>
          </a:solidFill>
          <a:ln/>
        </p:spPr>
        <p:txBody>
          <a:bodyPr/>
          <a:p/>
        </p:txBody>
      </p:sp>
      <p:sp>
        <p:nvSpPr>
          <p:cNvPr id="607" name=""/>
          <p:cNvSpPr/>
          <p:nvPr/>
        </p:nvSpPr>
        <p:spPr>
          <a:xfrm rot="0" flipH="0" flipV="0">
            <a:off x="5162550" y="3552825"/>
            <a:ext cx="38100" cy="323850"/>
          </a:xfrm>
          <a:prstGeom prst="rect">
            <a:avLst/>
          </a:prstGeom>
          <a:solidFill>
            <a:srgbClr val="276FBF"/>
          </a:solidFill>
          <a:ln/>
        </p:spPr>
        <p:txBody>
          <a:bodyPr/>
          <a:p/>
        </p:txBody>
      </p:sp>
      <p:sp>
        <p:nvSpPr>
          <p:cNvPr id="608" name="" descr="{&quot;isTemplate&quot;:true,&quot;type&quot;:&quot;text&quot;}"/>
          <p:cNvSpPr txBox="1"/>
          <p:nvPr/>
        </p:nvSpPr>
        <p:spPr>
          <a:xfrm rot="0" flipH="0" flipV="0">
            <a:off x="5334000" y="3619500"/>
            <a:ext cx="142875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 b="1">
                <a:solidFill>
                  <a:srgbClr val="20344B"/>
                </a:solidFill>
                <a:latin typeface="Microsoft YaHei"/>
                <a:ea typeface="Microsoft YaHei"/>
              </a:rPr>
              <a:t>采用段落</a:t>
            </a:r>
            <a:endParaRPr/>
          </a:p>
        </p:txBody>
      </p:sp>
      <p:sp>
        <p:nvSpPr>
          <p:cNvPr id="609" name="" descr="{&quot;isTemplate&quot;:true,&quot;type&quot;:&quot;text&quot;}"/>
          <p:cNvSpPr txBox="1"/>
          <p:nvPr/>
        </p:nvSpPr>
        <p:spPr>
          <a:xfrm rot="0" flipH="0" flipV="0">
            <a:off x="6896100" y="3629025"/>
            <a:ext cx="451485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>
                <a:solidFill>
                  <a:srgbClr val="546779"/>
                </a:solidFill>
                <a:latin typeface="Microsoft YaHei"/>
                <a:ea typeface="Microsoft YaHei"/>
              </a:rPr>
              <a:t>用的是哪一段，可回查</a:t>
            </a:r>
            <a:endParaRPr/>
          </a:p>
        </p:txBody>
      </p:sp>
      <p:sp>
        <p:nvSpPr>
          <p:cNvPr id="610" name=""/>
          <p:cNvSpPr/>
          <p:nvPr/>
        </p:nvSpPr>
        <p:spPr>
          <a:xfrm rot="0" flipH="0" flipV="0">
            <a:off x="4991100" y="4105275"/>
            <a:ext cx="6591300" cy="590550"/>
          </a:xfrm>
          <a:prstGeom prst="roundRect">
            <a:avLst>
              <a:gd name="adj" fmla="val 12903"/>
            </a:avLst>
          </a:prstGeom>
          <a:solidFill>
            <a:srgbClr val="F4F7FA"/>
          </a:solidFill>
          <a:ln/>
        </p:spPr>
        <p:txBody>
          <a:bodyPr/>
          <a:p/>
        </p:txBody>
      </p:sp>
      <p:sp>
        <p:nvSpPr>
          <p:cNvPr id="611" name=""/>
          <p:cNvSpPr/>
          <p:nvPr/>
        </p:nvSpPr>
        <p:spPr>
          <a:xfrm rot="0" flipH="0" flipV="0">
            <a:off x="5162550" y="4238625"/>
            <a:ext cx="38100" cy="323850"/>
          </a:xfrm>
          <a:prstGeom prst="rect">
            <a:avLst/>
          </a:prstGeom>
          <a:solidFill>
            <a:srgbClr val="276FBF"/>
          </a:solidFill>
          <a:ln/>
        </p:spPr>
        <p:txBody>
          <a:bodyPr/>
          <a:p/>
        </p:txBody>
      </p:sp>
      <p:sp>
        <p:nvSpPr>
          <p:cNvPr id="612" name="" descr="{&quot;isTemplate&quot;:true,&quot;type&quot;:&quot;text&quot;}"/>
          <p:cNvSpPr txBox="1"/>
          <p:nvPr/>
        </p:nvSpPr>
        <p:spPr>
          <a:xfrm rot="0" flipH="0" flipV="0">
            <a:off x="5334000" y="4305300"/>
            <a:ext cx="142875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 b="1">
                <a:solidFill>
                  <a:srgbClr val="20344B"/>
                </a:solidFill>
                <a:latin typeface="Microsoft YaHei"/>
                <a:ea typeface="Microsoft YaHei"/>
              </a:rPr>
              <a:t>关联材料</a:t>
            </a:r>
            <a:endParaRPr/>
          </a:p>
        </p:txBody>
      </p:sp>
      <p:sp>
        <p:nvSpPr>
          <p:cNvPr id="613" name="" descr="{&quot;isTemplate&quot;:true,&quot;type&quot;:&quot;text&quot;}"/>
          <p:cNvSpPr txBox="1"/>
          <p:nvPr/>
        </p:nvSpPr>
        <p:spPr>
          <a:xfrm rot="0" flipH="0" flipV="0">
            <a:off x="6896100" y="4314825"/>
            <a:ext cx="451485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>
                <a:solidFill>
                  <a:srgbClr val="546779"/>
                </a:solidFill>
                <a:latin typeface="Microsoft YaHei"/>
                <a:ea typeface="Microsoft YaHei"/>
              </a:rPr>
              <a:t>与哪些</a:t>
            </a:r>
            <a:r>
              <a:rPr lang="en-US" sz="1125">
                <a:solidFill>
                  <a:srgbClr val="546779"/>
                </a:solidFill>
                <a:latin typeface="Microsoft YaHei"/>
                <a:ea typeface="Microsoft YaHei"/>
              </a:rPr>
              <a:t xml:space="preserve"> S </a:t>
            </a:r>
            <a:r>
              <a:rPr lang="zh-CN" sz="1125">
                <a:solidFill>
                  <a:srgbClr val="546779"/>
                </a:solidFill>
                <a:latin typeface="Microsoft YaHei"/>
                <a:ea typeface="Microsoft YaHei"/>
              </a:rPr>
              <a:t>编号互相引用</a:t>
            </a:r>
            <a:endParaRPr/>
          </a:p>
        </p:txBody>
      </p:sp>
      <p:sp>
        <p:nvSpPr>
          <p:cNvPr id="614" name=""/>
          <p:cNvSpPr/>
          <p:nvPr/>
        </p:nvSpPr>
        <p:spPr>
          <a:xfrm rot="0" flipH="0" flipV="0">
            <a:off x="4991100" y="4791075"/>
            <a:ext cx="6591300" cy="590550"/>
          </a:xfrm>
          <a:prstGeom prst="roundRect">
            <a:avLst>
              <a:gd name="adj" fmla="val 12903"/>
            </a:avLst>
          </a:prstGeom>
          <a:solidFill>
            <a:srgbClr val="FFF4E6"/>
          </a:solidFill>
          <a:ln/>
        </p:spPr>
        <p:txBody>
          <a:bodyPr/>
          <a:p/>
        </p:txBody>
      </p:sp>
      <p:sp>
        <p:nvSpPr>
          <p:cNvPr id="615" name=""/>
          <p:cNvSpPr/>
          <p:nvPr/>
        </p:nvSpPr>
        <p:spPr>
          <a:xfrm rot="0" flipH="0" flipV="0">
            <a:off x="5162550" y="4924425"/>
            <a:ext cx="38100" cy="323850"/>
          </a:xfrm>
          <a:prstGeom prst="rect">
            <a:avLst/>
          </a:prstGeom>
          <a:solidFill>
            <a:srgbClr val="CB6B28"/>
          </a:solidFill>
          <a:ln/>
        </p:spPr>
        <p:txBody>
          <a:bodyPr/>
          <a:p/>
        </p:txBody>
      </p:sp>
      <p:sp>
        <p:nvSpPr>
          <p:cNvPr id="616" name="" descr="{&quot;isTemplate&quot;:true,&quot;type&quot;:&quot;text&quot;}"/>
          <p:cNvSpPr txBox="1"/>
          <p:nvPr/>
        </p:nvSpPr>
        <p:spPr>
          <a:xfrm rot="0" flipH="0" flipV="0">
            <a:off x="5334000" y="4991100"/>
            <a:ext cx="142875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 b="1">
                <a:solidFill>
                  <a:srgbClr val="CB6B28"/>
                </a:solidFill>
                <a:latin typeface="Microsoft YaHei"/>
                <a:ea typeface="Microsoft YaHei"/>
              </a:rPr>
              <a:t>待确认问题</a:t>
            </a:r>
            <a:endParaRPr/>
          </a:p>
        </p:txBody>
      </p:sp>
      <p:sp>
        <p:nvSpPr>
          <p:cNvPr id="617" name="" descr="{&quot;isTemplate&quot;:true,&quot;type&quot;:&quot;text&quot;}"/>
          <p:cNvSpPr txBox="1"/>
          <p:nvPr/>
        </p:nvSpPr>
        <p:spPr>
          <a:xfrm rot="0" flipH="0" flipV="0">
            <a:off x="6896100" y="5000625"/>
            <a:ext cx="451485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>
                <a:solidFill>
                  <a:srgbClr val="546779"/>
                </a:solidFill>
                <a:latin typeface="Microsoft YaHei"/>
                <a:ea typeface="Microsoft YaHei"/>
              </a:rPr>
              <a:t>尚未确认、会影响判断的项</a:t>
            </a:r>
            <a:endParaRPr/>
          </a:p>
        </p:txBody>
      </p:sp>
      <p:sp>
        <p:nvSpPr>
          <p:cNvPr id="618" name=""/>
          <p:cNvSpPr/>
          <p:nvPr/>
        </p:nvSpPr>
        <p:spPr>
          <a:xfrm rot="0" flipH="0" flipV="0">
            <a:off x="4991100" y="5476875"/>
            <a:ext cx="6591300" cy="590550"/>
          </a:xfrm>
          <a:prstGeom prst="roundRect">
            <a:avLst>
              <a:gd name="adj" fmla="val 12903"/>
            </a:avLst>
          </a:prstGeom>
          <a:solidFill>
            <a:srgbClr val="ECF7F2"/>
          </a:solidFill>
          <a:ln/>
        </p:spPr>
        <p:txBody>
          <a:bodyPr/>
          <a:p/>
        </p:txBody>
      </p:sp>
      <p:sp>
        <p:nvSpPr>
          <p:cNvPr id="619" name=""/>
          <p:cNvSpPr/>
          <p:nvPr/>
        </p:nvSpPr>
        <p:spPr>
          <a:xfrm rot="0" flipH="0" flipV="0">
            <a:off x="5162550" y="5610225"/>
            <a:ext cx="38100" cy="323850"/>
          </a:xfrm>
          <a:prstGeom prst="rect">
            <a:avLst/>
          </a:prstGeom>
          <a:solidFill>
            <a:srgbClr val="26816B"/>
          </a:solidFill>
          <a:ln/>
        </p:spPr>
        <p:txBody>
          <a:bodyPr/>
          <a:p/>
        </p:txBody>
      </p:sp>
      <p:sp>
        <p:nvSpPr>
          <p:cNvPr id="620" name="" descr="{&quot;isTemplate&quot;:true,&quot;type&quot;:&quot;text&quot;}"/>
          <p:cNvSpPr txBox="1"/>
          <p:nvPr/>
        </p:nvSpPr>
        <p:spPr>
          <a:xfrm rot="0" flipH="0" flipV="0">
            <a:off x="5334000" y="5676900"/>
            <a:ext cx="142875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 b="1">
                <a:solidFill>
                  <a:srgbClr val="26816B"/>
                </a:solidFill>
                <a:latin typeface="Microsoft YaHei"/>
                <a:ea typeface="Microsoft YaHei"/>
              </a:rPr>
              <a:t>内容摘要</a:t>
            </a:r>
            <a:endParaRPr/>
          </a:p>
        </p:txBody>
      </p:sp>
      <p:sp>
        <p:nvSpPr>
          <p:cNvPr id="621" name="" descr="{&quot;isTemplate&quot;:true,&quot;type&quot;:&quot;text&quot;}"/>
          <p:cNvSpPr txBox="1"/>
          <p:nvPr/>
        </p:nvSpPr>
        <p:spPr>
          <a:xfrm rot="0" flipH="0" flipV="0">
            <a:off x="6896100" y="5686425"/>
            <a:ext cx="451485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>
                <a:solidFill>
                  <a:srgbClr val="546779"/>
                </a:solidFill>
                <a:latin typeface="Microsoft YaHei"/>
                <a:ea typeface="Microsoft YaHei"/>
              </a:rPr>
              <a:t>用于辨认资料，不用于证明正确</a:t>
            </a:r>
            <a:endParaRPr/>
          </a:p>
        </p:txBody>
      </p:sp>
      <p:sp>
        <p:nvSpPr>
          <p:cNvPr id="622" name="" descr="{&quot;isTemplate&quot;:true,&quot;type&quot;:&quot;text&quot;}"/>
          <p:cNvSpPr txBox="1"/>
          <p:nvPr/>
        </p:nvSpPr>
        <p:spPr>
          <a:xfrm rot="0" flipH="0" flipV="0">
            <a:off x="609600" y="6400800"/>
            <a:ext cx="18288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 xml:space="preserve">5.2 </a:t>
            </a: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材料来源、假设与可用范围</a:t>
            </a:r>
            <a:endParaRPr/>
          </a:p>
        </p:txBody>
      </p:sp>
      <p:sp>
        <p:nvSpPr>
          <p:cNvPr id="623" name="" descr="{&quot;isTemplate&quot;:true,&quot;type&quot;:&quot;text&quot;}"/>
          <p:cNvSpPr txBox="1"/>
          <p:nvPr/>
        </p:nvSpPr>
        <p:spPr>
          <a:xfrm rot="0" flipH="0" flipV="0">
            <a:off x="11125200" y="6400800"/>
            <a:ext cx="4572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>09 / 23</a:t>
            </a:r>
            <a:endParaRPr/>
          </a:p>
        </p:txBody>
      </p:sp>
    </p:spTree>
  </p:cSld>
</p:sld>
</file>

<file path=ppt/slides/slide10.xml><?xml version="1.0" encoding="utf-8"?>
<p:sld xmlns:p="http://schemas.openxmlformats.org/presentationml/2006/main" xmlns:a="http://schemas.openxmlformats.org/drawingml/2006/main">
  <p:cSld>
    <p:spTree>
      <p:nvGrpSpPr>
        <p:cNvPr id="36" name="" descr="&lt;Slide notes={`摘要这件事我想多说一句，因为它最容易被误用。&#10;&#10;摘要是给人看的，作用是辨认。文件多了以后，你翻到一份摘要，能认出这是哪一份材料、哪一版，就不至于张冠李戴。它还带来一个好处：文件后来被改了，你手上还留着当时用的内容和摘要，接收者就能解释这次实验为什么用了这些文字。&#10;&#10;但摘要本身不证明资料正确。它没有来源权威，也不因为写得流畅就更可信。&#10;&#10;还有一个容易混的地方：作者文稿的修改记录，不是公共资源的业务 Revision。前者是作者侧的版本痕迹，后者是资源身份。后续进入 Studio 时，仍然按稳定资源身份和独立实验副本管理，这部分在第三章讲过。&#10;&#10;所以看摘要的时候，把它当索引，不要当证据。`} style={{ width: 1280, height: 720, background: '#FFFFFF', flexDirection: 'column', padding: '20px 64px' }}&gt;&#10;&#10;    &lt;Box style={{ height: 100, flexDirection: 'row', alignItems: 'center', gap: 20 }}&gt;&#10;        &lt;Box style={{ width: 4, height: 44, background: '#276FBF' }} /&gt;&#10;        &lt;Box style={{ flexDirection: 'column', gap: 4 }}&gt;&#10;            &lt;Text style={{ fontSize: 14, color: '#546779' }}&gt;5.2.2　建一张能追到原文的来源表&lt;/Text&gt;&#10;            &lt;Text style={{ fontSize: 34, fontWeight: 'bold', color: '#20344B' }}&gt;摘要能辨认材料，不能证明正确&lt;/Text&gt;&#10;        &lt;/Box&gt;&#10;    &lt;/Box&gt;&#10;&#10;    &lt;Box style={{ height: 540, flexDirection: 'row', gap: 24, alignItems: 'center' }}&gt;&#10;&#10;        &lt;Box style={{ width: 452, height: 420, background: '#ECF7F2', borderRadius: 12, padding: 24, flexDirection: 'column', gap: 12 }}&gt;&#10;            &lt;Text style={{ fontSize: 15, color: '#26816B' }}&gt;内容摘要可以做什么&lt;/Text&gt;&#10;            &lt;Text style={{ fontSize: 22, fontWeight: 'bold', color: '#20344B' }}&gt;辨认材料&lt;/Text&gt;&#10;            &lt;Text style={{ fontSize: 16, color: '#20344B', lineHeight: 1.7 }}&gt;先保存收到的原文，再写整理稿；后来的概括不能覆盖最初含义。&lt;/Text&gt;&#10;            &lt;Box style={{ width: 404, height: 1, background: '#B5C7D8' }} /&gt;&#10;            &lt;Text style={{ fontSize: 15, color: '#546779', lineHeight: 1.7 }}&gt;用于辨认：这是哪一份材料、哪一版。翻到它，能对上号就够了。&lt;/Text&gt;&#10;        &lt;/Box&gt;&#10;&#10;        &lt;Box style={{ width: 676, flexDirection: 'column', gap: 16, justifyContent: 'center' }}&gt;&#10;&#10;            &lt;Box style={{ width: 676, height: 200, background: '#FFF4E6', borderRadius: 12, padding: 24, flexDirection: 'column', gap: 10 }}&gt;&#10;                &lt;Text style={{ fontSize: 15, color: '#CB6B28' }}&gt;摘要不能做什么&lt;/Text&gt;&#10;                &lt;Text style={{ fontSize: 17, color: '#20344B', lineHeight: 1.6 }}&gt;不能证明资料正确，也不能因为文件更新就更可信。&lt;/Text&gt;&#10;                &lt;Text style={{ fontSize: 15, color: '#546779', lineHeight: 1.6 }}&gt;文件后来改动时，仍要保留本次采用的内容与摘要。&lt;/Text&gt;&#10;            &lt;/Box&gt;&#10;&#10;            &lt;Box style={{ width: 676, height: 200, background: '#F4F7FA', borderRadius: 12, padding: 24, flexDirection: 'column', gap: 10 }}&gt;&#10;                &lt;Text style={{ fontSize: 15, color: '#276FBF' }}&gt;作者侧的修改记录，不是业务 Revision&lt;/Text&gt;&#10;                &lt;Text style={{ fontSize: 17, color: '#20344B', lineHeight: 1.6 }}&gt;作者文稿的修改记录属于作者侧版本；进入 Studio 后，仍按稳定资源身份和独立实验副本管理。&lt;/Text&gt;&#10;                &lt;Text style={{ fontSize: 15, color: '#546779', lineHeight: 1.6 }}&gt;见第三章的资源身份说明。&lt;/Text&gt;&#10;            &lt;/Box&gt;&#10;&#10;        &lt;/Box&gt;&#10;&#10;    &lt;/Box&gt;&#10;&#10;    &lt;Box style={{ height: 40, flexDirection: 'row', justifyContent: 'space-between', alignItems: 'center' }}&gt;&#10;        &lt;Text style={{ fontSize: 14, color: '#546779' }}&gt;5.2 材料来源、假设与可用范围&lt;/Text&gt;&#10;        &lt;Text style={{ fontSize: 14, color: '#546779' }}&gt;10 / 23&lt;/Text&gt;&#10;    &lt;/Box&gt;&#10;&#10;&lt;/Slide&gt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38" name=""/>
          <p:cNvSpPr/>
          <p:nvPr/>
        </p:nvSpPr>
        <p:spPr>
          <a:xfrm rot="0" flipH="0" flipV="0">
            <a:off x="609600" y="457200"/>
            <a:ext cx="38100" cy="419100"/>
          </a:xfrm>
          <a:prstGeom prst="rect">
            <a:avLst/>
          </a:prstGeom>
          <a:solidFill>
            <a:srgbClr val="276FBF"/>
          </a:solidFill>
          <a:ln/>
        </p:spPr>
        <p:txBody>
          <a:bodyPr/>
          <a:p/>
        </p:txBody>
      </p:sp>
      <p:sp>
        <p:nvSpPr>
          <p:cNvPr id="39" name="" descr="{&quot;isTemplate&quot;:true,&quot;type&quot;:&quot;text&quot;}"/>
          <p:cNvSpPr txBox="1"/>
          <p:nvPr/>
        </p:nvSpPr>
        <p:spPr>
          <a:xfrm rot="0" flipH="0" flipV="0">
            <a:off x="838200" y="371475"/>
            <a:ext cx="45339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>5.2.2</a:t>
            </a: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　建一张能追到原文的来源表</a:t>
            </a:r>
            <a:endParaRPr/>
          </a:p>
        </p:txBody>
      </p:sp>
      <p:sp>
        <p:nvSpPr>
          <p:cNvPr id="40" name="" descr="{&quot;isTemplate&quot;:true,&quot;type&quot;:&quot;text&quot;}"/>
          <p:cNvSpPr txBox="1"/>
          <p:nvPr/>
        </p:nvSpPr>
        <p:spPr>
          <a:xfrm rot="0" flipH="0" flipV="0">
            <a:off x="838200" y="571500"/>
            <a:ext cx="4533900" cy="3905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550" b="1">
                <a:solidFill>
                  <a:srgbClr val="20344B"/>
                </a:solidFill>
                <a:latin typeface="Microsoft YaHei"/>
                <a:ea typeface="Microsoft YaHei"/>
              </a:rPr>
              <a:t>摘要能辨认材料，不能证明正确</a:t>
            </a:r>
            <a:endParaRPr/>
          </a:p>
        </p:txBody>
      </p:sp>
      <p:sp>
        <p:nvSpPr>
          <p:cNvPr id="41" name=""/>
          <p:cNvSpPr/>
          <p:nvPr/>
        </p:nvSpPr>
        <p:spPr>
          <a:xfrm rot="0" flipH="0" flipV="0">
            <a:off x="609600" y="1714500"/>
            <a:ext cx="4305300" cy="4000500"/>
          </a:xfrm>
          <a:prstGeom prst="roundRect">
            <a:avLst>
              <a:gd name="adj" fmla="val 2857"/>
            </a:avLst>
          </a:prstGeom>
          <a:solidFill>
            <a:srgbClr val="ECF7F2"/>
          </a:solidFill>
          <a:ln/>
        </p:spPr>
        <p:txBody>
          <a:bodyPr/>
          <a:p/>
        </p:txBody>
      </p:sp>
      <p:sp>
        <p:nvSpPr>
          <p:cNvPr id="42" name="" descr="{&quot;isTemplate&quot;:true,&quot;type&quot;:&quot;text&quot;}"/>
          <p:cNvSpPr txBox="1"/>
          <p:nvPr/>
        </p:nvSpPr>
        <p:spPr>
          <a:xfrm rot="0" flipH="0" flipV="0">
            <a:off x="838200" y="1943100"/>
            <a:ext cx="384810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>
                <a:solidFill>
                  <a:srgbClr val="26816B"/>
                </a:solidFill>
                <a:latin typeface="Microsoft YaHei"/>
                <a:ea typeface="Microsoft YaHei"/>
              </a:rPr>
              <a:t>内容摘要可以做什么</a:t>
            </a:r>
            <a:endParaRPr/>
          </a:p>
        </p:txBody>
      </p:sp>
      <p:sp>
        <p:nvSpPr>
          <p:cNvPr id="43" name="" descr="{&quot;isTemplate&quot;:true,&quot;type&quot;:&quot;text&quot;}"/>
          <p:cNvSpPr txBox="1"/>
          <p:nvPr/>
        </p:nvSpPr>
        <p:spPr>
          <a:xfrm rot="0" flipH="0" flipV="0">
            <a:off x="838200" y="2228850"/>
            <a:ext cx="3848100" cy="2571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650" b="1">
                <a:solidFill>
                  <a:srgbClr val="20344B"/>
                </a:solidFill>
                <a:latin typeface="Microsoft YaHei"/>
                <a:ea typeface="Microsoft YaHei"/>
              </a:rPr>
              <a:t>辨认材料</a:t>
            </a:r>
            <a:endParaRPr/>
          </a:p>
        </p:txBody>
      </p:sp>
      <p:sp>
        <p:nvSpPr>
          <p:cNvPr id="44" name="" descr="{&quot;isTemplate&quot;:true,&quot;type&quot;:&quot;text&quot;}"/>
          <p:cNvSpPr txBox="1"/>
          <p:nvPr/>
        </p:nvSpPr>
        <p:spPr>
          <a:xfrm rot="0" flipH="0" flipV="0">
            <a:off x="838200" y="2600325"/>
            <a:ext cx="3848100" cy="62865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70000"/>
              </a:lnSpc>
            </a:pPr>
            <a:r>
              <a:rPr lang="zh-CN" sz="1200">
                <a:solidFill>
                  <a:srgbClr val="20344B"/>
                </a:solidFill>
                <a:latin typeface="Microsoft YaHei"/>
                <a:ea typeface="Microsoft YaHei"/>
              </a:rPr>
              <a:t>先保存收到的原文，再写整理稿；后来的概括不能覆盖最初含义。</a:t>
            </a:r>
            <a:endParaRPr/>
          </a:p>
        </p:txBody>
      </p:sp>
      <p:sp>
        <p:nvSpPr>
          <p:cNvPr id="45" name=""/>
          <p:cNvSpPr/>
          <p:nvPr/>
        </p:nvSpPr>
        <p:spPr>
          <a:xfrm rot="0" flipH="0" flipV="0">
            <a:off x="838200" y="3343275"/>
            <a:ext cx="3848100" cy="9525"/>
          </a:xfrm>
          <a:prstGeom prst="rect">
            <a:avLst/>
          </a:prstGeom>
          <a:solidFill>
            <a:srgbClr val="B5C7D8"/>
          </a:solidFill>
          <a:ln/>
        </p:spPr>
        <p:txBody>
          <a:bodyPr/>
          <a:p/>
        </p:txBody>
      </p:sp>
      <p:sp>
        <p:nvSpPr>
          <p:cNvPr id="46" name="" descr="{&quot;isTemplate&quot;:true,&quot;type&quot;:&quot;text&quot;}"/>
          <p:cNvSpPr txBox="1"/>
          <p:nvPr/>
        </p:nvSpPr>
        <p:spPr>
          <a:xfrm rot="0" flipH="0" flipV="0">
            <a:off x="838200" y="3467100"/>
            <a:ext cx="3848100" cy="59055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70000"/>
              </a:lnSpc>
            </a:pPr>
            <a:r>
              <a:rPr lang="zh-CN" sz="1125">
                <a:solidFill>
                  <a:srgbClr val="546779"/>
                </a:solidFill>
                <a:latin typeface="Microsoft YaHei"/>
                <a:ea typeface="Microsoft YaHei"/>
              </a:rPr>
              <a:t>用于辨认：这是哪一份材料、哪一版。翻到它，能对上号就够了。</a:t>
            </a:r>
            <a:endParaRPr/>
          </a:p>
        </p:txBody>
      </p:sp>
      <p:sp>
        <p:nvSpPr>
          <p:cNvPr id="47" name=""/>
          <p:cNvSpPr/>
          <p:nvPr/>
        </p:nvSpPr>
        <p:spPr>
          <a:xfrm rot="0" flipH="0" flipV="0">
            <a:off x="5143500" y="1733550"/>
            <a:ext cx="6438900" cy="1905000"/>
          </a:xfrm>
          <a:prstGeom prst="roundRect">
            <a:avLst>
              <a:gd name="adj" fmla="val 6000"/>
            </a:avLst>
          </a:prstGeom>
          <a:solidFill>
            <a:srgbClr val="FFF4E6"/>
          </a:solidFill>
          <a:ln/>
        </p:spPr>
        <p:txBody>
          <a:bodyPr/>
          <a:p/>
        </p:txBody>
      </p:sp>
      <p:sp>
        <p:nvSpPr>
          <p:cNvPr id="48" name="" descr="{&quot;isTemplate&quot;:true,&quot;type&quot;:&quot;text&quot;}"/>
          <p:cNvSpPr txBox="1"/>
          <p:nvPr/>
        </p:nvSpPr>
        <p:spPr>
          <a:xfrm rot="0" flipH="0" flipV="0">
            <a:off x="5372100" y="1962150"/>
            <a:ext cx="598170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>
                <a:solidFill>
                  <a:srgbClr val="CB6B28"/>
                </a:solidFill>
                <a:latin typeface="Microsoft YaHei"/>
                <a:ea typeface="Microsoft YaHei"/>
              </a:rPr>
              <a:t>摘要不能做什么</a:t>
            </a:r>
            <a:endParaRPr/>
          </a:p>
        </p:txBody>
      </p:sp>
      <p:sp>
        <p:nvSpPr>
          <p:cNvPr id="49" name="" descr="{&quot;isTemplate&quot;:true,&quot;type&quot;:&quot;text&quot;}"/>
          <p:cNvSpPr txBox="1"/>
          <p:nvPr/>
        </p:nvSpPr>
        <p:spPr>
          <a:xfrm rot="0" flipH="0" flipV="0">
            <a:off x="5372100" y="2228850"/>
            <a:ext cx="5981700" cy="314325"/>
          </a:xfrm>
          <a:prstGeom prst="rect"/>
        </p:spPr>
        <p:txBody>
          <a:bodyPr wrap="none" lIns="0" tIns="0" rIns="0" bIns="0"/>
          <a:p>
            <a:pPr>
              <a:lnSpc>
                <a:spcPct val="160000"/>
              </a:lnSpc>
            </a:pPr>
            <a:r>
              <a:rPr lang="zh-CN" sz="1275">
                <a:solidFill>
                  <a:srgbClr val="20344B"/>
                </a:solidFill>
                <a:latin typeface="Microsoft YaHei"/>
                <a:ea typeface="Microsoft YaHei"/>
              </a:rPr>
              <a:t>不能证明资料正确，也不能因为文件更新就更可信。</a:t>
            </a:r>
            <a:endParaRPr/>
          </a:p>
        </p:txBody>
      </p:sp>
      <p:sp>
        <p:nvSpPr>
          <p:cNvPr id="50" name="" descr="{&quot;isTemplate&quot;:true,&quot;type&quot;:&quot;text&quot;}"/>
          <p:cNvSpPr txBox="1"/>
          <p:nvPr/>
        </p:nvSpPr>
        <p:spPr>
          <a:xfrm rot="0" flipH="0" flipV="0">
            <a:off x="5372100" y="2638425"/>
            <a:ext cx="5981700" cy="276225"/>
          </a:xfrm>
          <a:prstGeom prst="rect"/>
        </p:spPr>
        <p:txBody>
          <a:bodyPr wrap="none" lIns="0" tIns="0" rIns="0" bIns="0"/>
          <a:p>
            <a:pPr>
              <a:lnSpc>
                <a:spcPct val="160000"/>
              </a:lnSpc>
            </a:pPr>
            <a:r>
              <a:rPr lang="zh-CN" sz="1125">
                <a:solidFill>
                  <a:srgbClr val="546779"/>
                </a:solidFill>
                <a:latin typeface="Microsoft YaHei"/>
                <a:ea typeface="Microsoft YaHei"/>
              </a:rPr>
              <a:t>文件后来改动时，仍要保留本次采用的内容与摘要。</a:t>
            </a:r>
            <a:endParaRPr/>
          </a:p>
        </p:txBody>
      </p:sp>
      <p:sp>
        <p:nvSpPr>
          <p:cNvPr id="51" name=""/>
          <p:cNvSpPr/>
          <p:nvPr/>
        </p:nvSpPr>
        <p:spPr>
          <a:xfrm rot="0" flipH="0" flipV="0">
            <a:off x="5143500" y="3790950"/>
            <a:ext cx="6438900" cy="1905000"/>
          </a:xfrm>
          <a:prstGeom prst="roundRect">
            <a:avLst>
              <a:gd name="adj" fmla="val 6000"/>
            </a:avLst>
          </a:prstGeom>
          <a:solidFill>
            <a:srgbClr val="F4F7FA"/>
          </a:solidFill>
          <a:ln/>
        </p:spPr>
        <p:txBody>
          <a:bodyPr/>
          <a:p/>
        </p:txBody>
      </p:sp>
      <p:sp>
        <p:nvSpPr>
          <p:cNvPr id="52" name="" descr="{&quot;isTemplate&quot;:true,&quot;type&quot;:&quot;text&quot;}"/>
          <p:cNvSpPr txBox="1"/>
          <p:nvPr/>
        </p:nvSpPr>
        <p:spPr>
          <a:xfrm rot="0" flipH="0" flipV="0">
            <a:off x="5372100" y="4019550"/>
            <a:ext cx="598170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>
                <a:solidFill>
                  <a:srgbClr val="276FBF"/>
                </a:solidFill>
                <a:latin typeface="Microsoft YaHei"/>
                <a:ea typeface="Microsoft YaHei"/>
              </a:rPr>
              <a:t>作者侧的修改记录，不是业务</a:t>
            </a:r>
            <a:r>
              <a:rPr lang="en-US" sz="1125">
                <a:solidFill>
                  <a:srgbClr val="276FBF"/>
                </a:solidFill>
                <a:latin typeface="Microsoft YaHei"/>
                <a:ea typeface="Microsoft YaHei"/>
              </a:rPr>
              <a:t xml:space="preserve"> Revision</a:t>
            </a:r>
            <a:endParaRPr/>
          </a:p>
        </p:txBody>
      </p:sp>
      <p:sp>
        <p:nvSpPr>
          <p:cNvPr id="53" name="" descr="{&quot;isTemplate&quot;:true,&quot;type&quot;:&quot;text&quot;}"/>
          <p:cNvSpPr txBox="1"/>
          <p:nvPr/>
        </p:nvSpPr>
        <p:spPr>
          <a:xfrm rot="0" flipH="0" flipV="0">
            <a:off x="5372100" y="4286250"/>
            <a:ext cx="5981700" cy="62865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60000"/>
              </a:lnSpc>
            </a:pPr>
            <a:r>
              <a:rPr lang="zh-CN" sz="1275">
                <a:solidFill>
                  <a:srgbClr val="20344B"/>
                </a:solidFill>
                <a:latin typeface="Microsoft YaHei"/>
                <a:ea typeface="Microsoft YaHei"/>
              </a:rPr>
              <a:t>作者文稿的修改记录属于作者侧版本；进入</a:t>
            </a:r>
            <a:r>
              <a:rPr lang="en-US" sz="1275">
                <a:solidFill>
                  <a:srgbClr val="20344B"/>
                </a:solidFill>
                <a:latin typeface="Microsoft YaHei"/>
                <a:ea typeface="Microsoft YaHei"/>
              </a:rPr>
              <a:t xml:space="preserve"> Studio </a:t>
            </a:r>
            <a:r>
              <a:rPr lang="zh-CN" sz="1275">
                <a:solidFill>
                  <a:srgbClr val="20344B"/>
                </a:solidFill>
                <a:latin typeface="Microsoft YaHei"/>
                <a:ea typeface="Microsoft YaHei"/>
              </a:rPr>
              <a:t>后，仍按稳定资源身份和独立实验副本管理。</a:t>
            </a:r>
            <a:endParaRPr/>
          </a:p>
        </p:txBody>
      </p:sp>
      <p:sp>
        <p:nvSpPr>
          <p:cNvPr id="54" name="" descr="{&quot;isTemplate&quot;:true,&quot;type&quot;:&quot;text&quot;}"/>
          <p:cNvSpPr txBox="1"/>
          <p:nvPr/>
        </p:nvSpPr>
        <p:spPr>
          <a:xfrm rot="0" flipH="0" flipV="0">
            <a:off x="5372100" y="5010150"/>
            <a:ext cx="5981700" cy="276225"/>
          </a:xfrm>
          <a:prstGeom prst="rect"/>
        </p:spPr>
        <p:txBody>
          <a:bodyPr wrap="none" lIns="0" tIns="0" rIns="0" bIns="0"/>
          <a:p>
            <a:pPr>
              <a:lnSpc>
                <a:spcPct val="160000"/>
              </a:lnSpc>
            </a:pPr>
            <a:r>
              <a:rPr lang="zh-CN" sz="1125">
                <a:solidFill>
                  <a:srgbClr val="546779"/>
                </a:solidFill>
                <a:latin typeface="Microsoft YaHei"/>
                <a:ea typeface="Microsoft YaHei"/>
              </a:rPr>
              <a:t>见第三章的资源身份说明。</a:t>
            </a:r>
            <a:endParaRPr/>
          </a:p>
        </p:txBody>
      </p:sp>
      <p:sp>
        <p:nvSpPr>
          <p:cNvPr id="55" name="" descr="{&quot;isTemplate&quot;:true,&quot;type&quot;:&quot;text&quot;}"/>
          <p:cNvSpPr txBox="1"/>
          <p:nvPr/>
        </p:nvSpPr>
        <p:spPr>
          <a:xfrm rot="0" flipH="0" flipV="0">
            <a:off x="609600" y="6400800"/>
            <a:ext cx="18288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 xml:space="preserve">5.2 </a:t>
            </a: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材料来源、假设与可用范围</a:t>
            </a:r>
            <a:endParaRPr/>
          </a:p>
        </p:txBody>
      </p:sp>
      <p:sp>
        <p:nvSpPr>
          <p:cNvPr id="56" name="" descr="{&quot;isTemplate&quot;:true,&quot;type&quot;:&quot;text&quot;}"/>
          <p:cNvSpPr txBox="1"/>
          <p:nvPr/>
        </p:nvSpPr>
        <p:spPr>
          <a:xfrm rot="0" flipH="0" flipV="0">
            <a:off x="11125200" y="6400800"/>
            <a:ext cx="4572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>10 / 23</a:t>
            </a:r>
            <a:endParaRPr/>
          </a:p>
        </p:txBody>
      </p:sp>
    </p:spTree>
  </p:cSld>
</p:sld>
</file>

<file path=ppt/slides/slide11.xml><?xml version="1.0" encoding="utf-8"?>
<p:sld xmlns:p="http://schemas.openxmlformats.org/presentationml/2006/main" xmlns:a="http://schemas.openxmlformats.org/drawingml/2006/main">
  <p:cSld>
    <p:spTree>
      <p:nvGrpSpPr>
        <p:cNvPr id="57" name="" descr="&lt;Slide notes={`冲突不是单独一句话的问题，而是两份材料汇合以后才出现的。&#10;&#10;一边是 S01 里的既有设定，B 窗口提供设施问题咨询。另一边是资料包里多出来的一张教学便签，写着 B 窗口也能审批场地预约。把两句话放在一起，冲突就出现了——咨询被扩大成了审批。&#10;&#10;为什么这很要紧？因为一旦 B 窗口变成能审批，正确窗口的判断变了，任务设计要改，评分判据也要改。这不是补一句说明就能解决的事。&#10;&#10;所以本次决定是：便签不纳入当前场景。将来如果真需要审批机制，那是新需求，要另议范围。&#10;&#10;我还要强调一句：这张便签是为练习构造的反例，它被我们读到，并不等于对象就多了一项能力。`} style={{ width: 1280, height: 720, background: '#FFFFFF', flexDirection: 'column', padding: '20px 64px' }}&gt;&#10;&#10;    &lt;Box style={{ height: 100, flexDirection: 'row', alignItems: 'center', gap: 20 }}&gt;&#10;        &lt;Box style={{ width: 4, height: 44, background: '#276FBF' }} /&gt;&#10;        &lt;Box style={{ flexDirection: 'column', gap: 4 }}&gt;&#10;            &lt;Text style={{ fontSize: 14, color: '#546779' }}&gt;5.2.3　冲突先登记，再决定是否采用&lt;/Text&gt;&#10;            &lt;Text style={{ fontSize: 34, fontWeight: 'bold', color: '#20344B' }}&gt;两份材料汇合，冲突才成形&lt;/Text&gt;&#10;        &lt;/Box&gt;&#10;    &lt;/Box&gt;&#10;&#10;    &lt;Box style={{ height: 540, flexDirection: 'column', justifyContent: 'center', gap: 8 }}&gt;&#10;&#10;        &lt;Box style={{ width: 1152, flexDirection: 'row', alignItems: 'center' }}&gt;&#10;            &lt;Box style={{ width: 430, height: 96, background: '#EDF4FC', borderRadius: 10, padding: '0 20px', flexDirection: 'column', gap: 6, justifyContent: 'center' }}&gt;&#10;                &lt;Text style={{ fontSize: 14, color: '#276FBF' }}&gt;S01　既有设定&lt;/Text&gt;&#10;                &lt;Text style={{ fontSize: 16, color: '#20344B' }}&gt;B 窗口提供设施问题咨询&lt;/Text&gt;&#10;            &lt;/Box&gt;&#10;            &lt;Box style={{ width: 292 }} /&gt;&#10;            &lt;Box style={{ width: 430, height: 96, background: '#FFF4E6', borderRadius: 10, padding: '0 20px', flexDirection: 'column', gap: 6, justifyContent: 'center' }}&gt;&#10;                &lt;Text style={{ fontSize: 14, color: '#CB6B28' }}&gt;新增教学便签&lt;/Text&gt;&#10;                &lt;Text style={{ fontSize: 16, color: '#20344B' }}&gt;“B 窗口也能审批场地预约。”&lt;/Text&gt;&#10;            &lt;/Box&gt;&#10;        &lt;/Box&gt;&#10;&#10;        &lt;Box style={{ width: 1152, flexDirection: 'row', alignItems: 'center' }}&gt;&#10;            &lt;Box style={{ width: 193 }} /&gt;&#10;            &lt;Box style={{ width: 44, height: 48, justifyContent: 'center', alignItems: 'center' }}&gt;&#10;                &lt;Text style={{ fontSize: 24, color: '#CB6B28' }}&gt;↓&lt;/Text&gt;&#10;            &lt;/Box&gt;&#10;            &lt;Box style={{ width: 678 }} /&gt;&#10;            &lt;Box style={{ width: 44, height: 48, justifyContent: 'center', alignItems: 'center' }}&gt;&#10;                &lt;Text style={{ fontSize: 24, color: '#CB6B28' }}&gt;↓&lt;/Text&gt;&#10;            &lt;/Box&gt;&#10;            &lt;Box style={{ width: 193 }} /&gt;&#10;        &lt;/Box&gt;&#10;&#10;        &lt;Box style={{ width: 1152, flexDirection: 'row', justifyContent: 'center' }}&gt;&#10;            &lt;Box style={{ width: 620, height: 92, background: '#FFF4E6', borderRadius: 10, padding: '0 24px', flexDirection: 'column', gap: 4, justifyContent: 'center' }}&gt;&#10;                &lt;Text style={{ fontSize: 14, color: '#CB6B28' }}&gt;C01　冲突登记&lt;/Text&gt;&#10;                &lt;Text style={{ fontSize: 18, fontWeight: 'bold', color: '#20344B' }}&gt;咨询扩大为审批，任务与判据都会改变&lt;/Text&gt;&#10;            &lt;/Box&gt;&#10;        &lt;/Box&gt;&#10;&#10;        &lt;Box style={{ width: 1152, height: 40, flexDirection: 'row', justifyContent: 'center', alignItems: 'center' }}&gt;&#10;            &lt;Box style={{ width: 44, justifyContent: 'center', alignItems: 'center' }}&gt;&#10;                &lt;Text style={{ fontSize: 24, color: '#26816B' }}&gt;↓&lt;/Text&gt;&#10;            &lt;/Box&gt;&#10;        &lt;/Box&gt;&#10;&#10;        &lt;Box style={{ width: 1152, flexDirection: 'row', justifyContent: 'center' }}&gt;&#10;            &lt;Box style={{ width: 620, height: 84, background: '#ECF7F2', borderRadius: 10, padding: '0 24px', flexDirection: 'column', gap: 4, justifyContent: 'center' }}&gt;&#10;                &lt;Text style={{ fontSize: 14, color: '#26816B' }}&gt;本次决定&lt;/Text&gt;&#10;                &lt;Text style={{ fontSize: 17, color: '#20344B' }}&gt;便签不纳入当前场景；需要新需求时另议范围&lt;/Text&gt;&#10;            &lt;/Box&gt;&#10;        &lt;/Box&gt;&#10;&#10;        &lt;Box style={{ width: 1152, height: 56, background: '#F7F3E8', borderRadius: 10, padding: '0 22px', flexDirection: 'row', alignItems: 'center' }}&gt;&#10;            &lt;Text style={{ fontSize: 15, color: '#CB6B28' }}&gt;便签是为练习构造的冲突材料：被读到，不等于对象新增了一项能力。&lt;/Text&gt;&#10;        &lt;/Box&gt;&#10;&#10;    &lt;/Box&gt;&#10;&#10;    &lt;Box style={{ height: 40, flexDirection: 'row', justifyContent: 'space-between', alignItems: 'center' }}&gt;&#10;        &lt;Text style={{ fontSize: 14, color: '#546779' }}&gt;5.2 材料来源、假设与可用范围&lt;/Text&gt;&#10;        &lt;Text style={{ fontSize: 14, color: '#546779' }}&gt;11 / 23&lt;/Text&gt;&#10;    &lt;/Box&gt;&#10;&#10;&lt;/Slide&gt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59" name=""/>
          <p:cNvSpPr/>
          <p:nvPr/>
        </p:nvSpPr>
        <p:spPr>
          <a:xfrm rot="0" flipH="0" flipV="0">
            <a:off x="609600" y="457200"/>
            <a:ext cx="38100" cy="419100"/>
          </a:xfrm>
          <a:prstGeom prst="rect">
            <a:avLst/>
          </a:prstGeom>
          <a:solidFill>
            <a:srgbClr val="276FBF"/>
          </a:solidFill>
          <a:ln/>
        </p:spPr>
        <p:txBody>
          <a:bodyPr/>
          <a:p/>
        </p:txBody>
      </p:sp>
      <p:sp>
        <p:nvSpPr>
          <p:cNvPr id="60" name="" descr="{&quot;isTemplate&quot;:true,&quot;type&quot;:&quot;text&quot;}"/>
          <p:cNvSpPr txBox="1"/>
          <p:nvPr/>
        </p:nvSpPr>
        <p:spPr>
          <a:xfrm rot="0" flipH="0" flipV="0">
            <a:off x="838200" y="371475"/>
            <a:ext cx="38862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>5.2.3</a:t>
            </a: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　冲突先登记，再决定是否采用</a:t>
            </a:r>
            <a:endParaRPr/>
          </a:p>
        </p:txBody>
      </p:sp>
      <p:sp>
        <p:nvSpPr>
          <p:cNvPr id="61" name="" descr="{&quot;isTemplate&quot;:true,&quot;type&quot;:&quot;text&quot;}"/>
          <p:cNvSpPr txBox="1"/>
          <p:nvPr/>
        </p:nvSpPr>
        <p:spPr>
          <a:xfrm rot="0" flipH="0" flipV="0">
            <a:off x="838200" y="571500"/>
            <a:ext cx="3886200" cy="3905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550" b="1">
                <a:solidFill>
                  <a:srgbClr val="20344B"/>
                </a:solidFill>
                <a:latin typeface="Microsoft YaHei"/>
                <a:ea typeface="Microsoft YaHei"/>
              </a:rPr>
              <a:t>两份材料汇合，冲突才成形</a:t>
            </a:r>
            <a:endParaRPr/>
          </a:p>
        </p:txBody>
      </p:sp>
      <p:sp>
        <p:nvSpPr>
          <p:cNvPr id="62" name=""/>
          <p:cNvSpPr/>
          <p:nvPr/>
        </p:nvSpPr>
        <p:spPr>
          <a:xfrm rot="0" flipH="0" flipV="0">
            <a:off x="609600" y="1543050"/>
            <a:ext cx="4095750" cy="914400"/>
          </a:xfrm>
          <a:prstGeom prst="roundRect">
            <a:avLst>
              <a:gd name="adj" fmla="val 10417"/>
            </a:avLst>
          </a:prstGeom>
          <a:solidFill>
            <a:srgbClr val="EDF4FC"/>
          </a:solidFill>
          <a:ln/>
        </p:spPr>
        <p:txBody>
          <a:bodyPr/>
          <a:p/>
        </p:txBody>
      </p:sp>
      <p:sp>
        <p:nvSpPr>
          <p:cNvPr id="63" name="" descr="{&quot;isTemplate&quot;:true,&quot;type&quot;:&quot;text&quot;}"/>
          <p:cNvSpPr txBox="1"/>
          <p:nvPr/>
        </p:nvSpPr>
        <p:spPr>
          <a:xfrm rot="0" flipH="0" flipV="0">
            <a:off x="800100" y="1800225"/>
            <a:ext cx="37147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276FBF"/>
                </a:solidFill>
                <a:latin typeface="Microsoft YaHei"/>
                <a:ea typeface="Microsoft YaHei"/>
              </a:rPr>
              <a:t>S01</a:t>
            </a:r>
            <a:r>
              <a:rPr lang="zh-CN" sz="1050">
                <a:solidFill>
                  <a:srgbClr val="276FBF"/>
                </a:solidFill>
                <a:latin typeface="Microsoft YaHei"/>
                <a:ea typeface="Microsoft YaHei"/>
              </a:rPr>
              <a:t>　既有设定</a:t>
            </a:r>
            <a:endParaRPr/>
          </a:p>
        </p:txBody>
      </p:sp>
      <p:sp>
        <p:nvSpPr>
          <p:cNvPr id="64" name="" descr="{&quot;isTemplate&quot;:true,&quot;type&quot;:&quot;text&quot;}"/>
          <p:cNvSpPr txBox="1"/>
          <p:nvPr/>
        </p:nvSpPr>
        <p:spPr>
          <a:xfrm rot="0" flipH="0" flipV="0">
            <a:off x="800100" y="2019300"/>
            <a:ext cx="371475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00">
                <a:solidFill>
                  <a:srgbClr val="20344B"/>
                </a:solidFill>
                <a:latin typeface="Microsoft YaHei"/>
                <a:ea typeface="Microsoft YaHei"/>
              </a:rPr>
              <a:t xml:space="preserve">B </a:t>
            </a:r>
            <a:r>
              <a:rPr lang="zh-CN" sz="1200">
                <a:solidFill>
                  <a:srgbClr val="20344B"/>
                </a:solidFill>
                <a:latin typeface="Microsoft YaHei"/>
                <a:ea typeface="Microsoft YaHei"/>
              </a:rPr>
              <a:t>窗口提供设施问题咨询</a:t>
            </a:r>
            <a:endParaRPr/>
          </a:p>
        </p:txBody>
      </p:sp>
      <p:sp>
        <p:nvSpPr>
          <p:cNvPr id="65" name=""/>
          <p:cNvSpPr/>
          <p:nvPr/>
        </p:nvSpPr>
        <p:spPr>
          <a:xfrm rot="0" flipH="0" flipV="0">
            <a:off x="7486650" y="1543050"/>
            <a:ext cx="4095750" cy="914400"/>
          </a:xfrm>
          <a:prstGeom prst="roundRect">
            <a:avLst>
              <a:gd name="adj" fmla="val 10417"/>
            </a:avLst>
          </a:prstGeom>
          <a:solidFill>
            <a:srgbClr val="FFF4E6"/>
          </a:solidFill>
          <a:ln/>
        </p:spPr>
        <p:txBody>
          <a:bodyPr/>
          <a:p/>
        </p:txBody>
      </p:sp>
      <p:sp>
        <p:nvSpPr>
          <p:cNvPr id="66" name="" descr="{&quot;isTemplate&quot;:true,&quot;type&quot;:&quot;text&quot;}"/>
          <p:cNvSpPr txBox="1"/>
          <p:nvPr/>
        </p:nvSpPr>
        <p:spPr>
          <a:xfrm rot="0" flipH="0" flipV="0">
            <a:off x="7677150" y="1800225"/>
            <a:ext cx="37147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CB6B28"/>
                </a:solidFill>
                <a:latin typeface="Microsoft YaHei"/>
                <a:ea typeface="Microsoft YaHei"/>
              </a:rPr>
              <a:t>新增教学便签</a:t>
            </a:r>
            <a:endParaRPr/>
          </a:p>
        </p:txBody>
      </p:sp>
      <p:sp>
        <p:nvSpPr>
          <p:cNvPr id="67" name="" descr="{&quot;isTemplate&quot;:true,&quot;type&quot;:&quot;text&quot;}"/>
          <p:cNvSpPr txBox="1"/>
          <p:nvPr/>
        </p:nvSpPr>
        <p:spPr>
          <a:xfrm rot="0" flipH="0" flipV="0">
            <a:off x="7677150" y="2019300"/>
            <a:ext cx="371475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00">
                <a:solidFill>
                  <a:srgbClr val="20344B"/>
                </a:solidFill>
                <a:latin typeface="Microsoft YaHei"/>
                <a:ea typeface="Microsoft YaHei"/>
              </a:rPr>
              <a:t xml:space="preserve">“B </a:t>
            </a:r>
            <a:r>
              <a:rPr lang="zh-CN" sz="1200">
                <a:solidFill>
                  <a:srgbClr val="20344B"/>
                </a:solidFill>
                <a:latin typeface="Microsoft YaHei"/>
                <a:ea typeface="Microsoft YaHei"/>
              </a:rPr>
              <a:t>窗口也能审批场地预约。”</a:t>
            </a:r>
            <a:endParaRPr/>
          </a:p>
        </p:txBody>
      </p:sp>
      <p:sp>
        <p:nvSpPr>
          <p:cNvPr id="68" name="" descr="{&quot;isTemplate&quot;:true,&quot;type&quot;:&quot;text&quot;}"/>
          <p:cNvSpPr txBox="1"/>
          <p:nvPr/>
        </p:nvSpPr>
        <p:spPr>
          <a:xfrm rot="0" flipH="0" flipV="0">
            <a:off x="2600325" y="2628900"/>
            <a:ext cx="114300" cy="2762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sz="1800">
                <a:solidFill>
                  <a:srgbClr val="CB6B28"/>
                </a:solidFill>
                <a:latin typeface="Microsoft YaHei"/>
                <a:ea typeface="Microsoft YaHei"/>
              </a:rPr>
              <a:t>↓</a:t>
            </a:r>
            <a:endParaRPr/>
          </a:p>
        </p:txBody>
      </p:sp>
      <p:sp>
        <p:nvSpPr>
          <p:cNvPr id="69" name="" descr="{&quot;isTemplate&quot;:true,&quot;type&quot;:&quot;text&quot;}"/>
          <p:cNvSpPr txBox="1"/>
          <p:nvPr/>
        </p:nvSpPr>
        <p:spPr>
          <a:xfrm rot="0" flipH="0" flipV="0">
            <a:off x="9477375" y="2628900"/>
            <a:ext cx="114300" cy="2762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sz="1800">
                <a:solidFill>
                  <a:srgbClr val="CB6B28"/>
                </a:solidFill>
                <a:latin typeface="Microsoft YaHei"/>
                <a:ea typeface="Microsoft YaHei"/>
              </a:rPr>
              <a:t>↓</a:t>
            </a:r>
            <a:endParaRPr/>
          </a:p>
        </p:txBody>
      </p:sp>
      <p:sp>
        <p:nvSpPr>
          <p:cNvPr id="70" name=""/>
          <p:cNvSpPr/>
          <p:nvPr/>
        </p:nvSpPr>
        <p:spPr>
          <a:xfrm rot="0" flipH="0" flipV="0">
            <a:off x="3143250" y="3067050"/>
            <a:ext cx="5905500" cy="876300"/>
          </a:xfrm>
          <a:prstGeom prst="roundRect">
            <a:avLst>
              <a:gd name="adj" fmla="val 10870"/>
            </a:avLst>
          </a:prstGeom>
          <a:solidFill>
            <a:srgbClr val="FFF4E6"/>
          </a:solidFill>
          <a:ln/>
        </p:spPr>
        <p:txBody>
          <a:bodyPr/>
          <a:p/>
        </p:txBody>
      </p:sp>
      <p:sp>
        <p:nvSpPr>
          <p:cNvPr id="71" name="" descr="{&quot;isTemplate&quot;:true,&quot;type&quot;:&quot;text&quot;}"/>
          <p:cNvSpPr txBox="1"/>
          <p:nvPr/>
        </p:nvSpPr>
        <p:spPr>
          <a:xfrm rot="0" flipH="0" flipV="0">
            <a:off x="3371850" y="3305175"/>
            <a:ext cx="54483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CB6B28"/>
                </a:solidFill>
                <a:latin typeface="Microsoft YaHei"/>
                <a:ea typeface="Microsoft YaHei"/>
              </a:rPr>
              <a:t>C01</a:t>
            </a:r>
            <a:r>
              <a:rPr lang="zh-CN" sz="1050">
                <a:solidFill>
                  <a:srgbClr val="CB6B28"/>
                </a:solidFill>
                <a:latin typeface="Microsoft YaHei"/>
                <a:ea typeface="Microsoft YaHei"/>
              </a:rPr>
              <a:t>　冲突登记</a:t>
            </a:r>
            <a:endParaRPr/>
          </a:p>
        </p:txBody>
      </p:sp>
      <p:sp>
        <p:nvSpPr>
          <p:cNvPr id="72" name="" descr="{&quot;isTemplate&quot;:true,&quot;type&quot;:&quot;text&quot;}"/>
          <p:cNvSpPr txBox="1"/>
          <p:nvPr/>
        </p:nvSpPr>
        <p:spPr>
          <a:xfrm rot="0" flipH="0" flipV="0">
            <a:off x="3371850" y="3505200"/>
            <a:ext cx="5448300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350" b="1">
                <a:solidFill>
                  <a:srgbClr val="20344B"/>
                </a:solidFill>
                <a:latin typeface="Microsoft YaHei"/>
                <a:ea typeface="Microsoft YaHei"/>
              </a:rPr>
              <a:t>咨询扩大为审批，任务与判据都会改变</a:t>
            </a:r>
            <a:endParaRPr/>
          </a:p>
        </p:txBody>
      </p:sp>
      <p:sp>
        <p:nvSpPr>
          <p:cNvPr id="73" name="" descr="{&quot;isTemplate&quot;:true,&quot;type&quot;:&quot;text&quot;}"/>
          <p:cNvSpPr txBox="1"/>
          <p:nvPr/>
        </p:nvSpPr>
        <p:spPr>
          <a:xfrm rot="0" flipH="0" flipV="0">
            <a:off x="6038850" y="4076700"/>
            <a:ext cx="114300" cy="2762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sz="1800">
                <a:solidFill>
                  <a:srgbClr val="26816B"/>
                </a:solidFill>
                <a:latin typeface="Microsoft YaHei"/>
                <a:ea typeface="Microsoft YaHei"/>
              </a:rPr>
              <a:t>↓</a:t>
            </a:r>
            <a:endParaRPr/>
          </a:p>
        </p:txBody>
      </p:sp>
      <p:sp>
        <p:nvSpPr>
          <p:cNvPr id="74" name=""/>
          <p:cNvSpPr/>
          <p:nvPr/>
        </p:nvSpPr>
        <p:spPr>
          <a:xfrm rot="0" flipH="0" flipV="0">
            <a:off x="3143250" y="4476750"/>
            <a:ext cx="5905500" cy="800100"/>
          </a:xfrm>
          <a:prstGeom prst="roundRect">
            <a:avLst>
              <a:gd name="adj" fmla="val 11905"/>
            </a:avLst>
          </a:prstGeom>
          <a:solidFill>
            <a:srgbClr val="ECF7F2"/>
          </a:solidFill>
          <a:ln/>
        </p:spPr>
        <p:txBody>
          <a:bodyPr/>
          <a:p/>
        </p:txBody>
      </p:sp>
      <p:sp>
        <p:nvSpPr>
          <p:cNvPr id="75" name="" descr="{&quot;isTemplate&quot;:true,&quot;type&quot;:&quot;text&quot;}"/>
          <p:cNvSpPr txBox="1"/>
          <p:nvPr/>
        </p:nvSpPr>
        <p:spPr>
          <a:xfrm rot="0" flipH="0" flipV="0">
            <a:off x="3371850" y="4676775"/>
            <a:ext cx="54483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26816B"/>
                </a:solidFill>
                <a:latin typeface="Microsoft YaHei"/>
                <a:ea typeface="Microsoft YaHei"/>
              </a:rPr>
              <a:t>本次决定</a:t>
            </a:r>
            <a:endParaRPr/>
          </a:p>
        </p:txBody>
      </p:sp>
      <p:sp>
        <p:nvSpPr>
          <p:cNvPr id="76" name="" descr="{&quot;isTemplate&quot;:true,&quot;type&quot;:&quot;text&quot;}"/>
          <p:cNvSpPr txBox="1"/>
          <p:nvPr/>
        </p:nvSpPr>
        <p:spPr>
          <a:xfrm rot="0" flipH="0" flipV="0">
            <a:off x="3371850" y="4876800"/>
            <a:ext cx="5448300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75">
                <a:solidFill>
                  <a:srgbClr val="20344B"/>
                </a:solidFill>
                <a:latin typeface="Microsoft YaHei"/>
                <a:ea typeface="Microsoft YaHei"/>
              </a:rPr>
              <a:t>便签不纳入当前场景；需要新需求时另议范围</a:t>
            </a:r>
            <a:endParaRPr/>
          </a:p>
        </p:txBody>
      </p:sp>
      <p:sp>
        <p:nvSpPr>
          <p:cNvPr id="77" name=""/>
          <p:cNvSpPr/>
          <p:nvPr/>
        </p:nvSpPr>
        <p:spPr>
          <a:xfrm rot="0" flipH="0" flipV="0">
            <a:off x="609600" y="5353050"/>
            <a:ext cx="10972800" cy="533400"/>
          </a:xfrm>
          <a:prstGeom prst="roundRect">
            <a:avLst>
              <a:gd name="adj" fmla="val 17857"/>
            </a:avLst>
          </a:prstGeom>
          <a:solidFill>
            <a:srgbClr val="F7F3E8"/>
          </a:solidFill>
          <a:ln/>
        </p:spPr>
        <p:txBody>
          <a:bodyPr/>
          <a:p/>
        </p:txBody>
      </p:sp>
      <p:sp>
        <p:nvSpPr>
          <p:cNvPr id="78" name="" descr="{&quot;isTemplate&quot;:true,&quot;type&quot;:&quot;text&quot;}"/>
          <p:cNvSpPr txBox="1"/>
          <p:nvPr/>
        </p:nvSpPr>
        <p:spPr>
          <a:xfrm rot="0" flipH="0" flipV="0">
            <a:off x="819150" y="5534025"/>
            <a:ext cx="4429125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>
                <a:solidFill>
                  <a:srgbClr val="CB6B28"/>
                </a:solidFill>
                <a:latin typeface="Microsoft YaHei"/>
                <a:ea typeface="Microsoft YaHei"/>
              </a:rPr>
              <a:t>便签是为练习构造的冲突材料：被读到，不等于对象新增了一项能力。</a:t>
            </a:r>
            <a:endParaRPr/>
          </a:p>
        </p:txBody>
      </p:sp>
      <p:sp>
        <p:nvSpPr>
          <p:cNvPr id="79" name="" descr="{&quot;isTemplate&quot;:true,&quot;type&quot;:&quot;text&quot;}"/>
          <p:cNvSpPr txBox="1"/>
          <p:nvPr/>
        </p:nvSpPr>
        <p:spPr>
          <a:xfrm rot="0" flipH="0" flipV="0">
            <a:off x="609600" y="6400800"/>
            <a:ext cx="18288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 xml:space="preserve">5.2 </a:t>
            </a: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材料来源、假设与可用范围</a:t>
            </a:r>
            <a:endParaRPr/>
          </a:p>
        </p:txBody>
      </p:sp>
      <p:sp>
        <p:nvSpPr>
          <p:cNvPr id="80" name="" descr="{&quot;isTemplate&quot;:true,&quot;type&quot;:&quot;text&quot;}"/>
          <p:cNvSpPr txBox="1"/>
          <p:nvPr/>
        </p:nvSpPr>
        <p:spPr>
          <a:xfrm rot="0" flipH="0" flipV="0">
            <a:off x="11125200" y="6400800"/>
            <a:ext cx="4572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>11 / 23</a:t>
            </a:r>
            <a:endParaRPr/>
          </a:p>
        </p:txBody>
      </p:sp>
    </p:spTree>
  </p:cSld>
</p:sld>
</file>

<file path=ppt/slides/slide12.xml><?xml version="1.0" encoding="utf-8"?>
<p:sld xmlns:p="http://schemas.openxmlformats.org/presentationml/2006/main" xmlns:a="http://schemas.openxmlformats.org/drawingml/2006/main">
  <p:cSld>
    <p:spTree>
      <p:nvGrpSpPr>
        <p:cNvPr id="81" name="" descr="&lt;Slide notes={`冲突不止一条，我把手上三条都登记下来，处置方式也一起写清楚，大家看处理的路子。&#10;&#10;C01 就是刚才那张便签，S01 规定的是咨询分工，便签给它加了审批能力。它改变的是正确窗口和成功含义，所以本次处置是便签不纳入当前场景，将来需要新需求时另议范围。&#10;&#10;C02 是清单和原教案不一致。草稿清单写四名人物，原教案里还有引导员余真。漏掉她，协助渠道就没了，调用规模也变了。处置是按原教案核对为五名 Agent。&#10;&#10;C03 更隐蔽：某份整理稿把七十五分钟写成了七十五步。听着差不多，其实最后的时间点会提前一分钟。处置是保留七十六步，并且注明 Step 1 是九点。&#10;&#10;三条冲突我都写清了影响。因为接收者要看的不是结论，而是这个结论挡住了什么后果。`} style={{ width: 1280, height: 720, background: '#FFFFFF', flexDirection: 'column', padding: '20px 64px' }}&gt;&#10;&#10;    &lt;Box style={{ height: 100, flexDirection: 'row', alignItems: 'center', gap: 20 }}&gt;&#10;        &lt;Box style={{ width: 4, height: 44, background: '#276FBF' }} /&gt;&#10;        &lt;Box style={{ flexDirection: 'column', gap: 4 }}&gt;&#10;            &lt;Text style={{ fontSize: 14, color: '#546779' }}&gt;5.2.3　冲突先登记，再决定是否采用&lt;/Text&gt;&#10;            &lt;Text style={{ fontSize: 34, fontWeight: 'bold', color: '#20344B' }}&gt;C01–C03：登记冲突，再决定采用&lt;/Text&gt;&#10;        &lt;/Box&gt;&#10;    &lt;/Box&gt;&#10;&#10;    &lt;Box style={{ height: 540, flexDirection: 'column', justifyContent: 'center', gap: 16 }}&gt;&#10;&#10;        &lt;Box style={{ width: 1152, height: 140, background: '#F4F7FA', borderRadius: 10, flexDirection: 'row', alignItems: 'center', gap: 24 }}&gt;&#10;            &lt;Box style={{ width: 88, height: 96, background: '#FFF4E6', borderRadius: 8, justifyContent: 'center', alignItems: 'center' }}&gt;&#10;                &lt;Text style={{ fontSize: 20, fontWeight: 'bold', color: '#CB6B28' }}&gt;C01&lt;/Text&gt;&#10;            &lt;/Box&gt;&#10;            &lt;Box style={{ width: 660, flexDirection: 'column', gap: 6 }}&gt;&#10;                &lt;Text style={{ fontSize: 16, color: '#20344B', lineHeight: 1.5 }}&gt;S01 规定咨询分工，便签增加审批能力&lt;/Text&gt;&#10;                &lt;Text style={{ fontSize: 14, color: '#CB6B28', lineHeight: 1.5 }}&gt;影响：改变正确窗口与成功含义&lt;/Text&gt;&#10;            &lt;/Box&gt;&#10;            &lt;Box style={{ width: 356, height: 96, background: '#FFFFFF', borderRadius: 8, padding: '0 16px', flexDirection: 'column', justifyContent: 'center', gap: 4 }}&gt;&#10;                &lt;Text style={{ fontSize: 14, color: '#26816B' }}&gt;本次处置&lt;/Text&gt;&#10;                &lt;Text style={{ fontSize: 14, color: '#20344B', lineHeight: 1.45 }}&gt;便签不纳入当前场景；需要新需求时另议范围&lt;/Text&gt;&#10;            &lt;/Box&gt;&#10;        &lt;/Box&gt;&#10;&#10;        &lt;Box style={{ width: 1152, height: 140, background: '#F4F7FA', borderRadius: 10, flexDirection: 'row', alignItems: 'center', gap: 24 }}&gt;&#10;            &lt;Box style={{ width: 88, height: 96, background: '#FFF4E6', borderRadius: 8, justifyContent: 'center', alignItems: 'center' }}&gt;&#10;                &lt;Text style={{ fontSize: 20, fontWeight: 'bold', color: '#CB6B28' }}&gt;C02&lt;/Text&gt;&#10;            &lt;/Box&gt;&#10;            &lt;Box style={{ width: 660, flexDirection: 'column', gap: 6 }}&gt;&#10;                &lt;Text style={{ fontSize: 16, color: '#20344B', lineHeight: 1.5 }}&gt;草稿清单写“四名人物”，原教案另有引导员余真&lt;/Text&gt;&#10;                &lt;Text style={{ fontSize: 14, color: '#CB6B28', lineHeight: 1.5 }}&gt;影响：漏掉协助渠道，改变调用规模&lt;/Text&gt;&#10;            &lt;/Box&gt;&#10;            &lt;Box style={{ width: 356, height: 96, background: '#FFFFFF', borderRadius: 8, padding: '0 16px', flexDirection: 'column', justifyContent: 'center', gap: 4 }}&gt;&#10;                &lt;Text style={{ fontSize: 14, color: '#26816B' }}&gt;本次处置&lt;/Text&gt;&#10;                &lt;Text style={{ fontSize: 14, color: '#20344B', lineHeight: 1.45 }}&gt;按原教案核对为五名 Agent，不按草稿清单减少&lt;/Text&gt;&#10;            &lt;/Box&gt;&#10;        &lt;/Box&gt;&#10;&#10;        &lt;Box style={{ width: 1152, height: 140, background: '#F4F7FA', borderRadius: 10, flexDirection: 'row', alignItems: 'center', gap: 24 }}&gt;&#10;            &lt;Box style={{ width: 88, height: 96, background: '#FFF4E6', borderRadius: 8, justifyContent: 'center', alignItems: 'center' }}&gt;&#10;                &lt;Text style={{ fontSize: 20, fontWeight: 'bold', color: '#CB6B28' }}&gt;C03&lt;/Text&gt;&#10;            &lt;/Box&gt;&#10;            &lt;Box style={{ width: 660, flexDirection: 'column', gap: 6 }}&gt;&#10;                &lt;Text style={{ fontSize: 16, color: '#20344B', lineHeight: 1.5 }}&gt;某整理稿把 75 分钟写成 75 步&lt;/Text&gt;&#10;                &lt;Text style={{ fontSize: 14, color: '#CB6B28', lineHeight: 1.5 }}&gt;影响：最后时间点提前一分钟&lt;/Text&gt;&#10;            &lt;/Box&gt;&#10;            &lt;Box style={{ width: 356, height: 96, background: '#FFFFFF', borderRadius: 8, padding: '0 16px', flexDirection: 'column', justifyContent: 'center', gap: 4 }}&gt;&#10;                &lt;Text style={{ fontSize: 14, color: '#26816B' }}&gt;本次处置&lt;/Text&gt;&#10;                &lt;Text style={{ fontSize: 14, color: '#20344B', lineHeight: 1.45 }}&gt;保留 76 步，注明 Step 1 为 09:00&lt;/Text&gt;&#10;            &lt;/Box&gt;&#10;        &lt;/Box&gt;&#10;&#10;    &lt;/Box&gt;&#10;&#10;    &lt;Box style={{ height: 40, flexDirection: 'row', justifyContent: 'space-between', alignItems: 'center' }}&gt;&#10;        &lt;Text style={{ fontSize: 14, color: '#546779' }}&gt;5.2 材料来源、假设与可用范围&lt;/Text&gt;&#10;        &lt;Text style={{ fontSize: 14, color: '#546779' }}&gt;12 / 23&lt;/Text&gt;&#10;    &lt;/Box&gt;&#10;&#10;&lt;/Slide&gt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83" name=""/>
          <p:cNvSpPr/>
          <p:nvPr/>
        </p:nvSpPr>
        <p:spPr>
          <a:xfrm rot="0" flipH="0" flipV="0">
            <a:off x="609600" y="457200"/>
            <a:ext cx="38100" cy="419100"/>
          </a:xfrm>
          <a:prstGeom prst="rect">
            <a:avLst/>
          </a:prstGeom>
          <a:solidFill>
            <a:srgbClr val="276FBF"/>
          </a:solidFill>
          <a:ln/>
        </p:spPr>
        <p:txBody>
          <a:bodyPr/>
          <a:p/>
        </p:txBody>
      </p:sp>
      <p:sp>
        <p:nvSpPr>
          <p:cNvPr id="84" name="" descr="{&quot;isTemplate&quot;:true,&quot;type&quot;:&quot;text&quot;}"/>
          <p:cNvSpPr txBox="1"/>
          <p:nvPr/>
        </p:nvSpPr>
        <p:spPr>
          <a:xfrm rot="0" flipH="0" flipV="0">
            <a:off x="838200" y="371475"/>
            <a:ext cx="498157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>5.2.3</a:t>
            </a: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　冲突先登记，再决定是否采用</a:t>
            </a:r>
            <a:endParaRPr/>
          </a:p>
        </p:txBody>
      </p:sp>
      <p:sp>
        <p:nvSpPr>
          <p:cNvPr id="85" name="" descr="{&quot;isTemplate&quot;:true,&quot;type&quot;:&quot;text&quot;}"/>
          <p:cNvSpPr txBox="1"/>
          <p:nvPr/>
        </p:nvSpPr>
        <p:spPr>
          <a:xfrm rot="0" flipH="0" flipV="0">
            <a:off x="838200" y="571500"/>
            <a:ext cx="4981575" cy="3905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2550" b="1">
                <a:solidFill>
                  <a:srgbClr val="20344B"/>
                </a:solidFill>
                <a:latin typeface="Microsoft YaHei"/>
                <a:ea typeface="Microsoft YaHei"/>
              </a:rPr>
              <a:t>C01–C03</a:t>
            </a:r>
            <a:r>
              <a:rPr lang="zh-CN" sz="2550" b="1">
                <a:solidFill>
                  <a:srgbClr val="20344B"/>
                </a:solidFill>
                <a:latin typeface="Microsoft YaHei"/>
                <a:ea typeface="Microsoft YaHei"/>
              </a:rPr>
              <a:t>：登记冲突，再决定采用</a:t>
            </a:r>
            <a:endParaRPr/>
          </a:p>
        </p:txBody>
      </p:sp>
      <p:sp>
        <p:nvSpPr>
          <p:cNvPr id="86" name=""/>
          <p:cNvSpPr/>
          <p:nvPr/>
        </p:nvSpPr>
        <p:spPr>
          <a:xfrm rot="0" flipH="0" flipV="0">
            <a:off x="609600" y="1562100"/>
            <a:ext cx="10972800" cy="1333500"/>
          </a:xfrm>
          <a:prstGeom prst="roundRect">
            <a:avLst>
              <a:gd name="adj" fmla="val 7143"/>
            </a:avLst>
          </a:prstGeom>
          <a:solidFill>
            <a:srgbClr val="F4F7FA"/>
          </a:solidFill>
          <a:ln/>
        </p:spPr>
        <p:txBody>
          <a:bodyPr/>
          <a:p/>
        </p:txBody>
      </p:sp>
      <p:sp>
        <p:nvSpPr>
          <p:cNvPr id="87" name=""/>
          <p:cNvSpPr/>
          <p:nvPr/>
        </p:nvSpPr>
        <p:spPr>
          <a:xfrm rot="0" flipH="0" flipV="0">
            <a:off x="609600" y="1771650"/>
            <a:ext cx="838200" cy="914400"/>
          </a:xfrm>
          <a:prstGeom prst="roundRect">
            <a:avLst>
              <a:gd name="adj" fmla="val 9091"/>
            </a:avLst>
          </a:prstGeom>
          <a:solidFill>
            <a:srgbClr val="FFF4E6"/>
          </a:solidFill>
          <a:ln/>
        </p:spPr>
        <p:txBody>
          <a:bodyPr/>
          <a:p/>
        </p:txBody>
      </p:sp>
      <p:sp>
        <p:nvSpPr>
          <p:cNvPr id="88" name="" descr="{&quot;isTemplate&quot;:true,&quot;type&quot;:&quot;text&quot;}"/>
          <p:cNvSpPr txBox="1"/>
          <p:nvPr/>
        </p:nvSpPr>
        <p:spPr>
          <a:xfrm rot="0" flipH="0" flipV="0">
            <a:off x="847725" y="2114550"/>
            <a:ext cx="371475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500" b="1">
                <a:solidFill>
                  <a:srgbClr val="CB6B28"/>
                </a:solidFill>
                <a:latin typeface="Microsoft YaHei"/>
                <a:ea typeface="Microsoft YaHei"/>
              </a:rPr>
              <a:t>C01</a:t>
            </a:r>
            <a:endParaRPr/>
          </a:p>
        </p:txBody>
      </p:sp>
      <p:sp>
        <p:nvSpPr>
          <p:cNvPr id="89" name="" descr="{&quot;isTemplate&quot;:true,&quot;type&quot;:&quot;text&quot;}"/>
          <p:cNvSpPr txBox="1"/>
          <p:nvPr/>
        </p:nvSpPr>
        <p:spPr>
          <a:xfrm rot="0" flipH="0" flipV="0">
            <a:off x="1676400" y="1943100"/>
            <a:ext cx="6286500" cy="276225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en-US" sz="1200">
                <a:solidFill>
                  <a:srgbClr val="20344B"/>
                </a:solidFill>
                <a:latin typeface="Microsoft YaHei"/>
                <a:ea typeface="Microsoft YaHei"/>
              </a:rPr>
              <a:t xml:space="preserve">S01 </a:t>
            </a:r>
            <a:r>
              <a:rPr lang="zh-CN" sz="1200">
                <a:solidFill>
                  <a:srgbClr val="20344B"/>
                </a:solidFill>
                <a:latin typeface="Microsoft YaHei"/>
                <a:ea typeface="Microsoft YaHei"/>
              </a:rPr>
              <a:t>规定咨询分工，便签增加审批能力</a:t>
            </a:r>
            <a:endParaRPr/>
          </a:p>
        </p:txBody>
      </p:sp>
      <p:sp>
        <p:nvSpPr>
          <p:cNvPr id="90" name="" descr="{&quot;isTemplate&quot;:true,&quot;type&quot;:&quot;text&quot;}"/>
          <p:cNvSpPr txBox="1"/>
          <p:nvPr/>
        </p:nvSpPr>
        <p:spPr>
          <a:xfrm rot="0" flipH="0" flipV="0">
            <a:off x="1676400" y="2276475"/>
            <a:ext cx="6286500" cy="247650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1050">
                <a:solidFill>
                  <a:srgbClr val="CB6B28"/>
                </a:solidFill>
                <a:latin typeface="Microsoft YaHei"/>
                <a:ea typeface="Microsoft YaHei"/>
              </a:rPr>
              <a:t>影响：改变正确窗口与成功含义</a:t>
            </a:r>
            <a:endParaRPr/>
          </a:p>
        </p:txBody>
      </p:sp>
      <p:sp>
        <p:nvSpPr>
          <p:cNvPr id="91" name=""/>
          <p:cNvSpPr/>
          <p:nvPr/>
        </p:nvSpPr>
        <p:spPr>
          <a:xfrm rot="0" flipH="0" flipV="0">
            <a:off x="8191500" y="1771650"/>
            <a:ext cx="3390900" cy="914400"/>
          </a:xfrm>
          <a:prstGeom prst="roundRect">
            <a:avLst>
              <a:gd name="adj" fmla="val 8333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92" name="" descr="{&quot;isTemplate&quot;:true,&quot;type&quot;:&quot;text&quot;}"/>
          <p:cNvSpPr txBox="1"/>
          <p:nvPr/>
        </p:nvSpPr>
        <p:spPr>
          <a:xfrm rot="0" flipH="0" flipV="0">
            <a:off x="8343900" y="2009775"/>
            <a:ext cx="30861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26816B"/>
                </a:solidFill>
                <a:latin typeface="Microsoft YaHei"/>
                <a:ea typeface="Microsoft YaHei"/>
              </a:rPr>
              <a:t>本次处置</a:t>
            </a:r>
            <a:endParaRPr/>
          </a:p>
        </p:txBody>
      </p:sp>
      <p:sp>
        <p:nvSpPr>
          <p:cNvPr id="93" name="" descr="{&quot;isTemplate&quot;:true,&quot;type&quot;:&quot;text&quot;}"/>
          <p:cNvSpPr txBox="1"/>
          <p:nvPr/>
        </p:nvSpPr>
        <p:spPr>
          <a:xfrm rot="0" flipH="0" flipV="0">
            <a:off x="8343900" y="2209800"/>
            <a:ext cx="3086100" cy="238125"/>
          </a:xfrm>
          <a:prstGeom prst="rect"/>
        </p:spPr>
        <p:txBody>
          <a:bodyPr wrap="none" lIns="0" tIns="0" rIns="0" bIns="0"/>
          <a:p>
            <a:pPr>
              <a:lnSpc>
                <a:spcPct val="145000"/>
              </a:lnSpc>
            </a:pPr>
            <a:r>
              <a:rPr lang="zh-CN" sz="1050">
                <a:solidFill>
                  <a:srgbClr val="20344B"/>
                </a:solidFill>
                <a:latin typeface="Microsoft YaHei"/>
                <a:ea typeface="Microsoft YaHei"/>
              </a:rPr>
              <a:t>便签不纳入当前场景；需要新需求时另议范围</a:t>
            </a:r>
            <a:endParaRPr/>
          </a:p>
        </p:txBody>
      </p:sp>
      <p:sp>
        <p:nvSpPr>
          <p:cNvPr id="94" name=""/>
          <p:cNvSpPr/>
          <p:nvPr/>
        </p:nvSpPr>
        <p:spPr>
          <a:xfrm rot="0" flipH="0" flipV="0">
            <a:off x="609600" y="3048000"/>
            <a:ext cx="10972800" cy="1333500"/>
          </a:xfrm>
          <a:prstGeom prst="roundRect">
            <a:avLst>
              <a:gd name="adj" fmla="val 7143"/>
            </a:avLst>
          </a:prstGeom>
          <a:solidFill>
            <a:srgbClr val="F4F7FA"/>
          </a:solidFill>
          <a:ln/>
        </p:spPr>
        <p:txBody>
          <a:bodyPr/>
          <a:p/>
        </p:txBody>
      </p:sp>
      <p:sp>
        <p:nvSpPr>
          <p:cNvPr id="95" name=""/>
          <p:cNvSpPr/>
          <p:nvPr/>
        </p:nvSpPr>
        <p:spPr>
          <a:xfrm rot="0" flipH="0" flipV="0">
            <a:off x="609600" y="3257550"/>
            <a:ext cx="838200" cy="914400"/>
          </a:xfrm>
          <a:prstGeom prst="roundRect">
            <a:avLst>
              <a:gd name="adj" fmla="val 9091"/>
            </a:avLst>
          </a:prstGeom>
          <a:solidFill>
            <a:srgbClr val="FFF4E6"/>
          </a:solidFill>
          <a:ln/>
        </p:spPr>
        <p:txBody>
          <a:bodyPr/>
          <a:p/>
        </p:txBody>
      </p:sp>
      <p:sp>
        <p:nvSpPr>
          <p:cNvPr id="96" name="" descr="{&quot;isTemplate&quot;:true,&quot;type&quot;:&quot;text&quot;}"/>
          <p:cNvSpPr txBox="1"/>
          <p:nvPr/>
        </p:nvSpPr>
        <p:spPr>
          <a:xfrm rot="0" flipH="0" flipV="0">
            <a:off x="847725" y="3600450"/>
            <a:ext cx="371475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500" b="1">
                <a:solidFill>
                  <a:srgbClr val="CB6B28"/>
                </a:solidFill>
                <a:latin typeface="Microsoft YaHei"/>
                <a:ea typeface="Microsoft YaHei"/>
              </a:rPr>
              <a:t>C02</a:t>
            </a:r>
            <a:endParaRPr/>
          </a:p>
        </p:txBody>
      </p:sp>
      <p:sp>
        <p:nvSpPr>
          <p:cNvPr id="97" name="" descr="{&quot;isTemplate&quot;:true,&quot;type&quot;:&quot;text&quot;}"/>
          <p:cNvSpPr txBox="1"/>
          <p:nvPr/>
        </p:nvSpPr>
        <p:spPr>
          <a:xfrm rot="0" flipH="0" flipV="0">
            <a:off x="1676400" y="3429000"/>
            <a:ext cx="6286500" cy="276225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1200">
                <a:solidFill>
                  <a:srgbClr val="20344B"/>
                </a:solidFill>
                <a:latin typeface="Microsoft YaHei"/>
                <a:ea typeface="Microsoft YaHei"/>
              </a:rPr>
              <a:t>草稿清单写“四名人物”，原教案另有引导员余真</a:t>
            </a:r>
            <a:endParaRPr/>
          </a:p>
        </p:txBody>
      </p:sp>
      <p:sp>
        <p:nvSpPr>
          <p:cNvPr id="98" name="" descr="{&quot;isTemplate&quot;:true,&quot;type&quot;:&quot;text&quot;}"/>
          <p:cNvSpPr txBox="1"/>
          <p:nvPr/>
        </p:nvSpPr>
        <p:spPr>
          <a:xfrm rot="0" flipH="0" flipV="0">
            <a:off x="1676400" y="3762375"/>
            <a:ext cx="6286500" cy="247650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1050">
                <a:solidFill>
                  <a:srgbClr val="CB6B28"/>
                </a:solidFill>
                <a:latin typeface="Microsoft YaHei"/>
                <a:ea typeface="Microsoft YaHei"/>
              </a:rPr>
              <a:t>影响：漏掉协助渠道，改变调用规模</a:t>
            </a:r>
            <a:endParaRPr/>
          </a:p>
        </p:txBody>
      </p:sp>
      <p:sp>
        <p:nvSpPr>
          <p:cNvPr id="99" name=""/>
          <p:cNvSpPr/>
          <p:nvPr/>
        </p:nvSpPr>
        <p:spPr>
          <a:xfrm rot="0" flipH="0" flipV="0">
            <a:off x="8191500" y="3257550"/>
            <a:ext cx="3390900" cy="914400"/>
          </a:xfrm>
          <a:prstGeom prst="roundRect">
            <a:avLst>
              <a:gd name="adj" fmla="val 8333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100" name="" descr="{&quot;isTemplate&quot;:true,&quot;type&quot;:&quot;text&quot;}"/>
          <p:cNvSpPr txBox="1"/>
          <p:nvPr/>
        </p:nvSpPr>
        <p:spPr>
          <a:xfrm rot="0" flipH="0" flipV="0">
            <a:off x="8343900" y="3495675"/>
            <a:ext cx="30861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26816B"/>
                </a:solidFill>
                <a:latin typeface="Microsoft YaHei"/>
                <a:ea typeface="Microsoft YaHei"/>
              </a:rPr>
              <a:t>本次处置</a:t>
            </a:r>
            <a:endParaRPr/>
          </a:p>
        </p:txBody>
      </p:sp>
      <p:sp>
        <p:nvSpPr>
          <p:cNvPr id="101" name="" descr="{&quot;isTemplate&quot;:true,&quot;type&quot;:&quot;text&quot;}"/>
          <p:cNvSpPr txBox="1"/>
          <p:nvPr/>
        </p:nvSpPr>
        <p:spPr>
          <a:xfrm rot="0" flipH="0" flipV="0">
            <a:off x="8343900" y="3695700"/>
            <a:ext cx="3086100" cy="238125"/>
          </a:xfrm>
          <a:prstGeom prst="rect"/>
        </p:spPr>
        <p:txBody>
          <a:bodyPr wrap="none" lIns="0" tIns="0" rIns="0" bIns="0"/>
          <a:p>
            <a:pPr>
              <a:lnSpc>
                <a:spcPct val="145000"/>
              </a:lnSpc>
            </a:pPr>
            <a:r>
              <a:rPr lang="zh-CN" sz="1050">
                <a:solidFill>
                  <a:srgbClr val="20344B"/>
                </a:solidFill>
                <a:latin typeface="Microsoft YaHei"/>
                <a:ea typeface="Microsoft YaHei"/>
              </a:rPr>
              <a:t>按原教案核对为五名</a:t>
            </a:r>
            <a:r>
              <a:rPr lang="en-US" sz="1050">
                <a:solidFill>
                  <a:srgbClr val="20344B"/>
                </a:solidFill>
                <a:latin typeface="Microsoft YaHei"/>
                <a:ea typeface="Microsoft YaHei"/>
              </a:rPr>
              <a:t xml:space="preserve"> Agent</a:t>
            </a:r>
            <a:r>
              <a:rPr lang="zh-CN" sz="1050">
                <a:solidFill>
                  <a:srgbClr val="20344B"/>
                </a:solidFill>
                <a:latin typeface="Microsoft YaHei"/>
                <a:ea typeface="Microsoft YaHei"/>
              </a:rPr>
              <a:t>，不按草稿清单减少</a:t>
            </a:r>
            <a:endParaRPr/>
          </a:p>
        </p:txBody>
      </p:sp>
      <p:sp>
        <p:nvSpPr>
          <p:cNvPr id="102" name=""/>
          <p:cNvSpPr/>
          <p:nvPr/>
        </p:nvSpPr>
        <p:spPr>
          <a:xfrm rot="0" flipH="0" flipV="0">
            <a:off x="609600" y="4533900"/>
            <a:ext cx="10972800" cy="1333500"/>
          </a:xfrm>
          <a:prstGeom prst="roundRect">
            <a:avLst>
              <a:gd name="adj" fmla="val 7143"/>
            </a:avLst>
          </a:prstGeom>
          <a:solidFill>
            <a:srgbClr val="F4F7FA"/>
          </a:solidFill>
          <a:ln/>
        </p:spPr>
        <p:txBody>
          <a:bodyPr/>
          <a:p/>
        </p:txBody>
      </p:sp>
      <p:sp>
        <p:nvSpPr>
          <p:cNvPr id="103" name=""/>
          <p:cNvSpPr/>
          <p:nvPr/>
        </p:nvSpPr>
        <p:spPr>
          <a:xfrm rot="0" flipH="0" flipV="0">
            <a:off x="609600" y="4743450"/>
            <a:ext cx="838200" cy="914400"/>
          </a:xfrm>
          <a:prstGeom prst="roundRect">
            <a:avLst>
              <a:gd name="adj" fmla="val 9091"/>
            </a:avLst>
          </a:prstGeom>
          <a:solidFill>
            <a:srgbClr val="FFF4E6"/>
          </a:solidFill>
          <a:ln/>
        </p:spPr>
        <p:txBody>
          <a:bodyPr/>
          <a:p/>
        </p:txBody>
      </p:sp>
      <p:sp>
        <p:nvSpPr>
          <p:cNvPr id="104" name="" descr="{&quot;isTemplate&quot;:true,&quot;type&quot;:&quot;text&quot;}"/>
          <p:cNvSpPr txBox="1"/>
          <p:nvPr/>
        </p:nvSpPr>
        <p:spPr>
          <a:xfrm rot="0" flipH="0" flipV="0">
            <a:off x="847725" y="5086350"/>
            <a:ext cx="371475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500" b="1">
                <a:solidFill>
                  <a:srgbClr val="CB6B28"/>
                </a:solidFill>
                <a:latin typeface="Microsoft YaHei"/>
                <a:ea typeface="Microsoft YaHei"/>
              </a:rPr>
              <a:t>C03</a:t>
            </a:r>
            <a:endParaRPr/>
          </a:p>
        </p:txBody>
      </p:sp>
      <p:sp>
        <p:nvSpPr>
          <p:cNvPr id="105" name="" descr="{&quot;isTemplate&quot;:true,&quot;type&quot;:&quot;text&quot;}"/>
          <p:cNvSpPr txBox="1"/>
          <p:nvPr/>
        </p:nvSpPr>
        <p:spPr>
          <a:xfrm rot="0" flipH="0" flipV="0">
            <a:off x="1676400" y="4914900"/>
            <a:ext cx="6286500" cy="276225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1200">
                <a:solidFill>
                  <a:srgbClr val="20344B"/>
                </a:solidFill>
                <a:latin typeface="Microsoft YaHei"/>
                <a:ea typeface="Microsoft YaHei"/>
              </a:rPr>
              <a:t>某整理稿把</a:t>
            </a:r>
            <a:r>
              <a:rPr lang="en-US" sz="1200">
                <a:solidFill>
                  <a:srgbClr val="20344B"/>
                </a:solidFill>
                <a:latin typeface="Microsoft YaHei"/>
                <a:ea typeface="Microsoft YaHei"/>
              </a:rPr>
              <a:t xml:space="preserve"> 75 </a:t>
            </a:r>
            <a:r>
              <a:rPr lang="zh-CN" sz="1200">
                <a:solidFill>
                  <a:srgbClr val="20344B"/>
                </a:solidFill>
                <a:latin typeface="Microsoft YaHei"/>
                <a:ea typeface="Microsoft YaHei"/>
              </a:rPr>
              <a:t>分钟写成</a:t>
            </a:r>
            <a:r>
              <a:rPr lang="en-US" sz="1200">
                <a:solidFill>
                  <a:srgbClr val="20344B"/>
                </a:solidFill>
                <a:latin typeface="Microsoft YaHei"/>
                <a:ea typeface="Microsoft YaHei"/>
              </a:rPr>
              <a:t xml:space="preserve"> 75 </a:t>
            </a:r>
            <a:r>
              <a:rPr lang="zh-CN" sz="1200">
                <a:solidFill>
                  <a:srgbClr val="20344B"/>
                </a:solidFill>
                <a:latin typeface="Microsoft YaHei"/>
                <a:ea typeface="Microsoft YaHei"/>
              </a:rPr>
              <a:t>步</a:t>
            </a:r>
            <a:endParaRPr/>
          </a:p>
        </p:txBody>
      </p:sp>
      <p:sp>
        <p:nvSpPr>
          <p:cNvPr id="106" name="" descr="{&quot;isTemplate&quot;:true,&quot;type&quot;:&quot;text&quot;}"/>
          <p:cNvSpPr txBox="1"/>
          <p:nvPr/>
        </p:nvSpPr>
        <p:spPr>
          <a:xfrm rot="0" flipH="0" flipV="0">
            <a:off x="1676400" y="5248275"/>
            <a:ext cx="6286500" cy="247650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1050">
                <a:solidFill>
                  <a:srgbClr val="CB6B28"/>
                </a:solidFill>
                <a:latin typeface="Microsoft YaHei"/>
                <a:ea typeface="Microsoft YaHei"/>
              </a:rPr>
              <a:t>影响：最后时间点提前一分钟</a:t>
            </a:r>
            <a:endParaRPr/>
          </a:p>
        </p:txBody>
      </p:sp>
      <p:sp>
        <p:nvSpPr>
          <p:cNvPr id="107" name=""/>
          <p:cNvSpPr/>
          <p:nvPr/>
        </p:nvSpPr>
        <p:spPr>
          <a:xfrm rot="0" flipH="0" flipV="0">
            <a:off x="8191500" y="4743450"/>
            <a:ext cx="3390900" cy="914400"/>
          </a:xfrm>
          <a:prstGeom prst="roundRect">
            <a:avLst>
              <a:gd name="adj" fmla="val 8333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108" name="" descr="{&quot;isTemplate&quot;:true,&quot;type&quot;:&quot;text&quot;}"/>
          <p:cNvSpPr txBox="1"/>
          <p:nvPr/>
        </p:nvSpPr>
        <p:spPr>
          <a:xfrm rot="0" flipH="0" flipV="0">
            <a:off x="8343900" y="4981575"/>
            <a:ext cx="30861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26816B"/>
                </a:solidFill>
                <a:latin typeface="Microsoft YaHei"/>
                <a:ea typeface="Microsoft YaHei"/>
              </a:rPr>
              <a:t>本次处置</a:t>
            </a:r>
            <a:endParaRPr/>
          </a:p>
        </p:txBody>
      </p:sp>
      <p:sp>
        <p:nvSpPr>
          <p:cNvPr id="109" name="" descr="{&quot;isTemplate&quot;:true,&quot;type&quot;:&quot;text&quot;}"/>
          <p:cNvSpPr txBox="1"/>
          <p:nvPr/>
        </p:nvSpPr>
        <p:spPr>
          <a:xfrm rot="0" flipH="0" flipV="0">
            <a:off x="8343900" y="5181600"/>
            <a:ext cx="3086100" cy="238125"/>
          </a:xfrm>
          <a:prstGeom prst="rect"/>
        </p:spPr>
        <p:txBody>
          <a:bodyPr wrap="none" lIns="0" tIns="0" rIns="0" bIns="0"/>
          <a:p>
            <a:pPr>
              <a:lnSpc>
                <a:spcPct val="145000"/>
              </a:lnSpc>
            </a:pPr>
            <a:r>
              <a:rPr lang="zh-CN" sz="1050">
                <a:solidFill>
                  <a:srgbClr val="20344B"/>
                </a:solidFill>
                <a:latin typeface="Microsoft YaHei"/>
                <a:ea typeface="Microsoft YaHei"/>
              </a:rPr>
              <a:t>保留</a:t>
            </a:r>
            <a:r>
              <a:rPr lang="en-US" sz="1050">
                <a:solidFill>
                  <a:srgbClr val="20344B"/>
                </a:solidFill>
                <a:latin typeface="Microsoft YaHei"/>
                <a:ea typeface="Microsoft YaHei"/>
              </a:rPr>
              <a:t xml:space="preserve"> 76 </a:t>
            </a:r>
            <a:r>
              <a:rPr lang="zh-CN" sz="1050">
                <a:solidFill>
                  <a:srgbClr val="20344B"/>
                </a:solidFill>
                <a:latin typeface="Microsoft YaHei"/>
                <a:ea typeface="Microsoft YaHei"/>
              </a:rPr>
              <a:t>步，注明</a:t>
            </a:r>
            <a:r>
              <a:rPr lang="en-US" sz="1050">
                <a:solidFill>
                  <a:srgbClr val="20344B"/>
                </a:solidFill>
                <a:latin typeface="Microsoft YaHei"/>
                <a:ea typeface="Microsoft YaHei"/>
              </a:rPr>
              <a:t xml:space="preserve"> Step 1 </a:t>
            </a:r>
            <a:r>
              <a:rPr lang="zh-CN" sz="1050">
                <a:solidFill>
                  <a:srgbClr val="20344B"/>
                </a:solidFill>
                <a:latin typeface="Microsoft YaHei"/>
                <a:ea typeface="Microsoft YaHei"/>
              </a:rPr>
              <a:t>为</a:t>
            </a:r>
            <a:r>
              <a:rPr lang="en-US" sz="1050">
                <a:solidFill>
                  <a:srgbClr val="20344B"/>
                </a:solidFill>
                <a:latin typeface="Microsoft YaHei"/>
                <a:ea typeface="Microsoft YaHei"/>
              </a:rPr>
              <a:t xml:space="preserve"> 09:00</a:t>
            </a:r>
            <a:endParaRPr/>
          </a:p>
        </p:txBody>
      </p:sp>
      <p:sp>
        <p:nvSpPr>
          <p:cNvPr id="110" name="" descr="{&quot;isTemplate&quot;:true,&quot;type&quot;:&quot;text&quot;}"/>
          <p:cNvSpPr txBox="1"/>
          <p:nvPr/>
        </p:nvSpPr>
        <p:spPr>
          <a:xfrm rot="0" flipH="0" flipV="0">
            <a:off x="609600" y="6400800"/>
            <a:ext cx="18288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 xml:space="preserve">5.2 </a:t>
            </a: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材料来源、假设与可用范围</a:t>
            </a:r>
            <a:endParaRPr/>
          </a:p>
        </p:txBody>
      </p:sp>
      <p:sp>
        <p:nvSpPr>
          <p:cNvPr id="111" name="" descr="{&quot;isTemplate&quot;:true,&quot;type&quot;:&quot;text&quot;}"/>
          <p:cNvSpPr txBox="1"/>
          <p:nvPr/>
        </p:nvSpPr>
        <p:spPr>
          <a:xfrm rot="0" flipH="0" flipV="0">
            <a:off x="11125200" y="6400800"/>
            <a:ext cx="4572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>12 / 23</a:t>
            </a:r>
            <a:endParaRPr/>
          </a:p>
        </p:txBody>
      </p:sp>
    </p:spTree>
  </p:cSld>
</p:sld>
</file>

<file path=ppt/slides/slide13.xml><?xml version="1.0" encoding="utf-8"?>
<p:sld xmlns:p="http://schemas.openxmlformats.org/presentationml/2006/main" xmlns:a="http://schemas.openxmlformats.org/drawingml/2006/main">
  <p:cSld>
    <p:spTree>
      <p:nvGrpSpPr>
        <p:cNvPr id="112" name="" descr="&lt;Slide notes={`处理冲突之前，先问三句话，这三句话能挡掉大部分误判。&#10;&#10;第一，这句话来自哪里。是原教案，是一份草稿，还是别人转述的。第二，它是否针对同一个用途。同一句“可以审批”，写在真实大厅的规定里和写在教学练习里，含义完全不同。第三，作者是否已经明确采用。没被采用的材料，不能靠出现次数多就占上风。&#10;&#10;还有一个反直觉的提醒：较新的文件不自动更可靠，写得更自信也不是优先依据。判断依据是来源、用途和是否已采用。&#10;&#10;确认不了的业务条件，就进待办，并且注明它会影响哪个资源或判断。关键是不要让模型偷偷替团队完成一次需求决策，那不是它的职责。&#10;&#10;最后要注意有意保留的差异。H1 和 H3 首次话语相同、私人目的不同，这不是重复数据。关键目的暂时没说出口，正是澄清策略要研究的东西。如果有人把首句“优化”成直接写明预约或报修，那就在配置之前把要观察的问题消掉了。`} style={{ width: 1280, height: 720, background: '#FFFFFF', flexDirection: 'column', padding: '20px 64px' }}&gt;&#10;&#10;    &lt;Box style={{ height: 100, flexDirection: 'row', alignItems: 'center', gap: 20 }}&gt;&#10;        &lt;Box style={{ width: 4, height: 44, background: '#276FBF' }} /&gt;&#10;        &lt;Box style={{ flexDirection: 'column', gap: 4 }}&gt;&#10;            &lt;Text style={{ fontSize: 14, color: '#546779' }}&gt;5.2.3　冲突先登记，再决定是否采用&lt;/Text&gt;&#10;            &lt;Text style={{ fontSize: 34, fontWeight: 'bold', color: '#20344B' }}&gt;先问三句话，再动材料&lt;/Text&gt;&#10;        &lt;/Box&gt;&#10;    &lt;/Box&gt;&#10;&#10;    &lt;Box style={{ height: 540, flexDirection: 'row', gap: 24, alignItems: 'center' }}&gt;&#10;&#10;        &lt;Box style={{ width: 420, flexDirection: 'column', justifyContent: 'center', gap: 12 }}&gt;&#10;            &lt;Text style={{ fontSize: 17, color: '#546779', lineHeight: 1.7 }}&gt;面对一份新来的材料，先问三句话，再决定动不动它。&lt;/Text&gt;&#10;            &lt;Box style={{ width: 420, height: 58, background: '#F4F7FA', borderRadius: 8, padding: '0 16px', justifyContent: 'center' }}&gt;&#10;                &lt;Text style={{ fontSize: 16, color: '#20344B' }}&gt;这句话来自哪里？&lt;/Text&gt;&#10;            &lt;/Box&gt;&#10;            &lt;Box style={{ width: 420, height: 58, background: '#F4F7FA', borderRadius: 8, padding: '0 16px', justifyContent: 'center' }}&gt;&#10;                &lt;Text style={{ fontSize: 16, color: '#20344B' }}&gt;是否针对同一用途？&lt;/Text&gt;&#10;            &lt;/Box&gt;&#10;            &lt;Box style={{ width: 420, height: 58, background: '#F4F7FA', borderRadius: 8, padding: '0 16px', justifyContent: 'center' }}&gt;&#10;                &lt;Text style={{ fontSize: 16, color: '#20344B' }}&gt;是否已经被作者明确采用？&lt;/Text&gt;&#10;            &lt;/Box&gt;&#10;            &lt;Text style={{ fontSize: 14, color: '#546779', lineHeight: 1.6 }}&gt;较新的文件不自动更可靠，写得更自信也不是优先依据。&lt;/Text&gt;&#10;        &lt;/Box&gt;&#10;&#10;        &lt;Box style={{ width: 708, flexDirection: 'column', gap: 16, justifyContent: 'center' }}&gt;&#10;&#10;            &lt;Box style={{ width: 708, height: 190, background: '#ECF7F2', borderRadius: 12, padding: 24, flexDirection: 'column', gap: 10 }}&gt;&#10;                &lt;Text style={{ fontSize: 15, color: '#26816B' }}&gt;无法确认的业务条件&lt;/Text&gt;&#10;                &lt;Text style={{ fontSize: 17, color: '#20344B', lineHeight: 1.6 }}&gt;进入待办，并注明它会影响哪个资源或判断。&lt;/Text&gt;&#10;                &lt;Text style={{ fontSize: 17, color: '#20344B', lineHeight: 1.6 }}&gt;不要让模型偷偷替团队完成一次需求决策。&lt;/Text&gt;&#10;            &lt;/Box&gt;&#10;&#10;            &lt;Box style={{ width: 708, height: 232, background: '#FFF4E6', borderRadius: 12, padding: 24, flexDirection: 'column', gap: 10 }}&gt;&#10;                &lt;Text style={{ fontSize: 15, color: '#CB6B28' }}&gt;有意保留的差异，不要合并&lt;/Text&gt;&#10;                &lt;Text style={{ fontSize: 16, color: '#20344B', lineHeight: 1.6 }}&gt;H1 和 H3 的首次话语相同，私人目的不同——这不是重复数据。&lt;/Text&gt;&#10;                &lt;Text style={{ fontSize: 16, color: '#20344B', lineHeight: 1.6 }}&gt;关键目的暂时没有说出来，正是澄清策略的研究条件；若整理者“优化”首句，就在配置之前消除了原来要观察的问题。&lt;/Text&gt;&#10;            &lt;/Box&gt;&#10;&#10;        &lt;/Box&gt;&#10;&#10;    &lt;/Box&gt;&#10;&#10;    &lt;Box style={{ height: 40, flexDirection: 'row', justifyContent: 'space-between', alignItems: 'center' }}&gt;&#10;        &lt;Text style={{ fontSize: 14, color: '#546779' }}&gt;5.2 材料来源、假设与可用范围&lt;/Text&gt;&#10;        &lt;Text style={{ fontSize: 14, color: '#546779' }}&gt;13 / 23&lt;/Text&gt;&#10;    &lt;/Box&gt;&#10;&#10;&lt;/Slide&gt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114" name=""/>
          <p:cNvSpPr/>
          <p:nvPr/>
        </p:nvSpPr>
        <p:spPr>
          <a:xfrm rot="0" flipH="0" flipV="0">
            <a:off x="609600" y="457200"/>
            <a:ext cx="38100" cy="419100"/>
          </a:xfrm>
          <a:prstGeom prst="rect">
            <a:avLst/>
          </a:prstGeom>
          <a:solidFill>
            <a:srgbClr val="276FBF"/>
          </a:solidFill>
          <a:ln/>
        </p:spPr>
        <p:txBody>
          <a:bodyPr/>
          <a:p/>
        </p:txBody>
      </p:sp>
      <p:sp>
        <p:nvSpPr>
          <p:cNvPr id="115" name="" descr="{&quot;isTemplate&quot;:true,&quot;type&quot;:&quot;text&quot;}"/>
          <p:cNvSpPr txBox="1"/>
          <p:nvPr/>
        </p:nvSpPr>
        <p:spPr>
          <a:xfrm rot="0" flipH="0" flipV="0">
            <a:off x="838200" y="371475"/>
            <a:ext cx="32385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>5.2.3</a:t>
            </a: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　冲突先登记，再决定是否采用</a:t>
            </a:r>
            <a:endParaRPr/>
          </a:p>
        </p:txBody>
      </p:sp>
      <p:sp>
        <p:nvSpPr>
          <p:cNvPr id="116" name="" descr="{&quot;isTemplate&quot;:true,&quot;type&quot;:&quot;text&quot;}"/>
          <p:cNvSpPr txBox="1"/>
          <p:nvPr/>
        </p:nvSpPr>
        <p:spPr>
          <a:xfrm rot="0" flipH="0" flipV="0">
            <a:off x="838200" y="571500"/>
            <a:ext cx="3238500" cy="3905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550" b="1">
                <a:solidFill>
                  <a:srgbClr val="20344B"/>
                </a:solidFill>
                <a:latin typeface="Microsoft YaHei"/>
                <a:ea typeface="Microsoft YaHei"/>
              </a:rPr>
              <a:t>先问三句话，再动材料</a:t>
            </a:r>
            <a:endParaRPr/>
          </a:p>
        </p:txBody>
      </p:sp>
      <p:sp>
        <p:nvSpPr>
          <p:cNvPr id="117" name="" descr="{&quot;isTemplate&quot;:true,&quot;type&quot;:&quot;text&quot;}"/>
          <p:cNvSpPr txBox="1"/>
          <p:nvPr/>
        </p:nvSpPr>
        <p:spPr>
          <a:xfrm rot="0" flipH="0" flipV="0">
            <a:off x="609600" y="2362200"/>
            <a:ext cx="4000500" cy="333375"/>
          </a:xfrm>
          <a:prstGeom prst="rect"/>
        </p:spPr>
        <p:txBody>
          <a:bodyPr wrap="none" lIns="0" tIns="0" rIns="0" bIns="0"/>
          <a:p>
            <a:pPr>
              <a:lnSpc>
                <a:spcPct val="170000"/>
              </a:lnSpc>
            </a:pPr>
            <a:r>
              <a:rPr lang="zh-CN" sz="1275">
                <a:solidFill>
                  <a:srgbClr val="546779"/>
                </a:solidFill>
                <a:latin typeface="Microsoft YaHei"/>
                <a:ea typeface="Microsoft YaHei"/>
              </a:rPr>
              <a:t>面对一份新来的材料，先问三句话，再决定动不动它。</a:t>
            </a:r>
            <a:endParaRPr/>
          </a:p>
        </p:txBody>
      </p:sp>
      <p:sp>
        <p:nvSpPr>
          <p:cNvPr id="118" name=""/>
          <p:cNvSpPr/>
          <p:nvPr/>
        </p:nvSpPr>
        <p:spPr>
          <a:xfrm rot="0" flipH="0" flipV="0">
            <a:off x="609600" y="2809875"/>
            <a:ext cx="4000500" cy="552450"/>
          </a:xfrm>
          <a:prstGeom prst="roundRect">
            <a:avLst>
              <a:gd name="adj" fmla="val 13793"/>
            </a:avLst>
          </a:prstGeom>
          <a:solidFill>
            <a:srgbClr val="F4F7FA"/>
          </a:solidFill>
          <a:ln/>
        </p:spPr>
        <p:txBody>
          <a:bodyPr/>
          <a:p/>
        </p:txBody>
      </p:sp>
      <p:sp>
        <p:nvSpPr>
          <p:cNvPr id="119" name="" descr="{&quot;isTemplate&quot;:true,&quot;type&quot;:&quot;text&quot;}"/>
          <p:cNvSpPr txBox="1"/>
          <p:nvPr/>
        </p:nvSpPr>
        <p:spPr>
          <a:xfrm rot="0" flipH="0" flipV="0">
            <a:off x="762000" y="2990850"/>
            <a:ext cx="369570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>
                <a:solidFill>
                  <a:srgbClr val="20344B"/>
                </a:solidFill>
                <a:latin typeface="Microsoft YaHei"/>
                <a:ea typeface="Microsoft YaHei"/>
              </a:rPr>
              <a:t>这句话来自哪里？</a:t>
            </a:r>
            <a:endParaRPr/>
          </a:p>
        </p:txBody>
      </p:sp>
      <p:sp>
        <p:nvSpPr>
          <p:cNvPr id="120" name=""/>
          <p:cNvSpPr/>
          <p:nvPr/>
        </p:nvSpPr>
        <p:spPr>
          <a:xfrm rot="0" flipH="0" flipV="0">
            <a:off x="609600" y="3476625"/>
            <a:ext cx="4000500" cy="552450"/>
          </a:xfrm>
          <a:prstGeom prst="roundRect">
            <a:avLst>
              <a:gd name="adj" fmla="val 13793"/>
            </a:avLst>
          </a:prstGeom>
          <a:solidFill>
            <a:srgbClr val="F4F7FA"/>
          </a:solidFill>
          <a:ln/>
        </p:spPr>
        <p:txBody>
          <a:bodyPr/>
          <a:p/>
        </p:txBody>
      </p:sp>
      <p:sp>
        <p:nvSpPr>
          <p:cNvPr id="121" name="" descr="{&quot;isTemplate&quot;:true,&quot;type&quot;:&quot;text&quot;}"/>
          <p:cNvSpPr txBox="1"/>
          <p:nvPr/>
        </p:nvSpPr>
        <p:spPr>
          <a:xfrm rot="0" flipH="0" flipV="0">
            <a:off x="762000" y="3657600"/>
            <a:ext cx="369570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>
                <a:solidFill>
                  <a:srgbClr val="20344B"/>
                </a:solidFill>
                <a:latin typeface="Microsoft YaHei"/>
                <a:ea typeface="Microsoft YaHei"/>
              </a:rPr>
              <a:t>是否针对同一用途？</a:t>
            </a:r>
            <a:endParaRPr/>
          </a:p>
        </p:txBody>
      </p:sp>
      <p:sp>
        <p:nvSpPr>
          <p:cNvPr id="122" name=""/>
          <p:cNvSpPr/>
          <p:nvPr/>
        </p:nvSpPr>
        <p:spPr>
          <a:xfrm rot="0" flipH="0" flipV="0">
            <a:off x="609600" y="4143375"/>
            <a:ext cx="4000500" cy="552450"/>
          </a:xfrm>
          <a:prstGeom prst="roundRect">
            <a:avLst>
              <a:gd name="adj" fmla="val 13793"/>
            </a:avLst>
          </a:prstGeom>
          <a:solidFill>
            <a:srgbClr val="F4F7FA"/>
          </a:solidFill>
          <a:ln/>
        </p:spPr>
        <p:txBody>
          <a:bodyPr/>
          <a:p/>
        </p:txBody>
      </p:sp>
      <p:sp>
        <p:nvSpPr>
          <p:cNvPr id="123" name="" descr="{&quot;isTemplate&quot;:true,&quot;type&quot;:&quot;text&quot;}"/>
          <p:cNvSpPr txBox="1"/>
          <p:nvPr/>
        </p:nvSpPr>
        <p:spPr>
          <a:xfrm rot="0" flipH="0" flipV="0">
            <a:off x="762000" y="4324350"/>
            <a:ext cx="369570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>
                <a:solidFill>
                  <a:srgbClr val="20344B"/>
                </a:solidFill>
                <a:latin typeface="Microsoft YaHei"/>
                <a:ea typeface="Microsoft YaHei"/>
              </a:rPr>
              <a:t>是否已经被作者明确采用？</a:t>
            </a:r>
            <a:endParaRPr/>
          </a:p>
        </p:txBody>
      </p:sp>
      <p:sp>
        <p:nvSpPr>
          <p:cNvPr id="124" name="" descr="{&quot;isTemplate&quot;:true,&quot;type&quot;:&quot;text&quot;}"/>
          <p:cNvSpPr txBox="1"/>
          <p:nvPr/>
        </p:nvSpPr>
        <p:spPr>
          <a:xfrm rot="0" flipH="0" flipV="0">
            <a:off x="609600" y="4810125"/>
            <a:ext cx="4000500" cy="257175"/>
          </a:xfrm>
          <a:prstGeom prst="rect"/>
        </p:spPr>
        <p:txBody>
          <a:bodyPr wrap="none" lIns="0" tIns="0" rIns="0" bIns="0"/>
          <a:p>
            <a:pPr>
              <a:lnSpc>
                <a:spcPct val="160000"/>
              </a:lnSpc>
            </a:pP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较新的文件不自动更可靠，写得更自信也不是优先依据。</a:t>
            </a:r>
            <a:endParaRPr/>
          </a:p>
        </p:txBody>
      </p:sp>
      <p:sp>
        <p:nvSpPr>
          <p:cNvPr id="125" name=""/>
          <p:cNvSpPr/>
          <p:nvPr/>
        </p:nvSpPr>
        <p:spPr>
          <a:xfrm rot="0" flipH="0" flipV="0">
            <a:off x="4838700" y="1628775"/>
            <a:ext cx="6743700" cy="1809750"/>
          </a:xfrm>
          <a:prstGeom prst="roundRect">
            <a:avLst>
              <a:gd name="adj" fmla="val 6316"/>
            </a:avLst>
          </a:prstGeom>
          <a:solidFill>
            <a:srgbClr val="ECF7F2"/>
          </a:solidFill>
          <a:ln/>
        </p:spPr>
        <p:txBody>
          <a:bodyPr/>
          <a:p/>
        </p:txBody>
      </p:sp>
      <p:sp>
        <p:nvSpPr>
          <p:cNvPr id="126" name="" descr="{&quot;isTemplate&quot;:true,&quot;type&quot;:&quot;text&quot;}"/>
          <p:cNvSpPr txBox="1"/>
          <p:nvPr/>
        </p:nvSpPr>
        <p:spPr>
          <a:xfrm rot="0" flipH="0" flipV="0">
            <a:off x="5067300" y="1857375"/>
            <a:ext cx="628650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>
                <a:solidFill>
                  <a:srgbClr val="26816B"/>
                </a:solidFill>
                <a:latin typeface="Microsoft YaHei"/>
                <a:ea typeface="Microsoft YaHei"/>
              </a:rPr>
              <a:t>无法确认的业务条件</a:t>
            </a:r>
            <a:endParaRPr/>
          </a:p>
        </p:txBody>
      </p:sp>
      <p:sp>
        <p:nvSpPr>
          <p:cNvPr id="127" name="" descr="{&quot;isTemplate&quot;:true,&quot;type&quot;:&quot;text&quot;}"/>
          <p:cNvSpPr txBox="1"/>
          <p:nvPr/>
        </p:nvSpPr>
        <p:spPr>
          <a:xfrm rot="0" flipH="0" flipV="0">
            <a:off x="5067300" y="2124075"/>
            <a:ext cx="6286500" cy="314325"/>
          </a:xfrm>
          <a:prstGeom prst="rect"/>
        </p:spPr>
        <p:txBody>
          <a:bodyPr wrap="none" lIns="0" tIns="0" rIns="0" bIns="0"/>
          <a:p>
            <a:pPr>
              <a:lnSpc>
                <a:spcPct val="160000"/>
              </a:lnSpc>
            </a:pPr>
            <a:r>
              <a:rPr lang="zh-CN" sz="1275">
                <a:solidFill>
                  <a:srgbClr val="20344B"/>
                </a:solidFill>
                <a:latin typeface="Microsoft YaHei"/>
                <a:ea typeface="Microsoft YaHei"/>
              </a:rPr>
              <a:t>进入待办，并注明它会影响哪个资源或判断。</a:t>
            </a:r>
            <a:endParaRPr/>
          </a:p>
        </p:txBody>
      </p:sp>
      <p:sp>
        <p:nvSpPr>
          <p:cNvPr id="128" name="" descr="{&quot;isTemplate&quot;:true,&quot;type&quot;:&quot;text&quot;}"/>
          <p:cNvSpPr txBox="1"/>
          <p:nvPr/>
        </p:nvSpPr>
        <p:spPr>
          <a:xfrm rot="0" flipH="0" flipV="0">
            <a:off x="5067300" y="2533650"/>
            <a:ext cx="6286500" cy="314325"/>
          </a:xfrm>
          <a:prstGeom prst="rect"/>
        </p:spPr>
        <p:txBody>
          <a:bodyPr wrap="none" lIns="0" tIns="0" rIns="0" bIns="0"/>
          <a:p>
            <a:pPr>
              <a:lnSpc>
                <a:spcPct val="160000"/>
              </a:lnSpc>
            </a:pPr>
            <a:r>
              <a:rPr lang="zh-CN" sz="1275">
                <a:solidFill>
                  <a:srgbClr val="20344B"/>
                </a:solidFill>
                <a:latin typeface="Microsoft YaHei"/>
                <a:ea typeface="Microsoft YaHei"/>
              </a:rPr>
              <a:t>不要让模型偷偷替团队完成一次需求决策。</a:t>
            </a:r>
            <a:endParaRPr/>
          </a:p>
        </p:txBody>
      </p:sp>
      <p:sp>
        <p:nvSpPr>
          <p:cNvPr id="129" name=""/>
          <p:cNvSpPr/>
          <p:nvPr/>
        </p:nvSpPr>
        <p:spPr>
          <a:xfrm rot="0" flipH="0" flipV="0">
            <a:off x="4838700" y="3590925"/>
            <a:ext cx="6743700" cy="2209800"/>
          </a:xfrm>
          <a:prstGeom prst="roundRect">
            <a:avLst>
              <a:gd name="adj" fmla="val 5172"/>
            </a:avLst>
          </a:prstGeom>
          <a:solidFill>
            <a:srgbClr val="FFF4E6"/>
          </a:solidFill>
          <a:ln/>
        </p:spPr>
        <p:txBody>
          <a:bodyPr/>
          <a:p/>
        </p:txBody>
      </p:sp>
      <p:sp>
        <p:nvSpPr>
          <p:cNvPr id="130" name="" descr="{&quot;isTemplate&quot;:true,&quot;type&quot;:&quot;text&quot;}"/>
          <p:cNvSpPr txBox="1"/>
          <p:nvPr/>
        </p:nvSpPr>
        <p:spPr>
          <a:xfrm rot="0" flipH="0" flipV="0">
            <a:off x="5067300" y="3819525"/>
            <a:ext cx="628650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>
                <a:solidFill>
                  <a:srgbClr val="CB6B28"/>
                </a:solidFill>
                <a:latin typeface="Microsoft YaHei"/>
                <a:ea typeface="Microsoft YaHei"/>
              </a:rPr>
              <a:t>有意保留的差异，不要合并</a:t>
            </a:r>
            <a:endParaRPr/>
          </a:p>
        </p:txBody>
      </p:sp>
      <p:sp>
        <p:nvSpPr>
          <p:cNvPr id="131" name="" descr="{&quot;isTemplate&quot;:true,&quot;type&quot;:&quot;text&quot;}"/>
          <p:cNvSpPr txBox="1"/>
          <p:nvPr/>
        </p:nvSpPr>
        <p:spPr>
          <a:xfrm rot="0" flipH="0" flipV="0">
            <a:off x="5067300" y="4086225"/>
            <a:ext cx="6286500" cy="295275"/>
          </a:xfrm>
          <a:prstGeom prst="rect"/>
        </p:spPr>
        <p:txBody>
          <a:bodyPr wrap="none" lIns="0" tIns="0" rIns="0" bIns="0"/>
          <a:p>
            <a:pPr>
              <a:lnSpc>
                <a:spcPct val="160000"/>
              </a:lnSpc>
            </a:pPr>
            <a:r>
              <a:rPr lang="en-US" sz="1200">
                <a:solidFill>
                  <a:srgbClr val="20344B"/>
                </a:solidFill>
                <a:latin typeface="Microsoft YaHei"/>
                <a:ea typeface="Microsoft YaHei"/>
              </a:rPr>
              <a:t xml:space="preserve">H1 </a:t>
            </a:r>
            <a:r>
              <a:rPr lang="zh-CN" sz="1200">
                <a:solidFill>
                  <a:srgbClr val="20344B"/>
                </a:solidFill>
                <a:latin typeface="Microsoft YaHei"/>
                <a:ea typeface="Microsoft YaHei"/>
              </a:rPr>
              <a:t>和</a:t>
            </a:r>
            <a:r>
              <a:rPr lang="en-US" sz="1200">
                <a:solidFill>
                  <a:srgbClr val="20344B"/>
                </a:solidFill>
                <a:latin typeface="Microsoft YaHei"/>
                <a:ea typeface="Microsoft YaHei"/>
              </a:rPr>
              <a:t xml:space="preserve"> H3 </a:t>
            </a:r>
            <a:r>
              <a:rPr lang="zh-CN" sz="1200">
                <a:solidFill>
                  <a:srgbClr val="20344B"/>
                </a:solidFill>
                <a:latin typeface="Microsoft YaHei"/>
                <a:ea typeface="Microsoft YaHei"/>
              </a:rPr>
              <a:t>的首次话语相同，私人目的不同——这不是重复数据。</a:t>
            </a:r>
            <a:endParaRPr/>
          </a:p>
        </p:txBody>
      </p:sp>
      <p:sp>
        <p:nvSpPr>
          <p:cNvPr id="132" name="" descr="{&quot;isTemplate&quot;:true,&quot;type&quot;:&quot;text&quot;}"/>
          <p:cNvSpPr txBox="1"/>
          <p:nvPr/>
        </p:nvSpPr>
        <p:spPr>
          <a:xfrm rot="0" flipH="0" flipV="0">
            <a:off x="5067300" y="4476750"/>
            <a:ext cx="6286500" cy="59055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60000"/>
              </a:lnSpc>
            </a:pPr>
            <a:r>
              <a:rPr lang="zh-CN" sz="1200">
                <a:solidFill>
                  <a:srgbClr val="20344B"/>
                </a:solidFill>
                <a:latin typeface="Microsoft YaHei"/>
                <a:ea typeface="Microsoft YaHei"/>
              </a:rPr>
              <a:t>关键目的暂时没有说出来，正是澄清策略的研究条件；若整理者“优化”首句，就在配置之前消除了原来要观察的问题。</a:t>
            </a:r>
            <a:endParaRPr/>
          </a:p>
        </p:txBody>
      </p:sp>
      <p:sp>
        <p:nvSpPr>
          <p:cNvPr id="133" name="" descr="{&quot;isTemplate&quot;:true,&quot;type&quot;:&quot;text&quot;}"/>
          <p:cNvSpPr txBox="1"/>
          <p:nvPr/>
        </p:nvSpPr>
        <p:spPr>
          <a:xfrm rot="0" flipH="0" flipV="0">
            <a:off x="609600" y="6400800"/>
            <a:ext cx="18288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 xml:space="preserve">5.2 </a:t>
            </a: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材料来源、假设与可用范围</a:t>
            </a:r>
            <a:endParaRPr/>
          </a:p>
        </p:txBody>
      </p:sp>
      <p:sp>
        <p:nvSpPr>
          <p:cNvPr id="134" name="" descr="{&quot;isTemplate&quot;:true,&quot;type&quot;:&quot;text&quot;}"/>
          <p:cNvSpPr txBox="1"/>
          <p:nvPr/>
        </p:nvSpPr>
        <p:spPr>
          <a:xfrm rot="0" flipH="0" flipV="0">
            <a:off x="11125200" y="6400800"/>
            <a:ext cx="4572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>13 / 23</a:t>
            </a:r>
            <a:endParaRPr/>
          </a:p>
        </p:txBody>
      </p:sp>
    </p:spTree>
  </p:cSld>
</p:sld>
</file>

<file path=ppt/slides/slide14.xml><?xml version="1.0" encoding="utf-8"?>
<p:sld xmlns:p="http://schemas.openxmlformats.org/presentationml/2006/main" xmlns:a="http://schemas.openxmlformats.org/drawingml/2006/main">
  <p:cSld>
    <p:spTree>
      <p:nvGrpSpPr>
        <p:cNvPr id="135" name="" descr="&lt;Slide notes={`接下来这一块，处理的是最容易被含糊过去的部分：那些“暂时这么定”的条件。&#10;&#10;我先说清一件事：本轮采用的值，不是从真实大厅统计里估计出来的。五名 Agent、三个对象、二十乘十六格地图、四个 Arena、七十六步，这些都是作者为这次实验选定的条件。承认这一点，不会让实验变差，反而让它可解释。&#10;&#10;既然它们是选择，就必须能检查。第一步，把假设写在材料表上，不要藏在正文里。第二步，写明它为什么这么处理。第三步，写清楚需要什么证据才能推翻它。第四步，只有证据到手，状态才从“未检查”变成有依据的结论。&#10;&#10;我想强调第三步。没有写清证据的假设，会一直含糊下去，谁也说不清什么时候该改。`} style={{ width: 1280, height: 720, background: '#FFFFFF', flexDirection: 'column', padding: '20px 64px' }}&gt;&#10;&#10;    &lt;Box style={{ height: 640, flexDirection: 'column', justifyContent: 'center', gap: 20 }}&gt;&#10;&#10;        &lt;Text style={{ fontSize: 15, color: '#276FBF' }}&gt;3　　5.2.4 — 5.2.5&lt;/Text&gt;&#10;&#10;        &lt;Text style={{ fontSize: 56, fontWeight: 'bold', color: '#20344B', lineHeight: 1.15 }}&gt;把假设写成可检查的约束&lt;/Text&gt;&#10;&#10;        &lt;Box style={{ width: 72, height: 4, background: '#276FBF' }} /&gt;&#10;&#10;        &lt;Text style={{ fontSize: 18, color: '#546779', lineHeight: 1.7, width: 940 }}&gt;本轮采用的条件由作者选定，不是从真实大厅统计中估计出来的；既然它是选择，就必须写下什么证据能改变它。&lt;/Text&gt;&#10;&#10;        &lt;Box style={{ flexDirection: 'column', gap: 10, marginTop: 10 }}&gt;&#10;&#10;            &lt;Box style={{ width: 1152, height: 76, background: '#F4F7FA', borderRadius: 10, padding: '0 24px', flexDirection: 'row', alignItems: 'center', gap: 18 }}&gt;&#10;                &lt;Text style={{ fontSize: 28, fontWeight: 'bold', color: '#276FBF', width: 40 }}&gt;1&lt;/Text&gt;&#10;                &lt;Text style={{ fontSize: 18, fontWeight: 'bold', color: '#20344B', width: 300 }}&gt;暂时这样处理&lt;/Text&gt;&#10;                &lt;Text style={{ fontSize: 15, color: '#546779', flex: 1 }}&gt;假设写在材料表上，不藏在正文里，也不靠口头记忆&lt;/Text&gt;&#10;            &lt;/Box&gt;&#10;&#10;            &lt;Box style={{ width: 1152, height: 76, background: '#F4F7FA', borderRadius: 10, padding: '0 24px', flexDirection: 'row', alignItems: 'center', gap: 18 }}&gt;&#10;                &lt;Text style={{ fontSize: 28, fontWeight: 'bold', color: '#276FBF', width: 40 }}&gt;2&lt;/Text&gt;&#10;                &lt;Text style={{ fontSize: 18, fontWeight: 'bold', color: '#20344B', width: 300 }}&gt;写明为什么&lt;/Text&gt;&#10;                &lt;Text style={{ fontSize: 15, color: '#546779', flex: 1 }}&gt;每条都要能解释它服务哪一个判断&lt;/Text&gt;&#10;            &lt;/Box&gt;&#10;&#10;            &lt;Box style={{ width: 1152, height: 76, background: '#ECF7F2', borderRadius: 10, padding: '0 24px', flexDirection: 'row', alignItems: 'center', gap: 18 }}&gt;&#10;                &lt;Text style={{ fontSize: 28, fontWeight: 'bold', color: '#26816B', width: 40 }}&gt;3&lt;/Text&gt;&#10;                &lt;Text style={{ fontSize: 18, fontWeight: 'bold', color: '#20344B', width: 300 }}&gt;需要什么证据&lt;/Text&gt;&#10;                &lt;Text style={{ fontSize: 15, color: '#546779', flex: 1 }}&gt;具体到配置、地图路径、资源内容或运行记录&lt;/Text&gt;&#10;            &lt;/Box&gt;&#10;&#10;            &lt;Box style={{ width: 1152, height: 76, background: '#F4F7FA', borderRadius: 10, padding: '0 24px', flexDirection: 'row', alignItems: 'center', gap: 18 }}&gt;&#10;                &lt;Text style={{ fontSize: 28, fontWeight: 'bold', color: '#276FBF', width: 40 }}&gt;4&lt;/Text&gt;&#10;                &lt;Text style={{ fontSize: 18, fontWeight: 'bold', color: '#20344B', width: 300 }}&gt;证据到手才改变状态&lt;/Text&gt;&#10;                &lt;Text style={{ fontSize: 15, color: '#546779', flex: 1 }}&gt;状态从“未检查”改成有依据的结论，而不是感觉更可信&lt;/Text&gt;&#10;            &lt;/Box&gt;&#10;&#10;        &lt;/Box&gt;&#10;&#10;    &lt;/Box&gt;&#10;&#10;    &lt;Box style={{ height: 40, flexDirection: 'row', justifyContent: 'space-between', alignItems: 'center' }}&gt;&#10;        &lt;Text style={{ fontSize: 14, color: '#546779' }}&gt;5.2 材料来源、假设与可用范围&lt;/Text&gt;&#10;        &lt;Text style={{ fontSize: 14, color: '#546779' }}&gt;14 / 23&lt;/Text&gt;&#10;    &lt;/Box&gt;&#10;&#10;&lt;/Slide&gt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137" name="" descr="{&quot;isTemplate&quot;:true,&quot;type&quot;:&quot;text&quot;}"/>
          <p:cNvSpPr txBox="1"/>
          <p:nvPr/>
        </p:nvSpPr>
        <p:spPr>
          <a:xfrm rot="0" flipH="0" flipV="0">
            <a:off x="609600" y="571500"/>
            <a:ext cx="1097280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125">
                <a:solidFill>
                  <a:srgbClr val="276FBF"/>
                </a:solidFill>
                <a:latin typeface="Microsoft YaHei"/>
                <a:ea typeface="Microsoft YaHei"/>
              </a:rPr>
              <a:t>3</a:t>
            </a:r>
            <a:r>
              <a:rPr lang="zh-CN" sz="1125">
                <a:solidFill>
                  <a:srgbClr val="276FBF"/>
                </a:solidFill>
                <a:latin typeface="Microsoft YaHei"/>
                <a:ea typeface="Microsoft YaHei"/>
              </a:rPr>
              <a:t>　　</a:t>
            </a:r>
            <a:r>
              <a:rPr lang="en-US" sz="1125">
                <a:solidFill>
                  <a:srgbClr val="276FBF"/>
                </a:solidFill>
                <a:latin typeface="Microsoft YaHei"/>
                <a:ea typeface="Microsoft YaHei"/>
              </a:rPr>
              <a:t>5.2.4 — 5.2.5</a:t>
            </a:r>
            <a:endParaRPr/>
          </a:p>
        </p:txBody>
      </p:sp>
      <p:sp>
        <p:nvSpPr>
          <p:cNvPr id="138" name="" descr="{&quot;isTemplate&quot;:true,&quot;type&quot;:&quot;text&quot;}"/>
          <p:cNvSpPr txBox="1"/>
          <p:nvPr/>
        </p:nvSpPr>
        <p:spPr>
          <a:xfrm rot="0" flipH="0" flipV="0">
            <a:off x="609600" y="933450"/>
            <a:ext cx="10972800" cy="742950"/>
          </a:xfrm>
          <a:prstGeom prst="rect"/>
        </p:spPr>
        <p:txBody>
          <a:bodyPr wrap="none" lIns="0" tIns="0" rIns="0" bIns="0"/>
          <a:p>
            <a:pPr>
              <a:lnSpc>
                <a:spcPct val="114999"/>
              </a:lnSpc>
            </a:pPr>
            <a:r>
              <a:rPr lang="zh-CN" sz="4200" b="1">
                <a:solidFill>
                  <a:srgbClr val="20344B"/>
                </a:solidFill>
                <a:latin typeface="Microsoft YaHei"/>
                <a:ea typeface="Microsoft YaHei"/>
              </a:rPr>
              <a:t>把假设写成可检查的约束</a:t>
            </a:r>
            <a:endParaRPr/>
          </a:p>
        </p:txBody>
      </p:sp>
      <p:sp>
        <p:nvSpPr>
          <p:cNvPr id="139" name=""/>
          <p:cNvSpPr/>
          <p:nvPr/>
        </p:nvSpPr>
        <p:spPr>
          <a:xfrm rot="0" flipH="0" flipV="0">
            <a:off x="609600" y="1866900"/>
            <a:ext cx="685800" cy="38100"/>
          </a:xfrm>
          <a:prstGeom prst="rect">
            <a:avLst/>
          </a:prstGeom>
          <a:solidFill>
            <a:srgbClr val="276FBF"/>
          </a:solidFill>
          <a:ln/>
        </p:spPr>
        <p:txBody>
          <a:bodyPr/>
          <a:p/>
        </p:txBody>
      </p:sp>
      <p:sp>
        <p:nvSpPr>
          <p:cNvPr id="140" name="" descr="{&quot;isTemplate&quot;:true,&quot;type&quot;:&quot;text&quot;}"/>
          <p:cNvSpPr txBox="1"/>
          <p:nvPr/>
        </p:nvSpPr>
        <p:spPr>
          <a:xfrm rot="0" flipH="0" flipV="0">
            <a:off x="609600" y="2095500"/>
            <a:ext cx="8953500" cy="352425"/>
          </a:xfrm>
          <a:prstGeom prst="rect"/>
        </p:spPr>
        <p:txBody>
          <a:bodyPr wrap="none" lIns="0" tIns="0" rIns="0" bIns="0"/>
          <a:p>
            <a:pPr>
              <a:lnSpc>
                <a:spcPct val="170000"/>
              </a:lnSpc>
            </a:pPr>
            <a:r>
              <a:rPr lang="zh-CN" sz="1350">
                <a:solidFill>
                  <a:srgbClr val="546779"/>
                </a:solidFill>
                <a:latin typeface="Microsoft YaHei"/>
                <a:ea typeface="Microsoft YaHei"/>
              </a:rPr>
              <a:t>本轮采用的条件由作者选定，不是从真实大厅统计中估计出来的；既然它是选择，就必须写下什么证据能改变它。</a:t>
            </a:r>
            <a:endParaRPr/>
          </a:p>
        </p:txBody>
      </p:sp>
      <p:sp>
        <p:nvSpPr>
          <p:cNvPr id="141" name=""/>
          <p:cNvSpPr/>
          <p:nvPr/>
        </p:nvSpPr>
        <p:spPr>
          <a:xfrm rot="0" flipH="0" flipV="0">
            <a:off x="609600" y="2733675"/>
            <a:ext cx="10972800" cy="723900"/>
          </a:xfrm>
          <a:prstGeom prst="roundRect">
            <a:avLst>
              <a:gd name="adj" fmla="val 13158"/>
            </a:avLst>
          </a:prstGeom>
          <a:solidFill>
            <a:srgbClr val="F4F7FA"/>
          </a:solidFill>
          <a:ln/>
        </p:spPr>
        <p:txBody>
          <a:bodyPr/>
          <a:p/>
        </p:txBody>
      </p:sp>
      <p:sp>
        <p:nvSpPr>
          <p:cNvPr id="142" name="" descr="{&quot;isTemplate&quot;:true,&quot;type&quot;:&quot;text&quot;}"/>
          <p:cNvSpPr txBox="1"/>
          <p:nvPr/>
        </p:nvSpPr>
        <p:spPr>
          <a:xfrm rot="0" flipH="0" flipV="0">
            <a:off x="838200" y="2933700"/>
            <a:ext cx="381000" cy="3238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2100" b="1">
                <a:solidFill>
                  <a:srgbClr val="276FBF"/>
                </a:solidFill>
                <a:latin typeface="Microsoft YaHei"/>
                <a:ea typeface="Microsoft YaHei"/>
              </a:rPr>
              <a:t>1</a:t>
            </a:r>
            <a:endParaRPr/>
          </a:p>
        </p:txBody>
      </p:sp>
      <p:sp>
        <p:nvSpPr>
          <p:cNvPr id="143" name="" descr="{&quot;isTemplate&quot;:true,&quot;type&quot;:&quot;text&quot;}"/>
          <p:cNvSpPr txBox="1"/>
          <p:nvPr/>
        </p:nvSpPr>
        <p:spPr>
          <a:xfrm rot="0" flipH="0" flipV="0">
            <a:off x="1390650" y="2990850"/>
            <a:ext cx="2857500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350" b="1">
                <a:solidFill>
                  <a:srgbClr val="20344B"/>
                </a:solidFill>
                <a:latin typeface="Microsoft YaHei"/>
                <a:ea typeface="Microsoft YaHei"/>
              </a:rPr>
              <a:t>暂时这样处理</a:t>
            </a:r>
            <a:endParaRPr/>
          </a:p>
        </p:txBody>
      </p:sp>
      <p:sp>
        <p:nvSpPr>
          <p:cNvPr id="144" name="" descr="{&quot;isTemplate&quot;:true,&quot;type&quot;:&quot;text&quot;}"/>
          <p:cNvSpPr txBox="1"/>
          <p:nvPr/>
        </p:nvSpPr>
        <p:spPr>
          <a:xfrm rot="0" flipH="0" flipV="0">
            <a:off x="4419600" y="3009900"/>
            <a:ext cx="693420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>
                <a:solidFill>
                  <a:srgbClr val="546779"/>
                </a:solidFill>
                <a:latin typeface="Microsoft YaHei"/>
                <a:ea typeface="Microsoft YaHei"/>
              </a:rPr>
              <a:t>假设写在材料表上，不藏在正文里，也不靠口头记忆</a:t>
            </a:r>
            <a:endParaRPr/>
          </a:p>
        </p:txBody>
      </p:sp>
      <p:sp>
        <p:nvSpPr>
          <p:cNvPr id="145" name=""/>
          <p:cNvSpPr/>
          <p:nvPr/>
        </p:nvSpPr>
        <p:spPr>
          <a:xfrm rot="0" flipH="0" flipV="0">
            <a:off x="609600" y="3552825"/>
            <a:ext cx="10972800" cy="723900"/>
          </a:xfrm>
          <a:prstGeom prst="roundRect">
            <a:avLst>
              <a:gd name="adj" fmla="val 13158"/>
            </a:avLst>
          </a:prstGeom>
          <a:solidFill>
            <a:srgbClr val="F4F7FA"/>
          </a:solidFill>
          <a:ln/>
        </p:spPr>
        <p:txBody>
          <a:bodyPr/>
          <a:p/>
        </p:txBody>
      </p:sp>
      <p:sp>
        <p:nvSpPr>
          <p:cNvPr id="146" name="" descr="{&quot;isTemplate&quot;:true,&quot;type&quot;:&quot;text&quot;}"/>
          <p:cNvSpPr txBox="1"/>
          <p:nvPr/>
        </p:nvSpPr>
        <p:spPr>
          <a:xfrm rot="0" flipH="0" flipV="0">
            <a:off x="838200" y="3752850"/>
            <a:ext cx="381000" cy="3238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2100" b="1">
                <a:solidFill>
                  <a:srgbClr val="276FBF"/>
                </a:solidFill>
                <a:latin typeface="Microsoft YaHei"/>
                <a:ea typeface="Microsoft YaHei"/>
              </a:rPr>
              <a:t>2</a:t>
            </a:r>
            <a:endParaRPr/>
          </a:p>
        </p:txBody>
      </p:sp>
      <p:sp>
        <p:nvSpPr>
          <p:cNvPr id="147" name="" descr="{&quot;isTemplate&quot;:true,&quot;type&quot;:&quot;text&quot;}"/>
          <p:cNvSpPr txBox="1"/>
          <p:nvPr/>
        </p:nvSpPr>
        <p:spPr>
          <a:xfrm rot="0" flipH="0" flipV="0">
            <a:off x="1390650" y="3810000"/>
            <a:ext cx="2857500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350" b="1">
                <a:solidFill>
                  <a:srgbClr val="20344B"/>
                </a:solidFill>
                <a:latin typeface="Microsoft YaHei"/>
                <a:ea typeface="Microsoft YaHei"/>
              </a:rPr>
              <a:t>写明为什么</a:t>
            </a:r>
            <a:endParaRPr/>
          </a:p>
        </p:txBody>
      </p:sp>
      <p:sp>
        <p:nvSpPr>
          <p:cNvPr id="148" name="" descr="{&quot;isTemplate&quot;:true,&quot;type&quot;:&quot;text&quot;}"/>
          <p:cNvSpPr txBox="1"/>
          <p:nvPr/>
        </p:nvSpPr>
        <p:spPr>
          <a:xfrm rot="0" flipH="0" flipV="0">
            <a:off x="4419600" y="3829050"/>
            <a:ext cx="693420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>
                <a:solidFill>
                  <a:srgbClr val="546779"/>
                </a:solidFill>
                <a:latin typeface="Microsoft YaHei"/>
                <a:ea typeface="Microsoft YaHei"/>
              </a:rPr>
              <a:t>每条都要能解释它服务哪一个判断</a:t>
            </a:r>
            <a:endParaRPr/>
          </a:p>
        </p:txBody>
      </p:sp>
      <p:sp>
        <p:nvSpPr>
          <p:cNvPr id="149" name=""/>
          <p:cNvSpPr/>
          <p:nvPr/>
        </p:nvSpPr>
        <p:spPr>
          <a:xfrm rot="0" flipH="0" flipV="0">
            <a:off x="609600" y="4371975"/>
            <a:ext cx="10972800" cy="723900"/>
          </a:xfrm>
          <a:prstGeom prst="roundRect">
            <a:avLst>
              <a:gd name="adj" fmla="val 13158"/>
            </a:avLst>
          </a:prstGeom>
          <a:solidFill>
            <a:srgbClr val="ECF7F2"/>
          </a:solidFill>
          <a:ln/>
        </p:spPr>
        <p:txBody>
          <a:bodyPr/>
          <a:p/>
        </p:txBody>
      </p:sp>
      <p:sp>
        <p:nvSpPr>
          <p:cNvPr id="150" name="" descr="{&quot;isTemplate&quot;:true,&quot;type&quot;:&quot;text&quot;}"/>
          <p:cNvSpPr txBox="1"/>
          <p:nvPr/>
        </p:nvSpPr>
        <p:spPr>
          <a:xfrm rot="0" flipH="0" flipV="0">
            <a:off x="838200" y="4572000"/>
            <a:ext cx="381000" cy="3238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2100" b="1">
                <a:solidFill>
                  <a:srgbClr val="26816B"/>
                </a:solidFill>
                <a:latin typeface="Microsoft YaHei"/>
                <a:ea typeface="Microsoft YaHei"/>
              </a:rPr>
              <a:t>3</a:t>
            </a:r>
            <a:endParaRPr/>
          </a:p>
        </p:txBody>
      </p:sp>
      <p:sp>
        <p:nvSpPr>
          <p:cNvPr id="151" name="" descr="{&quot;isTemplate&quot;:true,&quot;type&quot;:&quot;text&quot;}"/>
          <p:cNvSpPr txBox="1"/>
          <p:nvPr/>
        </p:nvSpPr>
        <p:spPr>
          <a:xfrm rot="0" flipH="0" flipV="0">
            <a:off x="1390650" y="4629150"/>
            <a:ext cx="2857500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350" b="1">
                <a:solidFill>
                  <a:srgbClr val="20344B"/>
                </a:solidFill>
                <a:latin typeface="Microsoft YaHei"/>
                <a:ea typeface="Microsoft YaHei"/>
              </a:rPr>
              <a:t>需要什么证据</a:t>
            </a:r>
            <a:endParaRPr/>
          </a:p>
        </p:txBody>
      </p:sp>
      <p:sp>
        <p:nvSpPr>
          <p:cNvPr id="152" name="" descr="{&quot;isTemplate&quot;:true,&quot;type&quot;:&quot;text&quot;}"/>
          <p:cNvSpPr txBox="1"/>
          <p:nvPr/>
        </p:nvSpPr>
        <p:spPr>
          <a:xfrm rot="0" flipH="0" flipV="0">
            <a:off x="4419600" y="4648200"/>
            <a:ext cx="693420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>
                <a:solidFill>
                  <a:srgbClr val="546779"/>
                </a:solidFill>
                <a:latin typeface="Microsoft YaHei"/>
                <a:ea typeface="Microsoft YaHei"/>
              </a:rPr>
              <a:t>具体到配置、地图路径、资源内容或运行记录</a:t>
            </a:r>
            <a:endParaRPr/>
          </a:p>
        </p:txBody>
      </p:sp>
      <p:sp>
        <p:nvSpPr>
          <p:cNvPr id="153" name=""/>
          <p:cNvSpPr/>
          <p:nvPr/>
        </p:nvSpPr>
        <p:spPr>
          <a:xfrm rot="0" flipH="0" flipV="0">
            <a:off x="609600" y="5191125"/>
            <a:ext cx="10972800" cy="723900"/>
          </a:xfrm>
          <a:prstGeom prst="roundRect">
            <a:avLst>
              <a:gd name="adj" fmla="val 13158"/>
            </a:avLst>
          </a:prstGeom>
          <a:solidFill>
            <a:srgbClr val="F4F7FA"/>
          </a:solidFill>
          <a:ln/>
        </p:spPr>
        <p:txBody>
          <a:bodyPr/>
          <a:p/>
        </p:txBody>
      </p:sp>
      <p:sp>
        <p:nvSpPr>
          <p:cNvPr id="154" name="" descr="{&quot;isTemplate&quot;:true,&quot;type&quot;:&quot;text&quot;}"/>
          <p:cNvSpPr txBox="1"/>
          <p:nvPr/>
        </p:nvSpPr>
        <p:spPr>
          <a:xfrm rot="0" flipH="0" flipV="0">
            <a:off x="838200" y="5391150"/>
            <a:ext cx="381000" cy="3238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2100" b="1">
                <a:solidFill>
                  <a:srgbClr val="276FBF"/>
                </a:solidFill>
                <a:latin typeface="Microsoft YaHei"/>
                <a:ea typeface="Microsoft YaHei"/>
              </a:rPr>
              <a:t>4</a:t>
            </a:r>
            <a:endParaRPr/>
          </a:p>
        </p:txBody>
      </p:sp>
      <p:sp>
        <p:nvSpPr>
          <p:cNvPr id="155" name="" descr="{&quot;isTemplate&quot;:true,&quot;type&quot;:&quot;text&quot;}"/>
          <p:cNvSpPr txBox="1"/>
          <p:nvPr/>
        </p:nvSpPr>
        <p:spPr>
          <a:xfrm rot="0" flipH="0" flipV="0">
            <a:off x="1390650" y="5448300"/>
            <a:ext cx="2857500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350" b="1">
                <a:solidFill>
                  <a:srgbClr val="20344B"/>
                </a:solidFill>
                <a:latin typeface="Microsoft YaHei"/>
                <a:ea typeface="Microsoft YaHei"/>
              </a:rPr>
              <a:t>证据到手才改变状态</a:t>
            </a:r>
            <a:endParaRPr/>
          </a:p>
        </p:txBody>
      </p:sp>
      <p:sp>
        <p:nvSpPr>
          <p:cNvPr id="156" name="" descr="{&quot;isTemplate&quot;:true,&quot;type&quot;:&quot;text&quot;}"/>
          <p:cNvSpPr txBox="1"/>
          <p:nvPr/>
        </p:nvSpPr>
        <p:spPr>
          <a:xfrm rot="0" flipH="0" flipV="0">
            <a:off x="4419600" y="5467350"/>
            <a:ext cx="693420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>
                <a:solidFill>
                  <a:srgbClr val="546779"/>
                </a:solidFill>
                <a:latin typeface="Microsoft YaHei"/>
                <a:ea typeface="Microsoft YaHei"/>
              </a:rPr>
              <a:t>状态从“未检查”改成有依据的结论，而不是感觉更可信</a:t>
            </a:r>
            <a:endParaRPr/>
          </a:p>
        </p:txBody>
      </p:sp>
      <p:sp>
        <p:nvSpPr>
          <p:cNvPr id="157" name="" descr="{&quot;isTemplate&quot;:true,&quot;type&quot;:&quot;text&quot;}"/>
          <p:cNvSpPr txBox="1"/>
          <p:nvPr/>
        </p:nvSpPr>
        <p:spPr>
          <a:xfrm rot="0" flipH="0" flipV="0">
            <a:off x="609600" y="6400800"/>
            <a:ext cx="18288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 xml:space="preserve">5.2 </a:t>
            </a: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材料来源、假设与可用范围</a:t>
            </a:r>
            <a:endParaRPr/>
          </a:p>
        </p:txBody>
      </p:sp>
      <p:sp>
        <p:nvSpPr>
          <p:cNvPr id="158" name="" descr="{&quot;isTemplate&quot;:true,&quot;type&quot;:&quot;text&quot;}"/>
          <p:cNvSpPr txBox="1"/>
          <p:nvPr/>
        </p:nvSpPr>
        <p:spPr>
          <a:xfrm rot="0" flipH="0" flipV="0">
            <a:off x="11125200" y="6400800"/>
            <a:ext cx="4572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>14 / 23</a:t>
            </a:r>
            <a:endParaRPr/>
          </a:p>
        </p:txBody>
      </p:sp>
    </p:spTree>
  </p:cSld>
</p:sld>
</file>

<file path=ppt/slides/slide15.xml><?xml version="1.0" encoding="utf-8"?>
<p:sld xmlns:p="http://schemas.openxmlformats.org/presentationml/2006/main" xmlns:a="http://schemas.openxmlformats.org/drawingml/2006/main">
  <p:cSld>
    <p:spTree>
      <p:nvGrpSpPr>
        <p:cNvPr id="159" name="" descr="&lt;Slide notes={`先把本轮采用的固定条件列清楚，接收者才有对照的基准。&#10;&#10;四项咨询任务，四位来访者加引导员余真，一共五名 Agent。咨询台加两个窗口，一共三个对象。地图采用二十乘十六格，入口、等候区、A 服务区、B 服务区，一共四个 Arena。时间从二零二六年十月十八日九点到十点十五分，时区是上海，步长一分钟，一共七十六步。&#10;&#10;这些值不是估计出来的，是本次采用的条件。这句话要写在材料表上，不然接收者会以为它们来自真实大厅的统计。&#10;&#10;材料表还要多写一栏：这些假设怎样影响结论。比如内部通道设计为连通，但实际录入之后的路线还要验证；人物从规定 Arena 出生，但坐标等空间选择器保存；对象可以按 SOP 答复多个请求，但不能据此推出真实窗口的服务速度。`} style={{ width: 1280, height: 720, background: '#FFFFFF', flexDirection: 'column', padding: '20px 64px' }}&gt;&#10;&#10;    &lt;Box style={{ height: 100, flexDirection: 'row', alignItems: 'center', gap: 20 }}&gt;&#10;        &lt;Box style={{ width: 4, height: 44, background: '#276FBF' }} /&gt;&#10;        &lt;Box style={{ flexDirection: 'column', gap: 4 }}&gt;&#10;            &lt;Text style={{ fontSize: 14, color: '#546779' }}&gt;5.2.4　把假设写成可检查的约束&lt;/Text&gt;&#10;            &lt;Text style={{ fontSize: 34, fontWeight: 'bold', color: '#20344B' }}&gt;先写清楚：这些值从哪里来&lt;/Text&gt;&#10;        &lt;/Box&gt;&#10;    &lt;/Box&gt;&#10;&#10;    &lt;Box style={{ height: 540, flexDirection: 'row', gap: 24, alignItems: 'center' }}&gt;&#10;&#10;        &lt;Box style={{ width: 620, flexDirection: 'column', gap: 10 }}&gt;&#10;&#10;            &lt;Box style={{ width: 620, height: 72, background: '#F4F7FA', borderRadius: 8, padding: '0 18px', flexDirection: 'row', alignItems: 'center', gap: 14 }}&gt;&#10;                &lt;Box style={{ width: 4, height: 40, background: '#276FBF' }} /&gt;&#10;                &lt;Text style={{ fontSize: 16, color: '#20344B', flex: 1 }}&gt;四项咨询任务&lt;/Text&gt;&#10;            &lt;/Box&gt;&#10;&#10;            &lt;Box style={{ width: 620, height: 72, background: '#F4F7FA', borderRadius: 8, padding: '0 18px', flexDirection: 'row', alignItems: 'center', gap: 14 }}&gt;&#10;                &lt;Box style={{ width: 4, height: 40, background: '#276FBF' }} /&gt;&#10;                &lt;Text style={{ fontSize: 16, color: '#20344B', flex: 1 }}&gt;四位来访者 + 引导员余真 = 五名 Agent&lt;/Text&gt;&#10;            &lt;/Box&gt;&#10;&#10;            &lt;Box style={{ width: 620, height: 72, background: '#F4F7FA', borderRadius: 8, padding: '0 18px', flexDirection: 'row', alignItems: 'center', gap: 14 }}&gt;&#10;                &lt;Box style={{ width: 4, height: 40, background: '#276FBF' }} /&gt;&#10;                &lt;Text style={{ fontSize: 16, color: '#20344B', flex: 1 }}&gt;咨询台 + 两个窗口 = 三个对象&lt;/Text&gt;&#10;            &lt;/Box&gt;&#10;&#10;            &lt;Box style={{ width: 620, height: 72, background: '#F4F7FA', borderRadius: 8, padding: '0 18px', flexDirection: 'row', alignItems: 'center', gap: 14 }}&gt;&#10;                &lt;Box style={{ width: 4, height: 40, background: '#276FBF' }} /&gt;&#10;                &lt;Text style={{ fontSize: 16, color: '#20344B', flex: 1 }}&gt;20×16 格地图，四个 Arena：入口、等候区、A 服务区、B 服务区&lt;/Text&gt;&#10;            &lt;/Box&gt;&#10;&#10;            &lt;Box style={{ width: 620, height: 72, background: '#F4F7FA', borderRadius: 8, padding: '0 18px', flexDirection: 'row', alignItems: 'center', gap: 14 }}&gt;&#10;                &lt;Box style={{ width: 4, height: 40, background: '#276FBF' }} /&gt;&#10;                &lt;Text style={{ fontSize: 16, color: '#20344B', flex: 1 }}&gt;2026-10-18　09:00—10:15，Asia/Shanghai，步长一分钟，共 76 步&lt;/Text&gt;&#10;            &lt;/Box&gt;&#10;&#10;        &lt;/Box&gt;&#10;&#10;        &lt;Box style={{ width: 508, flexDirection: 'column', gap: 14, justifyContent: 'center' }}&gt;&#10;&#10;            &lt;Box style={{ width: 508, height: 150, background: '#FFF4E6', borderRadius: 12, padding: 22, flexDirection: 'column', gap: 10 }}&gt;&#10;                &lt;Text style={{ fontSize: 15, color: '#CB6B28' }}&gt;这些值属于本次采用的条件&lt;/Text&gt;&#10;                &lt;Text style={{ fontSize: 16, color: '#20344B', lineHeight: 1.65 }}&gt;不是从真实大厅统计中估计出来的结果。&lt;/Text&gt;&#10;            &lt;/Box&gt;&#10;&#10;            &lt;Box style={{ width: 508, height: 250, background: '#F4F7FA', borderRadius: 12, padding: 22, flexDirection: 'column', gap: 10 }}&gt;&#10;                &lt;Text style={{ fontSize: 15, color: '#276FBF' }}&gt;材料表还要列出：假设怎样影响结论&lt;/Text&gt;&#10;                &lt;Text style={{ fontSize: 15, color: '#20344B', lineHeight: 1.6 }}&gt;内部通道设计为连通，实际录入后的路线待验。&lt;/Text&gt;&#10;                &lt;Text style={{ fontSize: 15, color: '#20344B', lineHeight: 1.6 }}&gt;人物从规定 Arena 出生，但坐标待空间选择器保存。&lt;/Text&gt;&#10;                &lt;Text style={{ fontSize: 15, color: '#20344B', lineHeight: 1.6 }}&gt;对象可按 SOP 答复多个请求，不能据此推出真实窗口的服务速度。&lt;/Text&gt;&#10;            &lt;/Box&gt;&#10;&#10;        &lt;/Box&gt;&#10;&#10;    &lt;/Box&gt;&#10;&#10;    &lt;Box style={{ height: 40, flexDirection: 'row', justifyContent: 'space-between', alignItems: 'center' }}&gt;&#10;        &lt;Text style={{ fontSize: 14, color: '#546779' }}&gt;5.2 材料来源、假设与可用范围&lt;/Text&gt;&#10;        &lt;Text style={{ fontSize: 14, color: '#546779' }}&gt;15 / 23&lt;/Text&gt;&#10;    &lt;/Box&gt;&#10;&#10;&lt;/Slide&gt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161" name=""/>
          <p:cNvSpPr/>
          <p:nvPr/>
        </p:nvSpPr>
        <p:spPr>
          <a:xfrm rot="0" flipH="0" flipV="0">
            <a:off x="609600" y="457200"/>
            <a:ext cx="38100" cy="419100"/>
          </a:xfrm>
          <a:prstGeom prst="rect">
            <a:avLst/>
          </a:prstGeom>
          <a:solidFill>
            <a:srgbClr val="276FBF"/>
          </a:solidFill>
          <a:ln/>
        </p:spPr>
        <p:txBody>
          <a:bodyPr/>
          <a:p/>
        </p:txBody>
      </p:sp>
      <p:sp>
        <p:nvSpPr>
          <p:cNvPr id="162" name="" descr="{&quot;isTemplate&quot;:true,&quot;type&quot;:&quot;text&quot;}"/>
          <p:cNvSpPr txBox="1"/>
          <p:nvPr/>
        </p:nvSpPr>
        <p:spPr>
          <a:xfrm rot="0" flipH="0" flipV="0">
            <a:off x="838200" y="371475"/>
            <a:ext cx="38862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>5.2.4</a:t>
            </a: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　把假设写成可检查的约束</a:t>
            </a:r>
            <a:endParaRPr/>
          </a:p>
        </p:txBody>
      </p:sp>
      <p:sp>
        <p:nvSpPr>
          <p:cNvPr id="163" name="" descr="{&quot;isTemplate&quot;:true,&quot;type&quot;:&quot;text&quot;}"/>
          <p:cNvSpPr txBox="1"/>
          <p:nvPr/>
        </p:nvSpPr>
        <p:spPr>
          <a:xfrm rot="0" flipH="0" flipV="0">
            <a:off x="838200" y="571500"/>
            <a:ext cx="3886200" cy="3905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550" b="1">
                <a:solidFill>
                  <a:srgbClr val="20344B"/>
                </a:solidFill>
                <a:latin typeface="Microsoft YaHei"/>
                <a:ea typeface="Microsoft YaHei"/>
              </a:rPr>
              <a:t>先写清楚：这些值从哪里来</a:t>
            </a:r>
            <a:endParaRPr/>
          </a:p>
        </p:txBody>
      </p:sp>
      <p:sp>
        <p:nvSpPr>
          <p:cNvPr id="164" name=""/>
          <p:cNvSpPr/>
          <p:nvPr/>
        </p:nvSpPr>
        <p:spPr>
          <a:xfrm rot="0" flipH="0" flipV="0">
            <a:off x="609600" y="1809750"/>
            <a:ext cx="5905500" cy="685800"/>
          </a:xfrm>
          <a:prstGeom prst="roundRect">
            <a:avLst>
              <a:gd name="adj" fmla="val 11111"/>
            </a:avLst>
          </a:prstGeom>
          <a:solidFill>
            <a:srgbClr val="F4F7FA"/>
          </a:solidFill>
          <a:ln/>
        </p:spPr>
        <p:txBody>
          <a:bodyPr/>
          <a:p/>
        </p:txBody>
      </p:sp>
      <p:sp>
        <p:nvSpPr>
          <p:cNvPr id="165" name=""/>
          <p:cNvSpPr/>
          <p:nvPr/>
        </p:nvSpPr>
        <p:spPr>
          <a:xfrm rot="0" flipH="0" flipV="0">
            <a:off x="781050" y="1962150"/>
            <a:ext cx="38100" cy="381000"/>
          </a:xfrm>
          <a:prstGeom prst="rect">
            <a:avLst/>
          </a:prstGeom>
          <a:solidFill>
            <a:srgbClr val="276FBF"/>
          </a:solidFill>
          <a:ln/>
        </p:spPr>
        <p:txBody>
          <a:bodyPr/>
          <a:p/>
        </p:txBody>
      </p:sp>
      <p:sp>
        <p:nvSpPr>
          <p:cNvPr id="166" name="" descr="{&quot;isTemplate&quot;:true,&quot;type&quot;:&quot;text&quot;}"/>
          <p:cNvSpPr txBox="1"/>
          <p:nvPr/>
        </p:nvSpPr>
        <p:spPr>
          <a:xfrm rot="0" flipH="0" flipV="0">
            <a:off x="952500" y="2057400"/>
            <a:ext cx="539115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>
                <a:solidFill>
                  <a:srgbClr val="20344B"/>
                </a:solidFill>
                <a:latin typeface="Microsoft YaHei"/>
                <a:ea typeface="Microsoft YaHei"/>
              </a:rPr>
              <a:t>四项咨询任务</a:t>
            </a:r>
            <a:endParaRPr/>
          </a:p>
        </p:txBody>
      </p:sp>
      <p:sp>
        <p:nvSpPr>
          <p:cNvPr id="167" name=""/>
          <p:cNvSpPr/>
          <p:nvPr/>
        </p:nvSpPr>
        <p:spPr>
          <a:xfrm rot="0" flipH="0" flipV="0">
            <a:off x="609600" y="2590800"/>
            <a:ext cx="5905500" cy="685800"/>
          </a:xfrm>
          <a:prstGeom prst="roundRect">
            <a:avLst>
              <a:gd name="adj" fmla="val 11111"/>
            </a:avLst>
          </a:prstGeom>
          <a:solidFill>
            <a:srgbClr val="F4F7FA"/>
          </a:solidFill>
          <a:ln/>
        </p:spPr>
        <p:txBody>
          <a:bodyPr/>
          <a:p/>
        </p:txBody>
      </p:sp>
      <p:sp>
        <p:nvSpPr>
          <p:cNvPr id="168" name=""/>
          <p:cNvSpPr/>
          <p:nvPr/>
        </p:nvSpPr>
        <p:spPr>
          <a:xfrm rot="0" flipH="0" flipV="0">
            <a:off x="781050" y="2743200"/>
            <a:ext cx="38100" cy="381000"/>
          </a:xfrm>
          <a:prstGeom prst="rect">
            <a:avLst/>
          </a:prstGeom>
          <a:solidFill>
            <a:srgbClr val="276FBF"/>
          </a:solidFill>
          <a:ln/>
        </p:spPr>
        <p:txBody>
          <a:bodyPr/>
          <a:p/>
        </p:txBody>
      </p:sp>
      <p:sp>
        <p:nvSpPr>
          <p:cNvPr id="169" name="" descr="{&quot;isTemplate&quot;:true,&quot;type&quot;:&quot;text&quot;}"/>
          <p:cNvSpPr txBox="1"/>
          <p:nvPr/>
        </p:nvSpPr>
        <p:spPr>
          <a:xfrm rot="0" flipH="0" flipV="0">
            <a:off x="952500" y="2838450"/>
            <a:ext cx="539115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>
                <a:solidFill>
                  <a:srgbClr val="20344B"/>
                </a:solidFill>
                <a:latin typeface="Microsoft YaHei"/>
                <a:ea typeface="Microsoft YaHei"/>
              </a:rPr>
              <a:t>四位来访者</a:t>
            </a:r>
            <a:r>
              <a:rPr lang="en-US" sz="1200">
                <a:solidFill>
                  <a:srgbClr val="20344B"/>
                </a:solidFill>
                <a:latin typeface="Microsoft YaHei"/>
                <a:ea typeface="Microsoft YaHei"/>
              </a:rPr>
              <a:t xml:space="preserve"> + </a:t>
            </a:r>
            <a:r>
              <a:rPr lang="zh-CN" sz="1200">
                <a:solidFill>
                  <a:srgbClr val="20344B"/>
                </a:solidFill>
                <a:latin typeface="Microsoft YaHei"/>
                <a:ea typeface="Microsoft YaHei"/>
              </a:rPr>
              <a:t>引导员余真</a:t>
            </a:r>
            <a:r>
              <a:rPr lang="en-US" sz="1200">
                <a:solidFill>
                  <a:srgbClr val="20344B"/>
                </a:solidFill>
                <a:latin typeface="Microsoft YaHei"/>
                <a:ea typeface="Microsoft YaHei"/>
              </a:rPr>
              <a:t xml:space="preserve"> = </a:t>
            </a:r>
            <a:r>
              <a:rPr lang="zh-CN" sz="1200">
                <a:solidFill>
                  <a:srgbClr val="20344B"/>
                </a:solidFill>
                <a:latin typeface="Microsoft YaHei"/>
                <a:ea typeface="Microsoft YaHei"/>
              </a:rPr>
              <a:t>五名</a:t>
            </a:r>
            <a:r>
              <a:rPr lang="en-US" sz="1200">
                <a:solidFill>
                  <a:srgbClr val="20344B"/>
                </a:solidFill>
                <a:latin typeface="Microsoft YaHei"/>
                <a:ea typeface="Microsoft YaHei"/>
              </a:rPr>
              <a:t xml:space="preserve"> Agent</a:t>
            </a:r>
            <a:endParaRPr/>
          </a:p>
        </p:txBody>
      </p:sp>
      <p:sp>
        <p:nvSpPr>
          <p:cNvPr id="170" name=""/>
          <p:cNvSpPr/>
          <p:nvPr/>
        </p:nvSpPr>
        <p:spPr>
          <a:xfrm rot="0" flipH="0" flipV="0">
            <a:off x="609600" y="3371850"/>
            <a:ext cx="5905500" cy="685800"/>
          </a:xfrm>
          <a:prstGeom prst="roundRect">
            <a:avLst>
              <a:gd name="adj" fmla="val 11111"/>
            </a:avLst>
          </a:prstGeom>
          <a:solidFill>
            <a:srgbClr val="F4F7FA"/>
          </a:solidFill>
          <a:ln/>
        </p:spPr>
        <p:txBody>
          <a:bodyPr/>
          <a:p/>
        </p:txBody>
      </p:sp>
      <p:sp>
        <p:nvSpPr>
          <p:cNvPr id="171" name=""/>
          <p:cNvSpPr/>
          <p:nvPr/>
        </p:nvSpPr>
        <p:spPr>
          <a:xfrm rot="0" flipH="0" flipV="0">
            <a:off x="781050" y="3524250"/>
            <a:ext cx="38100" cy="381000"/>
          </a:xfrm>
          <a:prstGeom prst="rect">
            <a:avLst/>
          </a:prstGeom>
          <a:solidFill>
            <a:srgbClr val="276FBF"/>
          </a:solidFill>
          <a:ln/>
        </p:spPr>
        <p:txBody>
          <a:bodyPr/>
          <a:p/>
        </p:txBody>
      </p:sp>
      <p:sp>
        <p:nvSpPr>
          <p:cNvPr id="172" name="" descr="{&quot;isTemplate&quot;:true,&quot;type&quot;:&quot;text&quot;}"/>
          <p:cNvSpPr txBox="1"/>
          <p:nvPr/>
        </p:nvSpPr>
        <p:spPr>
          <a:xfrm rot="0" flipH="0" flipV="0">
            <a:off x="952500" y="3619500"/>
            <a:ext cx="539115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>
                <a:solidFill>
                  <a:srgbClr val="20344B"/>
                </a:solidFill>
                <a:latin typeface="Microsoft YaHei"/>
                <a:ea typeface="Microsoft YaHei"/>
              </a:rPr>
              <a:t>咨询台</a:t>
            </a:r>
            <a:r>
              <a:rPr lang="en-US" sz="1200">
                <a:solidFill>
                  <a:srgbClr val="20344B"/>
                </a:solidFill>
                <a:latin typeface="Microsoft YaHei"/>
                <a:ea typeface="Microsoft YaHei"/>
              </a:rPr>
              <a:t xml:space="preserve"> + </a:t>
            </a:r>
            <a:r>
              <a:rPr lang="zh-CN" sz="1200">
                <a:solidFill>
                  <a:srgbClr val="20344B"/>
                </a:solidFill>
                <a:latin typeface="Microsoft YaHei"/>
                <a:ea typeface="Microsoft YaHei"/>
              </a:rPr>
              <a:t>两个窗口</a:t>
            </a:r>
            <a:r>
              <a:rPr lang="en-US" sz="1200">
                <a:solidFill>
                  <a:srgbClr val="20344B"/>
                </a:solidFill>
                <a:latin typeface="Microsoft YaHei"/>
                <a:ea typeface="Microsoft YaHei"/>
              </a:rPr>
              <a:t xml:space="preserve"> = </a:t>
            </a:r>
            <a:r>
              <a:rPr lang="zh-CN" sz="1200">
                <a:solidFill>
                  <a:srgbClr val="20344B"/>
                </a:solidFill>
                <a:latin typeface="Microsoft YaHei"/>
                <a:ea typeface="Microsoft YaHei"/>
              </a:rPr>
              <a:t>三个对象</a:t>
            </a:r>
            <a:endParaRPr/>
          </a:p>
        </p:txBody>
      </p:sp>
      <p:sp>
        <p:nvSpPr>
          <p:cNvPr id="173" name=""/>
          <p:cNvSpPr/>
          <p:nvPr/>
        </p:nvSpPr>
        <p:spPr>
          <a:xfrm rot="0" flipH="0" flipV="0">
            <a:off x="609600" y="4152900"/>
            <a:ext cx="5905500" cy="685800"/>
          </a:xfrm>
          <a:prstGeom prst="roundRect">
            <a:avLst>
              <a:gd name="adj" fmla="val 11111"/>
            </a:avLst>
          </a:prstGeom>
          <a:solidFill>
            <a:srgbClr val="F4F7FA"/>
          </a:solidFill>
          <a:ln/>
        </p:spPr>
        <p:txBody>
          <a:bodyPr/>
          <a:p/>
        </p:txBody>
      </p:sp>
      <p:sp>
        <p:nvSpPr>
          <p:cNvPr id="174" name=""/>
          <p:cNvSpPr/>
          <p:nvPr/>
        </p:nvSpPr>
        <p:spPr>
          <a:xfrm rot="0" flipH="0" flipV="0">
            <a:off x="781050" y="4305300"/>
            <a:ext cx="38100" cy="381000"/>
          </a:xfrm>
          <a:prstGeom prst="rect">
            <a:avLst/>
          </a:prstGeom>
          <a:solidFill>
            <a:srgbClr val="276FBF"/>
          </a:solidFill>
          <a:ln/>
        </p:spPr>
        <p:txBody>
          <a:bodyPr/>
          <a:p/>
        </p:txBody>
      </p:sp>
      <p:sp>
        <p:nvSpPr>
          <p:cNvPr id="175" name="" descr="{&quot;isTemplate&quot;:true,&quot;type&quot;:&quot;text&quot;}"/>
          <p:cNvSpPr txBox="1"/>
          <p:nvPr/>
        </p:nvSpPr>
        <p:spPr>
          <a:xfrm rot="0" flipH="0" flipV="0">
            <a:off x="952500" y="4400550"/>
            <a:ext cx="539115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00">
                <a:solidFill>
                  <a:srgbClr val="20344B"/>
                </a:solidFill>
                <a:latin typeface="Microsoft YaHei"/>
                <a:ea typeface="Microsoft YaHei"/>
              </a:rPr>
              <a:t xml:space="preserve">20×16 </a:t>
            </a:r>
            <a:r>
              <a:rPr lang="zh-CN" sz="1200">
                <a:solidFill>
                  <a:srgbClr val="20344B"/>
                </a:solidFill>
                <a:latin typeface="Microsoft YaHei"/>
                <a:ea typeface="Microsoft YaHei"/>
              </a:rPr>
              <a:t>格地图，四个</a:t>
            </a:r>
            <a:r>
              <a:rPr lang="en-US" sz="1200">
                <a:solidFill>
                  <a:srgbClr val="20344B"/>
                </a:solidFill>
                <a:latin typeface="Microsoft YaHei"/>
                <a:ea typeface="Microsoft YaHei"/>
              </a:rPr>
              <a:t xml:space="preserve"> Arena</a:t>
            </a:r>
            <a:r>
              <a:rPr lang="zh-CN" sz="1200">
                <a:solidFill>
                  <a:srgbClr val="20344B"/>
                </a:solidFill>
                <a:latin typeface="Microsoft YaHei"/>
                <a:ea typeface="Microsoft YaHei"/>
              </a:rPr>
              <a:t>：入口、等候区、</a:t>
            </a:r>
            <a:r>
              <a:rPr lang="en-US" sz="1200">
                <a:solidFill>
                  <a:srgbClr val="20344B"/>
                </a:solidFill>
                <a:latin typeface="Microsoft YaHei"/>
                <a:ea typeface="Microsoft YaHei"/>
              </a:rPr>
              <a:t xml:space="preserve">A </a:t>
            </a:r>
            <a:r>
              <a:rPr lang="zh-CN" sz="1200">
                <a:solidFill>
                  <a:srgbClr val="20344B"/>
                </a:solidFill>
                <a:latin typeface="Microsoft YaHei"/>
                <a:ea typeface="Microsoft YaHei"/>
              </a:rPr>
              <a:t>服务区、</a:t>
            </a:r>
            <a:r>
              <a:rPr lang="en-US" sz="1200">
                <a:solidFill>
                  <a:srgbClr val="20344B"/>
                </a:solidFill>
                <a:latin typeface="Microsoft YaHei"/>
                <a:ea typeface="Microsoft YaHei"/>
              </a:rPr>
              <a:t xml:space="preserve">B </a:t>
            </a:r>
            <a:r>
              <a:rPr lang="zh-CN" sz="1200">
                <a:solidFill>
                  <a:srgbClr val="20344B"/>
                </a:solidFill>
                <a:latin typeface="Microsoft YaHei"/>
                <a:ea typeface="Microsoft YaHei"/>
              </a:rPr>
              <a:t>服务区</a:t>
            </a:r>
            <a:endParaRPr/>
          </a:p>
        </p:txBody>
      </p:sp>
      <p:sp>
        <p:nvSpPr>
          <p:cNvPr id="176" name=""/>
          <p:cNvSpPr/>
          <p:nvPr/>
        </p:nvSpPr>
        <p:spPr>
          <a:xfrm rot="0" flipH="0" flipV="0">
            <a:off x="609600" y="4933950"/>
            <a:ext cx="5905500" cy="685800"/>
          </a:xfrm>
          <a:prstGeom prst="roundRect">
            <a:avLst>
              <a:gd name="adj" fmla="val 11111"/>
            </a:avLst>
          </a:prstGeom>
          <a:solidFill>
            <a:srgbClr val="F4F7FA"/>
          </a:solidFill>
          <a:ln/>
        </p:spPr>
        <p:txBody>
          <a:bodyPr/>
          <a:p/>
        </p:txBody>
      </p:sp>
      <p:sp>
        <p:nvSpPr>
          <p:cNvPr id="177" name=""/>
          <p:cNvSpPr/>
          <p:nvPr/>
        </p:nvSpPr>
        <p:spPr>
          <a:xfrm rot="0" flipH="0" flipV="0">
            <a:off x="781050" y="5086350"/>
            <a:ext cx="38100" cy="381000"/>
          </a:xfrm>
          <a:prstGeom prst="rect">
            <a:avLst/>
          </a:prstGeom>
          <a:solidFill>
            <a:srgbClr val="276FBF"/>
          </a:solidFill>
          <a:ln/>
        </p:spPr>
        <p:txBody>
          <a:bodyPr/>
          <a:p/>
        </p:txBody>
      </p:sp>
      <p:sp>
        <p:nvSpPr>
          <p:cNvPr id="178" name="" descr="{&quot;isTemplate&quot;:true,&quot;type&quot;:&quot;text&quot;}"/>
          <p:cNvSpPr txBox="1"/>
          <p:nvPr/>
        </p:nvSpPr>
        <p:spPr>
          <a:xfrm rot="0" flipH="0" flipV="0">
            <a:off x="952500" y="5181600"/>
            <a:ext cx="539115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00">
                <a:solidFill>
                  <a:srgbClr val="20344B"/>
                </a:solidFill>
                <a:latin typeface="Microsoft YaHei"/>
                <a:ea typeface="Microsoft YaHei"/>
              </a:rPr>
              <a:t>2026-10-18</a:t>
            </a:r>
            <a:r>
              <a:rPr lang="zh-CN" sz="1200">
                <a:solidFill>
                  <a:srgbClr val="20344B"/>
                </a:solidFill>
                <a:latin typeface="Microsoft YaHei"/>
                <a:ea typeface="Microsoft YaHei"/>
              </a:rPr>
              <a:t>　</a:t>
            </a:r>
            <a:r>
              <a:rPr lang="en-US" sz="1200">
                <a:solidFill>
                  <a:srgbClr val="20344B"/>
                </a:solidFill>
                <a:latin typeface="Microsoft YaHei"/>
                <a:ea typeface="Microsoft YaHei"/>
              </a:rPr>
              <a:t>09:00—10:15</a:t>
            </a:r>
            <a:r>
              <a:rPr lang="zh-CN" sz="1200">
                <a:solidFill>
                  <a:srgbClr val="20344B"/>
                </a:solidFill>
                <a:latin typeface="Microsoft YaHei"/>
                <a:ea typeface="Microsoft YaHei"/>
              </a:rPr>
              <a:t>，</a:t>
            </a:r>
            <a:r>
              <a:rPr lang="en-US" sz="1200">
                <a:solidFill>
                  <a:srgbClr val="20344B"/>
                </a:solidFill>
                <a:latin typeface="Microsoft YaHei"/>
                <a:ea typeface="Microsoft YaHei"/>
              </a:rPr>
              <a:t>Asia/Shanghai</a:t>
            </a:r>
            <a:r>
              <a:rPr lang="zh-CN" sz="1200">
                <a:solidFill>
                  <a:srgbClr val="20344B"/>
                </a:solidFill>
                <a:latin typeface="Microsoft YaHei"/>
                <a:ea typeface="Microsoft YaHei"/>
              </a:rPr>
              <a:t>，步长一分钟，共</a:t>
            </a:r>
            <a:r>
              <a:rPr lang="en-US" sz="1200">
                <a:solidFill>
                  <a:srgbClr val="20344B"/>
                </a:solidFill>
                <a:latin typeface="Microsoft YaHei"/>
                <a:ea typeface="Microsoft YaHei"/>
              </a:rPr>
              <a:t xml:space="preserve"> 76 </a:t>
            </a:r>
            <a:r>
              <a:rPr lang="zh-CN" sz="1200">
                <a:solidFill>
                  <a:srgbClr val="20344B"/>
                </a:solidFill>
                <a:latin typeface="Microsoft YaHei"/>
                <a:ea typeface="Microsoft YaHei"/>
              </a:rPr>
              <a:t>步</a:t>
            </a:r>
            <a:endParaRPr/>
          </a:p>
        </p:txBody>
      </p:sp>
      <p:sp>
        <p:nvSpPr>
          <p:cNvPr id="179" name=""/>
          <p:cNvSpPr/>
          <p:nvPr/>
        </p:nvSpPr>
        <p:spPr>
          <a:xfrm rot="0" flipH="0" flipV="0">
            <a:off x="6743700" y="1743075"/>
            <a:ext cx="4838700" cy="1428750"/>
          </a:xfrm>
          <a:prstGeom prst="roundRect">
            <a:avLst>
              <a:gd name="adj" fmla="val 8000"/>
            </a:avLst>
          </a:prstGeom>
          <a:solidFill>
            <a:srgbClr val="FFF4E6"/>
          </a:solidFill>
          <a:ln/>
        </p:spPr>
        <p:txBody>
          <a:bodyPr/>
          <a:p/>
        </p:txBody>
      </p:sp>
      <p:sp>
        <p:nvSpPr>
          <p:cNvPr id="180" name="" descr="{&quot;isTemplate&quot;:true,&quot;type&quot;:&quot;text&quot;}"/>
          <p:cNvSpPr txBox="1"/>
          <p:nvPr/>
        </p:nvSpPr>
        <p:spPr>
          <a:xfrm rot="0" flipH="0" flipV="0">
            <a:off x="6953250" y="1952625"/>
            <a:ext cx="441960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>
                <a:solidFill>
                  <a:srgbClr val="CB6B28"/>
                </a:solidFill>
                <a:latin typeface="Microsoft YaHei"/>
                <a:ea typeface="Microsoft YaHei"/>
              </a:rPr>
              <a:t>这些值属于本次采用的条件</a:t>
            </a:r>
            <a:endParaRPr/>
          </a:p>
        </p:txBody>
      </p:sp>
      <p:sp>
        <p:nvSpPr>
          <p:cNvPr id="181" name="" descr="{&quot;isTemplate&quot;:true,&quot;type&quot;:&quot;text&quot;}"/>
          <p:cNvSpPr txBox="1"/>
          <p:nvPr/>
        </p:nvSpPr>
        <p:spPr>
          <a:xfrm rot="0" flipH="0" flipV="0">
            <a:off x="6953250" y="2219325"/>
            <a:ext cx="4419600" cy="304800"/>
          </a:xfrm>
          <a:prstGeom prst="rect"/>
        </p:spPr>
        <p:txBody>
          <a:bodyPr wrap="none" lIns="0" tIns="0" rIns="0" bIns="0"/>
          <a:p>
            <a:pPr>
              <a:lnSpc>
                <a:spcPct val="165000"/>
              </a:lnSpc>
            </a:pPr>
            <a:r>
              <a:rPr lang="zh-CN" sz="1200">
                <a:solidFill>
                  <a:srgbClr val="20344B"/>
                </a:solidFill>
                <a:latin typeface="Microsoft YaHei"/>
                <a:ea typeface="Microsoft YaHei"/>
              </a:rPr>
              <a:t>不是从真实大厅统计中估计出来的结果。</a:t>
            </a:r>
            <a:endParaRPr/>
          </a:p>
        </p:txBody>
      </p:sp>
      <p:sp>
        <p:nvSpPr>
          <p:cNvPr id="182" name=""/>
          <p:cNvSpPr/>
          <p:nvPr/>
        </p:nvSpPr>
        <p:spPr>
          <a:xfrm rot="0" flipH="0" flipV="0">
            <a:off x="6743700" y="3305175"/>
            <a:ext cx="4838700" cy="2381250"/>
          </a:xfrm>
          <a:prstGeom prst="roundRect">
            <a:avLst>
              <a:gd name="adj" fmla="val 4800"/>
            </a:avLst>
          </a:prstGeom>
          <a:solidFill>
            <a:srgbClr val="F4F7FA"/>
          </a:solidFill>
          <a:ln/>
        </p:spPr>
        <p:txBody>
          <a:bodyPr/>
          <a:p/>
        </p:txBody>
      </p:sp>
      <p:sp>
        <p:nvSpPr>
          <p:cNvPr id="183" name="" descr="{&quot;isTemplate&quot;:true,&quot;type&quot;:&quot;text&quot;}"/>
          <p:cNvSpPr txBox="1"/>
          <p:nvPr/>
        </p:nvSpPr>
        <p:spPr>
          <a:xfrm rot="0" flipH="0" flipV="0">
            <a:off x="6953250" y="3514725"/>
            <a:ext cx="441960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>
                <a:solidFill>
                  <a:srgbClr val="276FBF"/>
                </a:solidFill>
                <a:latin typeface="Microsoft YaHei"/>
                <a:ea typeface="Microsoft YaHei"/>
              </a:rPr>
              <a:t>材料表还要列出：假设怎样影响结论</a:t>
            </a:r>
            <a:endParaRPr/>
          </a:p>
        </p:txBody>
      </p:sp>
      <p:sp>
        <p:nvSpPr>
          <p:cNvPr id="184" name="" descr="{&quot;isTemplate&quot;:true,&quot;type&quot;:&quot;text&quot;}"/>
          <p:cNvSpPr txBox="1"/>
          <p:nvPr/>
        </p:nvSpPr>
        <p:spPr>
          <a:xfrm rot="0" flipH="0" flipV="0">
            <a:off x="6953250" y="3781425"/>
            <a:ext cx="4419600" cy="276225"/>
          </a:xfrm>
          <a:prstGeom prst="rect"/>
        </p:spPr>
        <p:txBody>
          <a:bodyPr wrap="none" lIns="0" tIns="0" rIns="0" bIns="0"/>
          <a:p>
            <a:pPr>
              <a:lnSpc>
                <a:spcPct val="160000"/>
              </a:lnSpc>
            </a:pPr>
            <a:r>
              <a:rPr lang="zh-CN" sz="1125">
                <a:solidFill>
                  <a:srgbClr val="20344B"/>
                </a:solidFill>
                <a:latin typeface="Microsoft YaHei"/>
                <a:ea typeface="Microsoft YaHei"/>
              </a:rPr>
              <a:t>内部通道设计为连通，实际录入后的路线待验。</a:t>
            </a:r>
            <a:endParaRPr/>
          </a:p>
        </p:txBody>
      </p:sp>
      <p:sp>
        <p:nvSpPr>
          <p:cNvPr id="185" name="" descr="{&quot;isTemplate&quot;:true,&quot;type&quot;:&quot;text&quot;}"/>
          <p:cNvSpPr txBox="1"/>
          <p:nvPr/>
        </p:nvSpPr>
        <p:spPr>
          <a:xfrm rot="0" flipH="0" flipV="0">
            <a:off x="6953250" y="4152900"/>
            <a:ext cx="4419600" cy="276225"/>
          </a:xfrm>
          <a:prstGeom prst="rect"/>
        </p:spPr>
        <p:txBody>
          <a:bodyPr wrap="none" lIns="0" tIns="0" rIns="0" bIns="0"/>
          <a:p>
            <a:pPr>
              <a:lnSpc>
                <a:spcPct val="160000"/>
              </a:lnSpc>
            </a:pPr>
            <a:r>
              <a:rPr lang="zh-CN" sz="1125">
                <a:solidFill>
                  <a:srgbClr val="20344B"/>
                </a:solidFill>
                <a:latin typeface="Microsoft YaHei"/>
                <a:ea typeface="Microsoft YaHei"/>
              </a:rPr>
              <a:t>人物从规定</a:t>
            </a:r>
            <a:r>
              <a:rPr lang="en-US" sz="1125">
                <a:solidFill>
                  <a:srgbClr val="20344B"/>
                </a:solidFill>
                <a:latin typeface="Microsoft YaHei"/>
                <a:ea typeface="Microsoft YaHei"/>
              </a:rPr>
              <a:t xml:space="preserve"> Arena </a:t>
            </a:r>
            <a:r>
              <a:rPr lang="zh-CN" sz="1125">
                <a:solidFill>
                  <a:srgbClr val="20344B"/>
                </a:solidFill>
                <a:latin typeface="Microsoft YaHei"/>
                <a:ea typeface="Microsoft YaHei"/>
              </a:rPr>
              <a:t>出生，但坐标待空间选择器保存。</a:t>
            </a:r>
            <a:endParaRPr/>
          </a:p>
        </p:txBody>
      </p:sp>
      <p:sp>
        <p:nvSpPr>
          <p:cNvPr id="186" name="" descr="{&quot;isTemplate&quot;:true,&quot;type&quot;:&quot;text&quot;}"/>
          <p:cNvSpPr txBox="1"/>
          <p:nvPr/>
        </p:nvSpPr>
        <p:spPr>
          <a:xfrm rot="0" flipH="0" flipV="0">
            <a:off x="6953250" y="4524375"/>
            <a:ext cx="4419600" cy="276225"/>
          </a:xfrm>
          <a:prstGeom prst="rect"/>
        </p:spPr>
        <p:txBody>
          <a:bodyPr wrap="none" lIns="0" tIns="0" rIns="0" bIns="0"/>
          <a:p>
            <a:pPr>
              <a:lnSpc>
                <a:spcPct val="160000"/>
              </a:lnSpc>
            </a:pPr>
            <a:r>
              <a:rPr lang="zh-CN" sz="1125">
                <a:solidFill>
                  <a:srgbClr val="20344B"/>
                </a:solidFill>
                <a:latin typeface="Microsoft YaHei"/>
                <a:ea typeface="Microsoft YaHei"/>
              </a:rPr>
              <a:t>对象可按</a:t>
            </a:r>
            <a:r>
              <a:rPr lang="en-US" sz="1125">
                <a:solidFill>
                  <a:srgbClr val="20344B"/>
                </a:solidFill>
                <a:latin typeface="Microsoft YaHei"/>
                <a:ea typeface="Microsoft YaHei"/>
              </a:rPr>
              <a:t xml:space="preserve"> SOP </a:t>
            </a:r>
            <a:r>
              <a:rPr lang="zh-CN" sz="1125">
                <a:solidFill>
                  <a:srgbClr val="20344B"/>
                </a:solidFill>
                <a:latin typeface="Microsoft YaHei"/>
                <a:ea typeface="Microsoft YaHei"/>
              </a:rPr>
              <a:t>答复多个请求，不能据此推出真实窗口的服务速度。</a:t>
            </a:r>
            <a:endParaRPr/>
          </a:p>
        </p:txBody>
      </p:sp>
      <p:sp>
        <p:nvSpPr>
          <p:cNvPr id="187" name="" descr="{&quot;isTemplate&quot;:true,&quot;type&quot;:&quot;text&quot;}"/>
          <p:cNvSpPr txBox="1"/>
          <p:nvPr/>
        </p:nvSpPr>
        <p:spPr>
          <a:xfrm rot="0" flipH="0" flipV="0">
            <a:off x="609600" y="6400800"/>
            <a:ext cx="18288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 xml:space="preserve">5.2 </a:t>
            </a: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材料来源、假设与可用范围</a:t>
            </a:r>
            <a:endParaRPr/>
          </a:p>
        </p:txBody>
      </p:sp>
      <p:sp>
        <p:nvSpPr>
          <p:cNvPr id="188" name="" descr="{&quot;isTemplate&quot;:true,&quot;type&quot;:&quot;text&quot;}"/>
          <p:cNvSpPr txBox="1"/>
          <p:nvPr/>
        </p:nvSpPr>
        <p:spPr>
          <a:xfrm rot="0" flipH="0" flipV="0">
            <a:off x="11125200" y="6400800"/>
            <a:ext cx="4572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>15 / 23</a:t>
            </a:r>
            <a:endParaRPr/>
          </a:p>
        </p:txBody>
      </p:sp>
    </p:spTree>
  </p:cSld>
</p:sld>
</file>

<file path=ppt/slides/slide16.xml><?xml version="1.0" encoding="utf-8"?>
<p:sld xmlns:p="http://schemas.openxmlformats.org/presentationml/2006/main" xmlns:a="http://schemas.openxmlformats.org/drawingml/2006/main">
  <p:cSld>
    <p:spTree>
      <p:nvGrpSpPr>
        <p:cNvPr id="189" name="" descr="&lt;Slide notes={`这四条假设我逐条说一遍，建议大家在自己的项目里照这个结构做一份。&#10;&#10;第一行，两组除了澄清段以外使用相同内容。这为什么暂这样处理？为了便于解释策略差异。什么证据能改变它？保存后的资源内容逐项比较，一条条对下来。&#10;&#10;第二行，四位来访者能够接近咨询台及窗口。这是完成任务的空间前提。要改变它，得拿实际地图路径和运行位移来核对。&#10;&#10;第三行，模型配置可以支持所需调用。这里要坦白：当前还没有填写实测结论，需要先选用可用服务。要改变状态，要分别核对真实配置、连接和运行记录。&#10;&#10;第四行，对象没有业务队列与审批流程。本案只研究咨询，不模拟办理。如果将来要加机制，应该重新定义项目，而不是补一句提示冒充实现。&#10;&#10;注意最后一列的写法：它写的是证据，不是态度。`} style={{ width: 1280, height: 720, background: '#FFFFFF', flexDirection: 'column', padding: '20px 64px' }}&gt;&#10;&#10;    &lt;Box style={{ height: 100, flexDirection: 'row', alignItems: 'center', gap: 20 }}&gt;&#10;        &lt;Box style={{ width: 4, height: 44, background: '#276FBF' }} /&gt;&#10;        &lt;Box style={{ flexDirection: 'column', gap: 4 }}&gt;&#10;            &lt;Text style={{ fontSize: 14, color: '#546779' }}&gt;5.2.4　把假设写成可检查的约束&lt;/Text&gt;&#10;            &lt;Text style={{ fontSize: 34, fontWeight: 'bold', color: '#20344B' }}&gt;假设要配一条会改变它的证据&lt;/Text&gt;&#10;        &lt;/Box&gt;&#10;    &lt;/Box&gt;&#10;&#10;    &lt;Box style={{ height: 540, flexDirection: 'column', justifyContent: 'center', gap: 10 }}&gt;&#10;&#10;        &lt;Box style={{ width: 1152, height: 36, flexDirection: 'row', gap: 12, alignItems: 'center' }}&gt;&#10;            &lt;Box style={{ width: 408, padding: '0 16px' }}&gt;&lt;Text style={{ fontSize: 14, color: '#546779' }}&gt;假设或尚缺资料&lt;/Text&gt;&lt;/Box&gt;&#10;            &lt;Box style={{ width: 336, padding: '0 16px' }}&gt;&lt;Text style={{ fontSize: 14, color: '#546779' }}&gt;为什么暂这样处理&lt;/Text&gt;&lt;/Box&gt;&#10;            &lt;Box style={{ width: 384, padding: '0 16px' }}&gt;&lt;Text style={{ fontSize: 14, color: '#546779' }}&gt;需要什么证据才能改变状态&lt;/Text&gt;&lt;/Box&gt;&#10;        &lt;/Box&gt;&#10;&#10;        &lt;Box style={{ width: 1152, height: 88, flexDirection: 'row', gap: 12 }}&gt;&#10;            &lt;Box style={{ width: 408, height: 88, background: '#ECF7F2', borderRadius: 8, padding: '0 16px', justifyContent: 'center' }}&gt;&#10;                &lt;Text style={{ fontSize: 15, color: '#20344B', lineHeight: 1.5 }}&gt;两组除澄清段外使用相同内容&lt;/Text&gt;&#10;            &lt;/Box&gt;&#10;            &lt;Box style={{ width: 336, height: 88, background: '#F4F7FA', borderRadius: 8, padding: '0 16px', justifyContent: 'center' }}&gt;&#10;                &lt;Text style={{ fontSize: 14, color: '#546779', lineHeight: 1.5 }}&gt;便于解释策略差异&lt;/Text&gt;&#10;            &lt;/Box&gt;&#10;            &lt;Box style={{ width: 384, height: 88, background: '#EDF4FC', borderRadius: 8, padding: '0 16px', justifyContent: 'center' }}&gt;&#10;                &lt;Text style={{ fontSize: 14, color: '#20344B', lineHeight: 1.5 }}&gt;保存后的资源内容逐项比较&lt;/Text&gt;&#10;            &lt;/Box&gt;&#10;        &lt;/Box&gt;&#10;&#10;        &lt;Box style={{ width: 1152, height: 88, flexDirection: 'row', gap: 12 }}&gt;&#10;            &lt;Box style={{ width: 408, height: 88, background: '#ECF7F2', borderRadius: 8, padding: '0 16px', justifyContent: 'center' }}&gt;&#10;                &lt;Text style={{ fontSize: 15, color: '#20344B', lineHeight: 1.5 }}&gt;四位来访者能够接近咨询台及窗口&lt;/Text&gt;&#10;            &lt;/Box&gt;&#10;            &lt;Box style={{ width: 336, height: 88, background: '#F4F7FA', borderRadius: 8, padding: '0 16px', justifyContent: 'center' }}&gt;&#10;                &lt;Text style={{ fontSize: 14, color: '#546779', lineHeight: 1.5 }}&gt;是完成任务的空间前提&lt;/Text&gt;&#10;            &lt;/Box&gt;&#10;            &lt;Box style={{ width: 384, height: 88, background: '#EDF4FC', borderRadius: 8, padding: '0 16px', justifyContent: 'center' }}&gt;&#10;                &lt;Text style={{ fontSize: 14, color: '#20344B', lineHeight: 1.5 }}&gt;实际地图路径与运行位移核对&lt;/Text&gt;&#10;            &lt;/Box&gt;&#10;        &lt;/Box&gt;&#10;&#10;        &lt;Box style={{ width: 1152, height: 88, flexDirection: 'row', gap: 12 }}&gt;&#10;            &lt;Box style={{ width: 408, height: 88, background: '#ECF7F2', borderRadius: 8, padding: '0 16px', justifyContent: 'center' }}&gt;&#10;                &lt;Text style={{ fontSize: 15, color: '#20344B', lineHeight: 1.5 }}&gt;模型配置可以支持所需调用&lt;/Text&gt;&#10;            &lt;/Box&gt;&#10;            &lt;Box style={{ width: 336, height: 88, background: '#F4F7FA', borderRadius: 8, padding: '0 16px', justifyContent: 'center' }}&gt;&#10;                &lt;Text style={{ fontSize: 14, color: '#546779', lineHeight: 1.5 }}&gt;需要选用可用服务，当前未填写实测结论&lt;/Text&gt;&#10;            &lt;/Box&gt;&#10;            &lt;Box style={{ width: 384, height: 88, background: '#EDF4FC', borderRadius: 8, padding: '0 16px', justifyContent: 'center' }}&gt;&#10;                &lt;Text style={{ fontSize: 14, color: '#20344B', lineHeight: 1.5 }}&gt;真实配置、连接及运行记录分别核对&lt;/Text&gt;&#10;            &lt;/Box&gt;&#10;        &lt;/Box&gt;&#10;&#10;        &lt;Box style={{ width: 1152, height: 88, flexDirection: 'row', gap: 12 }}&gt;&#10;            &lt;Box style={{ width: 408, height: 88, background: '#ECF7F2', borderRadius: 8, padding: '0 16px', justifyContent: 'center' }}&gt;&#10;                &lt;Text style={{ fontSize: 15, color: '#20344B', lineHeight: 1.5 }}&gt;对象没有业务队列与审批流程&lt;/Text&gt;&#10;            &lt;/Box&gt;&#10;            &lt;Box style={{ width: 336, height: 88, background: '#F4F7FA', borderRadius: 8, padding: '0 16px', justifyContent: 'center' }}&gt;&#10;                &lt;Text style={{ fontSize: 14, color: '#546779', lineHeight: 1.5 }}&gt;本案只研究咨询，不模拟办理&lt;/Text&gt;&#10;            &lt;/Box&gt;&#10;            &lt;Box style={{ width: 384, height: 88, background: '#FFF4E6', borderRadius: 8, padding: '0 16px', justifyContent: 'center' }}&gt;&#10;                &lt;Text style={{ fontSize: 14, color: '#CB6B28', lineHeight: 1.5 }}&gt;如要增加机制，应重新定义项目，不能补一句提示冒充实现&lt;/Text&gt;&#10;            &lt;/Box&gt;&#10;        &lt;/Box&gt;&#10;&#10;        &lt;Box style={{ width: 1152, height: 72, background: '#EDF4FC', borderRadius: 10, padding: '0 22px', flexDirection: 'column', gap: 4, justifyContent: 'center', marginTop: 6 }}&gt;&#10;            &lt;Text style={{ fontSize: 15, color: '#276FBF' }}&gt;未知信息若会改变任务答案、权限或主要比较条件，就先处理它，再形成正式比较材料。&lt;/Text&gt;&#10;            &lt;Text style={{ fontSize: 14, color: '#546779' }}&gt;不要边运行边悄悄换条件。&lt;/Text&gt;&#10;        &lt;/Box&gt;&#10;&#10;    &lt;/Box&gt;&#10;&#10;    &lt;Box style={{ height: 40, flexDirection: 'row', justifyContent: 'space-between', alignItems: 'center' }}&gt;&#10;        &lt;Text style={{ fontSize: 14, color: '#546779' }}&gt;5.2 材料来源、假设与可用范围&lt;/Text&gt;&#10;        &lt;Text style={{ fontSize: 14, color: '#546779' }}&gt;16 / 23&lt;/Text&gt;&#10;    &lt;/Box&gt;&#10;&#10;&lt;/Slide&gt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191" name=""/>
          <p:cNvSpPr/>
          <p:nvPr/>
        </p:nvSpPr>
        <p:spPr>
          <a:xfrm rot="0" flipH="0" flipV="0">
            <a:off x="609600" y="457200"/>
            <a:ext cx="38100" cy="419100"/>
          </a:xfrm>
          <a:prstGeom prst="rect">
            <a:avLst/>
          </a:prstGeom>
          <a:solidFill>
            <a:srgbClr val="276FBF"/>
          </a:solidFill>
          <a:ln/>
        </p:spPr>
        <p:txBody>
          <a:bodyPr/>
          <a:p/>
        </p:txBody>
      </p:sp>
      <p:sp>
        <p:nvSpPr>
          <p:cNvPr id="192" name="" descr="{&quot;isTemplate&quot;:true,&quot;type&quot;:&quot;text&quot;}"/>
          <p:cNvSpPr txBox="1"/>
          <p:nvPr/>
        </p:nvSpPr>
        <p:spPr>
          <a:xfrm rot="0" flipH="0" flipV="0">
            <a:off x="838200" y="371475"/>
            <a:ext cx="42100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>5.2.4</a:t>
            </a: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　把假设写成可检查的约束</a:t>
            </a:r>
            <a:endParaRPr/>
          </a:p>
        </p:txBody>
      </p:sp>
      <p:sp>
        <p:nvSpPr>
          <p:cNvPr id="193" name="" descr="{&quot;isTemplate&quot;:true,&quot;type&quot;:&quot;text&quot;}"/>
          <p:cNvSpPr txBox="1"/>
          <p:nvPr/>
        </p:nvSpPr>
        <p:spPr>
          <a:xfrm rot="0" flipH="0" flipV="0">
            <a:off x="838200" y="571500"/>
            <a:ext cx="4210050" cy="3905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550" b="1">
                <a:solidFill>
                  <a:srgbClr val="20344B"/>
                </a:solidFill>
                <a:latin typeface="Microsoft YaHei"/>
                <a:ea typeface="Microsoft YaHei"/>
              </a:rPr>
              <a:t>假设要配一条会改变它的证据</a:t>
            </a:r>
            <a:endParaRPr/>
          </a:p>
        </p:txBody>
      </p:sp>
      <p:sp>
        <p:nvSpPr>
          <p:cNvPr id="194" name="" descr="{&quot;isTemplate&quot;:true,&quot;type&quot;:&quot;text&quot;}"/>
          <p:cNvSpPr txBox="1"/>
          <p:nvPr/>
        </p:nvSpPr>
        <p:spPr>
          <a:xfrm rot="0" flipH="0" flipV="0">
            <a:off x="762000" y="1352550"/>
            <a:ext cx="35814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假设或尚缺资料</a:t>
            </a:r>
            <a:endParaRPr/>
          </a:p>
        </p:txBody>
      </p:sp>
      <p:sp>
        <p:nvSpPr>
          <p:cNvPr id="195" name="" descr="{&quot;isTemplate&quot;:true,&quot;type&quot;:&quot;text&quot;}"/>
          <p:cNvSpPr txBox="1"/>
          <p:nvPr/>
        </p:nvSpPr>
        <p:spPr>
          <a:xfrm rot="0" flipH="0" flipV="0">
            <a:off x="4762500" y="1352550"/>
            <a:ext cx="28956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为什么暂这样处理</a:t>
            </a:r>
            <a:endParaRPr/>
          </a:p>
        </p:txBody>
      </p:sp>
      <p:sp>
        <p:nvSpPr>
          <p:cNvPr id="196" name="" descr="{&quot;isTemplate&quot;:true,&quot;type&quot;:&quot;text&quot;}"/>
          <p:cNvSpPr txBox="1"/>
          <p:nvPr/>
        </p:nvSpPr>
        <p:spPr>
          <a:xfrm rot="0" flipH="0" flipV="0">
            <a:off x="8077200" y="1352550"/>
            <a:ext cx="33528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需要什么证据才能改变状态</a:t>
            </a:r>
            <a:endParaRPr/>
          </a:p>
        </p:txBody>
      </p:sp>
      <p:sp>
        <p:nvSpPr>
          <p:cNvPr id="197" name=""/>
          <p:cNvSpPr/>
          <p:nvPr/>
        </p:nvSpPr>
        <p:spPr>
          <a:xfrm rot="0" flipH="0" flipV="0">
            <a:off x="609600" y="1695450"/>
            <a:ext cx="3886200" cy="838200"/>
          </a:xfrm>
          <a:prstGeom prst="roundRect">
            <a:avLst>
              <a:gd name="adj" fmla="val 9091"/>
            </a:avLst>
          </a:prstGeom>
          <a:solidFill>
            <a:srgbClr val="ECF7F2"/>
          </a:solidFill>
          <a:ln/>
        </p:spPr>
        <p:txBody>
          <a:bodyPr/>
          <a:p/>
        </p:txBody>
      </p:sp>
      <p:sp>
        <p:nvSpPr>
          <p:cNvPr id="198" name="" descr="{&quot;isTemplate&quot;:true,&quot;type&quot;:&quot;text&quot;}"/>
          <p:cNvSpPr txBox="1"/>
          <p:nvPr/>
        </p:nvSpPr>
        <p:spPr>
          <a:xfrm rot="0" flipH="0" flipV="0">
            <a:off x="762000" y="1990725"/>
            <a:ext cx="3581400" cy="257175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1125">
                <a:solidFill>
                  <a:srgbClr val="20344B"/>
                </a:solidFill>
                <a:latin typeface="Microsoft YaHei"/>
                <a:ea typeface="Microsoft YaHei"/>
              </a:rPr>
              <a:t>两组除澄清段外使用相同内容</a:t>
            </a:r>
            <a:endParaRPr/>
          </a:p>
        </p:txBody>
      </p:sp>
      <p:sp>
        <p:nvSpPr>
          <p:cNvPr id="199" name=""/>
          <p:cNvSpPr/>
          <p:nvPr/>
        </p:nvSpPr>
        <p:spPr>
          <a:xfrm rot="0" flipH="0" flipV="0">
            <a:off x="4610100" y="1695450"/>
            <a:ext cx="3200400" cy="838200"/>
          </a:xfrm>
          <a:prstGeom prst="roundRect">
            <a:avLst>
              <a:gd name="adj" fmla="val 9091"/>
            </a:avLst>
          </a:prstGeom>
          <a:solidFill>
            <a:srgbClr val="F4F7FA"/>
          </a:solidFill>
          <a:ln/>
        </p:spPr>
        <p:txBody>
          <a:bodyPr/>
          <a:p/>
        </p:txBody>
      </p:sp>
      <p:sp>
        <p:nvSpPr>
          <p:cNvPr id="200" name="" descr="{&quot;isTemplate&quot;:true,&quot;type&quot;:&quot;text&quot;}"/>
          <p:cNvSpPr txBox="1"/>
          <p:nvPr/>
        </p:nvSpPr>
        <p:spPr>
          <a:xfrm rot="0" flipH="0" flipV="0">
            <a:off x="4762500" y="1990725"/>
            <a:ext cx="2895600" cy="247650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便于解释策略差异</a:t>
            </a:r>
            <a:endParaRPr/>
          </a:p>
        </p:txBody>
      </p:sp>
      <p:sp>
        <p:nvSpPr>
          <p:cNvPr id="201" name=""/>
          <p:cNvSpPr/>
          <p:nvPr/>
        </p:nvSpPr>
        <p:spPr>
          <a:xfrm rot="0" flipH="0" flipV="0">
            <a:off x="7924800" y="1695450"/>
            <a:ext cx="3657600" cy="838200"/>
          </a:xfrm>
          <a:prstGeom prst="roundRect">
            <a:avLst>
              <a:gd name="adj" fmla="val 9091"/>
            </a:avLst>
          </a:prstGeom>
          <a:solidFill>
            <a:srgbClr val="EDF4FC"/>
          </a:solidFill>
          <a:ln/>
        </p:spPr>
        <p:txBody>
          <a:bodyPr/>
          <a:p/>
        </p:txBody>
      </p:sp>
      <p:sp>
        <p:nvSpPr>
          <p:cNvPr id="202" name="" descr="{&quot;isTemplate&quot;:true,&quot;type&quot;:&quot;text&quot;}"/>
          <p:cNvSpPr txBox="1"/>
          <p:nvPr/>
        </p:nvSpPr>
        <p:spPr>
          <a:xfrm rot="0" flipH="0" flipV="0">
            <a:off x="8077200" y="1990725"/>
            <a:ext cx="3352800" cy="247650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1050">
                <a:solidFill>
                  <a:srgbClr val="20344B"/>
                </a:solidFill>
                <a:latin typeface="Microsoft YaHei"/>
                <a:ea typeface="Microsoft YaHei"/>
              </a:rPr>
              <a:t>保存后的资源内容逐项比较</a:t>
            </a:r>
            <a:endParaRPr/>
          </a:p>
        </p:txBody>
      </p:sp>
      <p:sp>
        <p:nvSpPr>
          <p:cNvPr id="203" name=""/>
          <p:cNvSpPr/>
          <p:nvPr/>
        </p:nvSpPr>
        <p:spPr>
          <a:xfrm rot="0" flipH="0" flipV="0">
            <a:off x="609600" y="2628900"/>
            <a:ext cx="3886200" cy="838200"/>
          </a:xfrm>
          <a:prstGeom prst="roundRect">
            <a:avLst>
              <a:gd name="adj" fmla="val 9091"/>
            </a:avLst>
          </a:prstGeom>
          <a:solidFill>
            <a:srgbClr val="ECF7F2"/>
          </a:solidFill>
          <a:ln/>
        </p:spPr>
        <p:txBody>
          <a:bodyPr/>
          <a:p/>
        </p:txBody>
      </p:sp>
      <p:sp>
        <p:nvSpPr>
          <p:cNvPr id="204" name="" descr="{&quot;isTemplate&quot;:true,&quot;type&quot;:&quot;text&quot;}"/>
          <p:cNvSpPr txBox="1"/>
          <p:nvPr/>
        </p:nvSpPr>
        <p:spPr>
          <a:xfrm rot="0" flipH="0" flipV="0">
            <a:off x="762000" y="2924175"/>
            <a:ext cx="3581400" cy="257175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1125">
                <a:solidFill>
                  <a:srgbClr val="20344B"/>
                </a:solidFill>
                <a:latin typeface="Microsoft YaHei"/>
                <a:ea typeface="Microsoft YaHei"/>
              </a:rPr>
              <a:t>四位来访者能够接近咨询台及窗口</a:t>
            </a:r>
            <a:endParaRPr/>
          </a:p>
        </p:txBody>
      </p:sp>
      <p:sp>
        <p:nvSpPr>
          <p:cNvPr id="205" name=""/>
          <p:cNvSpPr/>
          <p:nvPr/>
        </p:nvSpPr>
        <p:spPr>
          <a:xfrm rot="0" flipH="0" flipV="0">
            <a:off x="4610100" y="2628900"/>
            <a:ext cx="3200400" cy="838200"/>
          </a:xfrm>
          <a:prstGeom prst="roundRect">
            <a:avLst>
              <a:gd name="adj" fmla="val 9091"/>
            </a:avLst>
          </a:prstGeom>
          <a:solidFill>
            <a:srgbClr val="F4F7FA"/>
          </a:solidFill>
          <a:ln/>
        </p:spPr>
        <p:txBody>
          <a:bodyPr/>
          <a:p/>
        </p:txBody>
      </p:sp>
      <p:sp>
        <p:nvSpPr>
          <p:cNvPr id="206" name="" descr="{&quot;isTemplate&quot;:true,&quot;type&quot;:&quot;text&quot;}"/>
          <p:cNvSpPr txBox="1"/>
          <p:nvPr/>
        </p:nvSpPr>
        <p:spPr>
          <a:xfrm rot="0" flipH="0" flipV="0">
            <a:off x="4762500" y="2924175"/>
            <a:ext cx="2895600" cy="247650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是完成任务的空间前提</a:t>
            </a:r>
            <a:endParaRPr/>
          </a:p>
        </p:txBody>
      </p:sp>
      <p:sp>
        <p:nvSpPr>
          <p:cNvPr id="207" name=""/>
          <p:cNvSpPr/>
          <p:nvPr/>
        </p:nvSpPr>
        <p:spPr>
          <a:xfrm rot="0" flipH="0" flipV="0">
            <a:off x="7924800" y="2628900"/>
            <a:ext cx="3657600" cy="838200"/>
          </a:xfrm>
          <a:prstGeom prst="roundRect">
            <a:avLst>
              <a:gd name="adj" fmla="val 9091"/>
            </a:avLst>
          </a:prstGeom>
          <a:solidFill>
            <a:srgbClr val="EDF4FC"/>
          </a:solidFill>
          <a:ln/>
        </p:spPr>
        <p:txBody>
          <a:bodyPr/>
          <a:p/>
        </p:txBody>
      </p:sp>
      <p:sp>
        <p:nvSpPr>
          <p:cNvPr id="208" name="" descr="{&quot;isTemplate&quot;:true,&quot;type&quot;:&quot;text&quot;}"/>
          <p:cNvSpPr txBox="1"/>
          <p:nvPr/>
        </p:nvSpPr>
        <p:spPr>
          <a:xfrm rot="0" flipH="0" flipV="0">
            <a:off x="8077200" y="2924175"/>
            <a:ext cx="3352800" cy="247650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1050">
                <a:solidFill>
                  <a:srgbClr val="20344B"/>
                </a:solidFill>
                <a:latin typeface="Microsoft YaHei"/>
                <a:ea typeface="Microsoft YaHei"/>
              </a:rPr>
              <a:t>实际地图路径与运行位移核对</a:t>
            </a:r>
            <a:endParaRPr/>
          </a:p>
        </p:txBody>
      </p:sp>
      <p:sp>
        <p:nvSpPr>
          <p:cNvPr id="209" name=""/>
          <p:cNvSpPr/>
          <p:nvPr/>
        </p:nvSpPr>
        <p:spPr>
          <a:xfrm rot="0" flipH="0" flipV="0">
            <a:off x="609600" y="3562350"/>
            <a:ext cx="3886200" cy="838200"/>
          </a:xfrm>
          <a:prstGeom prst="roundRect">
            <a:avLst>
              <a:gd name="adj" fmla="val 9091"/>
            </a:avLst>
          </a:prstGeom>
          <a:solidFill>
            <a:srgbClr val="ECF7F2"/>
          </a:solidFill>
          <a:ln/>
        </p:spPr>
        <p:txBody>
          <a:bodyPr/>
          <a:p/>
        </p:txBody>
      </p:sp>
      <p:sp>
        <p:nvSpPr>
          <p:cNvPr id="210" name="" descr="{&quot;isTemplate&quot;:true,&quot;type&quot;:&quot;text&quot;}"/>
          <p:cNvSpPr txBox="1"/>
          <p:nvPr/>
        </p:nvSpPr>
        <p:spPr>
          <a:xfrm rot="0" flipH="0" flipV="0">
            <a:off x="762000" y="3857625"/>
            <a:ext cx="3581400" cy="257175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1125">
                <a:solidFill>
                  <a:srgbClr val="20344B"/>
                </a:solidFill>
                <a:latin typeface="Microsoft YaHei"/>
                <a:ea typeface="Microsoft YaHei"/>
              </a:rPr>
              <a:t>模型配置可以支持所需调用</a:t>
            </a:r>
            <a:endParaRPr/>
          </a:p>
        </p:txBody>
      </p:sp>
      <p:sp>
        <p:nvSpPr>
          <p:cNvPr id="211" name=""/>
          <p:cNvSpPr/>
          <p:nvPr/>
        </p:nvSpPr>
        <p:spPr>
          <a:xfrm rot="0" flipH="0" flipV="0">
            <a:off x="4610100" y="3562350"/>
            <a:ext cx="3200400" cy="838200"/>
          </a:xfrm>
          <a:prstGeom prst="roundRect">
            <a:avLst>
              <a:gd name="adj" fmla="val 9091"/>
            </a:avLst>
          </a:prstGeom>
          <a:solidFill>
            <a:srgbClr val="F4F7FA"/>
          </a:solidFill>
          <a:ln/>
        </p:spPr>
        <p:txBody>
          <a:bodyPr/>
          <a:p/>
        </p:txBody>
      </p:sp>
      <p:sp>
        <p:nvSpPr>
          <p:cNvPr id="212" name="" descr="{&quot;isTemplate&quot;:true,&quot;type&quot;:&quot;text&quot;}"/>
          <p:cNvSpPr txBox="1"/>
          <p:nvPr/>
        </p:nvSpPr>
        <p:spPr>
          <a:xfrm rot="0" flipH="0" flipV="0">
            <a:off x="4762500" y="3857625"/>
            <a:ext cx="2895600" cy="247650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需要选用可用服务，当前未填写实测结论</a:t>
            </a:r>
            <a:endParaRPr/>
          </a:p>
        </p:txBody>
      </p:sp>
      <p:sp>
        <p:nvSpPr>
          <p:cNvPr id="213" name=""/>
          <p:cNvSpPr/>
          <p:nvPr/>
        </p:nvSpPr>
        <p:spPr>
          <a:xfrm rot="0" flipH="0" flipV="0">
            <a:off x="7924800" y="3562350"/>
            <a:ext cx="3657600" cy="838200"/>
          </a:xfrm>
          <a:prstGeom prst="roundRect">
            <a:avLst>
              <a:gd name="adj" fmla="val 9091"/>
            </a:avLst>
          </a:prstGeom>
          <a:solidFill>
            <a:srgbClr val="EDF4FC"/>
          </a:solidFill>
          <a:ln/>
        </p:spPr>
        <p:txBody>
          <a:bodyPr/>
          <a:p/>
        </p:txBody>
      </p:sp>
      <p:sp>
        <p:nvSpPr>
          <p:cNvPr id="214" name="" descr="{&quot;isTemplate&quot;:true,&quot;type&quot;:&quot;text&quot;}"/>
          <p:cNvSpPr txBox="1"/>
          <p:nvPr/>
        </p:nvSpPr>
        <p:spPr>
          <a:xfrm rot="0" flipH="0" flipV="0">
            <a:off x="8077200" y="3857625"/>
            <a:ext cx="3352800" cy="247650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1050">
                <a:solidFill>
                  <a:srgbClr val="20344B"/>
                </a:solidFill>
                <a:latin typeface="Microsoft YaHei"/>
                <a:ea typeface="Microsoft YaHei"/>
              </a:rPr>
              <a:t>真实配置、连接及运行记录分别核对</a:t>
            </a:r>
            <a:endParaRPr/>
          </a:p>
        </p:txBody>
      </p:sp>
      <p:sp>
        <p:nvSpPr>
          <p:cNvPr id="215" name=""/>
          <p:cNvSpPr/>
          <p:nvPr/>
        </p:nvSpPr>
        <p:spPr>
          <a:xfrm rot="0" flipH="0" flipV="0">
            <a:off x="609600" y="4495800"/>
            <a:ext cx="3886200" cy="838200"/>
          </a:xfrm>
          <a:prstGeom prst="roundRect">
            <a:avLst>
              <a:gd name="adj" fmla="val 9091"/>
            </a:avLst>
          </a:prstGeom>
          <a:solidFill>
            <a:srgbClr val="ECF7F2"/>
          </a:solidFill>
          <a:ln/>
        </p:spPr>
        <p:txBody>
          <a:bodyPr/>
          <a:p/>
        </p:txBody>
      </p:sp>
      <p:sp>
        <p:nvSpPr>
          <p:cNvPr id="216" name="" descr="{&quot;isTemplate&quot;:true,&quot;type&quot;:&quot;text&quot;}"/>
          <p:cNvSpPr txBox="1"/>
          <p:nvPr/>
        </p:nvSpPr>
        <p:spPr>
          <a:xfrm rot="0" flipH="0" flipV="0">
            <a:off x="762000" y="4791075"/>
            <a:ext cx="3581400" cy="257175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1125">
                <a:solidFill>
                  <a:srgbClr val="20344B"/>
                </a:solidFill>
                <a:latin typeface="Microsoft YaHei"/>
                <a:ea typeface="Microsoft YaHei"/>
              </a:rPr>
              <a:t>对象没有业务队列与审批流程</a:t>
            </a:r>
            <a:endParaRPr/>
          </a:p>
        </p:txBody>
      </p:sp>
      <p:sp>
        <p:nvSpPr>
          <p:cNvPr id="217" name=""/>
          <p:cNvSpPr/>
          <p:nvPr/>
        </p:nvSpPr>
        <p:spPr>
          <a:xfrm rot="0" flipH="0" flipV="0">
            <a:off x="4610100" y="4495800"/>
            <a:ext cx="3200400" cy="838200"/>
          </a:xfrm>
          <a:prstGeom prst="roundRect">
            <a:avLst>
              <a:gd name="adj" fmla="val 9091"/>
            </a:avLst>
          </a:prstGeom>
          <a:solidFill>
            <a:srgbClr val="F4F7FA"/>
          </a:solidFill>
          <a:ln/>
        </p:spPr>
        <p:txBody>
          <a:bodyPr/>
          <a:p/>
        </p:txBody>
      </p:sp>
      <p:sp>
        <p:nvSpPr>
          <p:cNvPr id="218" name="" descr="{&quot;isTemplate&quot;:true,&quot;type&quot;:&quot;text&quot;}"/>
          <p:cNvSpPr txBox="1"/>
          <p:nvPr/>
        </p:nvSpPr>
        <p:spPr>
          <a:xfrm rot="0" flipH="0" flipV="0">
            <a:off x="4762500" y="4791075"/>
            <a:ext cx="2895600" cy="247650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本案只研究咨询，不模拟办理</a:t>
            </a:r>
            <a:endParaRPr/>
          </a:p>
        </p:txBody>
      </p:sp>
      <p:sp>
        <p:nvSpPr>
          <p:cNvPr id="219" name=""/>
          <p:cNvSpPr/>
          <p:nvPr/>
        </p:nvSpPr>
        <p:spPr>
          <a:xfrm rot="0" flipH="0" flipV="0">
            <a:off x="7924800" y="4495800"/>
            <a:ext cx="3657600" cy="838200"/>
          </a:xfrm>
          <a:prstGeom prst="roundRect">
            <a:avLst>
              <a:gd name="adj" fmla="val 9091"/>
            </a:avLst>
          </a:prstGeom>
          <a:solidFill>
            <a:srgbClr val="FFF4E6"/>
          </a:solidFill>
          <a:ln/>
        </p:spPr>
        <p:txBody>
          <a:bodyPr/>
          <a:p/>
        </p:txBody>
      </p:sp>
      <p:sp>
        <p:nvSpPr>
          <p:cNvPr id="220" name="" descr="{&quot;isTemplate&quot;:true,&quot;type&quot;:&quot;text&quot;}"/>
          <p:cNvSpPr txBox="1"/>
          <p:nvPr/>
        </p:nvSpPr>
        <p:spPr>
          <a:xfrm rot="0" flipH="0" flipV="0">
            <a:off x="8077200" y="4676775"/>
            <a:ext cx="3352800" cy="485775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50000"/>
              </a:lnSpc>
            </a:pPr>
            <a:r>
              <a:rPr lang="zh-CN" sz="1050">
                <a:solidFill>
                  <a:srgbClr val="CB6B28"/>
                </a:solidFill>
                <a:latin typeface="Microsoft YaHei"/>
                <a:ea typeface="Microsoft YaHei"/>
              </a:rPr>
              <a:t>如要增加机制，应重新定义项目，不能补一句提示冒充实现</a:t>
            </a:r>
            <a:endParaRPr/>
          </a:p>
        </p:txBody>
      </p:sp>
      <p:sp>
        <p:nvSpPr>
          <p:cNvPr id="221" name=""/>
          <p:cNvSpPr/>
          <p:nvPr/>
        </p:nvSpPr>
        <p:spPr>
          <a:xfrm rot="0" flipH="0" flipV="0">
            <a:off x="609600" y="5486400"/>
            <a:ext cx="10972800" cy="685800"/>
          </a:xfrm>
          <a:prstGeom prst="roundRect">
            <a:avLst>
              <a:gd name="adj" fmla="val 13889"/>
            </a:avLst>
          </a:prstGeom>
          <a:solidFill>
            <a:srgbClr val="EDF4FC"/>
          </a:solidFill>
          <a:ln/>
        </p:spPr>
        <p:txBody>
          <a:bodyPr/>
          <a:p/>
        </p:txBody>
      </p:sp>
      <p:sp>
        <p:nvSpPr>
          <p:cNvPr id="222" name="" descr="{&quot;isTemplate&quot;:true,&quot;type&quot;:&quot;text&quot;}"/>
          <p:cNvSpPr txBox="1"/>
          <p:nvPr/>
        </p:nvSpPr>
        <p:spPr>
          <a:xfrm rot="0" flipH="0" flipV="0">
            <a:off x="819150" y="5648325"/>
            <a:ext cx="1055370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>
                <a:solidFill>
                  <a:srgbClr val="276FBF"/>
                </a:solidFill>
                <a:latin typeface="Microsoft YaHei"/>
                <a:ea typeface="Microsoft YaHei"/>
              </a:rPr>
              <a:t>未知信息若会改变任务答案、权限或主要比较条件，就先处理它，再形成正式比较材料。</a:t>
            </a:r>
            <a:endParaRPr/>
          </a:p>
        </p:txBody>
      </p:sp>
      <p:sp>
        <p:nvSpPr>
          <p:cNvPr id="223" name="" descr="{&quot;isTemplate&quot;:true,&quot;type&quot;:&quot;text&quot;}"/>
          <p:cNvSpPr txBox="1"/>
          <p:nvPr/>
        </p:nvSpPr>
        <p:spPr>
          <a:xfrm rot="0" flipH="0" flipV="0">
            <a:off x="819150" y="5857875"/>
            <a:ext cx="105537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不要边运行边悄悄换条件。</a:t>
            </a:r>
            <a:endParaRPr/>
          </a:p>
        </p:txBody>
      </p:sp>
      <p:sp>
        <p:nvSpPr>
          <p:cNvPr id="224" name="" descr="{&quot;isTemplate&quot;:true,&quot;type&quot;:&quot;text&quot;}"/>
          <p:cNvSpPr txBox="1"/>
          <p:nvPr/>
        </p:nvSpPr>
        <p:spPr>
          <a:xfrm rot="0" flipH="0" flipV="0">
            <a:off x="609600" y="6400800"/>
            <a:ext cx="18288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 xml:space="preserve">5.2 </a:t>
            </a: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材料来源、假设与可用范围</a:t>
            </a:r>
            <a:endParaRPr/>
          </a:p>
        </p:txBody>
      </p:sp>
      <p:sp>
        <p:nvSpPr>
          <p:cNvPr id="225" name="" descr="{&quot;isTemplate&quot;:true,&quot;type&quot;:&quot;text&quot;}"/>
          <p:cNvSpPr txBox="1"/>
          <p:nvPr/>
        </p:nvSpPr>
        <p:spPr>
          <a:xfrm rot="0" flipH="0" flipV="0">
            <a:off x="11125200" y="6400800"/>
            <a:ext cx="4572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>16 / 23</a:t>
            </a:r>
            <a:endParaRPr/>
          </a:p>
        </p:txBody>
      </p:sp>
    </p:spTree>
  </p:cSld>
</p:sld>
</file>

<file path=ppt/slides/slide17.xml><?xml version="1.0" encoding="utf-8"?>
<p:sld xmlns:p="http://schemas.openxmlformats.org/presentationml/2006/main" xmlns:a="http://schemas.openxmlformats.org/drawingml/2006/main">
  <p:cSld>
    <p:spTree>
      <p:nvGrpSpPr>
        <p:cNvPr id="226" name="" descr="&lt;Slide notes={`整理材料时最容易出问题的地方，是把原意改掉，而且改得还很有道理。&#10;&#10;孟川的原文是：“今天发现活动室东侧一盏灯不亮，想了解如何报告。”这句话可以拆成三个字段：人物初始经历，东侧一盏灯不亮；咨询目的，想了解如何报告；规定的首次话语，保留原句。&#10;&#10;但很多人会顺手改成另外三句：设施已确认损坏、需要更换灯具、已经提交报修。这三句听起来更专业，其实是往里补了东西。第一句补了诊断，第二句补了方案，第三句补了执行结果。原材料都不支持。&#10;&#10;所以我建议每条整理内容都附一列变化说明：只是分段、改为同义表达、补充了作者假设，还是仍待确认。这一列不好看，但它是接收者判断可靠性的依据。`} style={{ width: 1280, height: 720, background: '#FFFFFF', flexDirection: 'column', padding: '20px 64px' }}&gt;&#10;&#10;    &lt;Box style={{ height: 100, flexDirection: 'row', alignItems: 'center', gap: 20 }}&gt;&#10;        &lt;Box style={{ width: 4, height: 44, background: '#276FBF' }} /&gt;&#10;        &lt;Box style={{ flexDirection: 'column', gap: 4 }}&gt;&#10;            &lt;Text style={{ fontSize: 14, color: '#546779' }}&gt;5.2.5　整理信息时保留原意与空白&lt;/Text&gt;&#10;            &lt;Text style={{ fontSize: 34, fontWeight: 'bold', color: '#20344B' }}&gt;那段原文，能拆成什么&lt;/Text&gt;&#10;        &lt;/Box&gt;&#10;    &lt;/Box&gt;&#10;&#10;    &lt;Box style={{ height: 540, flexDirection: 'column', justifyContent: 'center' }}&gt;&#10;&#10;        &lt;Box style={{ width: 1152, height: 88, background: '#F4F7FA', borderRadius: 10, padding: '0 24px', flexDirection: 'column', gap: 4, justifyContent: 'center' }}&gt;&#10;            &lt;Text style={{ fontSize: 14, color: '#546779' }}&gt;孟川材料里的原文&lt;/Text&gt;&#10;            &lt;Text style={{ fontSize: 18, fontWeight: 'bold', color: '#20344B' }}&gt;“今天发现活动室东侧一盏灯不亮，想了解如何报告。”&lt;/Text&gt;&#10;        &lt;/Box&gt;&#10;&#10;        &lt;Box style={{ width: 1152, flexDirection: 'row', gap: 24, marginTop: 16 }}&gt;&#10;&#10;            &lt;Box style={{ width: 564, height: 300, background: '#ECF7F2', borderRadius: 12, padding: 24, flexDirection: 'column', gap: 12 }}&gt;&#10;                &lt;Text style={{ fontSize: 15, color: '#26816B' }}&gt;可以拆成三个字段&lt;/Text&gt;&#10;                &lt;Text style={{ fontSize: 16, color: '#20344B', lineHeight: 1.6 }}&gt;人物初始经历：活动室东侧一盏灯不亮&lt;/Text&gt;&#10;                &lt;Text style={{ fontSize: 16, color: '#20344B', lineHeight: 1.6 }}&gt;咨询目的：想了解如何报告&lt;/Text&gt;&#10;                &lt;Text style={{ fontSize: 16, color: '#20344B', lineHeight: 1.6 }}&gt;规定的首次话语：保留原句，不改写&lt;/Text&gt;&#10;                &lt;Box style={{ width: 516, height: 1, background: '#B5C7D8' }} /&gt;&#10;                &lt;Text style={{ fontSize: 14, color: '#546779', lineHeight: 1.6 }}&gt;三个字段都是原文里读得出来的，没有新增任何推断。&lt;/Text&gt;&#10;            &lt;/Box&gt;&#10;&#10;            &lt;Box style={{ width: 564, height: 300, background: '#FFF4E6', borderRadius: 12, padding: 24, flexDirection: 'column', gap: 12 }}&gt;&#10;                &lt;Text style={{ fontSize: 15, color: '#CB6B28' }}&gt;不能改写成这三句&lt;/Text&gt;&#10;                &lt;Text style={{ fontSize: 16, color: '#20344B', lineHeight: 1.6 }}&gt;“设施已确认损坏”——补入了诊断&lt;/Text&gt;&#10;                &lt;Text style={{ fontSize: 16, color: '#20344B', lineHeight: 1.6 }}&gt;“需要更换灯具”——补入了方案&lt;/Text&gt;&#10;                &lt;Text style={{ fontSize: 16, color: '#20344B', lineHeight: 1.6 }}&gt;“已经提交报修”——补入了执行结果&lt;/Text&gt;&#10;                &lt;Box style={{ width: 516, height: 1, background: '#B5C7D8' }} /&gt;&#10;                &lt;Text style={{ fontSize: 14, color: '#546779', lineHeight: 1.6 }}&gt;后三句在原材料里都找不到支持。&lt;/Text&gt;&#10;            &lt;/Box&gt;&#10;&#10;        &lt;/Box&gt;&#10;&#10;        &lt;Box style={{ width: 1152, height: 64, background: '#F4F7FA', borderRadius: 10, padding: '0 22px', flexDirection: 'row', alignItems: 'center', marginTop: 16 }}&gt;&#10;            &lt;Text style={{ fontSize: 15, color: '#546779' }}&gt;每条整理内容附一列变化说明：只是分段、改为同义表达、补充了作者假设，还是仍待确认。&lt;/Text&gt;&#10;        &lt;/Box&gt;&#10;&#10;    &lt;/Box&gt;&#10;&#10;    &lt;Box style={{ height: 40, flexDirection: 'row', justifyContent: 'space-between', alignItems: 'center' }}&gt;&#10;        &lt;Text style={{ fontSize: 14, color: '#546779' }}&gt;5.2 材料来源、假设与可用范围&lt;/Text&gt;&#10;        &lt;Text style={{ fontSize: 14, color: '#546779' }}&gt;17 / 23&lt;/Text&gt;&#10;    &lt;/Box&gt;&#10;&#10;&lt;/Slide&gt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7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228" name=""/>
          <p:cNvSpPr/>
          <p:nvPr/>
        </p:nvSpPr>
        <p:spPr>
          <a:xfrm rot="0" flipH="0" flipV="0">
            <a:off x="609600" y="457200"/>
            <a:ext cx="38100" cy="419100"/>
          </a:xfrm>
          <a:prstGeom prst="rect">
            <a:avLst/>
          </a:prstGeom>
          <a:solidFill>
            <a:srgbClr val="276FBF"/>
          </a:solidFill>
          <a:ln/>
        </p:spPr>
        <p:txBody>
          <a:bodyPr/>
          <a:p/>
        </p:txBody>
      </p:sp>
      <p:sp>
        <p:nvSpPr>
          <p:cNvPr id="229" name="" descr="{&quot;isTemplate&quot;:true,&quot;type&quot;:&quot;text&quot;}"/>
          <p:cNvSpPr txBox="1"/>
          <p:nvPr/>
        </p:nvSpPr>
        <p:spPr>
          <a:xfrm rot="0" flipH="0" flipV="0">
            <a:off x="838200" y="371475"/>
            <a:ext cx="32385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>5.2.5</a:t>
            </a: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　整理信息时保留原意与空白</a:t>
            </a:r>
            <a:endParaRPr/>
          </a:p>
        </p:txBody>
      </p:sp>
      <p:sp>
        <p:nvSpPr>
          <p:cNvPr id="230" name="" descr="{&quot;isTemplate&quot;:true,&quot;type&quot;:&quot;text&quot;}"/>
          <p:cNvSpPr txBox="1"/>
          <p:nvPr/>
        </p:nvSpPr>
        <p:spPr>
          <a:xfrm rot="0" flipH="0" flipV="0">
            <a:off x="838200" y="571500"/>
            <a:ext cx="3238500" cy="3905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550" b="1">
                <a:solidFill>
                  <a:srgbClr val="20344B"/>
                </a:solidFill>
                <a:latin typeface="Microsoft YaHei"/>
                <a:ea typeface="Microsoft YaHei"/>
              </a:rPr>
              <a:t>那段原文，能拆成什么</a:t>
            </a:r>
            <a:endParaRPr/>
          </a:p>
        </p:txBody>
      </p:sp>
      <p:sp>
        <p:nvSpPr>
          <p:cNvPr id="231" name=""/>
          <p:cNvSpPr/>
          <p:nvPr/>
        </p:nvSpPr>
        <p:spPr>
          <a:xfrm rot="0" flipH="0" flipV="0">
            <a:off x="609600" y="1409700"/>
            <a:ext cx="10972800" cy="838200"/>
          </a:xfrm>
          <a:prstGeom prst="roundRect">
            <a:avLst>
              <a:gd name="adj" fmla="val 11364"/>
            </a:avLst>
          </a:prstGeom>
          <a:solidFill>
            <a:srgbClr val="F4F7FA"/>
          </a:solidFill>
          <a:ln/>
        </p:spPr>
        <p:txBody>
          <a:bodyPr/>
          <a:p/>
        </p:txBody>
      </p:sp>
      <p:sp>
        <p:nvSpPr>
          <p:cNvPr id="232" name="" descr="{&quot;isTemplate&quot;:true,&quot;type&quot;:&quot;text&quot;}"/>
          <p:cNvSpPr txBox="1"/>
          <p:nvPr/>
        </p:nvSpPr>
        <p:spPr>
          <a:xfrm rot="0" flipH="0" flipV="0">
            <a:off x="838200" y="1628775"/>
            <a:ext cx="105156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孟川材料里的原文</a:t>
            </a:r>
            <a:endParaRPr/>
          </a:p>
        </p:txBody>
      </p:sp>
      <p:sp>
        <p:nvSpPr>
          <p:cNvPr id="233" name="" descr="{&quot;isTemplate&quot;:true,&quot;type&quot;:&quot;text&quot;}"/>
          <p:cNvSpPr txBox="1"/>
          <p:nvPr/>
        </p:nvSpPr>
        <p:spPr>
          <a:xfrm rot="0" flipH="0" flipV="0">
            <a:off x="838200" y="1828800"/>
            <a:ext cx="10515600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350" b="1">
                <a:solidFill>
                  <a:srgbClr val="20344B"/>
                </a:solidFill>
                <a:latin typeface="Microsoft YaHei"/>
                <a:ea typeface="Microsoft YaHei"/>
              </a:rPr>
              <a:t>“今天发现活动室东侧一盏灯不亮，想了解如何报告。”</a:t>
            </a:r>
            <a:endParaRPr/>
          </a:p>
        </p:txBody>
      </p:sp>
      <p:sp>
        <p:nvSpPr>
          <p:cNvPr id="234" name=""/>
          <p:cNvSpPr/>
          <p:nvPr/>
        </p:nvSpPr>
        <p:spPr>
          <a:xfrm rot="0" flipH="0" flipV="0">
            <a:off x="609600" y="2400300"/>
            <a:ext cx="5372100" cy="2857500"/>
          </a:xfrm>
          <a:prstGeom prst="roundRect">
            <a:avLst>
              <a:gd name="adj" fmla="val 4000"/>
            </a:avLst>
          </a:prstGeom>
          <a:solidFill>
            <a:srgbClr val="ECF7F2"/>
          </a:solidFill>
          <a:ln/>
        </p:spPr>
        <p:txBody>
          <a:bodyPr/>
          <a:p/>
        </p:txBody>
      </p:sp>
      <p:sp>
        <p:nvSpPr>
          <p:cNvPr id="235" name="" descr="{&quot;isTemplate&quot;:true,&quot;type&quot;:&quot;text&quot;}"/>
          <p:cNvSpPr txBox="1"/>
          <p:nvPr/>
        </p:nvSpPr>
        <p:spPr>
          <a:xfrm rot="0" flipH="0" flipV="0">
            <a:off x="838200" y="2628900"/>
            <a:ext cx="491490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>
                <a:solidFill>
                  <a:srgbClr val="26816B"/>
                </a:solidFill>
                <a:latin typeface="Microsoft YaHei"/>
                <a:ea typeface="Microsoft YaHei"/>
              </a:rPr>
              <a:t>可以拆成三个字段</a:t>
            </a:r>
            <a:endParaRPr/>
          </a:p>
        </p:txBody>
      </p:sp>
      <p:sp>
        <p:nvSpPr>
          <p:cNvPr id="236" name="" descr="{&quot;isTemplate&quot;:true,&quot;type&quot;:&quot;text&quot;}"/>
          <p:cNvSpPr txBox="1"/>
          <p:nvPr/>
        </p:nvSpPr>
        <p:spPr>
          <a:xfrm rot="0" flipH="0" flipV="0">
            <a:off x="838200" y="2914650"/>
            <a:ext cx="4914900" cy="295275"/>
          </a:xfrm>
          <a:prstGeom prst="rect"/>
        </p:spPr>
        <p:txBody>
          <a:bodyPr wrap="none" lIns="0" tIns="0" rIns="0" bIns="0"/>
          <a:p>
            <a:pPr>
              <a:lnSpc>
                <a:spcPct val="160000"/>
              </a:lnSpc>
            </a:pPr>
            <a:r>
              <a:rPr lang="zh-CN" sz="1200">
                <a:solidFill>
                  <a:srgbClr val="20344B"/>
                </a:solidFill>
                <a:latin typeface="Microsoft YaHei"/>
                <a:ea typeface="Microsoft YaHei"/>
              </a:rPr>
              <a:t>人物初始经历：活动室东侧一盏灯不亮</a:t>
            </a:r>
            <a:endParaRPr/>
          </a:p>
        </p:txBody>
      </p:sp>
      <p:sp>
        <p:nvSpPr>
          <p:cNvPr id="237" name="" descr="{&quot;isTemplate&quot;:true,&quot;type&quot;:&quot;text&quot;}"/>
          <p:cNvSpPr txBox="1"/>
          <p:nvPr/>
        </p:nvSpPr>
        <p:spPr>
          <a:xfrm rot="0" flipH="0" flipV="0">
            <a:off x="838200" y="3324225"/>
            <a:ext cx="4914900" cy="295275"/>
          </a:xfrm>
          <a:prstGeom prst="rect"/>
        </p:spPr>
        <p:txBody>
          <a:bodyPr wrap="none" lIns="0" tIns="0" rIns="0" bIns="0"/>
          <a:p>
            <a:pPr>
              <a:lnSpc>
                <a:spcPct val="160000"/>
              </a:lnSpc>
            </a:pPr>
            <a:r>
              <a:rPr lang="zh-CN" sz="1200">
                <a:solidFill>
                  <a:srgbClr val="20344B"/>
                </a:solidFill>
                <a:latin typeface="Microsoft YaHei"/>
                <a:ea typeface="Microsoft YaHei"/>
              </a:rPr>
              <a:t>咨询目的：想了解如何报告</a:t>
            </a:r>
            <a:endParaRPr/>
          </a:p>
        </p:txBody>
      </p:sp>
      <p:sp>
        <p:nvSpPr>
          <p:cNvPr id="238" name="" descr="{&quot;isTemplate&quot;:true,&quot;type&quot;:&quot;text&quot;}"/>
          <p:cNvSpPr txBox="1"/>
          <p:nvPr/>
        </p:nvSpPr>
        <p:spPr>
          <a:xfrm rot="0" flipH="0" flipV="0">
            <a:off x="838200" y="3733800"/>
            <a:ext cx="4914900" cy="295275"/>
          </a:xfrm>
          <a:prstGeom prst="rect"/>
        </p:spPr>
        <p:txBody>
          <a:bodyPr wrap="none" lIns="0" tIns="0" rIns="0" bIns="0"/>
          <a:p>
            <a:pPr>
              <a:lnSpc>
                <a:spcPct val="160000"/>
              </a:lnSpc>
            </a:pPr>
            <a:r>
              <a:rPr lang="zh-CN" sz="1200">
                <a:solidFill>
                  <a:srgbClr val="20344B"/>
                </a:solidFill>
                <a:latin typeface="Microsoft YaHei"/>
                <a:ea typeface="Microsoft YaHei"/>
              </a:rPr>
              <a:t>规定的首次话语：保留原句，不改写</a:t>
            </a:r>
            <a:endParaRPr/>
          </a:p>
        </p:txBody>
      </p:sp>
      <p:sp>
        <p:nvSpPr>
          <p:cNvPr id="239" name=""/>
          <p:cNvSpPr/>
          <p:nvPr/>
        </p:nvSpPr>
        <p:spPr>
          <a:xfrm rot="0" flipH="0" flipV="0">
            <a:off x="838200" y="4143375"/>
            <a:ext cx="4914900" cy="9525"/>
          </a:xfrm>
          <a:prstGeom prst="rect">
            <a:avLst/>
          </a:prstGeom>
          <a:solidFill>
            <a:srgbClr val="B5C7D8"/>
          </a:solidFill>
          <a:ln/>
        </p:spPr>
        <p:txBody>
          <a:bodyPr/>
          <a:p/>
        </p:txBody>
      </p:sp>
      <p:sp>
        <p:nvSpPr>
          <p:cNvPr id="240" name="" descr="{&quot;isTemplate&quot;:true,&quot;type&quot;:&quot;text&quot;}"/>
          <p:cNvSpPr txBox="1"/>
          <p:nvPr/>
        </p:nvSpPr>
        <p:spPr>
          <a:xfrm rot="0" flipH="0" flipV="0">
            <a:off x="838200" y="4267200"/>
            <a:ext cx="4914900" cy="257175"/>
          </a:xfrm>
          <a:prstGeom prst="rect"/>
        </p:spPr>
        <p:txBody>
          <a:bodyPr wrap="none" lIns="0" tIns="0" rIns="0" bIns="0"/>
          <a:p>
            <a:pPr>
              <a:lnSpc>
                <a:spcPct val="160000"/>
              </a:lnSpc>
            </a:pP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三个字段都是原文里读得出来的，没有新增任何推断。</a:t>
            </a:r>
            <a:endParaRPr/>
          </a:p>
        </p:txBody>
      </p:sp>
      <p:sp>
        <p:nvSpPr>
          <p:cNvPr id="241" name=""/>
          <p:cNvSpPr/>
          <p:nvPr/>
        </p:nvSpPr>
        <p:spPr>
          <a:xfrm rot="0" flipH="0" flipV="0">
            <a:off x="6210300" y="2400300"/>
            <a:ext cx="5372100" cy="2857500"/>
          </a:xfrm>
          <a:prstGeom prst="roundRect">
            <a:avLst>
              <a:gd name="adj" fmla="val 4000"/>
            </a:avLst>
          </a:prstGeom>
          <a:solidFill>
            <a:srgbClr val="FFF4E6"/>
          </a:solidFill>
          <a:ln/>
        </p:spPr>
        <p:txBody>
          <a:bodyPr/>
          <a:p/>
        </p:txBody>
      </p:sp>
      <p:sp>
        <p:nvSpPr>
          <p:cNvPr id="242" name="" descr="{&quot;isTemplate&quot;:true,&quot;type&quot;:&quot;text&quot;}"/>
          <p:cNvSpPr txBox="1"/>
          <p:nvPr/>
        </p:nvSpPr>
        <p:spPr>
          <a:xfrm rot="0" flipH="0" flipV="0">
            <a:off x="6438900" y="2628900"/>
            <a:ext cx="491490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>
                <a:solidFill>
                  <a:srgbClr val="CB6B28"/>
                </a:solidFill>
                <a:latin typeface="Microsoft YaHei"/>
                <a:ea typeface="Microsoft YaHei"/>
              </a:rPr>
              <a:t>不能改写成这三句</a:t>
            </a:r>
            <a:endParaRPr/>
          </a:p>
        </p:txBody>
      </p:sp>
      <p:sp>
        <p:nvSpPr>
          <p:cNvPr id="243" name="" descr="{&quot;isTemplate&quot;:true,&quot;type&quot;:&quot;text&quot;}"/>
          <p:cNvSpPr txBox="1"/>
          <p:nvPr/>
        </p:nvSpPr>
        <p:spPr>
          <a:xfrm rot="0" flipH="0" flipV="0">
            <a:off x="6438900" y="2914650"/>
            <a:ext cx="4914900" cy="295275"/>
          </a:xfrm>
          <a:prstGeom prst="rect"/>
        </p:spPr>
        <p:txBody>
          <a:bodyPr wrap="none" lIns="0" tIns="0" rIns="0" bIns="0"/>
          <a:p>
            <a:pPr>
              <a:lnSpc>
                <a:spcPct val="160000"/>
              </a:lnSpc>
            </a:pPr>
            <a:r>
              <a:rPr lang="zh-CN" sz="1200">
                <a:solidFill>
                  <a:srgbClr val="20344B"/>
                </a:solidFill>
                <a:latin typeface="Microsoft YaHei"/>
                <a:ea typeface="Microsoft YaHei"/>
              </a:rPr>
              <a:t>“设施已确认损坏”——补入了诊断</a:t>
            </a:r>
            <a:endParaRPr/>
          </a:p>
        </p:txBody>
      </p:sp>
      <p:sp>
        <p:nvSpPr>
          <p:cNvPr id="244" name="" descr="{&quot;isTemplate&quot;:true,&quot;type&quot;:&quot;text&quot;}"/>
          <p:cNvSpPr txBox="1"/>
          <p:nvPr/>
        </p:nvSpPr>
        <p:spPr>
          <a:xfrm rot="0" flipH="0" flipV="0">
            <a:off x="6438900" y="3324225"/>
            <a:ext cx="4914900" cy="295275"/>
          </a:xfrm>
          <a:prstGeom prst="rect"/>
        </p:spPr>
        <p:txBody>
          <a:bodyPr wrap="none" lIns="0" tIns="0" rIns="0" bIns="0"/>
          <a:p>
            <a:pPr>
              <a:lnSpc>
                <a:spcPct val="160000"/>
              </a:lnSpc>
            </a:pPr>
            <a:r>
              <a:rPr lang="zh-CN" sz="1200">
                <a:solidFill>
                  <a:srgbClr val="20344B"/>
                </a:solidFill>
                <a:latin typeface="Microsoft YaHei"/>
                <a:ea typeface="Microsoft YaHei"/>
              </a:rPr>
              <a:t>“需要更换灯具”——补入了方案</a:t>
            </a:r>
            <a:endParaRPr/>
          </a:p>
        </p:txBody>
      </p:sp>
      <p:sp>
        <p:nvSpPr>
          <p:cNvPr id="245" name="" descr="{&quot;isTemplate&quot;:true,&quot;type&quot;:&quot;text&quot;}"/>
          <p:cNvSpPr txBox="1"/>
          <p:nvPr/>
        </p:nvSpPr>
        <p:spPr>
          <a:xfrm rot="0" flipH="0" flipV="0">
            <a:off x="6438900" y="3733800"/>
            <a:ext cx="4914900" cy="295275"/>
          </a:xfrm>
          <a:prstGeom prst="rect"/>
        </p:spPr>
        <p:txBody>
          <a:bodyPr wrap="none" lIns="0" tIns="0" rIns="0" bIns="0"/>
          <a:p>
            <a:pPr>
              <a:lnSpc>
                <a:spcPct val="160000"/>
              </a:lnSpc>
            </a:pPr>
            <a:r>
              <a:rPr lang="zh-CN" sz="1200">
                <a:solidFill>
                  <a:srgbClr val="20344B"/>
                </a:solidFill>
                <a:latin typeface="Microsoft YaHei"/>
                <a:ea typeface="Microsoft YaHei"/>
              </a:rPr>
              <a:t>“已经提交报修”——补入了执行结果</a:t>
            </a:r>
            <a:endParaRPr/>
          </a:p>
        </p:txBody>
      </p:sp>
      <p:sp>
        <p:nvSpPr>
          <p:cNvPr id="246" name=""/>
          <p:cNvSpPr/>
          <p:nvPr/>
        </p:nvSpPr>
        <p:spPr>
          <a:xfrm rot="0" flipH="0" flipV="0">
            <a:off x="6438900" y="4143375"/>
            <a:ext cx="4914900" cy="9525"/>
          </a:xfrm>
          <a:prstGeom prst="rect">
            <a:avLst/>
          </a:prstGeom>
          <a:solidFill>
            <a:srgbClr val="B5C7D8"/>
          </a:solidFill>
          <a:ln/>
        </p:spPr>
        <p:txBody>
          <a:bodyPr/>
          <a:p/>
        </p:txBody>
      </p:sp>
      <p:sp>
        <p:nvSpPr>
          <p:cNvPr id="247" name="" descr="{&quot;isTemplate&quot;:true,&quot;type&quot;:&quot;text&quot;}"/>
          <p:cNvSpPr txBox="1"/>
          <p:nvPr/>
        </p:nvSpPr>
        <p:spPr>
          <a:xfrm rot="0" flipH="0" flipV="0">
            <a:off x="6438900" y="4267200"/>
            <a:ext cx="4914900" cy="257175"/>
          </a:xfrm>
          <a:prstGeom prst="rect"/>
        </p:spPr>
        <p:txBody>
          <a:bodyPr wrap="none" lIns="0" tIns="0" rIns="0" bIns="0"/>
          <a:p>
            <a:pPr>
              <a:lnSpc>
                <a:spcPct val="160000"/>
              </a:lnSpc>
            </a:pP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后三句在原材料里都找不到支持。</a:t>
            </a:r>
            <a:endParaRPr/>
          </a:p>
        </p:txBody>
      </p:sp>
      <p:sp>
        <p:nvSpPr>
          <p:cNvPr id="248" name=""/>
          <p:cNvSpPr/>
          <p:nvPr/>
        </p:nvSpPr>
        <p:spPr>
          <a:xfrm rot="0" flipH="0" flipV="0">
            <a:off x="609600" y="5410200"/>
            <a:ext cx="10972800" cy="609600"/>
          </a:xfrm>
          <a:prstGeom prst="roundRect">
            <a:avLst>
              <a:gd name="adj" fmla="val 15625"/>
            </a:avLst>
          </a:prstGeom>
          <a:solidFill>
            <a:srgbClr val="F4F7FA"/>
          </a:solidFill>
          <a:ln/>
        </p:spPr>
        <p:txBody>
          <a:bodyPr/>
          <a:p/>
        </p:txBody>
      </p:sp>
      <p:sp>
        <p:nvSpPr>
          <p:cNvPr id="249" name="" descr="{&quot;isTemplate&quot;:true,&quot;type&quot;:&quot;text&quot;}"/>
          <p:cNvSpPr txBox="1"/>
          <p:nvPr/>
        </p:nvSpPr>
        <p:spPr>
          <a:xfrm rot="0" flipH="0" flipV="0">
            <a:off x="819150" y="5629275"/>
            <a:ext cx="5857875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>
                <a:solidFill>
                  <a:srgbClr val="546779"/>
                </a:solidFill>
                <a:latin typeface="Microsoft YaHei"/>
                <a:ea typeface="Microsoft YaHei"/>
              </a:rPr>
              <a:t>每条整理内容附一列变化说明：只是分段、改为同义表达、补充了作者假设，还是仍待确认。</a:t>
            </a:r>
            <a:endParaRPr/>
          </a:p>
        </p:txBody>
      </p:sp>
      <p:sp>
        <p:nvSpPr>
          <p:cNvPr id="250" name="" descr="{&quot;isTemplate&quot;:true,&quot;type&quot;:&quot;text&quot;}"/>
          <p:cNvSpPr txBox="1"/>
          <p:nvPr/>
        </p:nvSpPr>
        <p:spPr>
          <a:xfrm rot="0" flipH="0" flipV="0">
            <a:off x="609600" y="6400800"/>
            <a:ext cx="18288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 xml:space="preserve">5.2 </a:t>
            </a: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材料来源、假设与可用范围</a:t>
            </a:r>
            <a:endParaRPr/>
          </a:p>
        </p:txBody>
      </p:sp>
      <p:sp>
        <p:nvSpPr>
          <p:cNvPr id="251" name="" descr="{&quot;isTemplate&quot;:true,&quot;type&quot;:&quot;text&quot;}"/>
          <p:cNvSpPr txBox="1"/>
          <p:nvPr/>
        </p:nvSpPr>
        <p:spPr>
          <a:xfrm rot="0" flipH="0" flipV="0">
            <a:off x="11125200" y="6400800"/>
            <a:ext cx="4572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>17 / 23</a:t>
            </a:r>
            <a:endParaRPr/>
          </a:p>
        </p:txBody>
      </p:sp>
    </p:spTree>
  </p:cSld>
</p:sld>
</file>

<file path=ppt/slides/slide18.xml><?xml version="1.0" encoding="utf-8"?>
<p:sld xmlns:p="http://schemas.openxmlformats.org/presentationml/2006/main" xmlns:a="http://schemas.openxmlformats.org/drawingml/2006/main">
  <p:cSld>
    <p:spTree>
      <p:nvGrpSpPr>
        <p:cNvPr id="252" name="" descr="&lt;Slide notes={`有人会问：既然有那么多的未确认信息，是不是这些材料都不能做？我的回答是，要看它卡在哪一步。&#10;&#10;背景图片可以先画。地图草图、语义资料、碰撞资料，这些都不改变任务答案，先做出来不影响后面的判断。&#10;&#10;但依赖错误服务范围的 Skill 不能定稿。因为服务范围一改，它答复的内容就变了，这正是要比较的东西。&#10;&#10;判断标准可以这么记：如果这项未知会改变任务答案、权限或主要比较条件，就先处理它，再形成正式比较材料；如果不会，可以先画，标清状态。&#10;&#10;还有一条边界必须守住：不要边运行边悄悄换条件。中途改一个参数，前面的结果就不能和后面对照了，整轮实验也就白做。`} style={{ width: 1280, height: 720, background: '#FFFFFF', flexDirection: 'column', padding: '20px 64px' }}&gt;&#10;&#10;    &lt;Box style={{ height: 100, flexDirection: 'row', alignItems: 'center', gap: 20 }}&gt;&#10;        &lt;Box style={{ width: 4, height: 44, background: '#276FBF' }} /&gt;&#10;        &lt;Box style={{ flexDirection: 'column', gap: 4 }}&gt;&#10;            &lt;Text style={{ fontSize: 14, color: '#546779' }}&gt;5.2.5　整理信息时保留原意与空白&lt;/Text&gt;&#10;            &lt;Text style={{ fontSize: 34, fontWeight: 'bold', color: '#20344B' }}&gt;未确认信息不必一律阻止制作&lt;/Text&gt;&#10;        &lt;/Box&gt;&#10;    &lt;/Box&gt;&#10;&#10;    &lt;Box style={{ height: 540, flexDirection: 'row', gap: 24, alignItems: 'center' }}&gt;&#10;&#10;        &lt;Box style={{ width: 400, flexDirection: 'column', justifyContent: 'center', gap: 16 }}&gt;&#10;            &lt;Text style={{ fontSize: 17, color: '#546779', lineHeight: 1.7 }}&gt;未确认信息不必一律阻止资料制作，关键看它卡在哪一步。&lt;/Text&gt;&#10;            &lt;Box style={{ width: 72, height: 4, background: '#276FBF' }} /&gt;&#10;            &lt;Text style={{ fontSize: 16, color: '#20344B', lineHeight: 1.7 }}&gt;背景图片可以先画；依赖错误服务范围的 Skill 不能定稿。&lt;/Text&gt;&#10;        &lt;/Box&gt;&#10;&#10;        &lt;Box style={{ width: 728, flexDirection: 'column', gap: 16, justifyContent: 'center' }}&gt;&#10;&#10;            &lt;Box style={{ width: 728, height: 150, background: '#ECF7F2', borderRadius: 12, padding: 24, flexDirection: 'column', gap: 8 }}&gt;&#10;                &lt;Text style={{ fontSize: 15, color: '#26816B' }}&gt;可以先做的&lt;/Text&gt;&#10;                &lt;Text style={{ fontSize: 17, color: '#20344B', lineHeight: 1.6 }}&gt;背景图片、空间草图、语义与碰撞资料——它们不改变任务答案，先做出来，同步标清状态。&lt;/Text&gt;&#10;            &lt;/Box&gt;&#10;&#10;            &lt;Box style={{ width: 728, height: 150, background: '#FFF4E6', borderRadius: 12, padding: 24, flexDirection: 'column', gap: 8 }}&gt;&#10;                &lt;Text style={{ fontSize: 15, color: '#CB6B28' }}&gt;必须先处理的&lt;/Text&gt;&#10;                &lt;Text style={{ fontSize: 17, color: '#20344B', lineHeight: 1.6 }}&gt;会改变任务答案、权限或主要比较条件的未知信息，先处理它，再形成正式比较材料。&lt;/Text&gt;&#10;            &lt;/Box&gt;&#10;&#10;            &lt;Box style={{ width: 728, height: 110, background: '#F7F3E8', borderRadius: 12, padding: 24, flexDirection: 'column', gap: 8 }}&gt;&#10;                &lt;Text style={{ fontSize: 15, color: '#CB6B28' }}&gt;一条边界&lt;/Text&gt;&#10;                &lt;Text style={{ fontSize: 17, color: '#20344B', lineHeight: 1.6 }}&gt;不要边运行边悄悄换条件。&lt;/Text&gt;&#10;            &lt;/Box&gt;&#10;&#10;        &lt;/Box&gt;&#10;&#10;    &lt;/Box&gt;&#10;&#10;    &lt;Box style={{ height: 40, flexDirection: 'row', justifyContent: 'space-between', alignItems: 'center' }}&gt;&#10;        &lt;Text style={{ fontSize: 14, color: '#546779' }}&gt;5.2 材料来源、假设与可用范围&lt;/Text&gt;&#10;        &lt;Text style={{ fontSize: 14, color: '#546779' }}&gt;18 / 23&lt;/Text&gt;&#10;    &lt;/Box&gt;&#10;&#10;&lt;/Slide&gt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3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254" name=""/>
          <p:cNvSpPr/>
          <p:nvPr/>
        </p:nvSpPr>
        <p:spPr>
          <a:xfrm rot="0" flipH="0" flipV="0">
            <a:off x="609600" y="457200"/>
            <a:ext cx="38100" cy="419100"/>
          </a:xfrm>
          <a:prstGeom prst="rect">
            <a:avLst/>
          </a:prstGeom>
          <a:solidFill>
            <a:srgbClr val="276FBF"/>
          </a:solidFill>
          <a:ln/>
        </p:spPr>
        <p:txBody>
          <a:bodyPr/>
          <a:p/>
        </p:txBody>
      </p:sp>
      <p:sp>
        <p:nvSpPr>
          <p:cNvPr id="255" name="" descr="{&quot;isTemplate&quot;:true,&quot;type&quot;:&quot;text&quot;}"/>
          <p:cNvSpPr txBox="1"/>
          <p:nvPr/>
        </p:nvSpPr>
        <p:spPr>
          <a:xfrm rot="0" flipH="0" flipV="0">
            <a:off x="838200" y="371475"/>
            <a:ext cx="42100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>5.2.5</a:t>
            </a: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　整理信息时保留原意与空白</a:t>
            </a:r>
            <a:endParaRPr/>
          </a:p>
        </p:txBody>
      </p:sp>
      <p:sp>
        <p:nvSpPr>
          <p:cNvPr id="256" name="" descr="{&quot;isTemplate&quot;:true,&quot;type&quot;:&quot;text&quot;}"/>
          <p:cNvSpPr txBox="1"/>
          <p:nvPr/>
        </p:nvSpPr>
        <p:spPr>
          <a:xfrm rot="0" flipH="0" flipV="0">
            <a:off x="838200" y="571500"/>
            <a:ext cx="4210050" cy="3905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550" b="1">
                <a:solidFill>
                  <a:srgbClr val="20344B"/>
                </a:solidFill>
                <a:latin typeface="Microsoft YaHei"/>
                <a:ea typeface="Microsoft YaHei"/>
              </a:rPr>
              <a:t>未确认信息不必一律阻止制作</a:t>
            </a:r>
            <a:endParaRPr/>
          </a:p>
        </p:txBody>
      </p:sp>
      <p:sp>
        <p:nvSpPr>
          <p:cNvPr id="257" name="" descr="{&quot;isTemplate&quot;:true,&quot;type&quot;:&quot;text&quot;}"/>
          <p:cNvSpPr txBox="1"/>
          <p:nvPr/>
        </p:nvSpPr>
        <p:spPr>
          <a:xfrm rot="0" flipH="0" flipV="0">
            <a:off x="609600" y="2895600"/>
            <a:ext cx="3810000" cy="66675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70000"/>
              </a:lnSpc>
            </a:pPr>
            <a:r>
              <a:rPr lang="zh-CN" sz="1275">
                <a:solidFill>
                  <a:srgbClr val="546779"/>
                </a:solidFill>
                <a:latin typeface="Microsoft YaHei"/>
                <a:ea typeface="Microsoft YaHei"/>
              </a:rPr>
              <a:t>未确认信息不必一律阻止资料制作，关键看它卡在哪一步。</a:t>
            </a:r>
            <a:endParaRPr/>
          </a:p>
        </p:txBody>
      </p:sp>
      <p:sp>
        <p:nvSpPr>
          <p:cNvPr id="258" name=""/>
          <p:cNvSpPr/>
          <p:nvPr/>
        </p:nvSpPr>
        <p:spPr>
          <a:xfrm rot="0" flipH="0" flipV="0">
            <a:off x="609600" y="3714750"/>
            <a:ext cx="685800" cy="38100"/>
          </a:xfrm>
          <a:prstGeom prst="rect">
            <a:avLst/>
          </a:prstGeom>
          <a:solidFill>
            <a:srgbClr val="276FBF"/>
          </a:solidFill>
          <a:ln/>
        </p:spPr>
        <p:txBody>
          <a:bodyPr/>
          <a:p/>
        </p:txBody>
      </p:sp>
      <p:sp>
        <p:nvSpPr>
          <p:cNvPr id="259" name="" descr="{&quot;isTemplate&quot;:true,&quot;type&quot;:&quot;text&quot;}"/>
          <p:cNvSpPr txBox="1"/>
          <p:nvPr/>
        </p:nvSpPr>
        <p:spPr>
          <a:xfrm rot="0" flipH="0" flipV="0">
            <a:off x="609600" y="3905250"/>
            <a:ext cx="3810000" cy="62865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70000"/>
              </a:lnSpc>
            </a:pPr>
            <a:r>
              <a:rPr lang="zh-CN" sz="1200">
                <a:solidFill>
                  <a:srgbClr val="20344B"/>
                </a:solidFill>
                <a:latin typeface="Microsoft YaHei"/>
                <a:ea typeface="Microsoft YaHei"/>
              </a:rPr>
              <a:t>背景图片可以先画；依赖错误服务范围的</a:t>
            </a:r>
            <a:r>
              <a:rPr lang="en-US" sz="1200">
                <a:solidFill>
                  <a:srgbClr val="20344B"/>
                </a:solidFill>
                <a:latin typeface="Microsoft YaHei"/>
                <a:ea typeface="Microsoft YaHei"/>
              </a:rPr>
              <a:t xml:space="preserve"> Skill </a:t>
            </a:r>
            <a:r>
              <a:rPr lang="zh-CN" sz="1200">
                <a:solidFill>
                  <a:srgbClr val="20344B"/>
                </a:solidFill>
                <a:latin typeface="Microsoft YaHei"/>
                <a:ea typeface="Microsoft YaHei"/>
              </a:rPr>
              <a:t>不能定稿。</a:t>
            </a:r>
            <a:endParaRPr/>
          </a:p>
        </p:txBody>
      </p:sp>
      <p:sp>
        <p:nvSpPr>
          <p:cNvPr id="260" name=""/>
          <p:cNvSpPr/>
          <p:nvPr/>
        </p:nvSpPr>
        <p:spPr>
          <a:xfrm rot="0" flipH="0" flipV="0">
            <a:off x="4648200" y="1609725"/>
            <a:ext cx="6934200" cy="1428750"/>
          </a:xfrm>
          <a:prstGeom prst="roundRect">
            <a:avLst>
              <a:gd name="adj" fmla="val 8000"/>
            </a:avLst>
          </a:prstGeom>
          <a:solidFill>
            <a:srgbClr val="ECF7F2"/>
          </a:solidFill>
          <a:ln/>
        </p:spPr>
        <p:txBody>
          <a:bodyPr/>
          <a:p/>
        </p:txBody>
      </p:sp>
      <p:sp>
        <p:nvSpPr>
          <p:cNvPr id="261" name="" descr="{&quot;isTemplate&quot;:true,&quot;type&quot;:&quot;text&quot;}"/>
          <p:cNvSpPr txBox="1"/>
          <p:nvPr/>
        </p:nvSpPr>
        <p:spPr>
          <a:xfrm rot="0" flipH="0" flipV="0">
            <a:off x="4876800" y="1838325"/>
            <a:ext cx="647700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>
                <a:solidFill>
                  <a:srgbClr val="26816B"/>
                </a:solidFill>
                <a:latin typeface="Microsoft YaHei"/>
                <a:ea typeface="Microsoft YaHei"/>
              </a:rPr>
              <a:t>可以先做的</a:t>
            </a:r>
            <a:endParaRPr/>
          </a:p>
        </p:txBody>
      </p:sp>
      <p:sp>
        <p:nvSpPr>
          <p:cNvPr id="262" name="" descr="{&quot;isTemplate&quot;:true,&quot;type&quot;:&quot;text&quot;}"/>
          <p:cNvSpPr txBox="1"/>
          <p:nvPr/>
        </p:nvSpPr>
        <p:spPr>
          <a:xfrm rot="0" flipH="0" flipV="0">
            <a:off x="4876800" y="2085975"/>
            <a:ext cx="6477000" cy="62865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60000"/>
              </a:lnSpc>
            </a:pPr>
            <a:r>
              <a:rPr lang="zh-CN" sz="1275">
                <a:solidFill>
                  <a:srgbClr val="20344B"/>
                </a:solidFill>
                <a:latin typeface="Microsoft YaHei"/>
                <a:ea typeface="Microsoft YaHei"/>
              </a:rPr>
              <a:t>背景图片、空间草图、语义与碰撞资料——它们不改变任务答案，先做出来，同步标清状态。</a:t>
            </a:r>
            <a:endParaRPr/>
          </a:p>
        </p:txBody>
      </p:sp>
      <p:sp>
        <p:nvSpPr>
          <p:cNvPr id="263" name=""/>
          <p:cNvSpPr/>
          <p:nvPr/>
        </p:nvSpPr>
        <p:spPr>
          <a:xfrm rot="0" flipH="0" flipV="0">
            <a:off x="4648200" y="3190875"/>
            <a:ext cx="6934200" cy="1428750"/>
          </a:xfrm>
          <a:prstGeom prst="roundRect">
            <a:avLst>
              <a:gd name="adj" fmla="val 8000"/>
            </a:avLst>
          </a:prstGeom>
          <a:solidFill>
            <a:srgbClr val="FFF4E6"/>
          </a:solidFill>
          <a:ln/>
        </p:spPr>
        <p:txBody>
          <a:bodyPr/>
          <a:p/>
        </p:txBody>
      </p:sp>
      <p:sp>
        <p:nvSpPr>
          <p:cNvPr id="264" name="" descr="{&quot;isTemplate&quot;:true,&quot;type&quot;:&quot;text&quot;}"/>
          <p:cNvSpPr txBox="1"/>
          <p:nvPr/>
        </p:nvSpPr>
        <p:spPr>
          <a:xfrm rot="0" flipH="0" flipV="0">
            <a:off x="4876800" y="3419475"/>
            <a:ext cx="647700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>
                <a:solidFill>
                  <a:srgbClr val="CB6B28"/>
                </a:solidFill>
                <a:latin typeface="Microsoft YaHei"/>
                <a:ea typeface="Microsoft YaHei"/>
              </a:rPr>
              <a:t>必须先处理的</a:t>
            </a:r>
            <a:endParaRPr/>
          </a:p>
        </p:txBody>
      </p:sp>
      <p:sp>
        <p:nvSpPr>
          <p:cNvPr id="265" name="" descr="{&quot;isTemplate&quot;:true,&quot;type&quot;:&quot;text&quot;}"/>
          <p:cNvSpPr txBox="1"/>
          <p:nvPr/>
        </p:nvSpPr>
        <p:spPr>
          <a:xfrm rot="0" flipH="0" flipV="0">
            <a:off x="4876800" y="3667125"/>
            <a:ext cx="6477000" cy="314325"/>
          </a:xfrm>
          <a:prstGeom prst="rect"/>
        </p:spPr>
        <p:txBody>
          <a:bodyPr wrap="none" lIns="0" tIns="0" rIns="0" bIns="0"/>
          <a:p>
            <a:pPr>
              <a:lnSpc>
                <a:spcPct val="160000"/>
              </a:lnSpc>
            </a:pPr>
            <a:r>
              <a:rPr lang="zh-CN" sz="1275">
                <a:solidFill>
                  <a:srgbClr val="20344B"/>
                </a:solidFill>
                <a:latin typeface="Microsoft YaHei"/>
                <a:ea typeface="Microsoft YaHei"/>
              </a:rPr>
              <a:t>会改变任务答案、权限或主要比较条件的未知信息，先处理它，再形成正式比较材料。</a:t>
            </a:r>
            <a:endParaRPr/>
          </a:p>
        </p:txBody>
      </p:sp>
      <p:sp>
        <p:nvSpPr>
          <p:cNvPr id="266" name=""/>
          <p:cNvSpPr/>
          <p:nvPr/>
        </p:nvSpPr>
        <p:spPr>
          <a:xfrm rot="0" flipH="0" flipV="0">
            <a:off x="4648200" y="4772025"/>
            <a:ext cx="6934200" cy="1047750"/>
          </a:xfrm>
          <a:prstGeom prst="roundRect">
            <a:avLst>
              <a:gd name="adj" fmla="val 10909"/>
            </a:avLst>
          </a:prstGeom>
          <a:solidFill>
            <a:srgbClr val="F7F3E8"/>
          </a:solidFill>
          <a:ln/>
        </p:spPr>
        <p:txBody>
          <a:bodyPr/>
          <a:p/>
        </p:txBody>
      </p:sp>
      <p:sp>
        <p:nvSpPr>
          <p:cNvPr id="267" name="" descr="{&quot;isTemplate&quot;:true,&quot;type&quot;:&quot;text&quot;}"/>
          <p:cNvSpPr txBox="1"/>
          <p:nvPr/>
        </p:nvSpPr>
        <p:spPr>
          <a:xfrm rot="0" flipH="0" flipV="0">
            <a:off x="4876800" y="5000625"/>
            <a:ext cx="647700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>
                <a:solidFill>
                  <a:srgbClr val="CB6B28"/>
                </a:solidFill>
                <a:latin typeface="Microsoft YaHei"/>
                <a:ea typeface="Microsoft YaHei"/>
              </a:rPr>
              <a:t>一条边界</a:t>
            </a:r>
            <a:endParaRPr/>
          </a:p>
        </p:txBody>
      </p:sp>
      <p:sp>
        <p:nvSpPr>
          <p:cNvPr id="268" name="" descr="{&quot;isTemplate&quot;:true,&quot;type&quot;:&quot;text&quot;}"/>
          <p:cNvSpPr txBox="1"/>
          <p:nvPr/>
        </p:nvSpPr>
        <p:spPr>
          <a:xfrm rot="0" flipH="0" flipV="0">
            <a:off x="4876800" y="5248275"/>
            <a:ext cx="6477000" cy="314325"/>
          </a:xfrm>
          <a:prstGeom prst="rect"/>
        </p:spPr>
        <p:txBody>
          <a:bodyPr wrap="none" lIns="0" tIns="0" rIns="0" bIns="0"/>
          <a:p>
            <a:pPr>
              <a:lnSpc>
                <a:spcPct val="160000"/>
              </a:lnSpc>
            </a:pPr>
            <a:r>
              <a:rPr lang="zh-CN" sz="1275">
                <a:solidFill>
                  <a:srgbClr val="20344B"/>
                </a:solidFill>
                <a:latin typeface="Microsoft YaHei"/>
                <a:ea typeface="Microsoft YaHei"/>
              </a:rPr>
              <a:t>不要边运行边悄悄换条件。</a:t>
            </a:r>
            <a:endParaRPr/>
          </a:p>
        </p:txBody>
      </p:sp>
      <p:sp>
        <p:nvSpPr>
          <p:cNvPr id="269" name="" descr="{&quot;isTemplate&quot;:true,&quot;type&quot;:&quot;text&quot;}"/>
          <p:cNvSpPr txBox="1"/>
          <p:nvPr/>
        </p:nvSpPr>
        <p:spPr>
          <a:xfrm rot="0" flipH="0" flipV="0">
            <a:off x="609600" y="6400800"/>
            <a:ext cx="18288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 xml:space="preserve">5.2 </a:t>
            </a: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材料来源、假设与可用范围</a:t>
            </a:r>
            <a:endParaRPr/>
          </a:p>
        </p:txBody>
      </p:sp>
      <p:sp>
        <p:nvSpPr>
          <p:cNvPr id="270" name="" descr="{&quot;isTemplate&quot;:true,&quot;type&quot;:&quot;text&quot;}"/>
          <p:cNvSpPr txBox="1"/>
          <p:nvPr/>
        </p:nvSpPr>
        <p:spPr>
          <a:xfrm rot="0" flipH="0" flipV="0">
            <a:off x="11125200" y="6400800"/>
            <a:ext cx="4572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>18 / 23</a:t>
            </a:r>
            <a:endParaRPr/>
          </a:p>
        </p:txBody>
      </p:sp>
    </p:spTree>
  </p:cSld>
</p:sld>
</file>

<file path=ppt/slides/slide19.xml><?xml version="1.0" encoding="utf-8"?>
<p:sld xmlns:p="http://schemas.openxmlformats.org/presentationml/2006/main" xmlns:a="http://schemas.openxmlformats.org/drawingml/2006/main">
  <p:cSld>
    <p:spTree>
      <p:nvGrpSpPr>
        <p:cNvPr id="271" name="" descr="&lt;Slide notes={`最后给一份复看清单。整理完材料，别急着交，先按四类关键信息再过一遍。&#10;&#10;第一类，数字与时间。七十五分钟和七十五步，差一个字，结果差一分钟。第二类，否定词。“未确认恢复”被缩成“恢复”，意思完全反过来。第三类，条件。“可咨询”写成“已办理”，把询问变成了办成。第四类，信息来源。这句话是谁写的、写在哪，必须能答上来。&#10;&#10;这四类我建议手工核，不要全交给助手。用第二章的助手整理资料时也一样，生成的结果要人工核对关键变化。流畅不等于忠实，这两件事经常被人混在一起。&#10;&#10;顺便说清边界：本项目不需要真实来访者的姓名、电话、证件或住址，沿用虚构人物就够。收到来源不明的图片或资料，记下来源与使用限制；说不清的，继续标为待处理。`} style={{ width: 1280, height: 720, background: '#FFFFFF', flexDirection: 'column', padding: '20px 64px' }}&gt;&#10;&#10;    &lt;Box style={{ height: 100, flexDirection: 'row', alignItems: 'center', gap: 20 }}&gt;&#10;        &lt;Box style={{ width: 4, height: 44, background: '#276FBF' }} /&gt;&#10;        &lt;Box style={{ flexDirection: 'column', gap: 4 }}&gt;&#10;            &lt;Text style={{ fontSize: 14, color: '#546779' }}&gt;5.2.5　整理信息时保留原意与空白&lt;/Text&gt;&#10;            &lt;Text style={{ fontSize: 34, fontWeight: 'bold', color: '#20344B' }}&gt;逐项复看：数字、时间、否定词、条件&lt;/Text&gt;&#10;        &lt;/Box&gt;&#10;    &lt;/Box&gt;&#10;&#10;    &lt;Box style={{ height: 540, flexDirection: 'row', gap: 24, alignItems: 'center' }}&gt;&#10;&#10;        &lt;Box style={{ width: 452, flexDirection: 'column', gap: 12, justifyContent: 'center' }}&gt;&#10;            &lt;Text style={{ fontSize: 16, color: '#546779', lineHeight: 1.7 }}&gt;整理完不要急着交，按四类关键信息再过一遍。&lt;/Text&gt;&#10;&#10;            &lt;Box style={{ width: 452, height: 64, background: '#F4F7FA', borderRadius: 8, padding: '0 16px', flexDirection: 'column', gap: 2, justifyContent: 'center' }}&gt;&#10;                &lt;Text style={{ fontSize: 15, fontWeight: 'bold', color: '#20344B' }}&gt;数字与时间&lt;/Text&gt;&#10;                &lt;Text style={{ fontSize: 13, color: '#546779' }}&gt;75 分钟不等于 75 步&lt;/Text&gt;&#10;            &lt;/Box&gt;&#10;&#10;            &lt;Box style={{ width: 452, height: 64, background: '#F4F7FA', borderRadius: 8, padding: '0 16px', flexDirection: 'column', gap: 2, justifyContent: 'center' }}&gt;&#10;                &lt;Text style={{ fontSize: 15, fontWeight: 'bold', color: '#20344B' }}&gt;否定词&lt;/Text&gt;&#10;                &lt;Text style={{ fontSize: 13, color: '#CB6B28' }}&gt;“未确认恢复”不能缩成“恢复”&lt;/Text&gt;&#10;            &lt;/Box&gt;&#10;&#10;            &lt;Box style={{ width: 452, height: 64, background: '#F4F7FA', borderRadius: 8, padding: '0 16px', flexDirection: 'column', gap: 2, justifyContent: 'center' }}&gt;&#10;                &lt;Text style={{ fontSize: 15, fontWeight: 'bold', color: '#20344B' }}&gt;条件&lt;/Text&gt;&#10;                &lt;Text style={{ fontSize: 13, color: '#CB6B28' }}&gt;“可咨询”不能写成“已办理”&lt;/Text&gt;&#10;            &lt;/Box&gt;&#10;&#10;            &lt;Box style={{ width: 452, height: 64, background: '#F4F7FA', borderRadius: 8, padding: '0 16px', flexDirection: 'column', gap: 2, justifyContent: 'center' }}&gt;&#10;                &lt;Text style={{ fontSize: 15, fontWeight: 'bold', color: '#20344B' }}&gt;信息来源&lt;/Text&gt;&#10;                &lt;Text style={{ fontSize: 13, color: '#546779' }}&gt;这一句是谁写的、写在哪&lt;/Text&gt;&#10;            &lt;/Box&gt;&#10;        &lt;/Box&gt;&#10;&#10;        &lt;Box style={{ width: 676, flexDirection: 'column', gap: 16, justifyContent: 'center' }}&gt;&#10;&#10;            &lt;Box style={{ width: 676, height: 180, background: '#EDF4FC', borderRadius: 12, padding: 24, flexDirection: 'column', gap: 10 }}&gt;&#10;                &lt;Text style={{ fontSize: 15, color: '#276FBF' }}&gt;用助手整理也一样&lt;/Text&gt;&#10;                &lt;Text style={{ fontSize: 17, color: '#20344B', lineHeight: 1.6 }}&gt;使用第二章的助手整理资料时，也要人工核对这些关键变化——不能拿流畅程度代替忠实程度。&lt;/Text&gt;&#10;            &lt;/Box&gt;&#10;&#10;            &lt;Box style={{ width: 676, height: 180, background: '#F7F3E8', borderRadius: 12, padding: 24, flexDirection: 'column', gap: 10 }}&gt;&#10;                &lt;Text style={{ fontSize: 15, color: '#546779' }}&gt;本项目不需要的信息&lt;/Text&gt;&#10;                &lt;Text style={{ fontSize: 17, color: '#20344B', lineHeight: 1.6 }}&gt;真实来访者的姓名、电话、证件或住址一律不需要，沿用虚构人物即可。&lt;/Text&gt;&#10;                &lt;Text style={{ fontSize: 15, color: '#546779', lineHeight: 1.6 }}&gt;收到来源不明的图片或资料时，记录来源与使用限制；说不清的继续标为待处理。&lt;/Text&gt;&#10;            &lt;/Box&gt;&#10;&#10;        &lt;/Box&gt;&#10;&#10;    &lt;/Box&gt;&#10;&#10;    &lt;Box style={{ height: 40, flexDirection: 'row', justifyContent: 'space-between', alignItems: 'center' }}&gt;&#10;        &lt;Text style={{ fontSize: 14, color: '#546779' }}&gt;5.2 材料来源、假设与可用范围&lt;/Text&gt;&#10;        &lt;Text style={{ fontSize: 14, color: '#546779' }}&gt;19 / 23&lt;/Text&gt;&#10;    &lt;/Box&gt;&#10;&#10;&lt;/Slide&gt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2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273" name=""/>
          <p:cNvSpPr/>
          <p:nvPr/>
        </p:nvSpPr>
        <p:spPr>
          <a:xfrm rot="0" flipH="0" flipV="0">
            <a:off x="609600" y="457200"/>
            <a:ext cx="38100" cy="419100"/>
          </a:xfrm>
          <a:prstGeom prst="rect">
            <a:avLst/>
          </a:prstGeom>
          <a:solidFill>
            <a:srgbClr val="276FBF"/>
          </a:solidFill>
          <a:ln/>
        </p:spPr>
        <p:txBody>
          <a:bodyPr/>
          <a:p/>
        </p:txBody>
      </p:sp>
      <p:sp>
        <p:nvSpPr>
          <p:cNvPr id="274" name="" descr="{&quot;isTemplate&quot;:true,&quot;type&quot;:&quot;text&quot;}"/>
          <p:cNvSpPr txBox="1"/>
          <p:nvPr/>
        </p:nvSpPr>
        <p:spPr>
          <a:xfrm rot="0" flipH="0" flipV="0">
            <a:off x="838200" y="371475"/>
            <a:ext cx="55054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>5.2.5</a:t>
            </a: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　整理信息时保留原意与空白</a:t>
            </a:r>
            <a:endParaRPr/>
          </a:p>
        </p:txBody>
      </p:sp>
      <p:sp>
        <p:nvSpPr>
          <p:cNvPr id="275" name="" descr="{&quot;isTemplate&quot;:true,&quot;type&quot;:&quot;text&quot;}"/>
          <p:cNvSpPr txBox="1"/>
          <p:nvPr/>
        </p:nvSpPr>
        <p:spPr>
          <a:xfrm rot="0" flipH="0" flipV="0">
            <a:off x="838200" y="571500"/>
            <a:ext cx="5505450" cy="3905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550" b="1">
                <a:solidFill>
                  <a:srgbClr val="20344B"/>
                </a:solidFill>
                <a:latin typeface="Microsoft YaHei"/>
                <a:ea typeface="Microsoft YaHei"/>
              </a:rPr>
              <a:t>逐项复看：数字、时间、否定词、条件</a:t>
            </a:r>
            <a:endParaRPr/>
          </a:p>
        </p:txBody>
      </p:sp>
      <p:sp>
        <p:nvSpPr>
          <p:cNvPr id="276" name="" descr="{&quot;isTemplate&quot;:true,&quot;type&quot;:&quot;text&quot;}"/>
          <p:cNvSpPr txBox="1"/>
          <p:nvPr/>
        </p:nvSpPr>
        <p:spPr>
          <a:xfrm rot="0" flipH="0" flipV="0">
            <a:off x="609600" y="2114550"/>
            <a:ext cx="4305300" cy="314325"/>
          </a:xfrm>
          <a:prstGeom prst="rect"/>
        </p:spPr>
        <p:txBody>
          <a:bodyPr wrap="none" lIns="0" tIns="0" rIns="0" bIns="0"/>
          <a:p>
            <a:pPr>
              <a:lnSpc>
                <a:spcPct val="170000"/>
              </a:lnSpc>
            </a:pPr>
            <a:r>
              <a:rPr lang="zh-CN" sz="1200">
                <a:solidFill>
                  <a:srgbClr val="546779"/>
                </a:solidFill>
                <a:latin typeface="Microsoft YaHei"/>
                <a:ea typeface="Microsoft YaHei"/>
              </a:rPr>
              <a:t>整理完不要急着交，按四类关键信息再过一遍。</a:t>
            </a:r>
            <a:endParaRPr/>
          </a:p>
        </p:txBody>
      </p:sp>
      <p:sp>
        <p:nvSpPr>
          <p:cNvPr id="277" name=""/>
          <p:cNvSpPr/>
          <p:nvPr/>
        </p:nvSpPr>
        <p:spPr>
          <a:xfrm rot="0" flipH="0" flipV="0">
            <a:off x="609600" y="2543175"/>
            <a:ext cx="4305300" cy="609600"/>
          </a:xfrm>
          <a:prstGeom prst="roundRect">
            <a:avLst>
              <a:gd name="adj" fmla="val 12500"/>
            </a:avLst>
          </a:prstGeom>
          <a:solidFill>
            <a:srgbClr val="F4F7FA"/>
          </a:solidFill>
          <a:ln/>
        </p:spPr>
        <p:txBody>
          <a:bodyPr/>
          <a:p/>
        </p:txBody>
      </p:sp>
      <p:sp>
        <p:nvSpPr>
          <p:cNvPr id="278" name="" descr="{&quot;isTemplate&quot;:true,&quot;type&quot;:&quot;text&quot;}"/>
          <p:cNvSpPr txBox="1"/>
          <p:nvPr/>
        </p:nvSpPr>
        <p:spPr>
          <a:xfrm rot="0" flipH="0" flipV="0">
            <a:off x="762000" y="2676525"/>
            <a:ext cx="400050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 b="1">
                <a:solidFill>
                  <a:srgbClr val="20344B"/>
                </a:solidFill>
                <a:latin typeface="Microsoft YaHei"/>
                <a:ea typeface="Microsoft YaHei"/>
              </a:rPr>
              <a:t>数字与时间</a:t>
            </a:r>
            <a:endParaRPr/>
          </a:p>
        </p:txBody>
      </p:sp>
      <p:sp>
        <p:nvSpPr>
          <p:cNvPr id="279" name="" descr="{&quot;isTemplate&quot;:true,&quot;type&quot;:&quot;text&quot;}"/>
          <p:cNvSpPr txBox="1"/>
          <p:nvPr/>
        </p:nvSpPr>
        <p:spPr>
          <a:xfrm rot="0" flipH="0" flipV="0">
            <a:off x="762000" y="2867025"/>
            <a:ext cx="4000500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>
                <a:solidFill>
                  <a:srgbClr val="546779"/>
                </a:solidFill>
                <a:latin typeface="Microsoft YaHei"/>
                <a:ea typeface="Microsoft YaHei"/>
              </a:rPr>
              <a:t xml:space="preserve">75 </a:t>
            </a:r>
            <a:r>
              <a:rPr lang="zh-CN" sz="975">
                <a:solidFill>
                  <a:srgbClr val="546779"/>
                </a:solidFill>
                <a:latin typeface="Microsoft YaHei"/>
                <a:ea typeface="Microsoft YaHei"/>
              </a:rPr>
              <a:t>分钟不等于</a:t>
            </a:r>
            <a:r>
              <a:rPr lang="en-US" sz="975">
                <a:solidFill>
                  <a:srgbClr val="546779"/>
                </a:solidFill>
                <a:latin typeface="Microsoft YaHei"/>
                <a:ea typeface="Microsoft YaHei"/>
              </a:rPr>
              <a:t xml:space="preserve"> 75 </a:t>
            </a:r>
            <a:r>
              <a:rPr lang="zh-CN" sz="975">
                <a:solidFill>
                  <a:srgbClr val="546779"/>
                </a:solidFill>
                <a:latin typeface="Microsoft YaHei"/>
                <a:ea typeface="Microsoft YaHei"/>
              </a:rPr>
              <a:t>步</a:t>
            </a:r>
            <a:endParaRPr/>
          </a:p>
        </p:txBody>
      </p:sp>
      <p:sp>
        <p:nvSpPr>
          <p:cNvPr id="280" name=""/>
          <p:cNvSpPr/>
          <p:nvPr/>
        </p:nvSpPr>
        <p:spPr>
          <a:xfrm rot="0" flipH="0" flipV="0">
            <a:off x="609600" y="3267075"/>
            <a:ext cx="4305300" cy="609600"/>
          </a:xfrm>
          <a:prstGeom prst="roundRect">
            <a:avLst>
              <a:gd name="adj" fmla="val 12500"/>
            </a:avLst>
          </a:prstGeom>
          <a:solidFill>
            <a:srgbClr val="F4F7FA"/>
          </a:solidFill>
          <a:ln/>
        </p:spPr>
        <p:txBody>
          <a:bodyPr/>
          <a:p/>
        </p:txBody>
      </p:sp>
      <p:sp>
        <p:nvSpPr>
          <p:cNvPr id="281" name="" descr="{&quot;isTemplate&quot;:true,&quot;type&quot;:&quot;text&quot;}"/>
          <p:cNvSpPr txBox="1"/>
          <p:nvPr/>
        </p:nvSpPr>
        <p:spPr>
          <a:xfrm rot="0" flipH="0" flipV="0">
            <a:off x="762000" y="3400425"/>
            <a:ext cx="400050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 b="1">
                <a:solidFill>
                  <a:srgbClr val="20344B"/>
                </a:solidFill>
                <a:latin typeface="Microsoft YaHei"/>
                <a:ea typeface="Microsoft YaHei"/>
              </a:rPr>
              <a:t>否定词</a:t>
            </a:r>
            <a:endParaRPr/>
          </a:p>
        </p:txBody>
      </p:sp>
      <p:sp>
        <p:nvSpPr>
          <p:cNvPr id="282" name="" descr="{&quot;isTemplate&quot;:true,&quot;type&quot;:&quot;text&quot;}"/>
          <p:cNvSpPr txBox="1"/>
          <p:nvPr/>
        </p:nvSpPr>
        <p:spPr>
          <a:xfrm rot="0" flipH="0" flipV="0">
            <a:off x="762000" y="3590925"/>
            <a:ext cx="4000500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75">
                <a:solidFill>
                  <a:srgbClr val="CB6B28"/>
                </a:solidFill>
                <a:latin typeface="Microsoft YaHei"/>
                <a:ea typeface="Microsoft YaHei"/>
              </a:rPr>
              <a:t>“未确认恢复”不能缩成“恢复”</a:t>
            </a:r>
            <a:endParaRPr/>
          </a:p>
        </p:txBody>
      </p:sp>
      <p:sp>
        <p:nvSpPr>
          <p:cNvPr id="283" name=""/>
          <p:cNvSpPr/>
          <p:nvPr/>
        </p:nvSpPr>
        <p:spPr>
          <a:xfrm rot="0" flipH="0" flipV="0">
            <a:off x="609600" y="3990975"/>
            <a:ext cx="4305300" cy="609600"/>
          </a:xfrm>
          <a:prstGeom prst="roundRect">
            <a:avLst>
              <a:gd name="adj" fmla="val 12500"/>
            </a:avLst>
          </a:prstGeom>
          <a:solidFill>
            <a:srgbClr val="F4F7FA"/>
          </a:solidFill>
          <a:ln/>
        </p:spPr>
        <p:txBody>
          <a:bodyPr/>
          <a:p/>
        </p:txBody>
      </p:sp>
      <p:sp>
        <p:nvSpPr>
          <p:cNvPr id="284" name="" descr="{&quot;isTemplate&quot;:true,&quot;type&quot;:&quot;text&quot;}"/>
          <p:cNvSpPr txBox="1"/>
          <p:nvPr/>
        </p:nvSpPr>
        <p:spPr>
          <a:xfrm rot="0" flipH="0" flipV="0">
            <a:off x="762000" y="4124325"/>
            <a:ext cx="400050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 b="1">
                <a:solidFill>
                  <a:srgbClr val="20344B"/>
                </a:solidFill>
                <a:latin typeface="Microsoft YaHei"/>
                <a:ea typeface="Microsoft YaHei"/>
              </a:rPr>
              <a:t>条件</a:t>
            </a:r>
            <a:endParaRPr/>
          </a:p>
        </p:txBody>
      </p:sp>
      <p:sp>
        <p:nvSpPr>
          <p:cNvPr id="285" name="" descr="{&quot;isTemplate&quot;:true,&quot;type&quot;:&quot;text&quot;}"/>
          <p:cNvSpPr txBox="1"/>
          <p:nvPr/>
        </p:nvSpPr>
        <p:spPr>
          <a:xfrm rot="0" flipH="0" flipV="0">
            <a:off x="762000" y="4314825"/>
            <a:ext cx="4000500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75">
                <a:solidFill>
                  <a:srgbClr val="CB6B28"/>
                </a:solidFill>
                <a:latin typeface="Microsoft YaHei"/>
                <a:ea typeface="Microsoft YaHei"/>
              </a:rPr>
              <a:t>“可咨询”不能写成“已办理”</a:t>
            </a:r>
            <a:endParaRPr/>
          </a:p>
        </p:txBody>
      </p:sp>
      <p:sp>
        <p:nvSpPr>
          <p:cNvPr id="286" name=""/>
          <p:cNvSpPr/>
          <p:nvPr/>
        </p:nvSpPr>
        <p:spPr>
          <a:xfrm rot="0" flipH="0" flipV="0">
            <a:off x="609600" y="4714875"/>
            <a:ext cx="4305300" cy="609600"/>
          </a:xfrm>
          <a:prstGeom prst="roundRect">
            <a:avLst>
              <a:gd name="adj" fmla="val 12500"/>
            </a:avLst>
          </a:prstGeom>
          <a:solidFill>
            <a:srgbClr val="F4F7FA"/>
          </a:solidFill>
          <a:ln/>
        </p:spPr>
        <p:txBody>
          <a:bodyPr/>
          <a:p/>
        </p:txBody>
      </p:sp>
      <p:sp>
        <p:nvSpPr>
          <p:cNvPr id="287" name="" descr="{&quot;isTemplate&quot;:true,&quot;type&quot;:&quot;text&quot;}"/>
          <p:cNvSpPr txBox="1"/>
          <p:nvPr/>
        </p:nvSpPr>
        <p:spPr>
          <a:xfrm rot="0" flipH="0" flipV="0">
            <a:off x="762000" y="4848225"/>
            <a:ext cx="400050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 b="1">
                <a:solidFill>
                  <a:srgbClr val="20344B"/>
                </a:solidFill>
                <a:latin typeface="Microsoft YaHei"/>
                <a:ea typeface="Microsoft YaHei"/>
              </a:rPr>
              <a:t>信息来源</a:t>
            </a:r>
            <a:endParaRPr/>
          </a:p>
        </p:txBody>
      </p:sp>
      <p:sp>
        <p:nvSpPr>
          <p:cNvPr id="288" name="" descr="{&quot;isTemplate&quot;:true,&quot;type&quot;:&quot;text&quot;}"/>
          <p:cNvSpPr txBox="1"/>
          <p:nvPr/>
        </p:nvSpPr>
        <p:spPr>
          <a:xfrm rot="0" flipH="0" flipV="0">
            <a:off x="762000" y="5038725"/>
            <a:ext cx="4000500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75">
                <a:solidFill>
                  <a:srgbClr val="546779"/>
                </a:solidFill>
                <a:latin typeface="Microsoft YaHei"/>
                <a:ea typeface="Microsoft YaHei"/>
              </a:rPr>
              <a:t>这一句是谁写的、写在哪</a:t>
            </a:r>
            <a:endParaRPr/>
          </a:p>
        </p:txBody>
      </p:sp>
      <p:sp>
        <p:nvSpPr>
          <p:cNvPr id="289" name=""/>
          <p:cNvSpPr/>
          <p:nvPr/>
        </p:nvSpPr>
        <p:spPr>
          <a:xfrm rot="0" flipH="0" flipV="0">
            <a:off x="5143500" y="1924050"/>
            <a:ext cx="6438900" cy="1714500"/>
          </a:xfrm>
          <a:prstGeom prst="roundRect">
            <a:avLst>
              <a:gd name="adj" fmla="val 6667"/>
            </a:avLst>
          </a:prstGeom>
          <a:solidFill>
            <a:srgbClr val="EDF4FC"/>
          </a:solidFill>
          <a:ln/>
        </p:spPr>
        <p:txBody>
          <a:bodyPr/>
          <a:p/>
        </p:txBody>
      </p:sp>
      <p:sp>
        <p:nvSpPr>
          <p:cNvPr id="290" name="" descr="{&quot;isTemplate&quot;:true,&quot;type&quot;:&quot;text&quot;}"/>
          <p:cNvSpPr txBox="1"/>
          <p:nvPr/>
        </p:nvSpPr>
        <p:spPr>
          <a:xfrm rot="0" flipH="0" flipV="0">
            <a:off x="5372100" y="2152650"/>
            <a:ext cx="598170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>
                <a:solidFill>
                  <a:srgbClr val="276FBF"/>
                </a:solidFill>
                <a:latin typeface="Microsoft YaHei"/>
                <a:ea typeface="Microsoft YaHei"/>
              </a:rPr>
              <a:t>用助手整理也一样</a:t>
            </a:r>
            <a:endParaRPr/>
          </a:p>
        </p:txBody>
      </p:sp>
      <p:sp>
        <p:nvSpPr>
          <p:cNvPr id="291" name="" descr="{&quot;isTemplate&quot;:true,&quot;type&quot;:&quot;text&quot;}"/>
          <p:cNvSpPr txBox="1"/>
          <p:nvPr/>
        </p:nvSpPr>
        <p:spPr>
          <a:xfrm rot="0" flipH="0" flipV="0">
            <a:off x="5372100" y="2419350"/>
            <a:ext cx="5981700" cy="62865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60000"/>
              </a:lnSpc>
            </a:pPr>
            <a:r>
              <a:rPr lang="zh-CN" sz="1275">
                <a:solidFill>
                  <a:srgbClr val="20344B"/>
                </a:solidFill>
                <a:latin typeface="Microsoft YaHei"/>
                <a:ea typeface="Microsoft YaHei"/>
              </a:rPr>
              <a:t>使用第二章的助手整理资料时，也要人工核对这些关键变化——不能拿流畅程度代替忠实程度。</a:t>
            </a:r>
            <a:endParaRPr/>
          </a:p>
        </p:txBody>
      </p:sp>
      <p:sp>
        <p:nvSpPr>
          <p:cNvPr id="292" name=""/>
          <p:cNvSpPr/>
          <p:nvPr/>
        </p:nvSpPr>
        <p:spPr>
          <a:xfrm rot="0" flipH="0" flipV="0">
            <a:off x="5143500" y="3790950"/>
            <a:ext cx="6438900" cy="1714500"/>
          </a:xfrm>
          <a:prstGeom prst="roundRect">
            <a:avLst>
              <a:gd name="adj" fmla="val 6667"/>
            </a:avLst>
          </a:prstGeom>
          <a:solidFill>
            <a:srgbClr val="F7F3E8"/>
          </a:solidFill>
          <a:ln/>
        </p:spPr>
        <p:txBody>
          <a:bodyPr/>
          <a:p/>
        </p:txBody>
      </p:sp>
      <p:sp>
        <p:nvSpPr>
          <p:cNvPr id="293" name="" descr="{&quot;isTemplate&quot;:true,&quot;type&quot;:&quot;text&quot;}"/>
          <p:cNvSpPr txBox="1"/>
          <p:nvPr/>
        </p:nvSpPr>
        <p:spPr>
          <a:xfrm rot="0" flipH="0" flipV="0">
            <a:off x="5372100" y="4019550"/>
            <a:ext cx="598170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>
                <a:solidFill>
                  <a:srgbClr val="546779"/>
                </a:solidFill>
                <a:latin typeface="Microsoft YaHei"/>
                <a:ea typeface="Microsoft YaHei"/>
              </a:rPr>
              <a:t>本项目不需要的信息</a:t>
            </a:r>
            <a:endParaRPr/>
          </a:p>
        </p:txBody>
      </p:sp>
      <p:sp>
        <p:nvSpPr>
          <p:cNvPr id="294" name="" descr="{&quot;isTemplate&quot;:true,&quot;type&quot;:&quot;text&quot;}"/>
          <p:cNvSpPr txBox="1"/>
          <p:nvPr/>
        </p:nvSpPr>
        <p:spPr>
          <a:xfrm rot="0" flipH="0" flipV="0">
            <a:off x="5372100" y="4286250"/>
            <a:ext cx="5981700" cy="314325"/>
          </a:xfrm>
          <a:prstGeom prst="rect"/>
        </p:spPr>
        <p:txBody>
          <a:bodyPr wrap="none" lIns="0" tIns="0" rIns="0" bIns="0"/>
          <a:p>
            <a:pPr>
              <a:lnSpc>
                <a:spcPct val="160000"/>
              </a:lnSpc>
            </a:pPr>
            <a:r>
              <a:rPr lang="zh-CN" sz="1275">
                <a:solidFill>
                  <a:srgbClr val="20344B"/>
                </a:solidFill>
                <a:latin typeface="Microsoft YaHei"/>
                <a:ea typeface="Microsoft YaHei"/>
              </a:rPr>
              <a:t>真实来访者的姓名、电话、证件或住址一律不需要，沿用虚构人物即可。</a:t>
            </a:r>
            <a:endParaRPr/>
          </a:p>
        </p:txBody>
      </p:sp>
      <p:sp>
        <p:nvSpPr>
          <p:cNvPr id="295" name="" descr="{&quot;isTemplate&quot;:true,&quot;type&quot;:&quot;text&quot;}"/>
          <p:cNvSpPr txBox="1"/>
          <p:nvPr/>
        </p:nvSpPr>
        <p:spPr>
          <a:xfrm rot="0" flipH="0" flipV="0">
            <a:off x="5372100" y="4695825"/>
            <a:ext cx="5981700" cy="276225"/>
          </a:xfrm>
          <a:prstGeom prst="rect"/>
        </p:spPr>
        <p:txBody>
          <a:bodyPr wrap="none" lIns="0" tIns="0" rIns="0" bIns="0"/>
          <a:p>
            <a:pPr>
              <a:lnSpc>
                <a:spcPct val="160000"/>
              </a:lnSpc>
            </a:pPr>
            <a:r>
              <a:rPr lang="zh-CN" sz="1125">
                <a:solidFill>
                  <a:srgbClr val="546779"/>
                </a:solidFill>
                <a:latin typeface="Microsoft YaHei"/>
                <a:ea typeface="Microsoft YaHei"/>
              </a:rPr>
              <a:t>收到来源不明的图片或资料时，记录来源与使用限制；说不清的继续标为待处理。</a:t>
            </a:r>
            <a:endParaRPr/>
          </a:p>
        </p:txBody>
      </p:sp>
      <p:sp>
        <p:nvSpPr>
          <p:cNvPr id="296" name="" descr="{&quot;isTemplate&quot;:true,&quot;type&quot;:&quot;text&quot;}"/>
          <p:cNvSpPr txBox="1"/>
          <p:nvPr/>
        </p:nvSpPr>
        <p:spPr>
          <a:xfrm rot="0" flipH="0" flipV="0">
            <a:off x="609600" y="6400800"/>
            <a:ext cx="18288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 xml:space="preserve">5.2 </a:t>
            </a: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材料来源、假设与可用范围</a:t>
            </a:r>
            <a:endParaRPr/>
          </a:p>
        </p:txBody>
      </p:sp>
      <p:sp>
        <p:nvSpPr>
          <p:cNvPr id="297" name="" descr="{&quot;isTemplate&quot;:true,&quot;type&quot;:&quot;text&quot;}"/>
          <p:cNvSpPr txBox="1"/>
          <p:nvPr/>
        </p:nvSpPr>
        <p:spPr>
          <a:xfrm rot="0" flipH="0" flipV="0">
            <a:off x="11125200" y="6400800"/>
            <a:ext cx="4572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>19 / 23</a:t>
            </a:r>
            <a:endParaRPr/>
          </a:p>
        </p:txBody>
      </p:sp>
    </p:spTree>
  </p:cSld>
</p:sld>
</file>

<file path=ppt/slides/slide20.xml><?xml version="1.0" encoding="utf-8"?>
<p:sld xmlns:p="http://schemas.openxmlformats.org/presentationml/2006/main" xmlns:a="http://schemas.openxmlformats.org/drawingml/2006/main">
  <p:cSld>
    <p:spTree>
      <p:nvGrpSpPr>
        <p:cNvPr id="328" name="" descr="&lt;Slide notes={`最后一块，讲交出去的东西。这也是整节的落点：我们做这些整理，是为了让别人能接着做。&#10;&#10;接收者拿到资料集，应该能自己找到三种内容。第一种，本次采用的原文与来源，他能回查。第二种，整理后的明确条件，他知道这一轮是用什么跑的。第三种，冲突、假设和未完成事项，他清楚哪里还悬着。&#10;&#10;这三种缺一样，资料集就不完整。只有结论没有来源，他没法验证；只有原文没有整理，他要重新读一遍；没有未完成事项清单，他会以为一切都已确定，然后在错误的假设上继续往下做。&#10;&#10;所以交接的目标不是把材料交出去，而是让对方能解释你的决定。`} style={{ width: 1280, height: 720, background: '#FFFFFF', flexDirection: 'column', padding: '20px 64px' }}&gt;&#10;&#10;    &lt;Box style={{ height: 640, flexDirection: 'column', justifyContent: 'center', gap: 22 }}&gt;&#10;&#10;        &lt;Text style={{ fontSize: 15, color: '#276FBF' }}&gt;4　　5.2.6&lt;/Text&gt;&#10;&#10;        &lt;Text style={{ fontSize: 56, fontWeight: 'bold', color: '#20344B', lineHeight: 1.15 }}&gt;交给下一位作者的是什么&lt;/Text&gt;&#10;&#10;        &lt;Box style={{ width: 72, height: 4, background: '#276FBF' }} /&gt;&#10;&#10;        &lt;Text style={{ fontSize: 18, color: '#546779', lineHeight: 1.7, width: 940 }}&gt;接收者要能自己找到三种内容：采用的原文与来源、整理后的明确条件、冲突与未完成事项。&lt;/Text&gt;&#10;&#10;        &lt;Box style={{ flexDirection: 'row', alignItems: 'center', marginTop: 10 }}&gt;&#10;            &lt;Box style={{ width: 300, height: 64, background: '#EDF4FC', borderRadius: 8, justifyContent: 'center', alignItems: 'center' }}&gt;&#10;                &lt;Text style={{ fontSize: 17, color: '#276FBF' }}&gt;采用的原文与来源&lt;/Text&gt;&#10;            &lt;/Box&gt;&#10;            &lt;Box style={{ width: 44, height: 64, justifyContent: 'center', alignItems: 'center' }}&gt;&#10;                &lt;Text style={{ fontSize: 26, color: '#276FBF' }}&gt;›&lt;/Text&gt;&#10;            &lt;/Box&gt;&#10;            &lt;Box style={{ width: 300, height: 64, background: '#ECF7F2', borderRadius: 8, justifyContent: 'center', alignItems: 'center' }}&gt;&#10;                &lt;Text style={{ fontSize: 17, color: '#26816B' }}&gt;整理后的明确条件&lt;/Text&gt;&#10;            &lt;/Box&gt;&#10;            &lt;Box style={{ width: 44, height: 64, justifyContent: 'center', alignItems: 'center' }}&gt;&#10;                &lt;Text style={{ fontSize: 26, color: '#26816B' }}&gt;›&lt;/Text&gt;&#10;            &lt;/Box&gt;&#10;            &lt;Box style={{ width: 300, height: 64, background: '#FFF4E6', borderRadius: 8, justifyContent: 'center', alignItems: 'center' }}&gt;&#10;                &lt;Text style={{ fontSize: 17, color: '#CB6B28' }}&gt;冲突与未完成事项&lt;/Text&gt;&#10;            &lt;/Box&gt;&#10;        &lt;/Box&gt;&#10;&#10;    &lt;/Box&gt;&#10;&#10;    &lt;Box style={{ height: 40, flexDirection: 'row', justifyContent: 'space-between', alignItems: 'center' }}&gt;&#10;        &lt;Text style={{ fontSize: 14, color: '#546779' }}&gt;5.2 材料来源、假设与可用范围&lt;/Text&gt;&#10;        &lt;Text style={{ fontSize: 14, color: '#546779' }}&gt;20 / 23&lt;/Text&gt;&#10;    &lt;/Box&gt;&#10;&#10;&lt;/Slide&gt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9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330" name="" descr="{&quot;isTemplate&quot;:true,&quot;type&quot;:&quot;text&quot;}"/>
          <p:cNvSpPr txBox="1"/>
          <p:nvPr/>
        </p:nvSpPr>
        <p:spPr>
          <a:xfrm rot="0" flipH="0" flipV="0">
            <a:off x="609600" y="1819275"/>
            <a:ext cx="1097280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125">
                <a:solidFill>
                  <a:srgbClr val="276FBF"/>
                </a:solidFill>
                <a:latin typeface="Microsoft YaHei"/>
                <a:ea typeface="Microsoft YaHei"/>
              </a:rPr>
              <a:t>4</a:t>
            </a:r>
            <a:r>
              <a:rPr lang="zh-CN" sz="1125">
                <a:solidFill>
                  <a:srgbClr val="276FBF"/>
                </a:solidFill>
                <a:latin typeface="Microsoft YaHei"/>
                <a:ea typeface="Microsoft YaHei"/>
              </a:rPr>
              <a:t>　　</a:t>
            </a:r>
            <a:r>
              <a:rPr lang="en-US" sz="1125">
                <a:solidFill>
                  <a:srgbClr val="276FBF"/>
                </a:solidFill>
                <a:latin typeface="Microsoft YaHei"/>
                <a:ea typeface="Microsoft YaHei"/>
              </a:rPr>
              <a:t>5.2.6</a:t>
            </a:r>
            <a:endParaRPr/>
          </a:p>
        </p:txBody>
      </p:sp>
      <p:sp>
        <p:nvSpPr>
          <p:cNvPr id="331" name="" descr="{&quot;isTemplate&quot;:true,&quot;type&quot;:&quot;text&quot;}"/>
          <p:cNvSpPr txBox="1"/>
          <p:nvPr/>
        </p:nvSpPr>
        <p:spPr>
          <a:xfrm rot="0" flipH="0" flipV="0">
            <a:off x="609600" y="2200275"/>
            <a:ext cx="10972800" cy="742950"/>
          </a:xfrm>
          <a:prstGeom prst="rect"/>
        </p:spPr>
        <p:txBody>
          <a:bodyPr wrap="none" lIns="0" tIns="0" rIns="0" bIns="0"/>
          <a:p>
            <a:pPr>
              <a:lnSpc>
                <a:spcPct val="114999"/>
              </a:lnSpc>
            </a:pPr>
            <a:r>
              <a:rPr lang="zh-CN" sz="4200" b="1">
                <a:solidFill>
                  <a:srgbClr val="20344B"/>
                </a:solidFill>
                <a:latin typeface="Microsoft YaHei"/>
                <a:ea typeface="Microsoft YaHei"/>
              </a:rPr>
              <a:t>交给下一位作者的是什么</a:t>
            </a:r>
            <a:endParaRPr/>
          </a:p>
        </p:txBody>
      </p:sp>
      <p:sp>
        <p:nvSpPr>
          <p:cNvPr id="332" name=""/>
          <p:cNvSpPr/>
          <p:nvPr/>
        </p:nvSpPr>
        <p:spPr>
          <a:xfrm rot="0" flipH="0" flipV="0">
            <a:off x="609600" y="3152775"/>
            <a:ext cx="685800" cy="38100"/>
          </a:xfrm>
          <a:prstGeom prst="rect">
            <a:avLst/>
          </a:prstGeom>
          <a:solidFill>
            <a:srgbClr val="276FBF"/>
          </a:solidFill>
          <a:ln/>
        </p:spPr>
        <p:txBody>
          <a:bodyPr/>
          <a:p/>
        </p:txBody>
      </p:sp>
      <p:sp>
        <p:nvSpPr>
          <p:cNvPr id="333" name="" descr="{&quot;isTemplate&quot;:true,&quot;type&quot;:&quot;text&quot;}"/>
          <p:cNvSpPr txBox="1"/>
          <p:nvPr/>
        </p:nvSpPr>
        <p:spPr>
          <a:xfrm rot="0" flipH="0" flipV="0">
            <a:off x="609600" y="3400425"/>
            <a:ext cx="8953500" cy="352425"/>
          </a:xfrm>
          <a:prstGeom prst="rect"/>
        </p:spPr>
        <p:txBody>
          <a:bodyPr wrap="none" lIns="0" tIns="0" rIns="0" bIns="0"/>
          <a:p>
            <a:pPr>
              <a:lnSpc>
                <a:spcPct val="170000"/>
              </a:lnSpc>
            </a:pPr>
            <a:r>
              <a:rPr lang="zh-CN" sz="1350">
                <a:solidFill>
                  <a:srgbClr val="546779"/>
                </a:solidFill>
                <a:latin typeface="Microsoft YaHei"/>
                <a:ea typeface="Microsoft YaHei"/>
              </a:rPr>
              <a:t>接收者要能自己找到三种内容：采用的原文与来源、整理后的明确条件、冲突与未完成事项。</a:t>
            </a:r>
            <a:endParaRPr/>
          </a:p>
        </p:txBody>
      </p:sp>
      <p:sp>
        <p:nvSpPr>
          <p:cNvPr id="334" name=""/>
          <p:cNvSpPr/>
          <p:nvPr/>
        </p:nvSpPr>
        <p:spPr>
          <a:xfrm rot="0" flipH="0" flipV="0">
            <a:off x="609600" y="4057650"/>
            <a:ext cx="2857500" cy="609600"/>
          </a:xfrm>
          <a:prstGeom prst="roundRect">
            <a:avLst>
              <a:gd name="adj" fmla="val 12500"/>
            </a:avLst>
          </a:prstGeom>
          <a:solidFill>
            <a:srgbClr val="EDF4FC"/>
          </a:solidFill>
          <a:ln/>
        </p:spPr>
        <p:txBody>
          <a:bodyPr/>
          <a:p/>
        </p:txBody>
      </p:sp>
      <p:sp>
        <p:nvSpPr>
          <p:cNvPr id="335" name="" descr="{&quot;isTemplate&quot;:true,&quot;type&quot;:&quot;text&quot;}"/>
          <p:cNvSpPr txBox="1"/>
          <p:nvPr/>
        </p:nvSpPr>
        <p:spPr>
          <a:xfrm rot="0" flipH="0" flipV="0">
            <a:off x="1390650" y="4267200"/>
            <a:ext cx="1295400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75">
                <a:solidFill>
                  <a:srgbClr val="276FBF"/>
                </a:solidFill>
                <a:latin typeface="Microsoft YaHei"/>
                <a:ea typeface="Microsoft YaHei"/>
              </a:rPr>
              <a:t>采用的原文与来源</a:t>
            </a:r>
            <a:endParaRPr/>
          </a:p>
        </p:txBody>
      </p:sp>
      <p:sp>
        <p:nvSpPr>
          <p:cNvPr id="336" name="" descr="{&quot;isTemplate&quot;:true,&quot;type&quot;:&quot;text&quot;}"/>
          <p:cNvSpPr txBox="1"/>
          <p:nvPr/>
        </p:nvSpPr>
        <p:spPr>
          <a:xfrm rot="0" flipH="0" flipV="0">
            <a:off x="3638550" y="4210050"/>
            <a:ext cx="85725" cy="3048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sz="1950">
                <a:solidFill>
                  <a:srgbClr val="276FBF"/>
                </a:solidFill>
                <a:latin typeface="Microsoft YaHei"/>
                <a:ea typeface="Microsoft YaHei"/>
              </a:rPr>
              <a:t>›</a:t>
            </a:r>
            <a:endParaRPr/>
          </a:p>
        </p:txBody>
      </p:sp>
      <p:sp>
        <p:nvSpPr>
          <p:cNvPr id="337" name=""/>
          <p:cNvSpPr/>
          <p:nvPr/>
        </p:nvSpPr>
        <p:spPr>
          <a:xfrm rot="0" flipH="0" flipV="0">
            <a:off x="3886200" y="4057650"/>
            <a:ext cx="2857500" cy="609600"/>
          </a:xfrm>
          <a:prstGeom prst="roundRect">
            <a:avLst>
              <a:gd name="adj" fmla="val 12500"/>
            </a:avLst>
          </a:prstGeom>
          <a:solidFill>
            <a:srgbClr val="ECF7F2"/>
          </a:solidFill>
          <a:ln/>
        </p:spPr>
        <p:txBody>
          <a:bodyPr/>
          <a:p/>
        </p:txBody>
      </p:sp>
      <p:sp>
        <p:nvSpPr>
          <p:cNvPr id="338" name="" descr="{&quot;isTemplate&quot;:true,&quot;type&quot;:&quot;text&quot;}"/>
          <p:cNvSpPr txBox="1"/>
          <p:nvPr/>
        </p:nvSpPr>
        <p:spPr>
          <a:xfrm rot="0" flipH="0" flipV="0">
            <a:off x="4667250" y="4267200"/>
            <a:ext cx="1295400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75">
                <a:solidFill>
                  <a:srgbClr val="26816B"/>
                </a:solidFill>
                <a:latin typeface="Microsoft YaHei"/>
                <a:ea typeface="Microsoft YaHei"/>
              </a:rPr>
              <a:t>整理后的明确条件</a:t>
            </a:r>
            <a:endParaRPr/>
          </a:p>
        </p:txBody>
      </p:sp>
      <p:sp>
        <p:nvSpPr>
          <p:cNvPr id="339" name="" descr="{&quot;isTemplate&quot;:true,&quot;type&quot;:&quot;text&quot;}"/>
          <p:cNvSpPr txBox="1"/>
          <p:nvPr/>
        </p:nvSpPr>
        <p:spPr>
          <a:xfrm rot="0" flipH="0" flipV="0">
            <a:off x="6915150" y="4210050"/>
            <a:ext cx="85725" cy="3048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sz="1950">
                <a:solidFill>
                  <a:srgbClr val="26816B"/>
                </a:solidFill>
                <a:latin typeface="Microsoft YaHei"/>
                <a:ea typeface="Microsoft YaHei"/>
              </a:rPr>
              <a:t>›</a:t>
            </a:r>
            <a:endParaRPr/>
          </a:p>
        </p:txBody>
      </p:sp>
      <p:sp>
        <p:nvSpPr>
          <p:cNvPr id="340" name=""/>
          <p:cNvSpPr/>
          <p:nvPr/>
        </p:nvSpPr>
        <p:spPr>
          <a:xfrm rot="0" flipH="0" flipV="0">
            <a:off x="7162800" y="4057650"/>
            <a:ext cx="2857500" cy="609600"/>
          </a:xfrm>
          <a:prstGeom prst="roundRect">
            <a:avLst>
              <a:gd name="adj" fmla="val 12500"/>
            </a:avLst>
          </a:prstGeom>
          <a:solidFill>
            <a:srgbClr val="FFF4E6"/>
          </a:solidFill>
          <a:ln/>
        </p:spPr>
        <p:txBody>
          <a:bodyPr/>
          <a:p/>
        </p:txBody>
      </p:sp>
      <p:sp>
        <p:nvSpPr>
          <p:cNvPr id="341" name="" descr="{&quot;isTemplate&quot;:true,&quot;type&quot;:&quot;text&quot;}"/>
          <p:cNvSpPr txBox="1"/>
          <p:nvPr/>
        </p:nvSpPr>
        <p:spPr>
          <a:xfrm rot="0" flipH="0" flipV="0">
            <a:off x="7943850" y="4267200"/>
            <a:ext cx="1295400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75">
                <a:solidFill>
                  <a:srgbClr val="CB6B28"/>
                </a:solidFill>
                <a:latin typeface="Microsoft YaHei"/>
                <a:ea typeface="Microsoft YaHei"/>
              </a:rPr>
              <a:t>冲突与未完成事项</a:t>
            </a:r>
            <a:endParaRPr/>
          </a:p>
        </p:txBody>
      </p:sp>
      <p:sp>
        <p:nvSpPr>
          <p:cNvPr id="342" name="" descr="{&quot;isTemplate&quot;:true,&quot;type&quot;:&quot;text&quot;}"/>
          <p:cNvSpPr txBox="1"/>
          <p:nvPr/>
        </p:nvSpPr>
        <p:spPr>
          <a:xfrm rot="0" flipH="0" flipV="0">
            <a:off x="609600" y="6400800"/>
            <a:ext cx="18288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 xml:space="preserve">5.2 </a:t>
            </a: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材料来源、假设与可用范围</a:t>
            </a:r>
            <a:endParaRPr/>
          </a:p>
        </p:txBody>
      </p:sp>
      <p:sp>
        <p:nvSpPr>
          <p:cNvPr id="343" name="" descr="{&quot;isTemplate&quot;:true,&quot;type&quot;:&quot;text&quot;}"/>
          <p:cNvSpPr txBox="1"/>
          <p:nvPr/>
        </p:nvSpPr>
        <p:spPr>
          <a:xfrm rot="0" flipH="0" flipV="0">
            <a:off x="11125200" y="6400800"/>
            <a:ext cx="4572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>20 / 23</a:t>
            </a:r>
            <a:endParaRPr/>
          </a:p>
        </p:txBody>
      </p:sp>
    </p:spTree>
  </p:cSld>
</p:sld>
</file>

<file path=ppt/slides/slide21.xml><?xml version="1.0" encoding="utf-8"?>
<p:sld xmlns:p="http://schemas.openxmlformats.org/presentationml/2006/main" xmlns:a="http://schemas.openxmlformats.org/drawingml/2006/main">
  <p:cSld>
    <p:spTree>
      <p:nvGrpSpPr>
        <p:cNvPr id="344" name="" descr="&lt;Slide notes={`资料集里具体放什么，我建议按这三种内容来组织。&#10;&#10;第一种，采用的原文与来源。按 S 编号排，每一项都能定位到原文段落，接收者想核对随时能翻回去。第二种，整理后的明确条件。这一轮用什么时间、多少个人、多少个对象，写清楚，并且注明它对本轮结论的影响。&#10;&#10;第三种，冲突、假设和未完成事项。C 编号的冲突、材料表里的假设、还有那些仍然待确认的问题，都放在一起。&#10;&#10;目录可以按原始材料、采用说明、待办和接收检查这样分类。但我必须强调一句：它只是作者侧的资料组织方式，不是可以直接导入的 ga-package 清单。这两件事别混。&#10;&#10;目录的示意只是帮助理解分组思路，它不是系统界面，也不是可以直接导入的清单。`} style={{ width: 1280, height: 720, background: '#FFFFFF', flexDirection: 'column', padding: '20px 64px' }}&gt;&#10;&#10;    &lt;Box style={{ height: 100, flexDirection: 'row', alignItems: 'center', gap: 20 }}&gt;&#10;        &lt;Box style={{ width: 4, height: 44, background: '#276FBF' }} /&gt;&#10;        &lt;Box style={{ flexDirection: 'column', gap: 4 }}&gt;&#10;            &lt;Text style={{ fontSize: 14, color: '#546779' }}&gt;5.2.6　交给下一位作者的应是什么&lt;/Text&gt;&#10;            &lt;Text style={{ fontSize: 34, fontWeight: 'bold', color: '#20344B' }}&gt;资料集里要有三种内容&lt;/Text&gt;&#10;        &lt;/Box&gt;&#10;    &lt;/Box&gt;&#10;&#10;    &lt;Box style={{ height: 540, flexDirection: 'row', gap: 24, alignItems: 'center' }}&gt;&#10;&#10;        &lt;Box style={{ width: 564, flexDirection: 'column', gap: 14, justifyContent: 'center' }}&gt;&#10;&#10;            &lt;Box style={{ width: 564, height: 120, background: '#EDF4FC', borderRadius: 12, padding: 20, flexDirection: 'column', gap: 6 }}&gt;&#10;                &lt;Text style={{ fontSize: 18, fontWeight: 'bold', color: '#276FBF' }}&gt;采用的原文与来源&lt;/Text&gt;&#10;                &lt;Text style={{ fontSize: 15, color: '#546779', lineHeight: 1.5 }}&gt;按 S 编号能定位到哪一份文档的哪一段&lt;/Text&gt;&#10;            &lt;/Box&gt;&#10;&#10;            &lt;Box style={{ width: 564, height: 120, background: '#ECF7F2', borderRadius: 12, padding: 20, flexDirection: 'column', gap: 6 }}&gt;&#10;                &lt;Text style={{ fontSize: 18, fontWeight: 'bold', color: '#26816B' }}&gt;整理后的明确条件&lt;/Text&gt;&#10;                &lt;Text style={{ fontSize: 15, color: '#546779', lineHeight: 1.5 }}&gt;本轮采用的值，以及它们怎样影响结论&lt;/Text&gt;&#10;            &lt;/Box&gt;&#10;&#10;            &lt;Box style={{ width: 564, height: 120, background: '#FFF4E6', borderRadius: 12, padding: 20, flexDirection: 'column', gap: 6 }}&gt;&#10;                &lt;Text style={{ fontSize: 18, fontWeight: 'bold', color: '#CB6B28' }}&gt;冲突、假设和未完成事项&lt;/Text&gt;&#10;                &lt;Text style={{ fontSize: 15, color: '#546779', lineHeight: 1.5 }}&gt;C 编号、材料表假设、仍然待确认的问题&lt;/Text&gt;&#10;            &lt;/Box&gt;&#10;&#10;        &lt;/Box&gt;&#10;&#10;        &lt;Box style={{ width: 564, flexDirection: 'column', gap: 14, justifyContent: 'center' }}&gt;&#10;&#10;            &lt;Box style={{ width: 564, height: 300, background: '#F4F7FA', borderRadius: 12, padding: 22, flexDirection: 'column', gap: 8 }}&gt;&#10;                &lt;Box style={{ flexDirection: 'row', alignItems: 'center', gap: 10 }}&gt;&#10;                    &lt;Text style={{ fontSize: 15, color: '#276FBF' }}&gt;资料集目录&lt;/Text&gt;&#10;                    &lt;Text style={{ fontSize: 14, color: '#CB6B28' }}&gt;示意&lt;/Text&gt;&#10;                &lt;/Box&gt;&#10;                &lt;Box style={{ width: 520, height: 46, background: '#FFFFFF', borderRadius: 8, padding: '0 14px', flexDirection: 'row', alignItems: 'center', gap: 12 }}&gt;&#10;                    &lt;Text style={{ fontSize: 14, fontWeight: 'bold', color: '#276FBF' }}&gt;01&lt;/Text&gt;&#10;                    &lt;Text style={{ fontSize: 15, color: '#20344B', flex: 1 }}&gt;原始材料——收到的原文，按 S 编号&lt;/Text&gt;&#10;                &lt;/Box&gt;&#10;                &lt;Box style={{ width: 520, height: 46, background: '#FFFFFF', borderRadius: 8, padding: '0 14px', flexDirection: 'row', alignItems: 'center', gap: 12 }}&gt;&#10;                    &lt;Text style={{ fontSize: 14, fontWeight: 'bold', color: '#276FBF' }}&gt;02&lt;/Text&gt;&#10;                    &lt;Text style={{ fontSize: 15, color: '#20344B', flex: 1 }}&gt;采用说明——本次用哪些条件、为什么&lt;/Text&gt;&#10;                &lt;/Box&gt;&#10;                &lt;Box style={{ width: 520, height: 46, background: '#FFFFFF', borderRadius: 8, padding: '0 14px', flexDirection: 'row', alignItems: 'center', gap: 12 }}&gt;&#10;                    &lt;Text style={{ fontSize: 14, fontWeight: 'bold', color: '#276FBF' }}&gt;03&lt;/Text&gt;&#10;                    &lt;Text style={{ fontSize: 15, color: '#20344B', flex: 1 }}&gt;待办——冲突、假设、未确认问题&lt;/Text&gt;&#10;                &lt;/Box&gt;&#10;                &lt;Box style={{ width: 520, height: 46, background: '#FFFFFF', borderRadius: 8, padding: '0 14px', flexDirection: 'row', alignItems: 'center', gap: 12 }}&gt;&#10;                    &lt;Text style={{ fontSize: 14, fontWeight: 'bold', color: '#276FBF' }}&gt;04&lt;/Text&gt;&#10;                    &lt;Text style={{ fontSize: 15, color: '#20344B', flex: 1 }}&gt;接收检查——这份资料集能否被解释&lt;/Text&gt;&#10;                &lt;/Box&gt;&#10;            &lt;/Box&gt;&#10;&#10;            &lt;Box style={{ width: 564, height: 120, background: '#FFF4E6', borderRadius: 12, padding: 22, flexDirection: 'column', gap: 6 }}&gt;&#10;                &lt;Text style={{ fontSize: 15, color: '#CB6B28' }}&gt;一条边界&lt;/Text&gt;&#10;                &lt;Text style={{ fontSize: 15, color: '#20344B', lineHeight: 1.5 }}&gt;它只是作者的资料组织方式，不是可导入的 ga-package 清单。&lt;/Text&gt;&#10;            &lt;/Box&gt;&#10;&#10;        &lt;/Box&gt;&#10;&#10;    &lt;/Box&gt;&#10;&#10;    &lt;Box style={{ height: 40, flexDirection: 'row', justifyContent: 'space-between', alignItems: 'center' }}&gt;&#10;        &lt;Text style={{ fontSize: 14, color: '#546779' }}&gt;5.2 材料来源、假设与可用范围&lt;/Text&gt;&#10;        &lt;Text style={{ fontSize: 14, color: '#546779' }}&gt;21 / 23&lt;/Text&gt;&#10;    &lt;/Box&gt;&#10;&#10;&lt;/Slide&gt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5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346" name=""/>
          <p:cNvSpPr/>
          <p:nvPr/>
        </p:nvSpPr>
        <p:spPr>
          <a:xfrm rot="0" flipH="0" flipV="0">
            <a:off x="609600" y="457200"/>
            <a:ext cx="38100" cy="419100"/>
          </a:xfrm>
          <a:prstGeom prst="rect">
            <a:avLst/>
          </a:prstGeom>
          <a:solidFill>
            <a:srgbClr val="276FBF"/>
          </a:solidFill>
          <a:ln/>
        </p:spPr>
        <p:txBody>
          <a:bodyPr/>
          <a:p/>
        </p:txBody>
      </p:sp>
      <p:sp>
        <p:nvSpPr>
          <p:cNvPr id="347" name="" descr="{&quot;isTemplate&quot;:true,&quot;type&quot;:&quot;text&quot;}"/>
          <p:cNvSpPr txBox="1"/>
          <p:nvPr/>
        </p:nvSpPr>
        <p:spPr>
          <a:xfrm rot="0" flipH="0" flipV="0">
            <a:off x="838200" y="371475"/>
            <a:ext cx="32385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>5.2.6</a:t>
            </a: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　交给下一位作者的应是什么</a:t>
            </a:r>
            <a:endParaRPr/>
          </a:p>
        </p:txBody>
      </p:sp>
      <p:sp>
        <p:nvSpPr>
          <p:cNvPr id="348" name="" descr="{&quot;isTemplate&quot;:true,&quot;type&quot;:&quot;text&quot;}"/>
          <p:cNvSpPr txBox="1"/>
          <p:nvPr/>
        </p:nvSpPr>
        <p:spPr>
          <a:xfrm rot="0" flipH="0" flipV="0">
            <a:off x="838200" y="571500"/>
            <a:ext cx="3238500" cy="3905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550" b="1">
                <a:solidFill>
                  <a:srgbClr val="20344B"/>
                </a:solidFill>
                <a:latin typeface="Microsoft YaHei"/>
                <a:ea typeface="Microsoft YaHei"/>
              </a:rPr>
              <a:t>资料集里要有三种内容</a:t>
            </a:r>
            <a:endParaRPr/>
          </a:p>
        </p:txBody>
      </p:sp>
      <p:sp>
        <p:nvSpPr>
          <p:cNvPr id="349" name=""/>
          <p:cNvSpPr/>
          <p:nvPr/>
        </p:nvSpPr>
        <p:spPr>
          <a:xfrm rot="0" flipH="0" flipV="0">
            <a:off x="609600" y="1866900"/>
            <a:ext cx="5372100" cy="1143000"/>
          </a:xfrm>
          <a:prstGeom prst="roundRect">
            <a:avLst>
              <a:gd name="adj" fmla="val 10000"/>
            </a:avLst>
          </a:prstGeom>
          <a:solidFill>
            <a:srgbClr val="EDF4FC"/>
          </a:solidFill>
          <a:ln/>
        </p:spPr>
        <p:txBody>
          <a:bodyPr/>
          <a:p/>
        </p:txBody>
      </p:sp>
      <p:sp>
        <p:nvSpPr>
          <p:cNvPr id="350" name="" descr="{&quot;isTemplate&quot;:true,&quot;type&quot;:&quot;text&quot;}"/>
          <p:cNvSpPr txBox="1"/>
          <p:nvPr/>
        </p:nvSpPr>
        <p:spPr>
          <a:xfrm rot="0" flipH="0" flipV="0">
            <a:off x="800100" y="2057400"/>
            <a:ext cx="4991100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350" b="1">
                <a:solidFill>
                  <a:srgbClr val="276FBF"/>
                </a:solidFill>
                <a:latin typeface="Microsoft YaHei"/>
                <a:ea typeface="Microsoft YaHei"/>
              </a:rPr>
              <a:t>采用的原文与来源</a:t>
            </a:r>
            <a:endParaRPr/>
          </a:p>
        </p:txBody>
      </p:sp>
      <p:sp>
        <p:nvSpPr>
          <p:cNvPr id="351" name="" descr="{&quot;isTemplate&quot;:true,&quot;type&quot;:&quot;text&quot;}"/>
          <p:cNvSpPr txBox="1"/>
          <p:nvPr/>
        </p:nvSpPr>
        <p:spPr>
          <a:xfrm rot="0" flipH="0" flipV="0">
            <a:off x="800100" y="2324100"/>
            <a:ext cx="4991100" cy="257175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1125">
                <a:solidFill>
                  <a:srgbClr val="546779"/>
                </a:solidFill>
                <a:latin typeface="Microsoft YaHei"/>
                <a:ea typeface="Microsoft YaHei"/>
              </a:rPr>
              <a:t>按</a:t>
            </a:r>
            <a:r>
              <a:rPr lang="en-US" sz="1125">
                <a:solidFill>
                  <a:srgbClr val="546779"/>
                </a:solidFill>
                <a:latin typeface="Microsoft YaHei"/>
                <a:ea typeface="Microsoft YaHei"/>
              </a:rPr>
              <a:t xml:space="preserve"> S </a:t>
            </a:r>
            <a:r>
              <a:rPr lang="zh-CN" sz="1125">
                <a:solidFill>
                  <a:srgbClr val="546779"/>
                </a:solidFill>
                <a:latin typeface="Microsoft YaHei"/>
                <a:ea typeface="Microsoft YaHei"/>
              </a:rPr>
              <a:t>编号能定位到哪一份文档的哪一段</a:t>
            </a:r>
            <a:endParaRPr/>
          </a:p>
        </p:txBody>
      </p:sp>
      <p:sp>
        <p:nvSpPr>
          <p:cNvPr id="352" name=""/>
          <p:cNvSpPr/>
          <p:nvPr/>
        </p:nvSpPr>
        <p:spPr>
          <a:xfrm rot="0" flipH="0" flipV="0">
            <a:off x="609600" y="3143250"/>
            <a:ext cx="5372100" cy="1143000"/>
          </a:xfrm>
          <a:prstGeom prst="roundRect">
            <a:avLst>
              <a:gd name="adj" fmla="val 10000"/>
            </a:avLst>
          </a:prstGeom>
          <a:solidFill>
            <a:srgbClr val="ECF7F2"/>
          </a:solidFill>
          <a:ln/>
        </p:spPr>
        <p:txBody>
          <a:bodyPr/>
          <a:p/>
        </p:txBody>
      </p:sp>
      <p:sp>
        <p:nvSpPr>
          <p:cNvPr id="353" name="" descr="{&quot;isTemplate&quot;:true,&quot;type&quot;:&quot;text&quot;}"/>
          <p:cNvSpPr txBox="1"/>
          <p:nvPr/>
        </p:nvSpPr>
        <p:spPr>
          <a:xfrm rot="0" flipH="0" flipV="0">
            <a:off x="800100" y="3333750"/>
            <a:ext cx="4991100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350" b="1">
                <a:solidFill>
                  <a:srgbClr val="26816B"/>
                </a:solidFill>
                <a:latin typeface="Microsoft YaHei"/>
                <a:ea typeface="Microsoft YaHei"/>
              </a:rPr>
              <a:t>整理后的明确条件</a:t>
            </a:r>
            <a:endParaRPr/>
          </a:p>
        </p:txBody>
      </p:sp>
      <p:sp>
        <p:nvSpPr>
          <p:cNvPr id="354" name="" descr="{&quot;isTemplate&quot;:true,&quot;type&quot;:&quot;text&quot;}"/>
          <p:cNvSpPr txBox="1"/>
          <p:nvPr/>
        </p:nvSpPr>
        <p:spPr>
          <a:xfrm rot="0" flipH="0" flipV="0">
            <a:off x="800100" y="3600450"/>
            <a:ext cx="4991100" cy="257175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1125">
                <a:solidFill>
                  <a:srgbClr val="546779"/>
                </a:solidFill>
                <a:latin typeface="Microsoft YaHei"/>
                <a:ea typeface="Microsoft YaHei"/>
              </a:rPr>
              <a:t>本轮采用的值，以及它们怎样影响结论</a:t>
            </a:r>
            <a:endParaRPr/>
          </a:p>
        </p:txBody>
      </p:sp>
      <p:sp>
        <p:nvSpPr>
          <p:cNvPr id="355" name=""/>
          <p:cNvSpPr/>
          <p:nvPr/>
        </p:nvSpPr>
        <p:spPr>
          <a:xfrm rot="0" flipH="0" flipV="0">
            <a:off x="609600" y="4419600"/>
            <a:ext cx="5372100" cy="1143000"/>
          </a:xfrm>
          <a:prstGeom prst="roundRect">
            <a:avLst>
              <a:gd name="adj" fmla="val 10000"/>
            </a:avLst>
          </a:prstGeom>
          <a:solidFill>
            <a:srgbClr val="FFF4E6"/>
          </a:solidFill>
          <a:ln/>
        </p:spPr>
        <p:txBody>
          <a:bodyPr/>
          <a:p/>
        </p:txBody>
      </p:sp>
      <p:sp>
        <p:nvSpPr>
          <p:cNvPr id="356" name="" descr="{&quot;isTemplate&quot;:true,&quot;type&quot;:&quot;text&quot;}"/>
          <p:cNvSpPr txBox="1"/>
          <p:nvPr/>
        </p:nvSpPr>
        <p:spPr>
          <a:xfrm rot="0" flipH="0" flipV="0">
            <a:off x="800100" y="4610100"/>
            <a:ext cx="4991100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350" b="1">
                <a:solidFill>
                  <a:srgbClr val="CB6B28"/>
                </a:solidFill>
                <a:latin typeface="Microsoft YaHei"/>
                <a:ea typeface="Microsoft YaHei"/>
              </a:rPr>
              <a:t>冲突、假设和未完成事项</a:t>
            </a:r>
            <a:endParaRPr/>
          </a:p>
        </p:txBody>
      </p:sp>
      <p:sp>
        <p:nvSpPr>
          <p:cNvPr id="357" name="" descr="{&quot;isTemplate&quot;:true,&quot;type&quot;:&quot;text&quot;}"/>
          <p:cNvSpPr txBox="1"/>
          <p:nvPr/>
        </p:nvSpPr>
        <p:spPr>
          <a:xfrm rot="0" flipH="0" flipV="0">
            <a:off x="800100" y="4876800"/>
            <a:ext cx="4991100" cy="257175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en-US" sz="1125">
                <a:solidFill>
                  <a:srgbClr val="546779"/>
                </a:solidFill>
                <a:latin typeface="Microsoft YaHei"/>
                <a:ea typeface="Microsoft YaHei"/>
              </a:rPr>
              <a:t xml:space="preserve">C </a:t>
            </a:r>
            <a:r>
              <a:rPr lang="zh-CN" sz="1125">
                <a:solidFill>
                  <a:srgbClr val="546779"/>
                </a:solidFill>
                <a:latin typeface="Microsoft YaHei"/>
                <a:ea typeface="Microsoft YaHei"/>
              </a:rPr>
              <a:t>编号、材料表假设、仍然待确认的问题</a:t>
            </a:r>
            <a:endParaRPr/>
          </a:p>
        </p:txBody>
      </p:sp>
      <p:sp>
        <p:nvSpPr>
          <p:cNvPr id="358" name=""/>
          <p:cNvSpPr/>
          <p:nvPr/>
        </p:nvSpPr>
        <p:spPr>
          <a:xfrm rot="0" flipH="0" flipV="0">
            <a:off x="6210300" y="1647825"/>
            <a:ext cx="5372100" cy="2857500"/>
          </a:xfrm>
          <a:prstGeom prst="roundRect">
            <a:avLst>
              <a:gd name="adj" fmla="val 4000"/>
            </a:avLst>
          </a:prstGeom>
          <a:solidFill>
            <a:srgbClr val="F4F7FA"/>
          </a:solidFill>
          <a:ln/>
        </p:spPr>
        <p:txBody>
          <a:bodyPr/>
          <a:p/>
        </p:txBody>
      </p:sp>
      <p:sp>
        <p:nvSpPr>
          <p:cNvPr id="359" name="" descr="{&quot;isTemplate&quot;:true,&quot;type&quot;:&quot;text&quot;}"/>
          <p:cNvSpPr txBox="1"/>
          <p:nvPr/>
        </p:nvSpPr>
        <p:spPr>
          <a:xfrm rot="0" flipH="0" flipV="0">
            <a:off x="6419850" y="1857375"/>
            <a:ext cx="714375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>
                <a:solidFill>
                  <a:srgbClr val="276FBF"/>
                </a:solidFill>
                <a:latin typeface="Microsoft YaHei"/>
                <a:ea typeface="Microsoft YaHei"/>
              </a:rPr>
              <a:t>资料集目录</a:t>
            </a:r>
            <a:endParaRPr/>
          </a:p>
        </p:txBody>
      </p:sp>
      <p:sp>
        <p:nvSpPr>
          <p:cNvPr id="360" name="" descr="{&quot;isTemplate&quot;:true,&quot;type&quot;:&quot;text&quot;}"/>
          <p:cNvSpPr txBox="1"/>
          <p:nvPr/>
        </p:nvSpPr>
        <p:spPr>
          <a:xfrm rot="0" flipH="0" flipV="0">
            <a:off x="7229475" y="1866900"/>
            <a:ext cx="2667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CB6B28"/>
                </a:solidFill>
                <a:latin typeface="Microsoft YaHei"/>
                <a:ea typeface="Microsoft YaHei"/>
              </a:rPr>
              <a:t>示意</a:t>
            </a:r>
            <a:endParaRPr/>
          </a:p>
        </p:txBody>
      </p:sp>
      <p:sp>
        <p:nvSpPr>
          <p:cNvPr id="361" name=""/>
          <p:cNvSpPr/>
          <p:nvPr/>
        </p:nvSpPr>
        <p:spPr>
          <a:xfrm rot="0" flipH="0" flipV="0">
            <a:off x="6419850" y="2105025"/>
            <a:ext cx="4953000" cy="438150"/>
          </a:xfrm>
          <a:prstGeom prst="roundRect">
            <a:avLst>
              <a:gd name="adj" fmla="val 17391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362" name="" descr="{&quot;isTemplate&quot;:true,&quot;type&quot;:&quot;text&quot;}"/>
          <p:cNvSpPr txBox="1"/>
          <p:nvPr/>
        </p:nvSpPr>
        <p:spPr>
          <a:xfrm rot="0" flipH="0" flipV="0">
            <a:off x="6553200" y="2247900"/>
            <a:ext cx="1714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 b="1">
                <a:solidFill>
                  <a:srgbClr val="276FBF"/>
                </a:solidFill>
                <a:latin typeface="Microsoft YaHei"/>
                <a:ea typeface="Microsoft YaHei"/>
              </a:rPr>
              <a:t>01</a:t>
            </a:r>
            <a:endParaRPr/>
          </a:p>
        </p:txBody>
      </p:sp>
      <p:sp>
        <p:nvSpPr>
          <p:cNvPr id="363" name="" descr="{&quot;isTemplate&quot;:true,&quot;type&quot;:&quot;text&quot;}"/>
          <p:cNvSpPr txBox="1"/>
          <p:nvPr/>
        </p:nvSpPr>
        <p:spPr>
          <a:xfrm rot="0" flipH="0" flipV="0">
            <a:off x="6838950" y="2238375"/>
            <a:ext cx="440055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>
                <a:solidFill>
                  <a:srgbClr val="20344B"/>
                </a:solidFill>
                <a:latin typeface="Microsoft YaHei"/>
                <a:ea typeface="Microsoft YaHei"/>
              </a:rPr>
              <a:t>原始材料——收到的原文，按</a:t>
            </a:r>
            <a:r>
              <a:rPr lang="en-US" sz="1125">
                <a:solidFill>
                  <a:srgbClr val="20344B"/>
                </a:solidFill>
                <a:latin typeface="Microsoft YaHei"/>
                <a:ea typeface="Microsoft YaHei"/>
              </a:rPr>
              <a:t xml:space="preserve"> S </a:t>
            </a:r>
            <a:r>
              <a:rPr lang="zh-CN" sz="1125">
                <a:solidFill>
                  <a:srgbClr val="20344B"/>
                </a:solidFill>
                <a:latin typeface="Microsoft YaHei"/>
                <a:ea typeface="Microsoft YaHei"/>
              </a:rPr>
              <a:t>编号</a:t>
            </a:r>
            <a:endParaRPr/>
          </a:p>
        </p:txBody>
      </p:sp>
      <p:sp>
        <p:nvSpPr>
          <p:cNvPr id="364" name=""/>
          <p:cNvSpPr/>
          <p:nvPr/>
        </p:nvSpPr>
        <p:spPr>
          <a:xfrm rot="0" flipH="0" flipV="0">
            <a:off x="6419850" y="2619375"/>
            <a:ext cx="4953000" cy="438150"/>
          </a:xfrm>
          <a:prstGeom prst="roundRect">
            <a:avLst>
              <a:gd name="adj" fmla="val 17391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365" name="" descr="{&quot;isTemplate&quot;:true,&quot;type&quot;:&quot;text&quot;}"/>
          <p:cNvSpPr txBox="1"/>
          <p:nvPr/>
        </p:nvSpPr>
        <p:spPr>
          <a:xfrm rot="0" flipH="0" flipV="0">
            <a:off x="6553200" y="2762250"/>
            <a:ext cx="1714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 b="1">
                <a:solidFill>
                  <a:srgbClr val="276FBF"/>
                </a:solidFill>
                <a:latin typeface="Microsoft YaHei"/>
                <a:ea typeface="Microsoft YaHei"/>
              </a:rPr>
              <a:t>02</a:t>
            </a:r>
            <a:endParaRPr/>
          </a:p>
        </p:txBody>
      </p:sp>
      <p:sp>
        <p:nvSpPr>
          <p:cNvPr id="366" name="" descr="{&quot;isTemplate&quot;:true,&quot;type&quot;:&quot;text&quot;}"/>
          <p:cNvSpPr txBox="1"/>
          <p:nvPr/>
        </p:nvSpPr>
        <p:spPr>
          <a:xfrm rot="0" flipH="0" flipV="0">
            <a:off x="6838950" y="2752725"/>
            <a:ext cx="440055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>
                <a:solidFill>
                  <a:srgbClr val="20344B"/>
                </a:solidFill>
                <a:latin typeface="Microsoft YaHei"/>
                <a:ea typeface="Microsoft YaHei"/>
              </a:rPr>
              <a:t>采用说明——本次用哪些条件、为什么</a:t>
            </a:r>
            <a:endParaRPr/>
          </a:p>
        </p:txBody>
      </p:sp>
      <p:sp>
        <p:nvSpPr>
          <p:cNvPr id="367" name=""/>
          <p:cNvSpPr/>
          <p:nvPr/>
        </p:nvSpPr>
        <p:spPr>
          <a:xfrm rot="0" flipH="0" flipV="0">
            <a:off x="6419850" y="3133725"/>
            <a:ext cx="4953000" cy="438150"/>
          </a:xfrm>
          <a:prstGeom prst="roundRect">
            <a:avLst>
              <a:gd name="adj" fmla="val 17391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368" name="" descr="{&quot;isTemplate&quot;:true,&quot;type&quot;:&quot;text&quot;}"/>
          <p:cNvSpPr txBox="1"/>
          <p:nvPr/>
        </p:nvSpPr>
        <p:spPr>
          <a:xfrm rot="0" flipH="0" flipV="0">
            <a:off x="6553200" y="3276600"/>
            <a:ext cx="1714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 b="1">
                <a:solidFill>
                  <a:srgbClr val="276FBF"/>
                </a:solidFill>
                <a:latin typeface="Microsoft YaHei"/>
                <a:ea typeface="Microsoft YaHei"/>
              </a:rPr>
              <a:t>03</a:t>
            </a:r>
            <a:endParaRPr/>
          </a:p>
        </p:txBody>
      </p:sp>
      <p:sp>
        <p:nvSpPr>
          <p:cNvPr id="369" name="" descr="{&quot;isTemplate&quot;:true,&quot;type&quot;:&quot;text&quot;}"/>
          <p:cNvSpPr txBox="1"/>
          <p:nvPr/>
        </p:nvSpPr>
        <p:spPr>
          <a:xfrm rot="0" flipH="0" flipV="0">
            <a:off x="6838950" y="3267075"/>
            <a:ext cx="440055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>
                <a:solidFill>
                  <a:srgbClr val="20344B"/>
                </a:solidFill>
                <a:latin typeface="Microsoft YaHei"/>
                <a:ea typeface="Microsoft YaHei"/>
              </a:rPr>
              <a:t>待办——冲突、假设、未确认问题</a:t>
            </a:r>
            <a:endParaRPr/>
          </a:p>
        </p:txBody>
      </p:sp>
      <p:sp>
        <p:nvSpPr>
          <p:cNvPr id="370" name=""/>
          <p:cNvSpPr/>
          <p:nvPr/>
        </p:nvSpPr>
        <p:spPr>
          <a:xfrm rot="0" flipH="0" flipV="0">
            <a:off x="6419850" y="3648075"/>
            <a:ext cx="4953000" cy="438150"/>
          </a:xfrm>
          <a:prstGeom prst="roundRect">
            <a:avLst>
              <a:gd name="adj" fmla="val 17391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371" name="" descr="{&quot;isTemplate&quot;:true,&quot;type&quot;:&quot;text&quot;}"/>
          <p:cNvSpPr txBox="1"/>
          <p:nvPr/>
        </p:nvSpPr>
        <p:spPr>
          <a:xfrm rot="0" flipH="0" flipV="0">
            <a:off x="6553200" y="3790950"/>
            <a:ext cx="1714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 b="1">
                <a:solidFill>
                  <a:srgbClr val="276FBF"/>
                </a:solidFill>
                <a:latin typeface="Microsoft YaHei"/>
                <a:ea typeface="Microsoft YaHei"/>
              </a:rPr>
              <a:t>04</a:t>
            </a:r>
            <a:endParaRPr/>
          </a:p>
        </p:txBody>
      </p:sp>
      <p:sp>
        <p:nvSpPr>
          <p:cNvPr id="372" name="" descr="{&quot;isTemplate&quot;:true,&quot;type&quot;:&quot;text&quot;}"/>
          <p:cNvSpPr txBox="1"/>
          <p:nvPr/>
        </p:nvSpPr>
        <p:spPr>
          <a:xfrm rot="0" flipH="0" flipV="0">
            <a:off x="6838950" y="3781425"/>
            <a:ext cx="440055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>
                <a:solidFill>
                  <a:srgbClr val="20344B"/>
                </a:solidFill>
                <a:latin typeface="Microsoft YaHei"/>
                <a:ea typeface="Microsoft YaHei"/>
              </a:rPr>
              <a:t>接收检查——这份资料集能否被解释</a:t>
            </a:r>
            <a:endParaRPr/>
          </a:p>
        </p:txBody>
      </p:sp>
      <p:sp>
        <p:nvSpPr>
          <p:cNvPr id="373" name=""/>
          <p:cNvSpPr/>
          <p:nvPr/>
        </p:nvSpPr>
        <p:spPr>
          <a:xfrm rot="0" flipH="0" flipV="0">
            <a:off x="6210300" y="4638675"/>
            <a:ext cx="5372100" cy="1143000"/>
          </a:xfrm>
          <a:prstGeom prst="roundRect">
            <a:avLst>
              <a:gd name="adj" fmla="val 10000"/>
            </a:avLst>
          </a:prstGeom>
          <a:solidFill>
            <a:srgbClr val="FFF4E6"/>
          </a:solidFill>
          <a:ln/>
        </p:spPr>
        <p:txBody>
          <a:bodyPr/>
          <a:p/>
        </p:txBody>
      </p:sp>
      <p:sp>
        <p:nvSpPr>
          <p:cNvPr id="374" name="" descr="{&quot;isTemplate&quot;:true,&quot;type&quot;:&quot;text&quot;}"/>
          <p:cNvSpPr txBox="1"/>
          <p:nvPr/>
        </p:nvSpPr>
        <p:spPr>
          <a:xfrm rot="0" flipH="0" flipV="0">
            <a:off x="6419850" y="4848225"/>
            <a:ext cx="495300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>
                <a:solidFill>
                  <a:srgbClr val="CB6B28"/>
                </a:solidFill>
                <a:latin typeface="Microsoft YaHei"/>
                <a:ea typeface="Microsoft YaHei"/>
              </a:rPr>
              <a:t>一条边界</a:t>
            </a:r>
            <a:endParaRPr/>
          </a:p>
        </p:txBody>
      </p:sp>
      <p:sp>
        <p:nvSpPr>
          <p:cNvPr id="375" name="" descr="{&quot;isTemplate&quot;:true,&quot;type&quot;:&quot;text&quot;}"/>
          <p:cNvSpPr txBox="1"/>
          <p:nvPr/>
        </p:nvSpPr>
        <p:spPr>
          <a:xfrm rot="0" flipH="0" flipV="0">
            <a:off x="6419850" y="5076825"/>
            <a:ext cx="4953000" cy="257175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1125">
                <a:solidFill>
                  <a:srgbClr val="20344B"/>
                </a:solidFill>
                <a:latin typeface="Microsoft YaHei"/>
                <a:ea typeface="Microsoft YaHei"/>
              </a:rPr>
              <a:t>它只是作者的资料组织方式，不是可导入的</a:t>
            </a:r>
            <a:r>
              <a:rPr lang="en-US" sz="1125">
                <a:solidFill>
                  <a:srgbClr val="20344B"/>
                </a:solidFill>
                <a:latin typeface="Microsoft YaHei"/>
                <a:ea typeface="Microsoft YaHei"/>
              </a:rPr>
              <a:t xml:space="preserve"> ga-package </a:t>
            </a:r>
            <a:r>
              <a:rPr lang="zh-CN" sz="1125">
                <a:solidFill>
                  <a:srgbClr val="20344B"/>
                </a:solidFill>
                <a:latin typeface="Microsoft YaHei"/>
                <a:ea typeface="Microsoft YaHei"/>
              </a:rPr>
              <a:t>清单。</a:t>
            </a:r>
            <a:endParaRPr/>
          </a:p>
        </p:txBody>
      </p:sp>
      <p:sp>
        <p:nvSpPr>
          <p:cNvPr id="376" name="" descr="{&quot;isTemplate&quot;:true,&quot;type&quot;:&quot;text&quot;}"/>
          <p:cNvSpPr txBox="1"/>
          <p:nvPr/>
        </p:nvSpPr>
        <p:spPr>
          <a:xfrm rot="0" flipH="0" flipV="0">
            <a:off x="609600" y="6400800"/>
            <a:ext cx="18288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 xml:space="preserve">5.2 </a:t>
            </a: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材料来源、假设与可用范围</a:t>
            </a:r>
            <a:endParaRPr/>
          </a:p>
        </p:txBody>
      </p:sp>
      <p:sp>
        <p:nvSpPr>
          <p:cNvPr id="377" name="" descr="{&quot;isTemplate&quot;:true,&quot;type&quot;:&quot;text&quot;}"/>
          <p:cNvSpPr txBox="1"/>
          <p:nvPr/>
        </p:nvSpPr>
        <p:spPr>
          <a:xfrm rot="0" flipH="0" flipV="0">
            <a:off x="11125200" y="6400800"/>
            <a:ext cx="4572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>21 / 23</a:t>
            </a:r>
            <a:endParaRPr/>
          </a:p>
        </p:txBody>
      </p:sp>
    </p:spTree>
  </p:cSld>
</p:sld>
</file>

<file path=ppt/slides/slide22.xml><?xml version="1.0" encoding="utf-8"?>
<p:sld xmlns:p="http://schemas.openxmlformats.org/presentationml/2006/main" xmlns:a="http://schemas.openxmlformats.org/drawingml/2006/main">
  <p:cSld>
    <p:spTree>
      <p:nvGrpSpPr>
        <p:cNvPr id="378" name="" descr="&lt;Slide notes={`整理完之后怎么自检？这里给四条条件式检查，遇到就直接处理，不用开会讨论。&#10;&#10;发现一个没有来源的数值，退回，标注它是作者设定还是待确认。发现两份分工不一致，记录影响，并确定本次采用哪一条。发现一句话暗含运行成功，比如写成了已经得到回复，就要求实际证据；没有证据就改回目标或候选。发现材料里混进了另一个人物的私人目的，留给下一节拆分，不要整份投进共同 Brain。&#10;&#10;最后留一道练习：把“余真会帮助所有人快速完成业务”拆成材料与假设。&#10;&#10;参考思路是，余真的职责和帮助条件可以写入人物材料；但所有人、快速、完成业务，这些都不是已经取得的结果，而且本案只以咨询闭环来评价。你再找一个应该保留的空白，比如周澈还没填写活动人数，说明它为什么不需要作者擅自补齐。`} style={{ width: 1280, height: 720, background: '#FFFFFF', flexDirection: 'column', padding: '20px 64px' }}&gt;&#10;&#10;    &lt;Box style={{ height: 100, flexDirection: 'row', alignItems: 'center', gap: 20 }}&gt;&#10;        &lt;Box style={{ width: 4, height: 44, background: '#276FBF' }} /&gt;&#10;        &lt;Box style={{ flexDirection: 'column', gap: 4 }}&gt;&#10;            &lt;Text style={{ fontSize: 14, color: '#546779' }}&gt;5.2.6　交给下一位作者的应是什么&lt;/Text&gt;&#10;            &lt;Text style={{ fontSize: 34, fontWeight: 'bold', color: '#20344B' }}&gt;条件式检查：发现什么，就怎么处理&lt;/Text&gt;&#10;        &lt;/Box&gt;&#10;    &lt;/Box&gt;&#10;&#10;    &lt;Box style={{ height: 540, flexDirection: 'column', justifyContent: 'center', gap: 12 }}&gt;&#10;&#10;        &lt;Box style={{ width: 1152, height: 86, background: '#F4F7FA', borderRadius: 10, flexDirection: 'row', alignItems: 'center' }}&gt;&#10;            &lt;Box style={{ width: 490, padding: '0 20px' }}&gt;&#10;                &lt;Text style={{ fontSize: 16, color: '#20344B', lineHeight: 1.5 }}&gt;发现一个没有来源的数值&lt;/Text&gt;&#10;            &lt;/Box&gt;&#10;            &lt;Box style={{ width: 44, justifyContent: 'center', alignItems: 'center' }}&gt;&#10;                &lt;Text style={{ fontSize: 24, color: '#CB6B28' }}&gt;›&lt;/Text&gt;&#10;            &lt;/Box&gt;&#10;            &lt;Box style={{ width: 618, padding: '0 20px' }}&gt;&#10;                &lt;Text style={{ fontSize: 16, color: '#26816B', lineHeight: 1.5 }}&gt;退回，标注为作者设定或待确认&lt;/Text&gt;&#10;            &lt;/Box&gt;&#10;        &lt;/Box&gt;&#10;&#10;        &lt;Box style={{ width: 1152, height: 86, background: '#F4F7FA', borderRadius: 10, flexDirection: 'row', alignItems: 'center' }}&gt;&#10;            &lt;Box style={{ width: 490, padding: '0 20px' }}&gt;&#10;                &lt;Text style={{ fontSize: 16, color: '#20344B', lineHeight: 1.5 }}&gt;发现两份分工不一致&lt;/Text&gt;&#10;            &lt;/Box&gt;&#10;            &lt;Box style={{ width: 44, justifyContent: 'center', alignItems: 'center' }}&gt;&#10;                &lt;Text style={{ fontSize: 24, color: '#CB6B28' }}&gt;›&lt;/Text&gt;&#10;            &lt;/Box&gt;&#10;            &lt;Box style={{ width: 618, padding: '0 20px' }}&gt;&#10;                &lt;Text style={{ fontSize: 16, color: '#26816B', lineHeight: 1.5 }}&gt;记录影响，并确定本次采用者&lt;/Text&gt;&#10;            &lt;/Box&gt;&#10;        &lt;/Box&gt;&#10;&#10;        &lt;Box style={{ width: 1152, height: 86, background: '#F4F7FA', borderRadius: 10, flexDirection: 'row', alignItems: 'center' }}&gt;&#10;            &lt;Box style={{ width: 490, padding: '0 20px' }}&gt;&#10;                &lt;Text style={{ fontSize: 16, color: '#20344B', lineHeight: 1.5 }}&gt;发现一句话暗含运行成功&lt;/Text&gt;&#10;            &lt;/Box&gt;&#10;            &lt;Box style={{ width: 44, justifyContent: 'center', alignItems: 'center' }}&gt;&#10;                &lt;Text style={{ fontSize: 24, color: '#CB6B28' }}&gt;›&lt;/Text&gt;&#10;            &lt;/Box&gt;&#10;            &lt;Box style={{ width: 618, padding: '0 20px' }}&gt;&#10;                &lt;Text style={{ fontSize: 16, color: '#26816B', lineHeight: 1.5 }}&gt;要求实际证据；没有就改回目标或候选&lt;/Text&gt;&#10;            &lt;/Box&gt;&#10;        &lt;/Box&gt;&#10;&#10;        &lt;Box style={{ width: 1152, height: 86, background: '#F4F7FA', borderRadius: 10, flexDirection: 'row', alignItems: 'center' }}&gt;&#10;            &lt;Box style={{ width: 490, padding: '0 20px' }}&gt;&#10;                &lt;Text style={{ fontSize: 16, color: '#20344B', lineHeight: 1.5 }}&gt;发现材料混入另一个人物的私人目的&lt;/Text&gt;&#10;            &lt;/Box&gt;&#10;            &lt;Box style={{ width: 44, justifyContent: 'center', alignItems: 'center' }}&gt;&#10;                &lt;Text style={{ fontSize: 24, color: '#CB6B28' }}&gt;›&lt;/Text&gt;&#10;            &lt;/Box&gt;&#10;            &lt;Box style={{ width: 618, padding: '0 20px' }}&gt;&#10;                &lt;Text style={{ fontSize: 16, color: '#26816B', lineHeight: 1.5 }}&gt;留给下一节拆分，不整份投入共同 Brain&lt;/Text&gt;&#10;            &lt;/Box&gt;&#10;        &lt;/Box&gt;&#10;&#10;        &lt;Box style={{ width: 1152, height: 96, background: '#EDF4FC', borderRadius: 10, padding: '0 22px', flexDirection: 'column', gap: 6, justifyContent: 'center', marginTop: 4 }}&gt;&#10;            &lt;Text style={{ fontSize: 15, color: '#276FBF' }}&gt;练习&lt;/Text&gt;&#10;            &lt;Text style={{ fontSize: 15, color: '#20344B', lineHeight: 1.5 }}&gt;把“余真会帮助所有人快速完成业务”拆成材料与假设：职责和帮助条件写入人物材料，“所有人”“快速”“完成业务”不是已取得的结果。&lt;/Text&gt;&#10;        &lt;/Box&gt;&#10;&#10;    &lt;/Box&gt;&#10;&#10;    &lt;Box style={{ height: 40, flexDirection: 'row', justifyContent: 'space-between', alignItems: 'center' }}&gt;&#10;        &lt;Text style={{ fontSize: 14, color: '#546779' }}&gt;5.2 材料来源、假设与可用范围&lt;/Text&gt;&#10;        &lt;Text style={{ fontSize: 14, color: '#546779' }}&gt;22 / 23&lt;/Text&gt;&#10;    &lt;/Box&gt;&#10;&#10;&lt;/Slide&gt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9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380" name=""/>
          <p:cNvSpPr/>
          <p:nvPr/>
        </p:nvSpPr>
        <p:spPr>
          <a:xfrm rot="0" flipH="0" flipV="0">
            <a:off x="609600" y="457200"/>
            <a:ext cx="38100" cy="419100"/>
          </a:xfrm>
          <a:prstGeom prst="rect">
            <a:avLst/>
          </a:prstGeom>
          <a:solidFill>
            <a:srgbClr val="276FBF"/>
          </a:solidFill>
          <a:ln/>
        </p:spPr>
        <p:txBody>
          <a:bodyPr/>
          <a:p/>
        </p:txBody>
      </p:sp>
      <p:sp>
        <p:nvSpPr>
          <p:cNvPr id="381" name="" descr="{&quot;isTemplate&quot;:true,&quot;type&quot;:&quot;text&quot;}"/>
          <p:cNvSpPr txBox="1"/>
          <p:nvPr/>
        </p:nvSpPr>
        <p:spPr>
          <a:xfrm rot="0" flipH="0" flipV="0">
            <a:off x="838200" y="371475"/>
            <a:ext cx="51816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>5.2.6</a:t>
            </a: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　交给下一位作者的应是什么</a:t>
            </a:r>
            <a:endParaRPr/>
          </a:p>
        </p:txBody>
      </p:sp>
      <p:sp>
        <p:nvSpPr>
          <p:cNvPr id="382" name="" descr="{&quot;isTemplate&quot;:true,&quot;type&quot;:&quot;text&quot;}"/>
          <p:cNvSpPr txBox="1"/>
          <p:nvPr/>
        </p:nvSpPr>
        <p:spPr>
          <a:xfrm rot="0" flipH="0" flipV="0">
            <a:off x="838200" y="571500"/>
            <a:ext cx="5181600" cy="3905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550" b="1">
                <a:solidFill>
                  <a:srgbClr val="20344B"/>
                </a:solidFill>
                <a:latin typeface="Microsoft YaHei"/>
                <a:ea typeface="Microsoft YaHei"/>
              </a:rPr>
              <a:t>条件式检查：发现什么，就怎么处理</a:t>
            </a:r>
            <a:endParaRPr/>
          </a:p>
        </p:txBody>
      </p:sp>
      <p:sp>
        <p:nvSpPr>
          <p:cNvPr id="383" name=""/>
          <p:cNvSpPr/>
          <p:nvPr/>
        </p:nvSpPr>
        <p:spPr>
          <a:xfrm rot="0" flipH="0" flipV="0">
            <a:off x="609600" y="1371600"/>
            <a:ext cx="10972800" cy="819150"/>
          </a:xfrm>
          <a:prstGeom prst="roundRect">
            <a:avLst>
              <a:gd name="adj" fmla="val 11628"/>
            </a:avLst>
          </a:prstGeom>
          <a:solidFill>
            <a:srgbClr val="F4F7FA"/>
          </a:solidFill>
          <a:ln/>
        </p:spPr>
        <p:txBody>
          <a:bodyPr/>
          <a:p/>
        </p:txBody>
      </p:sp>
      <p:sp>
        <p:nvSpPr>
          <p:cNvPr id="384" name="" descr="{&quot;isTemplate&quot;:true,&quot;type&quot;:&quot;text&quot;}"/>
          <p:cNvSpPr txBox="1"/>
          <p:nvPr/>
        </p:nvSpPr>
        <p:spPr>
          <a:xfrm rot="0" flipH="0" flipV="0">
            <a:off x="800100" y="1647825"/>
            <a:ext cx="4286250" cy="276225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1200">
                <a:solidFill>
                  <a:srgbClr val="20344B"/>
                </a:solidFill>
                <a:latin typeface="Microsoft YaHei"/>
                <a:ea typeface="Microsoft YaHei"/>
              </a:rPr>
              <a:t>发现一个没有来源的数值</a:t>
            </a:r>
            <a:endParaRPr/>
          </a:p>
        </p:txBody>
      </p:sp>
      <p:sp>
        <p:nvSpPr>
          <p:cNvPr id="385" name="" descr="{&quot;isTemplate&quot;:true,&quot;type&quot;:&quot;text&quot;}"/>
          <p:cNvSpPr txBox="1"/>
          <p:nvPr/>
        </p:nvSpPr>
        <p:spPr>
          <a:xfrm rot="0" flipH="0" flipV="0">
            <a:off x="5448300" y="1647825"/>
            <a:ext cx="85725" cy="2762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sz="1800">
                <a:solidFill>
                  <a:srgbClr val="CB6B28"/>
                </a:solidFill>
                <a:latin typeface="Microsoft YaHei"/>
                <a:ea typeface="Microsoft YaHei"/>
              </a:rPr>
              <a:t>›</a:t>
            </a:r>
            <a:endParaRPr/>
          </a:p>
        </p:txBody>
      </p:sp>
      <p:sp>
        <p:nvSpPr>
          <p:cNvPr id="386" name="" descr="{&quot;isTemplate&quot;:true,&quot;type&quot;:&quot;text&quot;}"/>
          <p:cNvSpPr txBox="1"/>
          <p:nvPr/>
        </p:nvSpPr>
        <p:spPr>
          <a:xfrm rot="0" flipH="0" flipV="0">
            <a:off x="5886450" y="1647825"/>
            <a:ext cx="5505450" cy="276225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1200">
                <a:solidFill>
                  <a:srgbClr val="26816B"/>
                </a:solidFill>
                <a:latin typeface="Microsoft YaHei"/>
                <a:ea typeface="Microsoft YaHei"/>
              </a:rPr>
              <a:t>退回，标注为作者设定或待确认</a:t>
            </a:r>
            <a:endParaRPr/>
          </a:p>
        </p:txBody>
      </p:sp>
      <p:sp>
        <p:nvSpPr>
          <p:cNvPr id="387" name=""/>
          <p:cNvSpPr/>
          <p:nvPr/>
        </p:nvSpPr>
        <p:spPr>
          <a:xfrm rot="0" flipH="0" flipV="0">
            <a:off x="609600" y="2305050"/>
            <a:ext cx="10972800" cy="819150"/>
          </a:xfrm>
          <a:prstGeom prst="roundRect">
            <a:avLst>
              <a:gd name="adj" fmla="val 11628"/>
            </a:avLst>
          </a:prstGeom>
          <a:solidFill>
            <a:srgbClr val="F4F7FA"/>
          </a:solidFill>
          <a:ln/>
        </p:spPr>
        <p:txBody>
          <a:bodyPr/>
          <a:p/>
        </p:txBody>
      </p:sp>
      <p:sp>
        <p:nvSpPr>
          <p:cNvPr id="388" name="" descr="{&quot;isTemplate&quot;:true,&quot;type&quot;:&quot;text&quot;}"/>
          <p:cNvSpPr txBox="1"/>
          <p:nvPr/>
        </p:nvSpPr>
        <p:spPr>
          <a:xfrm rot="0" flipH="0" flipV="0">
            <a:off x="800100" y="2581275"/>
            <a:ext cx="4286250" cy="276225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1200">
                <a:solidFill>
                  <a:srgbClr val="20344B"/>
                </a:solidFill>
                <a:latin typeface="Microsoft YaHei"/>
                <a:ea typeface="Microsoft YaHei"/>
              </a:rPr>
              <a:t>发现两份分工不一致</a:t>
            </a:r>
            <a:endParaRPr/>
          </a:p>
        </p:txBody>
      </p:sp>
      <p:sp>
        <p:nvSpPr>
          <p:cNvPr id="389" name="" descr="{&quot;isTemplate&quot;:true,&quot;type&quot;:&quot;text&quot;}"/>
          <p:cNvSpPr txBox="1"/>
          <p:nvPr/>
        </p:nvSpPr>
        <p:spPr>
          <a:xfrm rot="0" flipH="0" flipV="0">
            <a:off x="5448300" y="2581275"/>
            <a:ext cx="85725" cy="2762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sz="1800">
                <a:solidFill>
                  <a:srgbClr val="CB6B28"/>
                </a:solidFill>
                <a:latin typeface="Microsoft YaHei"/>
                <a:ea typeface="Microsoft YaHei"/>
              </a:rPr>
              <a:t>›</a:t>
            </a:r>
            <a:endParaRPr/>
          </a:p>
        </p:txBody>
      </p:sp>
      <p:sp>
        <p:nvSpPr>
          <p:cNvPr id="390" name="" descr="{&quot;isTemplate&quot;:true,&quot;type&quot;:&quot;text&quot;}"/>
          <p:cNvSpPr txBox="1"/>
          <p:nvPr/>
        </p:nvSpPr>
        <p:spPr>
          <a:xfrm rot="0" flipH="0" flipV="0">
            <a:off x="5886450" y="2581275"/>
            <a:ext cx="5505450" cy="276225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1200">
                <a:solidFill>
                  <a:srgbClr val="26816B"/>
                </a:solidFill>
                <a:latin typeface="Microsoft YaHei"/>
                <a:ea typeface="Microsoft YaHei"/>
              </a:rPr>
              <a:t>记录影响，并确定本次采用者</a:t>
            </a:r>
            <a:endParaRPr/>
          </a:p>
        </p:txBody>
      </p:sp>
      <p:sp>
        <p:nvSpPr>
          <p:cNvPr id="391" name=""/>
          <p:cNvSpPr/>
          <p:nvPr/>
        </p:nvSpPr>
        <p:spPr>
          <a:xfrm rot="0" flipH="0" flipV="0">
            <a:off x="609600" y="3238500"/>
            <a:ext cx="10972800" cy="819150"/>
          </a:xfrm>
          <a:prstGeom prst="roundRect">
            <a:avLst>
              <a:gd name="adj" fmla="val 11628"/>
            </a:avLst>
          </a:prstGeom>
          <a:solidFill>
            <a:srgbClr val="F4F7FA"/>
          </a:solidFill>
          <a:ln/>
        </p:spPr>
        <p:txBody>
          <a:bodyPr/>
          <a:p/>
        </p:txBody>
      </p:sp>
      <p:sp>
        <p:nvSpPr>
          <p:cNvPr id="392" name="" descr="{&quot;isTemplate&quot;:true,&quot;type&quot;:&quot;text&quot;}"/>
          <p:cNvSpPr txBox="1"/>
          <p:nvPr/>
        </p:nvSpPr>
        <p:spPr>
          <a:xfrm rot="0" flipH="0" flipV="0">
            <a:off x="800100" y="3514725"/>
            <a:ext cx="4286250" cy="276225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1200">
                <a:solidFill>
                  <a:srgbClr val="20344B"/>
                </a:solidFill>
                <a:latin typeface="Microsoft YaHei"/>
                <a:ea typeface="Microsoft YaHei"/>
              </a:rPr>
              <a:t>发现一句话暗含运行成功</a:t>
            </a:r>
            <a:endParaRPr/>
          </a:p>
        </p:txBody>
      </p:sp>
      <p:sp>
        <p:nvSpPr>
          <p:cNvPr id="393" name="" descr="{&quot;isTemplate&quot;:true,&quot;type&quot;:&quot;text&quot;}"/>
          <p:cNvSpPr txBox="1"/>
          <p:nvPr/>
        </p:nvSpPr>
        <p:spPr>
          <a:xfrm rot="0" flipH="0" flipV="0">
            <a:off x="5448300" y="3514725"/>
            <a:ext cx="85725" cy="2762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sz="1800">
                <a:solidFill>
                  <a:srgbClr val="CB6B28"/>
                </a:solidFill>
                <a:latin typeface="Microsoft YaHei"/>
                <a:ea typeface="Microsoft YaHei"/>
              </a:rPr>
              <a:t>›</a:t>
            </a:r>
            <a:endParaRPr/>
          </a:p>
        </p:txBody>
      </p:sp>
      <p:sp>
        <p:nvSpPr>
          <p:cNvPr id="394" name="" descr="{&quot;isTemplate&quot;:true,&quot;type&quot;:&quot;text&quot;}"/>
          <p:cNvSpPr txBox="1"/>
          <p:nvPr/>
        </p:nvSpPr>
        <p:spPr>
          <a:xfrm rot="0" flipH="0" flipV="0">
            <a:off x="5886450" y="3514725"/>
            <a:ext cx="5505450" cy="276225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1200">
                <a:solidFill>
                  <a:srgbClr val="26816B"/>
                </a:solidFill>
                <a:latin typeface="Microsoft YaHei"/>
                <a:ea typeface="Microsoft YaHei"/>
              </a:rPr>
              <a:t>要求实际证据；没有就改回目标或候选</a:t>
            </a:r>
            <a:endParaRPr/>
          </a:p>
        </p:txBody>
      </p:sp>
      <p:sp>
        <p:nvSpPr>
          <p:cNvPr id="395" name=""/>
          <p:cNvSpPr/>
          <p:nvPr/>
        </p:nvSpPr>
        <p:spPr>
          <a:xfrm rot="0" flipH="0" flipV="0">
            <a:off x="609600" y="4171950"/>
            <a:ext cx="10972800" cy="819150"/>
          </a:xfrm>
          <a:prstGeom prst="roundRect">
            <a:avLst>
              <a:gd name="adj" fmla="val 11628"/>
            </a:avLst>
          </a:prstGeom>
          <a:solidFill>
            <a:srgbClr val="F4F7FA"/>
          </a:solidFill>
          <a:ln/>
        </p:spPr>
        <p:txBody>
          <a:bodyPr/>
          <a:p/>
        </p:txBody>
      </p:sp>
      <p:sp>
        <p:nvSpPr>
          <p:cNvPr id="396" name="" descr="{&quot;isTemplate&quot;:true,&quot;type&quot;:&quot;text&quot;}"/>
          <p:cNvSpPr txBox="1"/>
          <p:nvPr/>
        </p:nvSpPr>
        <p:spPr>
          <a:xfrm rot="0" flipH="0" flipV="0">
            <a:off x="800100" y="4448175"/>
            <a:ext cx="4286250" cy="276225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1200">
                <a:solidFill>
                  <a:srgbClr val="20344B"/>
                </a:solidFill>
                <a:latin typeface="Microsoft YaHei"/>
                <a:ea typeface="Microsoft YaHei"/>
              </a:rPr>
              <a:t>发现材料混入另一个人物的私人目的</a:t>
            </a:r>
            <a:endParaRPr/>
          </a:p>
        </p:txBody>
      </p:sp>
      <p:sp>
        <p:nvSpPr>
          <p:cNvPr id="397" name="" descr="{&quot;isTemplate&quot;:true,&quot;type&quot;:&quot;text&quot;}"/>
          <p:cNvSpPr txBox="1"/>
          <p:nvPr/>
        </p:nvSpPr>
        <p:spPr>
          <a:xfrm rot="0" flipH="0" flipV="0">
            <a:off x="5448300" y="4448175"/>
            <a:ext cx="85725" cy="2762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sz="1800">
                <a:solidFill>
                  <a:srgbClr val="CB6B28"/>
                </a:solidFill>
                <a:latin typeface="Microsoft YaHei"/>
                <a:ea typeface="Microsoft YaHei"/>
              </a:rPr>
              <a:t>›</a:t>
            </a:r>
            <a:endParaRPr/>
          </a:p>
        </p:txBody>
      </p:sp>
      <p:sp>
        <p:nvSpPr>
          <p:cNvPr id="398" name="" descr="{&quot;isTemplate&quot;:true,&quot;type&quot;:&quot;text&quot;}"/>
          <p:cNvSpPr txBox="1"/>
          <p:nvPr/>
        </p:nvSpPr>
        <p:spPr>
          <a:xfrm rot="0" flipH="0" flipV="0">
            <a:off x="5886450" y="4448175"/>
            <a:ext cx="5505450" cy="276225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1200">
                <a:solidFill>
                  <a:srgbClr val="26816B"/>
                </a:solidFill>
                <a:latin typeface="Microsoft YaHei"/>
                <a:ea typeface="Microsoft YaHei"/>
              </a:rPr>
              <a:t>留给下一节拆分，不整份投入共同</a:t>
            </a:r>
            <a:r>
              <a:rPr lang="en-US" sz="1200">
                <a:solidFill>
                  <a:srgbClr val="26816B"/>
                </a:solidFill>
                <a:latin typeface="Microsoft YaHei"/>
                <a:ea typeface="Microsoft YaHei"/>
              </a:rPr>
              <a:t xml:space="preserve"> Brain</a:t>
            </a:r>
            <a:endParaRPr/>
          </a:p>
        </p:txBody>
      </p:sp>
      <p:sp>
        <p:nvSpPr>
          <p:cNvPr id="399" name=""/>
          <p:cNvSpPr/>
          <p:nvPr/>
        </p:nvSpPr>
        <p:spPr>
          <a:xfrm rot="0" flipH="0" flipV="0">
            <a:off x="609600" y="5143500"/>
            <a:ext cx="10972800" cy="914400"/>
          </a:xfrm>
          <a:prstGeom prst="roundRect">
            <a:avLst>
              <a:gd name="adj" fmla="val 10417"/>
            </a:avLst>
          </a:prstGeom>
          <a:solidFill>
            <a:srgbClr val="EDF4FC"/>
          </a:solidFill>
          <a:ln/>
        </p:spPr>
        <p:txBody>
          <a:bodyPr/>
          <a:p/>
        </p:txBody>
      </p:sp>
      <p:sp>
        <p:nvSpPr>
          <p:cNvPr id="400" name="" descr="{&quot;isTemplate&quot;:true,&quot;type&quot;:&quot;text&quot;}"/>
          <p:cNvSpPr txBox="1"/>
          <p:nvPr/>
        </p:nvSpPr>
        <p:spPr>
          <a:xfrm rot="0" flipH="0" flipV="0">
            <a:off x="819150" y="5362575"/>
            <a:ext cx="1055370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>
                <a:solidFill>
                  <a:srgbClr val="276FBF"/>
                </a:solidFill>
                <a:latin typeface="Microsoft YaHei"/>
                <a:ea typeface="Microsoft YaHei"/>
              </a:rPr>
              <a:t>练习</a:t>
            </a:r>
            <a:endParaRPr/>
          </a:p>
        </p:txBody>
      </p:sp>
      <p:sp>
        <p:nvSpPr>
          <p:cNvPr id="401" name="" descr="{&quot;isTemplate&quot;:true,&quot;type&quot;:&quot;text&quot;}"/>
          <p:cNvSpPr txBox="1"/>
          <p:nvPr/>
        </p:nvSpPr>
        <p:spPr>
          <a:xfrm rot="0" flipH="0" flipV="0">
            <a:off x="819150" y="5591175"/>
            <a:ext cx="10553700" cy="257175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1125">
                <a:solidFill>
                  <a:srgbClr val="20344B"/>
                </a:solidFill>
                <a:latin typeface="Microsoft YaHei"/>
                <a:ea typeface="Microsoft YaHei"/>
              </a:rPr>
              <a:t>把“余真会帮助所有人快速完成业务”拆成材料与假设：职责和帮助条件写入人物材料，“所有人”“快速”“完成业务”不是已取得的结果。</a:t>
            </a:r>
            <a:endParaRPr/>
          </a:p>
        </p:txBody>
      </p:sp>
      <p:sp>
        <p:nvSpPr>
          <p:cNvPr id="402" name="" descr="{&quot;isTemplate&quot;:true,&quot;type&quot;:&quot;text&quot;}"/>
          <p:cNvSpPr txBox="1"/>
          <p:nvPr/>
        </p:nvSpPr>
        <p:spPr>
          <a:xfrm rot="0" flipH="0" flipV="0">
            <a:off x="609600" y="6400800"/>
            <a:ext cx="18288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 xml:space="preserve">5.2 </a:t>
            </a: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材料来源、假设与可用范围</a:t>
            </a:r>
            <a:endParaRPr/>
          </a:p>
        </p:txBody>
      </p:sp>
      <p:sp>
        <p:nvSpPr>
          <p:cNvPr id="403" name="" descr="{&quot;isTemplate&quot;:true,&quot;type&quot;:&quot;text&quot;}"/>
          <p:cNvSpPr txBox="1"/>
          <p:nvPr/>
        </p:nvSpPr>
        <p:spPr>
          <a:xfrm rot="0" flipH="0" flipV="0">
            <a:off x="11125200" y="6400800"/>
            <a:ext cx="4572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>22 / 23</a:t>
            </a:r>
            <a:endParaRPr/>
          </a:p>
        </p:txBody>
      </p:sp>
    </p:spTree>
  </p:cSld>
</p:sld>
</file>

<file path=ppt/slides/slide23.xml><?xml version="1.0" encoding="utf-8"?>
<p:sld xmlns:p="http://schemas.openxmlformats.org/presentationml/2006/main" xmlns:a="http://schemas.openxmlformats.org/drawingml/2006/main">
  <p:cSld>
    <p:spTree>
      <p:nvGrpSpPr>
        <p:cNvPr id="404" name="" descr="&lt;Slide notes={`我们用三个问题收尾。接收者能回答这三个问题，说明这套资料集是可以解释的。&#10;&#10;第一个，为什么是五个人、三个对象、七十六步？第二个，为什么两个人的首句相同，却去了不同的窗口？第三个，哪些信息到现在仍然不知道？&#10;&#10;第一个问题考的是采用条件有没有写清楚；第二个问题考的是你分得清相同表达背后的不同目的；第三个问题考的恰恰是你的诚实——空白有没有被偷偷补齐。&#10;&#10;我要提醒一句：能回答这三个问题，只能说明资料集可解释。它还不能支持你说“系统已配置”或者“咨询策略有效”。那两句话要有实际执行记录和证据才说得出口。&#10;&#10;本节就到这里，接下去的一节处理作者资源与信息边界。`} style={{ width: 1280, height: 720, background: '#FFFFFF', flexDirection: 'column', padding: '20px 64px' }}&gt;&#10;&#10;    &lt;Box style={{ height: 640, flexDirection: 'column', justifyContent: 'center', gap: 20 }}&gt;&#10;&#10;        &lt;Text style={{ fontSize: 15, color: '#CB6B28' }}&gt;5.2 收尾&lt;/Text&gt;&#10;&#10;        &lt;Text style={{ fontSize: 52, fontWeight: 'bold', color: '#20344B', lineHeight: 1.2 }}&gt;三个“为什么”&lt;/Text&gt;&#10;&#10;        &lt;Box style={{ width: 72, height: 4, background: '#276FBF' }} /&gt;&#10;&#10;        &lt;Text style={{ fontSize: 17, color: '#546779', lineHeight: 1.7, width: 940 }}&gt;接收者能回答这三个问题，说明资料集可解释；但还不能据此填写“系统已配置”或“咨询策略有效”。&lt;/Text&gt;&#10;&#10;        &lt;Box style={{ width: 1152, height: 84, background: '#EDF4FC', borderRadius: 10, padding: '0 22px', flexDirection: 'row', alignItems: 'center', gap: 16, marginTop: 6 }}&gt;&#10;            &lt;Box style={{ width: 4, height: 44, background: '#276FBF' }} /&gt;&#10;            &lt;Box style={{ flexDirection: 'column', gap: 4 }}&gt;&#10;                &lt;Text style={{ fontSize: 18, fontWeight: 'bold', color: '#20344B' }}&gt;为什么是五个人、三个对象、76 步？&lt;/Text&gt;&#10;                &lt;Text style={{ fontSize: 14, color: '#546779' }}&gt;每一个数字都要能追到本轮采用的固定条件&lt;/Text&gt;&#10;            &lt;/Box&gt;&#10;        &lt;/Box&gt;&#10;&#10;        &lt;Box style={{ width: 1152, height: 84, background: '#ECF7F2', borderRadius: 10, padding: '0 22px', flexDirection: 'row', alignItems: 'center', gap: 16 }}&gt;&#10;            &lt;Box style={{ width: 4, height: 44, background: '#26816B' }} /&gt;&#10;            &lt;Box style={{ flexDirection: 'column', gap: 4 }}&gt;&#10;                &lt;Text style={{ fontSize: 18, fontWeight: 'bold', color: '#20344B' }}&gt;为什么两人首句相同却去不同窗口？&lt;/Text&gt;&#10;                &lt;Text style={{ fontSize: 14, color: '#546779' }}&gt;相同首句背后是不同的私人目的，不是重复数据&lt;/Text&gt;&#10;            &lt;/Box&gt;&#10;        &lt;/Box&gt;&#10;&#10;        &lt;Box style={{ width: 1152, height: 84, background: '#FFF4E6', borderRadius: 10, padding: '0 22px', flexDirection: 'row', alignItems: 'center', gap: 16 }}&gt;&#10;            &lt;Box style={{ width: 4, height: 44, background: '#CB6B28' }} /&gt;&#10;            &lt;Box style={{ flexDirection: 'column', gap: 4 }}&gt;&#10;                &lt;Text style={{ fontSize: 18, fontWeight: 'bold', color: '#20344B' }}&gt;哪些信息仍然不知道？&lt;/Text&gt;&#10;                &lt;Text style={{ fontSize: 14, color: '#546779' }}&gt;空白要留着，不能被擅自补齐成结论&lt;/Text&gt;&#10;            &lt;/Box&gt;&#10;        &lt;/Box&gt;&#10;&#10;        &lt;Text style={{ fontSize: 15, color: '#546779', marginTop: 6 }}&gt;下一节：作者资源与信息边界　·　5.2 材料来源、假设与可用范围&lt;/Text&gt;&#10;&#10;    &lt;/Box&gt;&#10;&#10;    &lt;Box style={{ height: 40, flexDirection: 'row', justifyContent: 'space-between', alignItems: 'center' }}&gt;&#10;        &lt;Text style={{ fontSize: 14, color: '#546779' }}&gt;5.2 材料来源、假设与可用范围&lt;/Text&gt;&#10;        &lt;Text style={{ fontSize: 14, color: '#546779' }}&gt;23 / 23&lt;/Text&gt;&#10;    &lt;/Box&gt;&#10;&#10;&lt;/Slide&gt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5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406" name="" descr="{&quot;isTemplate&quot;:true,&quot;type&quot;:&quot;text&quot;}"/>
          <p:cNvSpPr txBox="1"/>
          <p:nvPr/>
        </p:nvSpPr>
        <p:spPr>
          <a:xfrm rot="0" flipH="0" flipV="0">
            <a:off x="609600" y="600075"/>
            <a:ext cx="1097280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125">
                <a:solidFill>
                  <a:srgbClr val="CB6B28"/>
                </a:solidFill>
                <a:latin typeface="Microsoft YaHei"/>
                <a:ea typeface="Microsoft YaHei"/>
              </a:rPr>
              <a:t xml:space="preserve">5.2 </a:t>
            </a:r>
            <a:r>
              <a:rPr lang="zh-CN" sz="1125">
                <a:solidFill>
                  <a:srgbClr val="CB6B28"/>
                </a:solidFill>
                <a:latin typeface="Microsoft YaHei"/>
                <a:ea typeface="Microsoft YaHei"/>
              </a:rPr>
              <a:t>收尾</a:t>
            </a:r>
            <a:endParaRPr/>
          </a:p>
        </p:txBody>
      </p:sp>
      <p:sp>
        <p:nvSpPr>
          <p:cNvPr id="407" name="" descr="{&quot;isTemplate&quot;:true,&quot;type&quot;:&quot;text&quot;}"/>
          <p:cNvSpPr txBox="1"/>
          <p:nvPr/>
        </p:nvSpPr>
        <p:spPr>
          <a:xfrm rot="0" flipH="0" flipV="0">
            <a:off x="609600" y="962025"/>
            <a:ext cx="10972800" cy="714375"/>
          </a:xfrm>
          <a:prstGeom prst="rect"/>
        </p:spPr>
        <p:txBody>
          <a:bodyPr wrap="none" lIns="0" tIns="0" rIns="0" bIns="0"/>
          <a:p>
            <a:pPr>
              <a:lnSpc>
                <a:spcPct val="120000"/>
              </a:lnSpc>
            </a:pPr>
            <a:r>
              <a:rPr lang="zh-CN" sz="3900" b="1">
                <a:solidFill>
                  <a:srgbClr val="20344B"/>
                </a:solidFill>
                <a:latin typeface="Microsoft YaHei"/>
                <a:ea typeface="Microsoft YaHei"/>
              </a:rPr>
              <a:t>三个“为什么”</a:t>
            </a:r>
            <a:endParaRPr/>
          </a:p>
        </p:txBody>
      </p:sp>
      <p:sp>
        <p:nvSpPr>
          <p:cNvPr id="408" name=""/>
          <p:cNvSpPr/>
          <p:nvPr/>
        </p:nvSpPr>
        <p:spPr>
          <a:xfrm rot="0" flipH="0" flipV="0">
            <a:off x="609600" y="1866900"/>
            <a:ext cx="685800" cy="38100"/>
          </a:xfrm>
          <a:prstGeom prst="rect">
            <a:avLst/>
          </a:prstGeom>
          <a:solidFill>
            <a:srgbClr val="276FBF"/>
          </a:solidFill>
          <a:ln/>
        </p:spPr>
        <p:txBody>
          <a:bodyPr/>
          <a:p/>
        </p:txBody>
      </p:sp>
      <p:sp>
        <p:nvSpPr>
          <p:cNvPr id="409" name="" descr="{&quot;isTemplate&quot;:true,&quot;type&quot;:&quot;text&quot;}"/>
          <p:cNvSpPr txBox="1"/>
          <p:nvPr/>
        </p:nvSpPr>
        <p:spPr>
          <a:xfrm rot="0" flipH="0" flipV="0">
            <a:off x="609600" y="2095500"/>
            <a:ext cx="8953500" cy="333375"/>
          </a:xfrm>
          <a:prstGeom prst="rect"/>
        </p:spPr>
        <p:txBody>
          <a:bodyPr wrap="none" lIns="0" tIns="0" rIns="0" bIns="0"/>
          <a:p>
            <a:pPr>
              <a:lnSpc>
                <a:spcPct val="170000"/>
              </a:lnSpc>
            </a:pPr>
            <a:r>
              <a:rPr lang="zh-CN" sz="1275">
                <a:solidFill>
                  <a:srgbClr val="546779"/>
                </a:solidFill>
                <a:latin typeface="Microsoft YaHei"/>
                <a:ea typeface="Microsoft YaHei"/>
              </a:rPr>
              <a:t>接收者能回答这三个问题，说明资料集可解释；但还不能据此填写“系统已配置”或“咨询策略有效”。</a:t>
            </a:r>
            <a:endParaRPr/>
          </a:p>
        </p:txBody>
      </p:sp>
      <p:sp>
        <p:nvSpPr>
          <p:cNvPr id="410" name=""/>
          <p:cNvSpPr/>
          <p:nvPr/>
        </p:nvSpPr>
        <p:spPr>
          <a:xfrm rot="0" flipH="0" flipV="0">
            <a:off x="609600" y="2676525"/>
            <a:ext cx="10972800" cy="800100"/>
          </a:xfrm>
          <a:prstGeom prst="roundRect">
            <a:avLst>
              <a:gd name="adj" fmla="val 11905"/>
            </a:avLst>
          </a:prstGeom>
          <a:solidFill>
            <a:srgbClr val="EDF4FC"/>
          </a:solidFill>
          <a:ln/>
        </p:spPr>
        <p:txBody>
          <a:bodyPr/>
          <a:p/>
        </p:txBody>
      </p:sp>
      <p:sp>
        <p:nvSpPr>
          <p:cNvPr id="411" name=""/>
          <p:cNvSpPr/>
          <p:nvPr/>
        </p:nvSpPr>
        <p:spPr>
          <a:xfrm rot="0" flipH="0" flipV="0">
            <a:off x="819150" y="2867025"/>
            <a:ext cx="38100" cy="419100"/>
          </a:xfrm>
          <a:prstGeom prst="rect">
            <a:avLst/>
          </a:prstGeom>
          <a:solidFill>
            <a:srgbClr val="276FBF"/>
          </a:solidFill>
          <a:ln/>
        </p:spPr>
        <p:txBody>
          <a:bodyPr/>
          <a:p/>
        </p:txBody>
      </p:sp>
      <p:sp>
        <p:nvSpPr>
          <p:cNvPr id="412" name="" descr="{&quot;isTemplate&quot;:true,&quot;type&quot;:&quot;text&quot;}"/>
          <p:cNvSpPr txBox="1"/>
          <p:nvPr/>
        </p:nvSpPr>
        <p:spPr>
          <a:xfrm rot="0" flipH="0" flipV="0">
            <a:off x="1009650" y="2876550"/>
            <a:ext cx="2838450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350" b="1">
                <a:solidFill>
                  <a:srgbClr val="20344B"/>
                </a:solidFill>
                <a:latin typeface="Microsoft YaHei"/>
                <a:ea typeface="Microsoft YaHei"/>
              </a:rPr>
              <a:t>为什么是五个人、三个对象、</a:t>
            </a:r>
            <a:r>
              <a:rPr lang="en-US" sz="1350" b="1">
                <a:solidFill>
                  <a:srgbClr val="20344B"/>
                </a:solidFill>
                <a:latin typeface="Microsoft YaHei"/>
                <a:ea typeface="Microsoft YaHei"/>
              </a:rPr>
              <a:t xml:space="preserve">76 </a:t>
            </a:r>
            <a:r>
              <a:rPr lang="zh-CN" sz="1350" b="1">
                <a:solidFill>
                  <a:srgbClr val="20344B"/>
                </a:solidFill>
                <a:latin typeface="Microsoft YaHei"/>
                <a:ea typeface="Microsoft YaHei"/>
              </a:rPr>
              <a:t>步？</a:t>
            </a:r>
            <a:endParaRPr/>
          </a:p>
        </p:txBody>
      </p:sp>
      <p:sp>
        <p:nvSpPr>
          <p:cNvPr id="413" name="" descr="{&quot;isTemplate&quot;:true,&quot;type&quot;:&quot;text&quot;}"/>
          <p:cNvSpPr txBox="1"/>
          <p:nvPr/>
        </p:nvSpPr>
        <p:spPr>
          <a:xfrm rot="0" flipH="0" flipV="0">
            <a:off x="1009650" y="3124200"/>
            <a:ext cx="28384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每一个数字都要能追到本轮采用的固定条件</a:t>
            </a:r>
            <a:endParaRPr/>
          </a:p>
        </p:txBody>
      </p:sp>
      <p:sp>
        <p:nvSpPr>
          <p:cNvPr id="414" name=""/>
          <p:cNvSpPr/>
          <p:nvPr/>
        </p:nvSpPr>
        <p:spPr>
          <a:xfrm rot="0" flipH="0" flipV="0">
            <a:off x="609600" y="3667125"/>
            <a:ext cx="10972800" cy="800100"/>
          </a:xfrm>
          <a:prstGeom prst="roundRect">
            <a:avLst>
              <a:gd name="adj" fmla="val 11905"/>
            </a:avLst>
          </a:prstGeom>
          <a:solidFill>
            <a:srgbClr val="ECF7F2"/>
          </a:solidFill>
          <a:ln/>
        </p:spPr>
        <p:txBody>
          <a:bodyPr/>
          <a:p/>
        </p:txBody>
      </p:sp>
      <p:sp>
        <p:nvSpPr>
          <p:cNvPr id="415" name=""/>
          <p:cNvSpPr/>
          <p:nvPr/>
        </p:nvSpPr>
        <p:spPr>
          <a:xfrm rot="0" flipH="0" flipV="0">
            <a:off x="819150" y="3857625"/>
            <a:ext cx="38100" cy="419100"/>
          </a:xfrm>
          <a:prstGeom prst="rect">
            <a:avLst/>
          </a:prstGeom>
          <a:solidFill>
            <a:srgbClr val="26816B"/>
          </a:solidFill>
          <a:ln/>
        </p:spPr>
        <p:txBody>
          <a:bodyPr/>
          <a:p/>
        </p:txBody>
      </p:sp>
      <p:sp>
        <p:nvSpPr>
          <p:cNvPr id="416" name="" descr="{&quot;isTemplate&quot;:true,&quot;type&quot;:&quot;text&quot;}"/>
          <p:cNvSpPr txBox="1"/>
          <p:nvPr/>
        </p:nvSpPr>
        <p:spPr>
          <a:xfrm rot="0" flipH="0" flipV="0">
            <a:off x="1009650" y="3867150"/>
            <a:ext cx="2800350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350" b="1">
                <a:solidFill>
                  <a:srgbClr val="20344B"/>
                </a:solidFill>
                <a:latin typeface="Microsoft YaHei"/>
                <a:ea typeface="Microsoft YaHei"/>
              </a:rPr>
              <a:t>为什么两人首句相同却去不同窗口？</a:t>
            </a:r>
            <a:endParaRPr/>
          </a:p>
        </p:txBody>
      </p:sp>
      <p:sp>
        <p:nvSpPr>
          <p:cNvPr id="417" name="" descr="{&quot;isTemplate&quot;:true,&quot;type&quot;:&quot;text&quot;}"/>
          <p:cNvSpPr txBox="1"/>
          <p:nvPr/>
        </p:nvSpPr>
        <p:spPr>
          <a:xfrm rot="0" flipH="0" flipV="0">
            <a:off x="1009650" y="4114800"/>
            <a:ext cx="28003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相同首句背后是不同的私人目的，不是重复数据</a:t>
            </a:r>
            <a:endParaRPr/>
          </a:p>
        </p:txBody>
      </p:sp>
      <p:sp>
        <p:nvSpPr>
          <p:cNvPr id="418" name=""/>
          <p:cNvSpPr/>
          <p:nvPr/>
        </p:nvSpPr>
        <p:spPr>
          <a:xfrm rot="0" flipH="0" flipV="0">
            <a:off x="609600" y="4657725"/>
            <a:ext cx="10972800" cy="800100"/>
          </a:xfrm>
          <a:prstGeom prst="roundRect">
            <a:avLst>
              <a:gd name="adj" fmla="val 11905"/>
            </a:avLst>
          </a:prstGeom>
          <a:solidFill>
            <a:srgbClr val="FFF4E6"/>
          </a:solidFill>
          <a:ln/>
        </p:spPr>
        <p:txBody>
          <a:bodyPr/>
          <a:p/>
        </p:txBody>
      </p:sp>
      <p:sp>
        <p:nvSpPr>
          <p:cNvPr id="419" name=""/>
          <p:cNvSpPr/>
          <p:nvPr/>
        </p:nvSpPr>
        <p:spPr>
          <a:xfrm rot="0" flipH="0" flipV="0">
            <a:off x="819150" y="4848225"/>
            <a:ext cx="38100" cy="419100"/>
          </a:xfrm>
          <a:prstGeom prst="rect">
            <a:avLst/>
          </a:prstGeom>
          <a:solidFill>
            <a:srgbClr val="CB6B28"/>
          </a:solidFill>
          <a:ln/>
        </p:spPr>
        <p:txBody>
          <a:bodyPr/>
          <a:p/>
        </p:txBody>
      </p:sp>
      <p:sp>
        <p:nvSpPr>
          <p:cNvPr id="420" name="" descr="{&quot;isTemplate&quot;:true,&quot;type&quot;:&quot;text&quot;}"/>
          <p:cNvSpPr txBox="1"/>
          <p:nvPr/>
        </p:nvSpPr>
        <p:spPr>
          <a:xfrm rot="0" flipH="0" flipV="0">
            <a:off x="1009650" y="4857750"/>
            <a:ext cx="2133600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350" b="1">
                <a:solidFill>
                  <a:srgbClr val="20344B"/>
                </a:solidFill>
                <a:latin typeface="Microsoft YaHei"/>
                <a:ea typeface="Microsoft YaHei"/>
              </a:rPr>
              <a:t>哪些信息仍然不知道？</a:t>
            </a:r>
            <a:endParaRPr/>
          </a:p>
        </p:txBody>
      </p:sp>
      <p:sp>
        <p:nvSpPr>
          <p:cNvPr id="421" name="" descr="{&quot;isTemplate&quot;:true,&quot;type&quot;:&quot;text&quot;}"/>
          <p:cNvSpPr txBox="1"/>
          <p:nvPr/>
        </p:nvSpPr>
        <p:spPr>
          <a:xfrm rot="0" flipH="0" flipV="0">
            <a:off x="1009650" y="5105400"/>
            <a:ext cx="21336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空白要留着，不能被擅自补齐成结论</a:t>
            </a:r>
            <a:endParaRPr/>
          </a:p>
        </p:txBody>
      </p:sp>
      <p:sp>
        <p:nvSpPr>
          <p:cNvPr id="422" name="" descr="{&quot;isTemplate&quot;:true,&quot;type&quot;:&quot;text&quot;}"/>
          <p:cNvSpPr txBox="1"/>
          <p:nvPr/>
        </p:nvSpPr>
        <p:spPr>
          <a:xfrm rot="0" flipH="0" flipV="0">
            <a:off x="609600" y="5705475"/>
            <a:ext cx="1097280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>
                <a:solidFill>
                  <a:srgbClr val="546779"/>
                </a:solidFill>
                <a:latin typeface="Microsoft YaHei"/>
                <a:ea typeface="Microsoft YaHei"/>
              </a:rPr>
              <a:t>下一节：作者资源与信息边界　·　</a:t>
            </a:r>
            <a:r>
              <a:rPr lang="en-US" sz="1125">
                <a:solidFill>
                  <a:srgbClr val="546779"/>
                </a:solidFill>
                <a:latin typeface="Microsoft YaHei"/>
                <a:ea typeface="Microsoft YaHei"/>
              </a:rPr>
              <a:t xml:space="preserve">5.2 </a:t>
            </a:r>
            <a:r>
              <a:rPr lang="zh-CN" sz="1125">
                <a:solidFill>
                  <a:srgbClr val="546779"/>
                </a:solidFill>
                <a:latin typeface="Microsoft YaHei"/>
                <a:ea typeface="Microsoft YaHei"/>
              </a:rPr>
              <a:t>材料来源、假设与可用范围</a:t>
            </a:r>
            <a:endParaRPr/>
          </a:p>
        </p:txBody>
      </p:sp>
      <p:sp>
        <p:nvSpPr>
          <p:cNvPr id="423" name="" descr="{&quot;isTemplate&quot;:true,&quot;type&quot;:&quot;text&quot;}"/>
          <p:cNvSpPr txBox="1"/>
          <p:nvPr/>
        </p:nvSpPr>
        <p:spPr>
          <a:xfrm rot="0" flipH="0" flipV="0">
            <a:off x="609600" y="6400800"/>
            <a:ext cx="18288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 xml:space="preserve">5.2 </a:t>
            </a: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材料来源、假设与可用范围</a:t>
            </a:r>
            <a:endParaRPr/>
          </a:p>
        </p:txBody>
      </p:sp>
      <p:sp>
        <p:nvSpPr>
          <p:cNvPr id="424" name="" descr="{&quot;isTemplate&quot;:true,&quot;type&quot;:&quot;text&quot;}"/>
          <p:cNvSpPr txBox="1"/>
          <p:nvPr/>
        </p:nvSpPr>
        <p:spPr>
          <a:xfrm rot="0" flipH="0" flipV="0">
            <a:off x="11125200" y="6400800"/>
            <a:ext cx="4572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>23 / 23</a:t>
            </a:r>
            <a:endParaRPr/>
          </a:p>
        </p:txBody>
      </p:sp>
    </p:spTree>
  </p:cSld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等线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Application>Tencent office</Applicat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2026-09-29T10:11:54Z</dcterms:created>
  <dcterms:modified xsi:type="dcterms:W3CDTF">2026-09-29T10:11:54Z</dcterms:modified>
</cp:coreProperties>
</file>