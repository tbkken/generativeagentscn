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viewProps.xml" ContentType="application/vnd.openxmlformats-officedocument.presentationml.viewProps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slide" Target="slides/slide14.xml" /><Relationship Id="rId8" Type="http://schemas.openxmlformats.org/officeDocument/2006/relationships/slide" Target="slides/slide8.xml" /><Relationship Id="rId31" Type="http://schemas.openxmlformats.org/officeDocument/2006/relationships/viewProps" Target="viewProps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26" Type="http://schemas.openxmlformats.org/officeDocument/2006/relationships/slide" Target="slides/slide26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7" Type="http://schemas.openxmlformats.org/officeDocument/2006/relationships/slide" Target="slides/slide27.xml" /><Relationship Id="rId28" Type="http://schemas.openxmlformats.org/officeDocument/2006/relationships/notesMaster" Target="notesMasters/notesMaster1.xml" /><Relationship Id="rId29" Type="http://schemas.openxmlformats.org/officeDocument/2006/relationships/presProps" Target="presProps.xml" /><Relationship Id="rId3" Type="http://schemas.openxmlformats.org/officeDocument/2006/relationships/slide" Target="slides/slide3.xml" /><Relationship Id="rId30" Type="http://schemas.openxmlformats.org/officeDocument/2006/relationships/tableStyles" Target="tableStyle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把材料整理清楚只是第一步。接下来要决定的是，同一份整理稿里的每一句话，究竟该让谁看到。</a:t>
            </a:r>
          </a:p>
          <a:p>
            <a:r>
              <a:rPr lang="zh-CN" dirty="0"/>
              <a:t>作者和评分者需要看到完整答案表，因为那是他们判断的依据；来访者本人只能知道自己要办什么事、第一句话说什么，不能提前知道窗口怎么分工。咨询台和窗口人员知道自己负责哪块业务，但同样不该知道每个人属于哪一类。</a:t>
            </a:r>
          </a:p>
          <a:p>
            <a:r>
              <a:rPr lang="zh-CN" dirty="0"/>
              <a:t>最容易出错的地方，是把方便当成正确。为了调试顺利，把完整需求表塞进共同 Brain，看起来谁都不会走错，可整个澄清策略就失效了——咨询台一开始就知道答案，还谈什么先问清楚。</a:t>
            </a:r>
          </a:p>
          <a:p>
            <a:r>
              <a:rPr lang="zh-CN" dirty="0"/>
              <a:t>所以材料装错位置，不是模型出了问题，是我们自己把答案提前泄露了。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这一节要看清六件事，它们是一条链，不是六份清单。</a:t>
            </a:r>
          </a:p>
          <a:p>
            <a:r>
              <a:rPr lang="zh-CN" dirty="0"/>
              <a:t>先解决分配：同一张作者表里的话要分别给作者、来访者本人、其他来访者和咨询台，答案表单独留给作者和评分者。分完以后，地图负责给地点，不负责回答该去哪个窗口——公开的空间语义里不能写任务答案。</a:t>
            </a:r>
          </a:p>
          <a:p>
            <a:r>
              <a:rPr lang="zh-CN" dirty="0"/>
              <a:t>接着要把人跟物分开核对：五个身份是五条独立 Agent，三个窗口对象是设施，两者不能混为一谈。材料齐了还要逐项点清装进实验的五类输入，漏一类都会在运行时变成悬空引用。</a:t>
            </a:r>
          </a:p>
          <a:p>
            <a:r>
              <a:rPr lang="zh-CN" dirty="0"/>
              <a:t>最后用四栏状态记录进度：文稿、公共资源、实验副本、运行证据，它们可以有不同状态，不能用一个绿色完成盖住全部工作。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同一张作者表，交付给不同的人，不能是同一份东西。</a:t>
            </a:r>
          </a:p>
          <a:p>
            <a:r>
              <a:rPr lang="zh-CN" dirty="0"/>
              <a:t>作者和评分者要看完整的目的、规定首句、窗口职责和答案表，因为判分需要这些。来访者本人只需要知道自己的目的和第一句话，其他来访者更不该预先拿到别人的目的。咨询台和窗口人员处在中间：他们知道自己负责哪块业务，但不知道谁会来、找哪类问题。</a:t>
            </a:r>
          </a:p>
          <a:p>
            <a:r>
              <a:rPr lang="zh-CN" dirty="0"/>
              <a:t>切材料不是按文件大小平均分，而是按用途分。角色资料管「我是谁、我要做什么」，对象知识管「这个设施是什么、能做什么交互」，空间语义管「哪里有路」，评分答案只服务评判。</a:t>
            </a:r>
          </a:p>
          <a:p>
            <a:r>
              <a:rPr lang="zh-CN" dirty="0"/>
              <a:t>这四类东西一旦混在一起，实验就不再测澄清策略，而是在测模型能不能照着答案演一遍。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先看作者和评分者。他们手里应该有这位来访者的完整目的、规定的首句、窗口职责，还有四个任务的教师答案表。这些是判分依据，只有作者一侧才需要。</a:t>
            </a:r>
          </a:p>
          <a:p>
            <a:r>
              <a:rPr lang="zh-CN" dirty="0"/>
              <a:t>再看来访者本人。他只知道自己的目的和第一句话；窗口怎么分工、教师答案是什么，他一开始都不知道。另外三位来访者也一样，不会预先拿到别人的目的和首句。</a:t>
            </a:r>
          </a:p>
          <a:p>
            <a:r>
              <a:rPr lang="zh-CN" dirty="0"/>
              <a:t>咨询台、两个窗口和引导员余真处在中间位置：他们事先知道窗口职责，但不知道每个人的私人目的和首句，更不知道答案。</a:t>
            </a:r>
          </a:p>
          <a:p>
            <a:r>
              <a:rPr lang="zh-CN" dirty="0"/>
              <a:t>最后单独看教师答案表。它虽然也放在作者一侧，但性质和其他材料不同——不能进角色资料，也不能进公共 Brain。分支表示的是归属，不代表消息已经投递出去。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资源分配表至少要写清四件事：内容是什么、交给谁、通过什么方式进去、以及绝对不能顺带包含什么。</a:t>
            </a:r>
          </a:p>
          <a:p>
            <a:r>
              <a:rPr lang="zh-CN" dirty="0"/>
              <a:t>比如四个 Arena 的名称、范围与一般空间用途，放进地图语义里，谁都可以按感知取得；但四人的私人任务和正确分流答案不能跟着进去。窗口分工属于咨询台、两个窗口和余真的资料，但不能写成「某位来访者一定属于哪类」的完整映射。</a:t>
            </a:r>
          </a:p>
          <a:p>
            <a:r>
              <a:rPr lang="zh-CN" dirty="0"/>
              <a:t>H1 到 H4 的完整私人目的只进对应的初态资料。感知、询问、移动、确认和停止这些通用能力进共用 Brain，但完整任务表和预定好的成功剧情不进。</a:t>
            </a:r>
          </a:p>
          <a:p>
            <a:r>
              <a:rPr lang="zh-CN" dirty="0"/>
              <a:t>角色资料、对象知识、空间语义和评分答案用途完全不同，不能按文件大小平均切分。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「每人获得自己的任务」这句话很容易被读大。它具体指的是每个人得到自己的目的和第一句话，不是把作者表里那一列正确答案一起复制过去。</a:t>
            </a:r>
          </a:p>
          <a:p>
            <a:r>
              <a:rPr lang="zh-CN" dirty="0"/>
              <a:t>有人会想，那要不要加一层隐藏权限，让系统在背后替作者纠正分配错误？这里是没有的。边界只能靠材料本身划清：谁该看到什么，在材料放进去的那一刻就已经决定了。</a:t>
            </a:r>
          </a:p>
          <a:p>
            <a:r>
              <a:rPr lang="zh-CN" dirty="0"/>
              <a:t>一旦把答案写进共同输入，模型读到它，严格来说不是跨身份记忆泄漏——所有角色共享同一份输入，谈不上谁泄漏给谁。真正发生的是作者自己把答案放错了位置。此后关于「咨询台为什么一开始就知道答案」的追问，答案都在材料里，而不在模型里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把信息分好以后，还有一类东西特别容易混进来，那就是地图。</a:t>
            </a:r>
          </a:p>
          <a:p>
            <a:r>
              <a:rPr lang="zh-CN" dirty="0"/>
              <a:t>地图在实验里承担的职责很清楚：它告诉人物「在哪里」。四个 Arena 的地址、Sector 的层级、A 服务区里有一个咨询窗口，这些都是公开的空间事实，谁来都能看见。</a:t>
            </a:r>
          </a:p>
          <a:p>
            <a:r>
              <a:rPr lang="zh-CN" dirty="0"/>
              <a:t>但它不负责回答「该去哪个窗口」。这四个字才是任务答案，属于评分判据。如果为了让人物别走错，就把分工写进每个 Arena 的公共语义里，那实验测的就不是澄清策略，而是人物能不能读懂提示。</a:t>
            </a:r>
          </a:p>
          <a:p>
            <a:r>
              <a:rPr lang="zh-CN" dirty="0"/>
              <a:t>所以这一节要划的线是：公开空间说明可以描述设施本身，不能描述「谁会来办哪一类事」。地图把舞台搭好，戏怎么演，还得靠人物自己去问。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地图的来源和第三章不一样。这里是 World「青禾社区」，下面挂 Sector「便民服务站」，再往下是四个 Arena：入口、等候区、A 服务区和 B 服务区。四个草图矩形沿用第四章的坐标，整图二十乘十六格，不沿用第三章学习中心的房间坐标。</a:t>
            </a:r>
          </a:p>
          <a:p>
            <a:r>
              <a:rPr lang="zh-CN" dirty="0"/>
              <a:t>三个 Game Object 分别是入口的咨询台、A 服务区的 A 窗口和 B 服务区的 B 窗口。它们是设施，不是角色，不会被当成人。</a:t>
            </a:r>
          </a:p>
          <a:p>
            <a:r>
              <a:rPr lang="zh-CN" dirty="0"/>
              <a:t>公开的空间说明可以写「A 服务区内设一个咨询窗口」，这是描述设施本身。但不能写「这里专门解决某两位来访者的问题」，也不能把分工答案写进 Arena 的公共语义里。地图说清楚「在哪里」，不回答「该去哪个窗口」。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地图不只是背景图。它由三部分组成，各自负责一段。</a:t>
            </a:r>
          </a:p>
          <a:p>
            <a:r>
              <a:rPr lang="zh-CN" dirty="0"/>
              <a:t>图片负责「看起来是什么」——柜台长什么样。节点和语义负责「这个设施是什么、能做什么交互」，这一层是公开的，所以里面不能写任务答案。碰撞和通路负责「人物能到哪里」——能不能走过去，会不会穿过去。</a:t>
            </a:r>
          </a:p>
          <a:p>
            <a:r>
              <a:rPr lang="zh-CN" dirty="0"/>
              <a:t>三个对象的具体矩形和相邻格子，仍然要在素材制作阶段补齐并核验。现在手里的是草图，不能把尚未完成的草图称为可以导入的地图，更不能临时借用旧案例里同名的物件，就认为地址的含义一样。第三章讲过地图与空间的操作，进到相应服务区以后，人物还要从感知里取得对象地址与交互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两组来访者拿到的东西是一样的：四个 Arena 的真实初始已知地址。这一点不能省，否则人物连路都走不了，实验根本跑不起来。</a:t>
            </a:r>
          </a:p>
          <a:p>
            <a:r>
              <a:rPr lang="zh-CN" dirty="0"/>
              <a:t>但地址不等于答案。他们不知道窗口怎么分工，也不知道自己被归到哪一类。真正进入相应服务区以后，还要从感知里取得对象地址和交互项——也就是说，走近了才看得见柜台。</a:t>
            </a:r>
          </a:p>
          <a:p>
            <a:r>
              <a:rPr lang="zh-CN" dirty="0"/>
              <a:t>还有一条容易被忽略：收到一句文字形式的地址，不会自动新增系统的已知空间。地址要真的存进已知空间里，人物才认这个位置。</a:t>
            </a:r>
          </a:p>
          <a:p>
            <a:r>
              <a:rPr lang="zh-CN" dirty="0"/>
              <a:t>所以这一步提供的是合法移动的公共空间基础，不是让角色提前知道咨询答案。前者是入场券，后者是作弊，两者在材料上必须分得清清楚楚。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分完信息，接下来要分别核对两份清单。</a:t>
            </a:r>
          </a:p>
          <a:p>
            <a:r>
              <a:rPr lang="zh-CN" dirty="0"/>
              <a:t>第一份是人物目录。它必须包含周澈、谭悦、孟川、邱禾和余真五条独立的 Agent。注意 H1 到 H4 只是任务标签，是作者表里的编号，不能代替实际保存之后的 Agent 身份——保存下来的是五条身份，不是四个标签再加一个引导员。</a:t>
            </a:r>
          </a:p>
          <a:p>
            <a:r>
              <a:rPr lang="zh-CN" dirty="0"/>
              <a:t>第二份是资源目录。三个绑定 Skill 的设施——咨询台、A 窗口、B 窗口——不进公共人物目录，它们是对象，不是人。Crowd 也只是这五个人的选择集，不是第六位角色。</a:t>
            </a:r>
          </a:p>
          <a:p>
            <a:r>
              <a:rPr lang="zh-CN" dirty="0"/>
              <a:t>两份清单分开列，核对的时候才不会把设施当成人，也不会因为少了一个人而看不出问题。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五名 Agent 分别是周澈、谭悦、孟川、邱禾和引导员余真。四位来访者各有一条独立的 Agent 身份，余真是引导员。</a:t>
            </a:r>
          </a:p>
          <a:p>
            <a:r>
              <a:rPr lang="zh-CN" dirty="0"/>
              <a:t>周澈要借活动室办读书会，得先确认照明；谭悦想预约手工作品展示，关心桌面照明。孟川发现东侧一盏灯不亮，邱禾发现入口灯持续闪烁，他们想知道怎么报告。这四件事分属两类：一类是安排以后怎么用，一类是报告现在坏了什么。</a:t>
            </a:r>
          </a:p>
          <a:p>
            <a:r>
              <a:rPr lang="zh-CN" dirty="0"/>
              <a:t>最容易出错的是把 H1 到 H4 当成人物。它们只是任务标签，是对着作者表说话的编号。真正保存进系统的是五条身份，余真也在其中，不能因为她不求助就漏掉。</a:t>
            </a:r>
          </a:p>
          <a:p>
            <a:r>
              <a:rPr lang="zh-CN" dirty="0"/>
              <a:t>Crowd 只是一个把五个人选进来的集合，不是第六位角色；三个设施也不进公共人物目录。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打开周澈的资料，应该看到未来读书会的私人目的和规定首句；不应该看到「正确窗口 A」这样的评分提示。前者是他的处境，后者是判分答案。</a:t>
            </a:r>
          </a:p>
          <a:p>
            <a:r>
              <a:rPr lang="zh-CN" dirty="0"/>
              <a:t>打开孟川的资料，应该看到他对现有灯光问题的初始经历；他的首次话语和周澈一样，容易被当成错误。</a:t>
            </a:r>
          </a:p>
          <a:p>
            <a:r>
              <a:rPr lang="zh-CN" dirty="0"/>
              <a:t>打开余真的资料，他应该知道服务分工和咨询台位置，但初始不知道四项具体任务。他的共同策略是「对实际遇到且求助的人说明入口与已知地址，不替咨询台预先分类」。如果加上主动逐人问询，看起来只是人物更热情，实际会改变两组拿到的信息渠道。</a:t>
            </a:r>
          </a:p>
          <a:p>
            <a:r>
              <a:rPr lang="zh-CN" dirty="0"/>
              <a:t>公共 Brain 可以要求「被问到后如实补充自己的目的」，但不能把各人的私人目的再汇总抄一遍。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公共 Agent 的核心定义里是没有出生坐标的。这一点很重要，因为出生位置取决于这次实验怎么装配，而不是这个人物本身是谁。选入实验之后，四位来访者装配到入口，余真装配到等候区，然后要记录空间选择器实际保存下来的位置，不能凭印象写。</a:t>
            </a:r>
          </a:p>
          <a:p>
            <a:r>
              <a:rPr lang="zh-CN" dirty="0"/>
              <a:t>还有一件事容易走偏：初始经历来自作者设定，不需要伪造一条声称在某个 Step 发生过的记忆记录。人物一开始就知道灯坏了，这是作者给的设定，不是他跑出来的结果。</a:t>
            </a:r>
          </a:p>
          <a:p>
            <a:r>
              <a:rPr lang="zh-CN" dirty="0"/>
              <a:t>真正的记忆证据，是角色进入运行以后，通过真实的工具调用写入和更新的。这条界线划清了，我们才知道哪些内容是设计，哪些是运行事实。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前四块都在解决「谁看到什么」，接下来要回答一个更实在的问题：装进实验的到底是什么。</a:t>
            </a:r>
          </a:p>
          <a:p>
            <a:r>
              <a:rPr lang="zh-CN" dirty="0"/>
              <a:t>可以这样理解：把一个独立实验当作一个包裹，它需要的内容有地图与三个对象、五名 Agent 与 Crowd、Brain 与对象 Skill、模型配置，再加上实验装配本身。少一样，实验就跑不起来，或者跑起来也不是你要的那个。</a:t>
            </a:r>
          </a:p>
          <a:p>
            <a:r>
              <a:rPr lang="zh-CN" dirty="0"/>
              <a:t>「完整内容与装配」这几个字是重点。资源不是只写一段描述就够了，地图要有真实图片和节点资料，人物要有头像和行走图，Brain 要有完整正文。</a:t>
            </a:r>
          </a:p>
          <a:p>
            <a:r>
              <a:rPr lang="zh-CN" dirty="0"/>
              <a:t>当前这些资源还都在待制作、待导入的状态。宁可少一类组件，也不要在没有引用的情况下硬凑数量。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作者交付的，不只是几份自然语言段落。</a:t>
            </a:r>
          </a:p>
          <a:p>
            <a:r>
              <a:rPr lang="zh-CN" dirty="0"/>
              <a:t>地图要有实际的图片和节点资料；人物要有对应的头像和行走图；唯一的那份 Brain 要有完整正文；三个对象要各自绑定自己的根 Skill。这四类之外，还要加上模型配置和实验装配，一共五类输入。</a:t>
            </a:r>
          </a:p>
          <a:p>
            <a:r>
              <a:rPr lang="zh-CN" dirty="0"/>
              <a:t>如果引用了子 Skill、脚本或者模板，它们也要进依赖清单。反过来，没有引用就不要为了凑数量去增加组件。</a:t>
            </a:r>
          </a:p>
          <a:p>
            <a:r>
              <a:rPr lang="zh-CN" dirty="0"/>
              <a:t>箭头表示的是完整内容装入实验。要注意，当前这些资源还处在待制作、待导入的状态——没有引用就不凑组件，密钥的值也不进入包。这一点在后面核对的时候会反复用到。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作者侧要准备什么、保存后要登记什么，是两件事，要分开记。</a:t>
            </a:r>
          </a:p>
          <a:p>
            <a:r>
              <a:rPr lang="zh-CN" dirty="0"/>
              <a:t>地图与三个对象：作者侧要有背景、节点、碰撞、对象位置和交互说明；保存后要登记实际资源和节点身份、显示绑定与语义。</a:t>
            </a:r>
          </a:p>
          <a:p>
            <a:r>
              <a:rPr lang="zh-CN" dirty="0"/>
              <a:t>五名 Agent 与 Crowd：作者侧要有各自的资料、图片和五人名单；保存后要核对稳定身份、成员数以及实际保存下来的内容。</a:t>
            </a:r>
          </a:p>
          <a:p>
            <a:r>
              <a:rPr lang="zh-CN" dirty="0"/>
              <a:t>Brain 与对象 Skill：作者侧要有完整正文、包内的 skill_key 以及依赖；保存后要登记真实键、内容摘要和绑定关系。</a:t>
            </a:r>
          </a:p>
          <a:p>
            <a:r>
              <a:rPr lang="zh-CN" dirty="0"/>
              <a:t>模型配置：登记所选配置和凭据的环境要求，但密钥正文不进登记项。</a:t>
            </a:r>
          </a:p>
          <a:p>
            <a:r>
              <a:rPr lang="zh-CN" dirty="0"/>
              <a:t>实验装配：保存后登记实验身份、实际坐标和保存结果。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选入实验的时候，复制过去的是完整内容和它的依赖。这一点要记住：公共资源后面改了，不会自动传到已经复制出去的实验副本里，两边从此是分开的。</a:t>
            </a:r>
          </a:p>
          <a:p>
            <a:r>
              <a:rPr lang="zh-CN" dirty="0"/>
              <a:t>Skill 有个特殊情况。同一个 key、内容也一样，可以合并；同一个 key 但内容不一样，就必须处理冲突，不能靠名字相近就静默挑一个用。</a:t>
            </a:r>
          </a:p>
          <a:p>
            <a:r>
              <a:rPr lang="zh-CN" dirty="0"/>
              <a:t>有人会问，图片原件在我自己的作者目录里明明存在，为什么实验里看不到？因为原件存在，不等于已经上传进实验副本。</a:t>
            </a:r>
          </a:p>
          <a:p>
            <a:r>
              <a:rPr lang="zh-CN" dirty="0"/>
              <a:t>还有一层边界要划清：提供 Embedding 配置，不表示记忆已经改用向量检索；有评分表，也不表示自定义 Evaluator 已经由 Runtime 执行。这些能力的当前范围要看第三章的核查记录。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前一块讲清楚了要准备什么，接下来讲按什么顺序动手。</a:t>
            </a:r>
          </a:p>
          <a:p>
            <a:r>
              <a:rPr lang="zh-CN" dirty="0"/>
              <a:t>顺序只有一个常识性的答案：先分配，再制作，最后装配核对。分配表没定，制作就没有依据——你不知道这份人物资料该写多细，也不知道哪些内容必须留在作者一侧。</a:t>
            </a:r>
          </a:p>
          <a:p>
            <a:r>
              <a:rPr lang="zh-CN" dirty="0"/>
              <a:t>制作和保存是第二步，这时候才会发现依赖是不是齐的。装配核对放在最后，因为它检查的是信息流，不是文件有没有生成。</a:t>
            </a:r>
          </a:p>
          <a:p>
            <a:r>
              <a:rPr lang="zh-CN" dirty="0"/>
              <a:t>把顺序定下来还有一个实际好处：出问题的时候能判断是哪一步留下的。是分配表写错了，还是制作时漏了素材，还是装配时选错了资源——每一步都有对应的排查方向。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动手的顺序是有讲究的：先分配，再制作，最后修正。</a:t>
            </a:r>
          </a:p>
          <a:p>
            <a:r>
              <a:rPr lang="zh-CN" dirty="0"/>
              <a:t>第一步，把本节的分配表做完——每一行都要写清内容是什么、交给谁、通过什么方式进去、绝对不能包含什么。这张表定了，后面做什么才算有依据。</a:t>
            </a:r>
          </a:p>
          <a:p>
            <a:r>
              <a:rPr lang="zh-CN" dirty="0"/>
              <a:t>第二步，按表制作并保存公共材料。做的过程中如果发现依赖没齐，就补齐对应内容，不要把悬空引用留给运行时去猜——系统猜不出来，只会失败。如果发现人物资料里混进了评分答案，先改文稿，改完再录入。</a:t>
            </a:r>
          </a:p>
          <a:p>
            <a:r>
              <a:rPr lang="zh-CN" dirty="0"/>
              <a:t>还有一条边界：具体 Skill 的共同部分和唯一替换段，留到下一节评审。不能在这一节另写一套略有不同的业务流程，那样会出现两个互相矛盾的版本。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材料齐了以后，通过第三章的浏览器路径把内容选进独立实验，核对五个人、三个对象以及它们的依赖，不是看一眼导入提示就算过。</a:t>
            </a:r>
          </a:p>
          <a:p>
            <a:r>
              <a:rPr lang="zh-CN" dirty="0"/>
              <a:t>接着装配出生与已知空间，保存，再从同一个实验重新打开——只有重开，才能看到真正存进去的是什么。</a:t>
            </a:r>
          </a:p>
          <a:p>
            <a:r>
              <a:rPr lang="zh-CN" dirty="0"/>
              <a:t>两组的共同条件要写全：都是 2026 年 10 月 18 日九点到十点十五分，时区 Asia/Shanghai，每步一分钟，一共 76 步。身份和实验名称可以不一样，共同内容不能漂移。</a:t>
            </a:r>
          </a:p>
          <a:p>
            <a:r>
              <a:rPr lang="zh-CN" dirty="0"/>
              <a:t>核对顺序：先打开孟川资料看私人目的与首句，再打开咨询台 Skill 看它有分工但没有答案表，然后打开地图看公共语义有没有泄露任务，最后打开实验内人物，对比出生地址和公共副本的区别。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实验一旦封存，就不是随便改的地方了。要对已经封存的内容做调整，先创建一个新的独立草稿，在草稿上改，改完再走一次保存和核对。</a:t>
            </a:r>
          </a:p>
          <a:p>
            <a:r>
              <a:rPr lang="zh-CN" dirty="0"/>
              <a:t>这里有三条容易被忽略的对应关系。第一，公共模型或 Skill 改了，不等于实验已经换用了新材料——实验副本是复制过去的，两边从此分开。第二，更换地图之后，坐标和地址也要重新核对，不能沿用旧场景的含义，同名物件在新场景里可能完全不是一回事。第三，保存入口与封存边界按第三章的实验生命周期走，不要用直接修改包文件的方式替代页面操作，那样做出来的东西没有对应的证据。</a:t>
            </a:r>
          </a:p>
          <a:p>
            <a:r>
              <a:rPr lang="zh-CN" dirty="0"/>
              <a:t>把这三条记住，就不会出现「我明明改了，为什么结果没变」这种困惑。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最后一块，也是整节最容易被跳过的一块：怎么知道真的做完了。</a:t>
            </a:r>
          </a:p>
          <a:p>
            <a:r>
              <a:rPr lang="zh-CN" dirty="0"/>
              <a:t>答案是不要用一个「完成」概括所有工作。同一份资源，至少要分四栏记录：文稿备齐了吗？公共资源保存了吗？实验副本核对了吗？运行证据拿到了吗？</a:t>
            </a:r>
          </a:p>
          <a:p>
            <a:r>
              <a:rPr lang="zh-CN" dirty="0"/>
              <a:t>这四栏允许状态不一样。文稿可能已经改好，图片却还没上传；公共 Skill 可能已经更新，实验里还是旧内容；预检可能通过了，但一次 Run 都还没跑。</a:t>
            </a:r>
          </a:p>
          <a:p>
            <a:r>
              <a:rPr lang="zh-CN" dirty="0"/>
              <a:t>把这四栏分开记，接收者才能一眼看出哪些检查已经完成、哪些还需要继续，也才不会把「文件有了」当成「工作做完了」。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同一份资源，要分四个面分别核对。</a:t>
            </a:r>
          </a:p>
          <a:p>
            <a:r>
              <a:rPr lang="zh-CN" dirty="0"/>
              <a:t>第一个面：文稿备齐了吗？也就是作者资料有没有审读过。第二个面：公共资源保存了吗？实际内容和素材有没有真的存进去。第三个面：实验副本核对了吗？把实验重新打开，检查包里面装的到底是什么。第四个面：运行证据拿到了吗？有没有可以定位的真实提交事实。</a:t>
            </a:r>
          </a:p>
          <a:p>
            <a:r>
              <a:rPr lang="zh-CN" dirty="0"/>
              <a:t>这四栏允许状态不一样，而且经常不一样。文稿已改、公共资源已保存、实验副本还没同步、Run 还没跑，是很常见的一种中间状态。</a:t>
            </a:r>
          </a:p>
          <a:p>
            <a:r>
              <a:rPr lang="zh-CN" dirty="0"/>
              <a:t>如果只用一个绿色的「完成」把这四栏盖住，接收者就不知道你到底检查到哪一步。运行证据要和前三项分得最开——它是唯一需要真的跑起来才能拿到的。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举三种「看起来做完了」的情形。</a:t>
            </a:r>
          </a:p>
          <a:p>
            <a:r>
              <a:rPr lang="zh-CN" dirty="0"/>
              <a:t>第一种：孟川的作者卡已经审读过，但图片还没上传。这时候应该写「文稿已备、公共资源待保存」，不能写完成。</a:t>
            </a:r>
          </a:p>
          <a:p>
            <a:r>
              <a:rPr lang="zh-CN" dirty="0"/>
              <a:t>第二种：咨询台的公共 Skill 已经改成澄清策略，但实验里还是旧内容，应该写「实验副本未同步」。</a:t>
            </a:r>
          </a:p>
          <a:p>
            <a:r>
              <a:rPr lang="zh-CN" dirty="0"/>
              <a:t>第三种：预检通过了，但一次 Run 都没跑，只能记录预检结果，不能填「分流正确」，那要靠运行事实支撑。</a:t>
            </a:r>
          </a:p>
          <a:p>
            <a:r>
              <a:rPr lang="zh-CN" dirty="0"/>
              <a:t>还有两条规矩。页面重开以后如果内容不符，先核对是不是打开了公共资源或另一个实验，很多「保存失败」其实是打开错了对象。确认同一对象确实没保存好，就保留身份、前后内容与页面证据，按仓库规则处理，不要为了填完表格从外部改数据库、实验目录或历史 Run。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最后留一个练习。</a:t>
            </a:r>
          </a:p>
          <a:p>
            <a:r>
              <a:rPr lang="zh-CN" dirty="0"/>
              <a:t>有人建议：把窗口分工写进所有来访者的目标里，这样保证没有人走错。这听起来是在提高成功率，实际上是在改研究条件——两组来访者一开始就都知道答案，澄清策略这个变量就没了。你要能说明它改变了什么，也要能指出正确的分工应该留在哪些材料里：咨询台、两个窗口的根 Skill，以及余真的资料，而不是来访者的目标。</a:t>
            </a:r>
          </a:p>
          <a:p>
            <a:r>
              <a:rPr lang="zh-CN" dirty="0"/>
              <a:t>第二个动作是请另一位读者只看分配表，看他能不能指出缺口，比如第五个人被遗漏、把对象当成 Agent、两组用了不同的图片或视野。</a:t>
            </a:r>
          </a:p>
          <a:p>
            <a:r>
              <a:rPr lang="zh-CN" dirty="0"/>
              <a:t>能指出缺口，正是作者评审的价值。但要注意，评审通过不等于运行验收通过，两件事不能互相替代。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这一节要带走的是三句话。</a:t>
            </a:r>
          </a:p>
          <a:p>
            <a:r>
              <a:rPr lang="zh-CN" dirty="0"/>
              <a:t>第一句，信息按接收者分配。一张作者表不等于同一份角色输入；正确窗口答案只给作者和评分者，不能写进角色资料，也不能写进公共 Brain。</a:t>
            </a:r>
          </a:p>
          <a:p>
            <a:r>
              <a:rPr lang="zh-CN" dirty="0"/>
              <a:t>第二句，图纸不等于答案。地图、语义和碰撞各管一段，公开空间语义里不写「谁该去哪个窗口」。答案一旦写进共同输入，那不是跨身份记忆泄漏，而是材料本身泄露。</a:t>
            </a:r>
          </a:p>
          <a:p>
            <a:r>
              <a:rPr lang="zh-CN" dirty="0"/>
              <a:t>第三句，状态分栏登记。文稿、公共资源、实验副本、运行证据是四个核对面，互不替代。缺什么就先写清楚缺什么，不要用一个「完成」盖住全部工作。</a:t>
            </a:r>
          </a:p>
          <a:p>
            <a:r>
              <a:rPr lang="zh-CN" dirty="0"/>
              <a:t>下一节我们看 Skill 的精确文本与行为评审。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把材料整理清楚只是第一步。接下来要决定的是，同一份整理稿里的每一句话，究竟该让谁看到。&#10;&#10;作者和评分者需要看到完整答案表，因为那是他们判断的依据；来访者本人只能知道自己要办什么事、第一句话说什么，不能提前知道窗口怎么分工。咨询台和窗口人员知道自己负责哪块业务，但同样不该知道每个人属于哪一类。&#10;&#10;最容易出错的地方，是把方便当成正确。为了调试顺利，把完整需求表塞进共同 Brain，看起来谁都不会走错，可整个澄清策略就失效了——咨询台一开始就知道答案，还谈什么先问清楚。&#10;&#10;所以材料装错位置，不是模型出了问题，是我们自己把答案提前泄露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综合实战与交付　·　5.3　作者资源与信息边界&lt;/Text&gt;&#10;            &lt;Text style={{ fontSize: 34, fontWeight: 'bold', color: '#20344B' }}&gt;作者资源与信息边界&lt;/Text&gt;&#10;        &lt;/Box&gt;&#10;    &lt;/Box&gt;&#10;&#10;    &lt;Box style={{ height: 540, flexDirection: 'row', alignItems: 'center', gap: 32 }}&gt;&#10;&#10;        &lt;Box style={{ width: 520, flexDirection: 'column', gap: 14 }}&gt;&#10;            &lt;Text style={{ fontSize: 52, fontWeight: 'bold', color: '#20344B', lineHeight: 1.2 }}&gt;每句话{'\n'}该放在哪里&lt;/Text&gt;&#10;            &lt;Box style={{ width: 72, height: 4, background: '#276FBF' }} /&gt;&#10;            &lt;Text style={{ fontSize: 17, color: '#546779', lineHeight: 1.7, width: 520 }}&gt;来源清楚以后，还要决定同一份整理稿里每句话的归属。装错了位置，不是模型出了问题，而是材料本身泄露了答案。&lt;/Text&gt;&#10;            &lt;Box style={{ flexDirection: 'row', gap: 12, marginTop: 4 }}&gt;&#10;                &lt;Box style={{ width: 160, height: 42, background: '#F4F7FA', borderRadius: 8, justifyContent: 'center', alignItems: 'center' }}&gt;&#10;                    &lt;Text style={{ fontSize: 15, color: '#20344B' }}&gt;一份整理稿&lt;/Text&gt;&#10;                &lt;/Box&gt;&#10;                &lt;Box style={{ width: 160, height: 42, background: '#EDF4FC', borderRadius: 8, justifyContent: 'center', alignItems: 'center' }}&gt;&#10;                    &lt;Text style={{ fontSize: 15, color: '#276FBF' }}&gt;四类接收者&lt;/Text&gt;&#10;                &lt;/Box&gt;&#10;                &lt;Box style={{ width: 160, height: 42, background: '#ECF7F2', borderRadius: 8, justifyContent: 'center', alignItems: 'center' }}&gt;&#10;                    &lt;Text style={{ fontSize: 15, color: '#26816B' }}&gt;完整资源闭包&lt;/Text&gt;&#10;                &lt;/Box&gt;&#10;            &lt;/Box&gt;&#10;        &lt;/Box&gt;&#10;&#10;        &lt;Box style={{ width: 600, flexDirection: 'column', justifyContent: 'center' }}&gt;&#10;&#10;            &lt;Box style={{ width: 600, height: 64, background: '#F7F3E8', borderRadius: 10, padding: '0 22px', justifyContent: 'center' }}&gt;&#10;                &lt;Text style={{ fontSize: 18, fontWeight: 'bold', color: '#20344B' }}&gt;一张作者表　·　同一份整理稿&lt;/Text&gt;&#10;            &lt;/Box&gt;&#10;&#10;            &lt;Box style={{ width: 600, height: 30, justifyContent: 'center', alignItems: 'center' }}&gt;&#10;                &lt;Text style={{ fontSize: 22, color: '#276FBF' }}&gt;↓&lt;/Text&gt;&#10;            &lt;/Box&gt;&#10;&#10;            &lt;Box style={{ width: 600, flexDirection: 'row', gap: 18 }}&gt;&#10;                &lt;Box style={{ width: 291, height: 84, background: '#ECF7F2', borderRadius: 10, padding: '12px 18px', flexDirection: 'column', gap: 4, justifyContent: 'center' }}&gt;&#10;                    &lt;Text style={{ fontSize: 18, fontWeight: 'bold', color: '#26816B' }}&gt;作者／评分者&lt;/Text&gt;&#10;                    &lt;Text style={{ fontSize: 14, color: '#546779' }}&gt;完整目的与四任务答案表&lt;/Text&gt;&#10;                &lt;/Box&gt;&#10;                &lt;Box style={{ width: 291, height: 84, background: '#EDF4FC', borderRadius: 10, padding: '12px 18px', flexDirection: 'column', gap: 4, justifyContent: 'center' }}&gt;&#10;                    &lt;Text style={{ fontSize: 18, fontWeight: 'bold', color: '#276FBF' }}&gt;该来访者本人&lt;/Text&gt;&#10;                    &lt;Text style={{ fontSize: 14, color: '#546779' }}&gt;只知道本人目的与首句&lt;/Text&gt;&#10;                &lt;/Box&gt;&#10;            &lt;/Box&gt;&#10;&#10;            &lt;Box style={{ width: 600, height: 12 }} /&gt;&#10;&#10;            &lt;Box style={{ width: 600, flexDirection: 'row', gap: 18 }}&gt;&#10;                &lt;Box style={{ width: 291, height: 84, background: '#EDF4FC', borderRadius: 10, padding: '12px 18px', flexDirection: 'column', gap: 4, justifyContent: 'center' }}&gt;&#10;                    &lt;Text style={{ fontSize: 18, fontWeight: 'bold', color: '#276FBF' }}&gt;其他来访者&lt;/Text&gt;&#10;                    &lt;Text style={{ fontSize: 14, color: '#546779' }}&gt;不预先得到此人的目的&lt;/Text&gt;&#10;                &lt;/Box&gt;&#10;                &lt;Box style={{ width: 291, height: 84, background: '#EDF4FC', borderRadius: 10, padding: '12px 18px', flexDirection: 'column', gap: 4, justifyContent: 'center' }}&gt;&#10;                    &lt;Text style={{ fontSize: 18, fontWeight: 'bold', color: '#276FBF' }}&gt;咨询台与窗口&lt;/Text&gt;&#10;                    &lt;Text style={{ fontSize: 14, color: '#546779' }}&gt;已知窗口职责，未知私人目的&lt;/Text&gt;&#10;                &lt;/Box&gt;&#10;            &lt;/Box&gt;&#10;&#10;            &lt;Box style={{ width: 600, height: 30, justifyContent: 'center', alignItems: 'center' }}&gt;&#10;                &lt;Text style={{ fontSize: 22, color: '#CB6B28' }}&gt;↓&lt;/Text&gt;&#10;            &lt;/Box&gt;&#10;&#10;            &lt;Box style={{ width: 600, height: 78, background: '#FFF4E6', borderRadius: 10, padding: '0 22px', flexDirection: 'column', gap: 4, justifyContent: 'center' }}&gt;&#10;                &lt;Text style={{ fontSize: 18, fontWeight: 'bold', color: '#CB6B28' }}&gt;教师答案表：单独一类&lt;/Text&gt;&#10;                &lt;Text style={{ fontSize: 14, color: '#546779' }}&gt;只给作者／评分者，不进入角色或公共 Brain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0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9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综合实战与交付　·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作者资源与信息边界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95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4953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每句话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该放在哪里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4953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来源清楚以后，还要决定同一份整理稿里每句话的归属。装错了位置，不是模型出了问题，而是材料本身泄露了答案。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480060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019175" y="4914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一份整理稿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2247900" y="480060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657475" y="4914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四类接收者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3886200" y="480060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219575" y="49149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完整资源闭包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5867400" y="1895475"/>
            <a:ext cx="5715000" cy="609600"/>
          </a:xfrm>
          <a:prstGeom prst="roundRect">
            <a:avLst>
              <a:gd name="adj" fmla="val 1562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076950" y="2095500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一张作者表　·　同一份整理稿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677275" y="252412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5867400" y="2790825"/>
            <a:ext cx="2771775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038850" y="2990850"/>
            <a:ext cx="2428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作者／评分者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038850" y="3238500"/>
            <a:ext cx="2428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完整目的与四任务答案表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8810625" y="2790825"/>
            <a:ext cx="2771775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982075" y="2990850"/>
            <a:ext cx="2428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该来访者本人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982075" y="3238500"/>
            <a:ext cx="2428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只知道本人目的与首句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5867400" y="3705225"/>
            <a:ext cx="2771775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038850" y="3905250"/>
            <a:ext cx="2428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其他来访者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038850" y="4152900"/>
            <a:ext cx="2428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不预先得到此人的目的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8810625" y="3705225"/>
            <a:ext cx="2771775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982075" y="3905250"/>
            <a:ext cx="2428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咨询台与窗口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982075" y="4152900"/>
            <a:ext cx="2428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已知窗口职责，未知私人目的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677275" y="45243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5867400" y="4791075"/>
            <a:ext cx="5715000" cy="742950"/>
          </a:xfrm>
          <a:prstGeom prst="roundRect">
            <a:avLst>
              <a:gd name="adj" fmla="val 128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76950" y="4962525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教师答案表：单独一类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76950" y="5210175"/>
            <a:ext cx="529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只给作者／评分者，不进入角色或公共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27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38" name="" descr="&lt;Slide notes={`这一节要看清六件事，它们是一条链，不是六份清单。&#10;&#10;先解决分配：同一张作者表里的话要分别给作者、来访者本人、其他来访者和咨询台，答案表单独留给作者和评分者。分完以后，地图负责给地点，不负责回答该去哪个窗口——公开的空间语义里不能写任务答案。&#10;&#10;接着要把人跟物分开核对：五个身份是五条独立 Agent，三个窗口对象是设施，两者不能混为一谈。材料齐了还要逐项点清装进实验的五类输入，漏一类都会在运行时变成悬空引用。&#10;&#10;最后用四栏状态记录进度：文稿、公共资源、实验副本、运行证据，它们可以有不同状态，不能用一个绿色完成盖住全部工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3　本节地图&lt;/Text&gt;&#10;            &lt;Text style={{ fontSize: 34, fontWeight: 'bold', color: '#20344B' }}&gt;本节要看清的六件事&lt;/Text&gt;&#10;        &lt;/Box&gt;&#10;    &lt;/Box&gt;&#10;&#10;    &lt;Box style={{ height: 540, flexDirection: 'row', alignItems: 'center', gap: 32 }}&gt;&#10;&#10;        &lt;Box style={{ width: 360, flexDirection: 'column', justifyContent: 'center', gap: 16 }}&gt;&#10;            &lt;Text style={{ fontSize: 16, color: '#546779', lineHeight: 1.75 }}&gt;材料装进实验之前，先要回答六个问题：谁该看到什么、地点与答案怎么分开、人与物怎么分别核对、装进去的到底有几类东西、按什么顺序动手、怎么知道真的做完了。&lt;/Text&gt;&#10;            &lt;Box style={{ width: 360, height: 52, background: '#F7F3E8', borderRadius: 8, justifyContent: 'center', alignItems: 'center' }}&gt;&#10;                &lt;Text style={{ fontSize: 17, color: '#20344B' }}&gt;一份整理稿&lt;/Text&gt;&#10;            &lt;/Box&gt;&#10;            &lt;Box style={{ width: 360, height: 32, justifyContent: 'center', alignItems: 'center' }}&gt;&#10;                &lt;Text style={{ fontSize: 20, color: '#276FBF' }}&gt;↓&lt;/Text&gt;&#10;            &lt;/Box&gt;&#10;            &lt;Box style={{ width: 360, height: 52, background: '#EDF4FC', borderRadius: 8, justifyContent: 'center', alignItems: 'center' }}&gt;&#10;                &lt;Text style={{ fontSize: 17, color: '#276FBF' }}&gt;一份信息分配方案&lt;/Text&gt;&#10;            &lt;/Box&gt;&#10;            &lt;Box style={{ width: 360, height: 32, justifyContent: 'center', alignItems: 'center' }}&gt;&#10;                &lt;Text style={{ fontSize: 20, color: '#26816B' }}&gt;↓&lt;/Text&gt;&#10;            &lt;/Box&gt;&#10;            &lt;Box style={{ width: 360, height: 52, background: '#ECF7F2', borderRadius: 8, justifyContent: 'center', alignItems: 'center' }}&gt;&#10;                &lt;Text style={{ fontSize: 17, color: '#26816B' }}&gt;可核对的资源闭包&lt;/Text&gt;&#10;            &lt;/Box&gt;&#10;        &lt;/Box&gt;&#10;&#10;        &lt;Box style={{ width: 760, flexDirection: 'column', justifyContent: 'center', gap: 8 }}&gt;&#10;&#10;            &lt;Box style={{ width: 760, height: 80, background: '#F4F7FA', borderRadius: 10, padding: '0 20px', flexDirection: 'row', alignItems: 'center', gap: 18 }}&gt;&#10;                &lt;Box style={{ width: 48, height: 48, borderRadius: 8, background: '#276FBF', justifyContent: 'center', alignItems: 'center' }}&gt;&#10;                    &lt;Text style={{ fontSize: 22, fontWeight: 'bold', color: '#FFFFFF' }}&gt;①&lt;/Text&gt;&#10;                &lt;/Box&gt;&#10;                &lt;Box style={{ flexDirection: 'column', gap: 3, width: 654 }}&gt;&#10;                    &lt;Text style={{ fontSize: 20, fontWeight: 'bold', color: '#20344B' }}&gt;同一张作者表，不等于同一份角色输入&lt;/Text&gt;&#10;                    &lt;Text style={{ fontSize: 15, color: '#546779', lineHeight: 1.4 }}&gt;信息按接收者分配，正确窗口答案不进角色资料&lt;/Text&gt;&#10;                &lt;/Box&gt;&#10;            &lt;/Box&gt;&#10;&#10;            &lt;Box style={{ width: 760, height: 80, background: '#F4F7FA', borderRadius: 10, padding: '0 20px', flexDirection: 'row', alignItems: 'center', gap: 18 }}&gt;&#10;                &lt;Box style={{ width: 48, height: 48, borderRadius: 8, background: '#26816B', justifyContent: 'center', alignItems: 'center' }}&gt;&#10;                    &lt;Text style={{ fontSize: 22, fontWeight: 'bold', color: '#FFFFFF' }}&gt;②&lt;/Text&gt;&#10;                &lt;/Box&gt;&#10;                &lt;Box style={{ flexDirection: 'column', gap: 3, width: 654 }}&gt;&#10;                    &lt;Text style={{ fontSize: 20, fontWeight: 'bold', color: '#20344B' }}&gt;地图给出地点，不替咨询台回答问题&lt;/Text&gt;&#10;                    &lt;Text style={{ fontSize: 15, color: '#546779', lineHeight: 1.4 }}&gt;公开空间语义里不写「谁该去哪个窗口」&lt;/Text&gt;&#10;                &lt;/Box&gt;&#10;            &lt;/Box&gt;&#10;&#10;            &lt;Box style={{ width: 760, height: 80, background: '#F4F7FA', borderRadius: 10, padding: '0 20px', flexDirection: 'row', alignItems: 'center', gap: 18 }}&gt;&#10;                &lt;Box style={{ width: 48, height: 48, borderRadius: 8, background: '#276FBF', justifyContent: 'center', alignItems: 'center' }}&gt;&#10;                    &lt;Text style={{ fontSize: 22, fontWeight: 'bold', color: '#FFFFFF' }}&gt;③&lt;/Text&gt;&#10;                &lt;/Box&gt;&#10;                &lt;Box style={{ flexDirection: 'column', gap: 3, width: 654 }}&gt;&#10;                    &lt;Text style={{ fontSize: 20, fontWeight: 'bold', color: '#20344B' }}&gt;把人物初态与对象知识分别核对&lt;/Text&gt;&#10;                    &lt;Text style={{ fontSize: 15, color: '#546779', lineHeight: 1.4 }}&gt;五个身份与三个对象各按自己的清单逐条检查&lt;/Text&gt;&#10;                &lt;/Box&gt;&#10;            &lt;/Box&gt;&#10;&#10;            &lt;Box style={{ width: 760, height: 80, background: '#F4F7FA', borderRadius: 10, padding: '0 20px', flexDirection: 'row', alignItems: 'center', gap: 18 }}&gt;&#10;                &lt;Box style={{ width: 48, height: 48, borderRadius: 8, background: '#26816B', justifyContent: 'center', alignItems: 'center' }}&gt;&#10;                    &lt;Text style={{ fontSize: 22, fontWeight: 'bold', color: '#FFFFFF' }}&gt;④&lt;/Text&gt;&#10;                &lt;/Box&gt;&#10;                &lt;Box style={{ flexDirection: 'column', gap: 3, width: 654 }}&gt;&#10;                    &lt;Text style={{ fontSize: 20, fontWeight: 'bold', color: '#20344B' }}&gt;完整资源闭包需要逐项点清&lt;/Text&gt;&#10;                    &lt;Text style={{ fontSize: 15, color: '#546779', lineHeight: 1.4 }}&gt;五类输入、作者侧应备齐的内容与保存后要登记的项&lt;/Text&gt;&#10;                &lt;/Box&gt;&#10;            &lt;/Box&gt;&#10;&#10;            &lt;Box style={{ width: 760, height: 80, background: '#F4F7FA', borderRadius: 10, padding: '0 20px', flexDirection: 'row', alignItems: 'center', gap: 18 }}&gt;&#10;                &lt;Box style={{ width: 48, height: 48, borderRadius: 8, background: '#276FBF', justifyContent: 'center', alignItems: 'center' }}&gt;&#10;                    &lt;Text style={{ fontSize: 22, fontWeight: 'bold', color: '#FFFFFF' }}&gt;⑤&lt;/Text&gt;&#10;                &lt;/Box&gt;&#10;                &lt;Box style={{ flexDirection: 'column', gap: 3, width: 654 }}&gt;&#10;                    &lt;Text style={{ fontSize: 20, fontWeight: 'bold', color: '#20344B' }}&gt;按内容关系安排作者操作&lt;/Text&gt;&#10;                    &lt;Text style={{ fontSize: 15, color: '#546779', lineHeight: 1.4 }}&gt;先分配、再制作保存、最后装配并重开核对&lt;/Text&gt;&#10;                &lt;/Box&gt;&#10;            &lt;/Box&gt;&#10;&#10;            &lt;Box style={{ width: 760, height: 80, background: '#F4F7FA', borderRadius: 10, padding: '0 20px', flexDirection: 'row', alignItems: 'center', gap: 18 }}&gt;&#10;                &lt;Box style={{ width: 48, height: 48, borderRadius: 8, background: '#26816B', justifyContent: 'center', alignItems: 'center' }}&gt;&#10;                    &lt;Text style={{ fontSize: 22, fontWeight: 'bold', color: '#FFFFFF' }}&gt;⑥&lt;/Text&gt;&#10;                &lt;/Box&gt;&#10;                &lt;Box style={{ flexDirection: 'column', gap: 3, width: 654 }}&gt;&#10;                    &lt;Text style={{ fontSize: 20, fontWeight: 'bold', color: '#20344B' }}&gt;用状态表避免「文件有了就是完成了」&lt;/Text&gt;&#10;                    &lt;Text style={{ fontSize: 15, color: '#546779', lineHeight: 1.4 }}&gt;文稿、公共资源、实验副本、运行证据四栏互不替代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0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本节地图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本节要看清的六件事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09600" y="1647825"/>
            <a:ext cx="3429000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材料装进实验之前，先要回答六个问题：谁该看到什么、地点与答案怎么分开、人与物怎么分别核对、装进去的到底有几类东西、按什么顺序动手、怎么知道真的做完了。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09600" y="308610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924050" y="323850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一份整理稿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2276475" y="37719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609600" y="419100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676400" y="43434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一份信息分配方案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2276475" y="48768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609600" y="529590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676400" y="54483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可核对的资源闭包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4343400" y="1238250"/>
            <a:ext cx="72390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4533900" y="13906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4657725" y="14954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5162550" y="1371600"/>
            <a:ext cx="622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同一张作者表，不等于同一份角色输入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5162550" y="1628775"/>
            <a:ext cx="62293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信息按接收者分配，正确窗口答案不进角色资料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4343400" y="2076450"/>
            <a:ext cx="72390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4533900" y="22288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657725" y="23336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5162550" y="2209800"/>
            <a:ext cx="622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地图给出地点，不替咨询台回答问题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162550" y="2466975"/>
            <a:ext cx="62293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公开空间语义里不写「谁该去哪个窗口」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4343400" y="2914650"/>
            <a:ext cx="72390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4533900" y="30670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657725" y="31718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162550" y="3048000"/>
            <a:ext cx="622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把人物初态与对象知识分别核对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162550" y="3305175"/>
            <a:ext cx="62293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五个身份与三个对象各按自己的清单逐条检查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4343400" y="3752850"/>
            <a:ext cx="72390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8" name=""/>
          <p:cNvSpPr/>
          <p:nvPr/>
        </p:nvSpPr>
        <p:spPr>
          <a:xfrm rot="0" flipH="0" flipV="0">
            <a:off x="4533900" y="39052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4657725" y="40100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5162550" y="3886200"/>
            <a:ext cx="622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完整资源闭包需要逐项点清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5162550" y="4143375"/>
            <a:ext cx="62293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五类输入、作者侧应备齐的内容与保存后要登记的项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4343400" y="4591050"/>
            <a:ext cx="72390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4533900" y="47434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4657725" y="48482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162550" y="4724400"/>
            <a:ext cx="622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按内容关系安排作者操作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5162550" y="4981575"/>
            <a:ext cx="62293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先分配、再制作保存、最后装配并重开核对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4343400" y="5429250"/>
            <a:ext cx="72390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4533900" y="55816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4657725" y="56864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⑥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5162550" y="5562600"/>
            <a:ext cx="622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用状态表避免「文件有了就是完成了」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5162550" y="5819775"/>
            <a:ext cx="62293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文稿、公共资源、实验副本、运行证据四栏互不替代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603" name="" descr="&lt;Slide notes={`同一张作者表，交付给不同的人，不能是同一份东西。&#13;&#10;&#13;&#10;作者和评分者要看完整的目的、规定首句、窗口职责和答案表，因为判分需要这些。来访者本人只需要知道自己的目的和第一句话，其他来访者更不该预先拿到别人的目的。咨询台和窗口人员处在中间：他们知道自己负责哪块业务，但不知道谁会来、找哪类问题。&#13;&#10;&#13;&#10;切材料不是按文件大小平均分，而是按用途分。角色资料管「我是谁、我要做什么」，对象知识管「这个设施是什么、能做什么交互」，空间语义管「哪里有路」，评分答案只服务评判。&#13;&#10;&#13;&#10;这四类东西一旦混在一起，实验就不再测澄清策略，而是在测模型能不能照着答案演一遍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3.1　同一张作者表，不等于同一份角色输入&lt;/Text&gt;&#13;&#10;            &lt;Text style={{ fontSize: 34, fontWeight: 'bold', color: '#20344B' }}&gt;知识块 ①&lt;/Text&gt;&#13;&#10;        &lt;/Box&gt;&#13;&#10;    &lt;/Box&gt;&#13;&#10;&#13;&#10;    &lt;Box style={{ height: 540, flexDirection: 'column', justifyContent: 'center', gap: 18 }}&gt;&#13;&#10;&#13;&#10;        &lt;Text style={{ fontSize: 96, fontWeight: 'bold', color: '#276FBF', lineHeight: 1.0 }}&gt;①&lt;/Text&gt;&#13;&#10;&#13;&#10;        &lt;Text style={{ fontSize: 56, fontWeight: 'bold', color: '#20344B', lineHeight: 1.15 }}&gt;同一张作者表，不等于同一份角色输入&lt;/Text&gt;&#13;&#10;&#13;&#10;        &lt;Box style={{ width: 72, height: 4, background: '#276FBF' }} /&gt;&#13;&#10;&#13;&#10;        &lt;Text style={{ fontSize: 18, color: '#546779', lineHeight: 1.7, width: 940 }}&gt;「每人获得自己的任务」具体指获得自己的目的和首次话语，不是把作者表里的正确窗口答案一起复制。&lt;/Text&gt;&#13;&#10;&#13;&#10;        &lt;Box style={{ flexDirection: 'row', alignItems: 'center', marginTop: 10, gap: 14 }}&gt;&#13;&#10;            &lt;Box style={{ width: 220, height: 64, background: '#F7F3E8', borderRadius: 8, justifyContent: 'center', alignItems: 'center' }}&gt;&#13;&#10;                &lt;Text style={{ fontSize: 17, color: '#20344B' }}&gt;一张作者表&lt;/Text&gt;&#13;&#10;            &lt;/Box&gt;&#13;&#10;            &lt;Box style={{ width: 44, height: 64, justifyContent: 'center', alignItems: 'center' }}&gt;&#13;&#10;                &lt;Text style={{ fontSize: 26, color: '#276FBF' }}&gt;›&lt;/Text&gt;&#13;&#10;            &lt;/Box&gt;&#13;&#10;            &lt;Box style={{ width: 150, height: 64, background: '#ECF7F2', borderRadius: 8, justifyContent: 'center', alignItems: 'center' }}&gt;&#13;&#10;                &lt;Text style={{ fontSize: 15, color: '#26816B' }}&gt;作者／评分者&lt;/Text&gt;&#13;&#10;            &lt;/Box&gt;&#13;&#10;            &lt;Box style={{ width: 150, height: 64, background: '#EDF4FC', borderRadius: 8, justifyContent: 'center', alignItems: 'center' }}&gt;&#13;&#10;                &lt;Text style={{ fontSize: 15, color: '#276FBF' }}&gt;该来访者本人&lt;/Text&gt;&#13;&#10;            &lt;/Box&gt;&#13;&#10;            &lt;Box style={{ width: 150, height: 64, background: '#EDF4FC', borderRadius: 8, justifyContent: 'center', alignItems: 'center' }}&gt;&#13;&#10;                &lt;Text style={{ fontSize: 15, color: '#276FBF' }}&gt;其他来访者&lt;/Text&gt;&#13;&#10;            &lt;/Box&gt;&#13;&#10;            &lt;Box style={{ width: 150, height: 64, background: '#EDF4FC', borderRadius: 8, justifyContent: 'center', alignItems: 'center' }}&gt;&#13;&#10;                &lt;Text style={{ fontSize: 15, color: '#276FBF' }}&gt;咨询台与窗口&lt;/Text&gt;&#13;&#10;            &lt;/Box&gt;&#13;&#10;            &lt;Box style={{ width: 150, height: 64, background: '#FFF4E6', borderRadius: 8, justifyContent: 'center', alignItems: 'center' }}&gt;&#13;&#10;                &lt;Text style={{ fontSize: 15, color: '#CB6B28' }}&gt;教师答案表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5.3 作者资源与信息边界&lt;/Text&gt;&#13;&#10;        &lt;Text style={{ fontSize: 14, color: '#546779' }}&gt;03 / 27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同一张作者表，不等于同一份角色输入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705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①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609600" y="190500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同一张作者表，不等于同一份角色输入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609600" y="40957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「每人获得自己的任务」具体指获得自己的目的和首次话语，不是把作者表里的正确窗口答案一起复制。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609600" y="4924425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1257300" y="513397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一张作者表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300990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3390900" y="492442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3676650" y="51435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作者／评分者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4953000" y="492442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5238750" y="51435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该来访者本人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515100" y="492442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6877050" y="51435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其他来访者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8077200" y="492442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8362950" y="51435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咨询台与窗口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9639300" y="492442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10001250" y="51435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教师答案表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627" name="" descr="&lt;Slide notes={`先看作者和评分者。他们手里应该有这位来访者的完整目的、规定的首句、窗口职责，还有四个任务的教师答案表。这些是判分依据，只有作者一侧才需要。&#10;&#10;再看来访者本人。他只知道自己的目的和第一句话；窗口怎么分工、教师答案是什么，他一开始都不知道。另外三位来访者也一样，不会预先拿到别人的目的和首句。&#10;&#10;咨询台、两个窗口和引导员余真处在中间位置：他们事先知道窗口职责，但不知道每个人的私人目的和首句，更不知道答案。&#10;&#10;最后单独看教师答案表。它虽然也放在作者一侧，但性质和其他材料不同——不能进角色资料，也不能进公共 Brain。分支表示的是归属，不代表消息已经投递出去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3.1　同一张作者表，不等于同一份角色输入&lt;/Text&gt;&#10;            &lt;Text style={{ fontSize: 34, fontWeight: 'bold', color: '#20344B' }}&gt;同一份材料，四种可见范围&lt;/Text&gt;&#10;        &lt;/Box&gt;&#10;    &lt;/Box&gt;&#10;&#10;    &lt;Box style={{ height: 540, flexDirection: 'row', alignItems: 'center', gap: 44 }}&gt;&#10;&#10;        &lt;Box style={{ width: 260, flexDirection: 'column', justifyContent: 'center' }}&gt;&#10;            &lt;Box style={{ width: 260, height: 200, background: '#F7F3E8', borderRadius: 12, padding: '0 22px', flexDirection: 'column', gap: 8, justifyContent: 'center' }}&gt;&#10;                &lt;Text style={{ fontSize: 14, color: '#546779' }}&gt;初始信息分配&lt;/Text&gt;&#10;                &lt;Text style={{ fontSize: 22, fontWeight: 'bold', color: '#20344B', lineHeight: 1.35 }}&gt;以某一位{'\n'}来访者为例&lt;/Text&gt;&#10;            &lt;/Box&gt;&#10;        &lt;/Box&gt;&#10;&#10;        &lt;Box style={{ width: 848, flexDirection: 'column', justifyContent: 'center', gap: 12 }}&gt;&#10;&#10;            &lt;Box style={{ width: 848, height: 88, background: '#ECF7F2', borderRadius: 10, padding: '0 20px', flexDirection: 'row', alignItems: 'center', gap: 16 }}&gt;&#10;                &lt;Box style={{ width: 4, height: 56, background: '#26816B' }} /&gt;&#10;                &lt;Box style={{ flexDirection: 'column', gap: 4, width: 784 }}&gt;&#10;                    &lt;Text style={{ fontSize: 18, fontWeight: 'bold', color: '#26816B' }}&gt;作者／评分者&lt;/Text&gt;&#10;                    &lt;Text style={{ fontSize: 14, color: '#546779', lineHeight: 1.45 }}&gt;该来访者完整目的；规定首句、窗口职责；四任务教师答案表&lt;/Text&gt;&#10;                &lt;/Box&gt;&#10;            &lt;/Box&gt;&#10;&#10;            &lt;Box style={{ width: 848, height: 88, background: '#F4F7FA', borderRadius: 10, padding: '0 20px', flexDirection: 'row', alignItems: 'center', gap: 16 }}&gt;&#10;                &lt;Box style={{ width: 4, height: 56, background: '#276FBF' }} /&gt;&#10;                &lt;Box style={{ flexDirection: 'column', gap: 4, width: 784 }}&gt;&#10;                    &lt;Text style={{ fontSize: 18, fontWeight: 'bold', color: '#20344B' }}&gt;该来访者本人&lt;/Text&gt;&#10;                    &lt;Text style={{ fontSize: 14, color: '#546779', lineHeight: 1.45 }}&gt;知道本人目的和首句；初始未知窗口分工与教师答案&lt;/Text&gt;&#10;                &lt;/Box&gt;&#10;            &lt;/Box&gt;&#10;&#10;            &lt;Box style={{ width: 848, height: 88, background: '#F4F7FA', borderRadius: 10, padding: '0 20px', flexDirection: 'row', alignItems: 'center', gap: 16 }}&gt;&#10;                &lt;Box style={{ width: 4, height: 56, background: '#276FBF' }} /&gt;&#10;                &lt;Box style={{ flexDirection: 'column', gap: 4, width: 784 }}&gt;&#10;                    &lt;Text style={{ fontSize: 18, fontWeight: 'bold', color: '#20344B' }}&gt;其他来访者&lt;/Text&gt;&#10;                    &lt;Text style={{ fontSize: 14, color: '#546779', lineHeight: 1.45 }}&gt;不预先得到此人的目的和首句；初始未知窗口分工与教师答案&lt;/Text&gt;&#10;                &lt;/Box&gt;&#10;            &lt;/Box&gt;&#10;&#10;            &lt;Box style={{ width: 848, height: 88, background: '#F4F7FA', borderRadius: 10, padding: '0 20px', flexDirection: 'row', alignItems: 'center', gap: 16 }}&gt;&#10;                &lt;Box style={{ width: 4, height: 56, background: '#276FBF' }} /&gt;&#10;                &lt;Box style={{ flexDirection: 'column', gap: 4, width: 784 }}&gt;&#10;                    &lt;Text style={{ fontSize: 18, fontWeight: 'bold', color: '#20344B' }}&gt;咨询台／窗口、引导员余真&lt;/Text&gt;&#10;                    &lt;Text style={{ fontSize: 14, color: '#546779', lineHeight: 1.45 }}&gt;预先已知窗口职责；未知私人目的与首句，以及教师答案&lt;/Text&gt;&#10;                &lt;/Box&gt;&#10;            &lt;/Box&gt;&#10;&#10;            &lt;Box style={{ width: 848, height: 88, background: '#FFF4E6', borderRadius: 10, padding: '0 20px', flexDirection: 'row', alignItems: 'center', gap: 16 }}&gt;&#10;                &lt;Box style={{ width: 4, height: 56, background: '#CB6B28' }} /&gt;&#10;                &lt;Box style={{ flexDirection: 'column', gap: 4, width: 784 }}&gt;&#10;                    &lt;Text style={{ fontSize: 18, fontWeight: 'bold', color: '#CB6B28' }}&gt;教师答案表&lt;/Text&gt;&#10;                    &lt;Text style={{ fontSize: 14, color: '#546779', lineHeight: 1.45 }}&gt;只给作者／评分者，不进入角色或公共 Brain&lt;/Text&gt;&#10;                &lt;/Box&gt;&#10;            &lt;/Box&gt;&#10;&#10;            &lt;Text style={{ fontSize: 15, color: '#546779', lineHeight: 1.5, marginTop: 4 }}&gt;分支表示信息归属，不表示消息已经投递；先区分任务信息，再说明各类资料应放进哪里。&lt;/Text&gt;&#10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0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同一张作者表，不等于同一份角色输入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同一份材料，四种可见范围</a:t>
            </a:r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609600" y="2762250"/>
            <a:ext cx="2476500" cy="1905000"/>
          </a:xfrm>
          <a:prstGeom prst="roundRect">
            <a:avLst>
              <a:gd name="adj" fmla="val 6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819150" y="3257550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初始信息分配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819150" y="3495675"/>
            <a:ext cx="2057400" cy="6858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以某一位</a:t>
            </a:r>
            <a:endParaRPr/>
          </a:p>
          <a:p>
            <a:pPr>
              <a:lnSpc>
                <a:spcPct val="135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来访者为例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3505200" y="1190625"/>
            <a:ext cx="80772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36" name=""/>
          <p:cNvSpPr/>
          <p:nvPr/>
        </p:nvSpPr>
        <p:spPr>
          <a:xfrm rot="0" flipH="0" flipV="0">
            <a:off x="3695700" y="1343025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3886200" y="1371600"/>
            <a:ext cx="7467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作者／评分者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3886200" y="1619250"/>
            <a:ext cx="74676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该来访者完整目的；规定首句、窗口职责；四任务教师答案表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3505200" y="2143125"/>
            <a:ext cx="80772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0" name=""/>
          <p:cNvSpPr/>
          <p:nvPr/>
        </p:nvSpPr>
        <p:spPr>
          <a:xfrm rot="0" flipH="0" flipV="0">
            <a:off x="3695700" y="22955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3886200" y="2324100"/>
            <a:ext cx="7467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该来访者本人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3886200" y="2571750"/>
            <a:ext cx="74676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知道本人目的和首句；初始未知窗口分工与教师答案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3505200" y="3095625"/>
            <a:ext cx="80772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4" name=""/>
          <p:cNvSpPr/>
          <p:nvPr/>
        </p:nvSpPr>
        <p:spPr>
          <a:xfrm rot="0" flipH="0" flipV="0">
            <a:off x="3695700" y="32480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3886200" y="3276600"/>
            <a:ext cx="7467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其他来访者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3886200" y="3524250"/>
            <a:ext cx="74676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不预先得到此人的目的和首句；初始未知窗口分工与教师答案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3505200" y="4048125"/>
            <a:ext cx="80772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8" name=""/>
          <p:cNvSpPr/>
          <p:nvPr/>
        </p:nvSpPr>
        <p:spPr>
          <a:xfrm rot="0" flipH="0" flipV="0">
            <a:off x="3695700" y="42005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3886200" y="4229100"/>
            <a:ext cx="7467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咨询台／窗口、引导员余真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3886200" y="4476750"/>
            <a:ext cx="74676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预先已知窗口职责；未知私人目的与首句，以及教师答案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3505200" y="5000625"/>
            <a:ext cx="80772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52" name=""/>
          <p:cNvSpPr/>
          <p:nvPr/>
        </p:nvSpPr>
        <p:spPr>
          <a:xfrm rot="0" flipH="0" flipV="0">
            <a:off x="3695700" y="515302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3886200" y="5181600"/>
            <a:ext cx="7467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教师答案表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3886200" y="5429250"/>
            <a:ext cx="74676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只给作者／评分者，不进入角色或公共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3505200" y="5991225"/>
            <a:ext cx="8077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分支表示信息归属，不表示消息已经投递；先区分任务信息，再说明各类资料应放进哪里。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58" name="" descr="&lt;Slide notes={`资源分配表至少要写清四件事：内容是什么、交给谁、通过什么方式进去、以及绝对不能顺带包含什么。&#13;&#10;&#13;&#10;比如四个 Arena 的名称、范围与一般空间用途，放进地图语义里，谁都可以按感知取得；但四人的私人任务和正确分流答案不能跟着进去。窗口分工属于咨询台、两个窗口和余真的资料，但不能写成「某位来访者一定属于哪类」的完整映射。&#13;&#10;&#13;&#10;H1 到 H4 的完整私人目的只进对应的初态资料。感知、询问、移动、确认和停止这些通用能力进共用 Brain，但完整任务表和预定好的成功剧情不进。&#13;&#10;&#13;&#10;角色资料、对象知识、空间语义和评分答案用途完全不同，不能按文件大小平均切分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3.1　同一张作者表，不等于同一份角色输入&lt;/Text&gt;&#13;&#10;            &lt;Text style={{ fontSize: 34, fontWeight: 'bold', color: '#20344B' }}&gt;一份材料要写清四件事&lt;/Text&gt;&#13;&#10;        &lt;/Box&gt;&#13;&#10;    &lt;/Box&gt;&#13;&#10;&#13;&#10;    &lt;Box style={{ height: 540, flexDirection: 'column', justifyContent: 'center', gap: 10 }}&gt;&#13;&#10;&#13;&#10;        &lt;Box style={{ width: 1152, padding: '0 18px', flexDirection: 'row', alignItems: 'center', gap: 16 }}&gt;&#13;&#10;            &lt;Box style={{ width: 4 }} /&gt;&#13;&#10;            &lt;Box style={{ width: 270 }}&gt;&lt;Text style={{ fontSize: 14, fontWeight: 'bold', color: '#276FBF' }}&gt;内容&lt;/Text&gt;&lt;/Box&gt;&#13;&#10;            &lt;Box style={{ width: 368 }}&gt;&lt;Text style={{ fontSize: 14, fontWeight: 'bold', color: '#276FBF' }}&gt;放置位置与接收者&lt;/Text&gt;&lt;/Box&gt;&#13;&#10;            &lt;Box style={{ width: 426 }}&gt;&lt;Text style={{ fontSize: 14, fontWeight: 'bold', color: '#CB6B28' }}&gt;不应顺便加入的内容&lt;/Text&gt;&lt;/Box&gt;&#13;&#10;        &lt;/Box&gt;&#13;&#10;&#13;&#10;        &lt;Box style={{ width: 1152, height: 66, background: '#F4F7FA', borderRadius: 8, padding: '0 18px', flexDirection: 'row', alignItems: 'center', gap: 16 }}&gt;&#13;&#10;            &lt;Box style={{ width: 4, height: 44, background: '#276FBF' }} /&gt;&#13;&#10;            &lt;Box style={{ width: 270 }}&gt;&lt;Text style={{ fontSize: 13, color: '#20344B', lineHeight: 1.45 }}&gt;四 Arena 名称、范围与一般空间用途&lt;/Text&gt;&lt;/Box&gt;&#13;&#10;            &lt;Box style={{ width: 368 }}&gt;&lt;Text style={{ fontSize: 13, color: '#546779', lineHeight: 1.45 }}&gt;地图语义；按感知与初始已知空间取得&lt;/Text&gt;&lt;/Box&gt;&#13;&#10;            &lt;Box style={{ width: 426 }}&gt;&lt;Text style={{ fontSize: 13, color: '#CB6B28', lineHeight: 1.45 }}&gt;四人的私人任务和正确分流答案&lt;/Text&gt;&lt;/Box&gt;&#13;&#10;        &lt;/Box&gt;&#13;&#10;&#13;&#10;        &lt;Box style={{ width: 1152, height: 66, background: '#F4F7FA', borderRadius: 8, padding: '0 18px', flexDirection: 'row', alignItems: 'center', gap: 16 }}&gt;&#13;&#10;            &lt;Box style={{ width: 4, height: 44, background: '#276FBF' }} /&gt;&#13;&#10;            &lt;Box style={{ width: 270 }}&gt;&lt;Text style={{ fontSize: 13, color: '#20344B', lineHeight: 1.45 }}&gt;A、B 窗口分工与咨询范围&lt;/Text&gt;&lt;/Box&gt;&#13;&#10;            &lt;Box style={{ width: 368 }}&gt;&lt;Text style={{ fontSize: 13, color: '#546779', lineHeight: 1.45 }}&gt;咨询台、两个窗口的根 Skill；余真资料&lt;/Text&gt;&lt;/Box&gt;&#13;&#10;            &lt;Box style={{ width: 426 }}&gt;&lt;Text style={{ fontSize: 13, color: '#CB6B28', lineHeight: 1.45 }}&gt;「某位来访者一定属于哪类」的完整映射&lt;/Text&gt;&lt;/Box&gt;&#13;&#10;        &lt;/Box&gt;&#13;&#10;&#13;&#10;        &lt;Box style={{ width: 1152, height: 66, background: '#F4F7FA', borderRadius: 8, padding: '0 18px', flexDirection: 'row', alignItems: 'center', gap: 16 }}&gt;&#13;&#10;            &lt;Box style={{ width: 4, height: 44, background: '#26816B' }} /&gt;&#13;&#10;            &lt;Box style={{ width: 270 }}&gt;&lt;Text style={{ fontSize: 13, color: '#20344B', lineHeight: 1.45 }}&gt;H1—H4 的完整私人目的&lt;/Text&gt;&lt;/Box&gt;&#13;&#10;            &lt;Box style={{ width: 368 }}&gt;&lt;Text style={{ fontSize: 13, color: '#546779', lineHeight: 1.45 }}&gt;对应来访者的初态资料&lt;/Text&gt;&lt;/Box&gt;&#13;&#10;            &lt;Box style={{ width: 426 }}&gt;&lt;Text style={{ fontSize: 13, color: '#CB6B28', lineHeight: 1.45 }}&gt;其他三人的目的、评分答案列&lt;/Text&gt;&lt;/Box&gt;&#13;&#10;        &lt;/Box&gt;&#13;&#10;&#13;&#10;        &lt;Box style={{ width: 1152, height: 66, background: '#F4F7FA', borderRadius: 8, padding: '0 18px', flexDirection: 'row', alignItems: 'center', gap: 16 }}&gt;&#13;&#10;            &lt;Box style={{ width: 4, height: 44, background: '#26816B' }} /&gt;&#13;&#10;            &lt;Box style={{ width: 270 }}&gt;&lt;Text style={{ fontSize: 13, color: '#20344B', lineHeight: 1.45 }}&gt;每人规定的首次话语与补充条件&lt;/Text&gt;&lt;/Box&gt;&#13;&#10;            &lt;Box style={{ width: 368 }}&gt;&lt;Text style={{ fontSize: 13, color: '#546779', lineHeight: 1.45 }}&gt;对应人物资料及共同执行规则&lt;/Text&gt;&lt;/Box&gt;&#13;&#10;            &lt;Box style={{ width: 426 }}&gt;&lt;Text style={{ fontSize: 13, color: '#CB6B28', lineHeight: 1.45 }}&gt;提前把预约／报修补进首次话语&lt;/Text&gt;&lt;/Box&gt;&#13;&#10;        &lt;/Box&gt;&#13;&#10;&#13;&#10;        &lt;Box style={{ width: 1152, height: 66, background: '#F4F7FA', borderRadius: 8, padding: '0 18px', flexDirection: 'row', alignItems: 'center', gap: 16 }}&gt;&#13;&#10;            &lt;Box style={{ width: 4, height: 44, background: '#276FBF' }} /&gt;&#13;&#10;            &lt;Box style={{ width: 270 }}&gt;&lt;Text style={{ fontSize: 13, color: '#20344B', lineHeight: 1.45 }}&gt;如何感知、询问、移动、确认和停止&lt;/Text&gt;&lt;/Box&gt;&#13;&#10;            &lt;Box style={{ width: 368 }}&gt;&lt;Text style={{ fontSize: 13, color: '#546779', lineHeight: 1.45 }}&gt;共用 Brain&lt;/Text&gt;&lt;/Box&gt;&#13;&#10;            &lt;Box style={{ width: 426 }}&gt;&lt;Text style={{ fontSize: 13, color: '#CB6B28', lineHeight: 1.45 }}&gt;完整任务表、预定成功剧情&lt;/Text&gt;&lt;/Box&gt;&#13;&#10;        &lt;/Box&gt;&#13;&#10;&#13;&#10;        &lt;Box style={{ width: 1152, height: 66, background: '#F4F7FA', borderRadius: 8, padding: '0 18px', flexDirection: 'row', alignItems: 'center', gap: 16 }}&gt;&#13;&#10;            &lt;Box style={{ width: 4, height: 44, background: '#CB6B28' }} /&gt;&#13;&#10;            &lt;Box style={{ width: 270 }}&gt;&lt;Text style={{ fontSize: 13, color: '#20344B', lineHeight: 1.45 }}&gt;正确窗口映射和闭环判据&lt;/Text&gt;&lt;/Box&gt;&#13;&#10;            &lt;Box style={{ width: 368 }}&gt;&lt;Text style={{ fontSize: 13, color: '#546779', lineHeight: 1.45 }}&gt;作者与评分者材料&lt;/Text&gt;&lt;/Box&gt;&#13;&#10;            &lt;Box style={{ width: 426 }}&gt;&lt;Text style={{ fontSize: 13, color: '#CB6B28', lineHeight: 1.45 }}&gt;不因方便调试而注入所有角色&lt;/Text&gt;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5.3 作者资源与信息边界&lt;/Text&gt;&#13;&#10;        &lt;Text style={{ fontSize: 14, color: '#546779' }}&gt;05 / 27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同一张作者表，不等于同一份角色输入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一份材料要写清四件事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971550" y="1466850"/>
            <a:ext cx="2571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内容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3695700" y="1466850"/>
            <a:ext cx="3505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放置位置与接收者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7353300" y="1466850"/>
            <a:ext cx="405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B6B28"/>
                </a:solidFill>
                <a:latin typeface="Microsoft YaHei"/>
                <a:ea typeface="Microsoft YaHei"/>
              </a:rPr>
              <a:t>不应顺便加入的内容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609600" y="1724025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7" name=""/>
          <p:cNvSpPr/>
          <p:nvPr/>
        </p:nvSpPr>
        <p:spPr>
          <a:xfrm rot="0" flipH="0" flipV="0">
            <a:off x="781050" y="18288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971550" y="1933575"/>
            <a:ext cx="25717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四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Arena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名称、范围与一般空间用途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3695700" y="1933575"/>
            <a:ext cx="35052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地图语义；按感知与初始已知空间取得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7353300" y="193357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四人的私人任务和正确分流答案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609600" y="2447925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2" name=""/>
          <p:cNvSpPr/>
          <p:nvPr/>
        </p:nvSpPr>
        <p:spPr>
          <a:xfrm rot="0" flipH="0" flipV="0">
            <a:off x="781050" y="25527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971550" y="2657475"/>
            <a:ext cx="25717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A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窗口分工与咨询范围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3695700" y="2657475"/>
            <a:ext cx="35052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咨询台、两个窗口的根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；余真资料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7353300" y="265747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「某位来访者一定属于哪类」的完整映射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609600" y="3171825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7" name=""/>
          <p:cNvSpPr/>
          <p:nvPr/>
        </p:nvSpPr>
        <p:spPr>
          <a:xfrm rot="0" flipH="0" flipV="0">
            <a:off x="781050" y="327660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971550" y="3381375"/>
            <a:ext cx="25717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H1—H4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的完整私人目的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3695700" y="3381375"/>
            <a:ext cx="35052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对应来访者的初态资料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7353300" y="338137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其他三人的目的、评分答案列</a:t>
            </a:r>
            <a:endParaRPr/>
          </a:p>
        </p:txBody>
      </p:sp>
      <p:sp>
        <p:nvSpPr>
          <p:cNvPr id="681" name=""/>
          <p:cNvSpPr/>
          <p:nvPr/>
        </p:nvSpPr>
        <p:spPr>
          <a:xfrm rot="0" flipH="0" flipV="0">
            <a:off x="609600" y="3895725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2" name=""/>
          <p:cNvSpPr/>
          <p:nvPr/>
        </p:nvSpPr>
        <p:spPr>
          <a:xfrm rot="0" flipH="0" flipV="0">
            <a:off x="781050" y="400050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971550" y="4105275"/>
            <a:ext cx="25717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每人规定的首次话语与补充条件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3695700" y="4105275"/>
            <a:ext cx="35052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对应人物资料及共同执行规则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7353300" y="410527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提前把预约／报修补进首次话语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609600" y="4619625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7" name=""/>
          <p:cNvSpPr/>
          <p:nvPr/>
        </p:nvSpPr>
        <p:spPr>
          <a:xfrm rot="0" flipH="0" flipV="0">
            <a:off x="781050" y="47244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971550" y="4829175"/>
            <a:ext cx="25717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如何感知、询问、移动、确认和停止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3695700" y="4829175"/>
            <a:ext cx="35052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共用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7353300" y="482917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完整任务表、预定成功剧情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609600" y="5343525"/>
            <a:ext cx="10972800" cy="62865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2" name=""/>
          <p:cNvSpPr/>
          <p:nvPr/>
        </p:nvSpPr>
        <p:spPr>
          <a:xfrm rot="0" flipH="0" flipV="0">
            <a:off x="781050" y="54483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971550" y="5553075"/>
            <a:ext cx="25717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正确窗口映射和闭环判据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3695700" y="5553075"/>
            <a:ext cx="35052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作者与评分者材料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7353300" y="555307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不因方便调试而注入所有角色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27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98" name="" descr="&lt;Slide notes={`「每人获得自己的任务」这句话很容易被读大。它具体指的是每个人得到自己的目的和第一句话，不是把作者表里那一列正确答案一起复制过去。&#10;&#10;有人会想，那要不要加一层隐藏权限，让系统在背后替作者纠正分配错误？这里是没有的。边界只能靠材料本身划清：谁该看到什么，在材料放进去的那一刻就已经决定了。&#10;&#10;一旦把答案写进共同输入，模型读到它，严格来说不是跨身份记忆泄漏——所有角色共享同一份输入，谈不上谁泄漏给谁。真正发生的是作者自己把答案放错了位置。此后关于「咨询台为什么一开始就知道答案」的追问，答案都在材料里，而不在模型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3.1　同一张作者表，不等于同一份角色输入&lt;/Text&gt;&#10;            &lt;Text style={{ fontSize: 34, fontWeight: 'bold', color: '#20344B' }}&gt;装错了不是记忆泄漏，是材料泄漏&lt;/Text&gt;&#10;        &lt;/Box&gt;&#10;    &lt;/Box&gt;&#10;&#10;    &lt;Box style={{ height: 540, flexDirection: 'row', alignItems: 'center', gap: 32 }}&gt;&#10;&#10;        &lt;Box style={{ width: 500, height: 360, background: '#FFF4E6', borderRadius: 12, padding: '28px 30px', flexDirection: 'column', gap: 12, justifyContent: 'center' }}&gt;&#10;            &lt;Text style={{ fontSize: 14, color: '#CB6B28' }}&gt;需要判断的地方&lt;/Text&gt;&#10;            &lt;Text style={{ fontSize: 34, fontWeight: 'bold', color: '#CB6B28', lineHeight: 1.2 }}&gt;材料本身泄露&lt;/Text&gt;&#10;            &lt;Box style={{ width: 64, height: 3, background: '#CB6B28', marginTop: 2 }} /&gt;&#10;            &lt;Text style={{ fontSize: 16, color: '#546779', lineHeight: 1.75, width: 440 }}&gt;把答案写入共同输入后，模型读到它并不属于跨身份记忆泄漏，而是作者自己把答案放错了位置。此后关于「咨询台为什么一开始就知道答案」的追问，答案都在材料里，而不在模型里。&lt;/Text&gt;&#10;        &lt;/Box&gt;&#10;&#10;        &lt;Box style={{ width: 620, flexDirection: 'column', justifyContent: 'center', gap: 20 }}&gt;&#10;&#10;            &lt;Box style={{ width: 620, height: 170, background: '#F4F7FA', borderRadius: 12, padding: '24px 28px', flexDirection: 'column', gap: 8, justifyContent: 'center' }}&gt;&#10;                &lt;Text style={{ fontSize: 20, fontWeight: 'bold', color: '#20344B' }}&gt;「每人获得自己的任务」&lt;/Text&gt;&#10;                &lt;Text style={{ fontSize: 16, color: '#546779', lineHeight: 1.6, width: 564 }}&gt;具体指获得自己的目的和首次话语，不是连作者表中的正确窗口答案一起复制。&lt;/Text&gt;&#10;            &lt;/Box&gt;&#10;&#10;            &lt;Box style={{ width: 620, height: 170, background: '#EDF4FC', borderRadius: 12, padding: '24px 28px', flexDirection: 'column', gap: 8, justifyContent: 'center' }}&gt;&#10;                &lt;Text style={{ fontSize: 20, fontWeight: 'bold', color: '#276FBF' }}&gt;没有隐藏权限&lt;/Text&gt;&#10;                &lt;Text style={{ fontSize: 16, color: '#546779', lineHeight: 1.6, width: 564 }}&gt;这里没有设置隐藏系统权限来替作者纠正分配错误；边界只能靠材料本身划清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0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同一张作者表，不等于同一份角色输入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装错了不是记忆泄漏，是材料泄漏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609600" y="2000250"/>
            <a:ext cx="4762500" cy="3429000"/>
          </a:xfrm>
          <a:prstGeom prst="roundRect">
            <a:avLst>
              <a:gd name="adj" fmla="val 3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895350" y="2562225"/>
            <a:ext cx="4191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需要判断的地方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895350" y="2838450"/>
            <a:ext cx="41910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CB6B28"/>
                </a:solidFill>
                <a:latin typeface="Microsoft YaHei"/>
                <a:ea typeface="Microsoft YaHei"/>
              </a:rPr>
              <a:t>材料本身泄露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895350" y="3438525"/>
            <a:ext cx="609600" cy="28575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95350" y="3581400"/>
            <a:ext cx="4191000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把答案写入共同输入后，模型读到它并不属于跨身份记忆泄漏，而是作者自己把答案放错了位置。此后关于「咨询台为什么一开始就知道答案」的追问，答案都在材料里，而不在模型里。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5676900" y="2000250"/>
            <a:ext cx="5905500" cy="161925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5943600" y="2514600"/>
            <a:ext cx="5372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「每人获得自己的任务」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5943600" y="2819400"/>
            <a:ext cx="5372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具体指获得自己的目的和首次话语，不是连作者表中的正确窗口答案一起复制。</a:t>
            </a:r>
            <a:endParaRPr/>
          </a:p>
        </p:txBody>
      </p:sp>
      <p:sp>
        <p:nvSpPr>
          <p:cNvPr id="711" name=""/>
          <p:cNvSpPr/>
          <p:nvPr/>
        </p:nvSpPr>
        <p:spPr>
          <a:xfrm rot="0" flipH="0" flipV="0">
            <a:off x="5676900" y="3810000"/>
            <a:ext cx="5905500" cy="1619250"/>
          </a:xfrm>
          <a:prstGeom prst="roundRect">
            <a:avLst>
              <a:gd name="adj" fmla="val 70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5943600" y="4324350"/>
            <a:ext cx="5372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没有隐藏权限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5943600" y="4629150"/>
            <a:ext cx="5372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这里没有设置隐藏系统权限来替作者纠正分配错误；边界只能靠材料本身划清。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716" name="" descr="&lt;Slide notes={`把信息分好以后，还有一类东西特别容易混进来，那就是地图。&#10;&#10;地图在实验里承担的职责很清楚：它告诉人物「在哪里」。四个 Arena 的地址、Sector 的层级、A 服务区里有一个咨询窗口，这些都是公开的空间事实，谁来都能看见。&#10;&#10;但它不负责回答「该去哪个窗口」。这四个字才是任务答案，属于评分判据。如果为了让人物别走错，就把分工写进每个 Arena 的公共语义里，那实验测的就不是澄清策略，而是人物能不能读懂提示。&#10;&#10;所以这一节要划的线是：公开空间说明可以描述设施本身，不能描述「谁会来办哪一类事」。地图把舞台搭好，戏怎么演，还得靠人物自己去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3.2　地图给出地点，不替咨询台回答问题&lt;/Text&gt;&#10;            &lt;Text style={{ fontSize: 34, fontWeight: 'bold', color: '#20344B' }}&gt;知识块 ②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②&lt;/Text&gt;&#10;&#10;        &lt;Text style={{ fontSize: 56, fontWeight: 'bold', color: '#20344B', lineHeight: 1.15 }}&gt;地图给出地点，不替咨询台回答问题&lt;/Text&gt;&#10;&#10;        &lt;Box style={{ width: 72, height: 4, background: '#276FBF' }} /&gt;&#10;&#10;        &lt;Text style={{ fontSize: 18, color: '#546779', lineHeight: 1.7, width: 980 }}&gt;公开空间说明可以写「A 服务区内设一个咨询窗口」，不能写「这里专门解决某两位来访者的问题」，也不能把分工答案写进每个 Arena 的公共语义。&lt;/Text&gt;&#10;&#10;        &lt;Box style={{ flexDirection: 'row', alignItems: 'center', marginTop: 10 }}&gt;&#10;            &lt;Box style={{ width: 220, height: 64, background: '#F7F3E8', borderRadius: 8, justifyContent: 'center', alignItems: 'center' }}&gt;&#10;                &lt;Text style={{ fontSize: 17, color: '#20344B' }}&gt;World 青禾社区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200, height: 64, background: '#EDF4FC', borderRadius: 8, justifyContent: 'center', alignItems: 'center' }}&gt;&#10;                &lt;Text style={{ fontSize: 17, color: '#276FBF' }}&gt;Sector 便民服务站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150, height: 64, background: '#ECF7F2', borderRadius: 8, justifyContent: 'center', alignItems: 'center' }}&gt;&#10;                &lt;Text style={{ fontSize: 15, color: '#26816B' }}&gt;入口&lt;/Text&gt;&#10;            &lt;/Box&gt;&#10;            &lt;Box style={{ width: 12, height: 64 }} /&gt;&#10;            &lt;Box style={{ width: 150, height: 64, background: '#ECF7F2', borderRadius: 8, justifyContent: 'center', alignItems: 'center' }}&gt;&#10;                &lt;Text style={{ fontSize: 15, color: '#26816B' }}&gt;等候区&lt;/Text&gt;&#10;            &lt;/Box&gt;&#10;            &lt;Box style={{ width: 12, height: 64 }} /&gt;&#10;            &lt;Box style={{ width: 150, height: 64, background: '#ECF7F2', borderRadius: 8, justifyContent: 'center', alignItems: 'center' }}&gt;&#10;                &lt;Text style={{ fontSize: 15, color: '#26816B' }}&gt;A 服务区&lt;/Text&gt;&#10;            &lt;/Box&gt;&#10;            &lt;Box style={{ width: 12, height: 64 }} /&gt;&#10;            &lt;Box style={{ width: 150, height: 64, background: '#ECF7F2', borderRadius: 8, justifyContent: 'center', alignItems: 'center' }}&gt;&#10;                &lt;Text style={{ fontSize: 15, color: '#26816B' }}&gt;B 服务区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07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71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地图给出地点，不替咨询台回答问题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71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②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609600" y="1724025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609600" y="30003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地图给出地点，不替咨询台回答问题</a:t>
            </a:r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609600" y="3914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609600" y="4124325"/>
            <a:ext cx="9334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公开空间说明可以写「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服务区内设一个咨询窗口」，不能写「这里专门解决某两位来访者的问题」，也不能把分工答案写进每个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Arena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的公共语义。</a:t>
            </a:r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609600" y="5095875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1076325" y="5305425"/>
            <a:ext cx="1171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World 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青禾社区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2876550" y="52482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3124200" y="5095875"/>
            <a:ext cx="19050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3400425" y="5305425"/>
            <a:ext cx="1352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76FBF"/>
                </a:solidFill>
                <a:latin typeface="Microsoft YaHei"/>
                <a:ea typeface="Microsoft YaHei"/>
              </a:rPr>
              <a:t xml:space="preserve">Sector </a:t>
            </a: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便民服务站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5200650" y="52482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5448300" y="50958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6019800" y="53149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入口</a:t>
            </a:r>
            <a:endParaRPr/>
          </a:p>
        </p:txBody>
      </p:sp>
      <p:sp>
        <p:nvSpPr>
          <p:cNvPr id="733" name=""/>
          <p:cNvSpPr/>
          <p:nvPr/>
        </p:nvSpPr>
        <p:spPr>
          <a:xfrm rot="0" flipH="0" flipV="0">
            <a:off x="6991350" y="50958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7496175" y="53149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等候区</a:t>
            </a:r>
            <a:endParaRPr/>
          </a:p>
        </p:txBody>
      </p:sp>
      <p:sp>
        <p:nvSpPr>
          <p:cNvPr id="735" name=""/>
          <p:cNvSpPr/>
          <p:nvPr/>
        </p:nvSpPr>
        <p:spPr>
          <a:xfrm rot="0" flipH="0" flipV="0">
            <a:off x="8534400" y="50958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8963025" y="53149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服务区</a:t>
            </a:r>
            <a:endParaRPr/>
          </a:p>
        </p:txBody>
      </p:sp>
      <p:sp>
        <p:nvSpPr>
          <p:cNvPr id="737" name=""/>
          <p:cNvSpPr/>
          <p:nvPr/>
        </p:nvSpPr>
        <p:spPr>
          <a:xfrm rot="0" flipH="0" flipV="0">
            <a:off x="10077450" y="50958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10515600" y="5314950"/>
            <a:ext cx="56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服务区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27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741" name="" descr="&lt;Slide notes={`地图的来源和第三章不一样。这里是 World「青禾社区」，下面挂 Sector「便民服务站」，再往下是四个 Arena：入口、等候区、A 服务区和 B 服务区。四个草图矩形沿用第四章的坐标，整图二十乘十六格，不沿用第三章学习中心的房间坐标。&#13;&#10;&#13;&#10;三个 Game Object 分别是入口的咨询台、A 服务区的 A 窗口和 B 服务区的 B 窗口。它们是设施，不是角色，不会被当成人。&#13;&#10;&#13;&#10;公开的空间说明可以写「A 服务区内设一个咨询窗口」，这是描述设施本身。但不能写「这里专门解决某两位来访者的问题」，也不能把分工答案写进 Arena 的公共语义里。地图说清楚「在哪里」，不回答「该去哪个窗口」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3.2　地图给出地点，不替咨询台回答问题&lt;/Text&gt;&#13;&#10;            &lt;Text style={{ fontSize: 34, fontWeight: 'bold', color: '#20344B' }}&gt;青禾社区的空间底稿&lt;/Text&gt;&#13;&#10;        &lt;/Box&gt;&#13;&#10;    &lt;/Box&gt;&#13;&#10;&#13;&#10;    &lt;Box style={{ height: 540, flexDirection: 'row', alignItems: 'center', gap: 32 }}&gt;&#13;&#10;&#13;&#10;        &lt;Box style={{ width: 480, height: 420, background: '#F4F7FA', borderRadius: 12, padding: 20, flexDirection: 'column', justifyContent: 'center', gap: 8 }}&gt;&#13;&#10;            &lt;Text style={{ fontSize: 13, color: '#546779' }}&gt;整图 20 × 16 格　·　草图矩形坐标&lt;/Text&gt;&#13;&#10;&#13;&#10;            &lt;Box style={{ width: 396, height: 66, background: '#EDF4FC', borderRadius: 8, padding: '0 14px', flexDirection: 'row', alignItems: 'center', justifyContent: 'space-between' }}&gt;&#13;&#10;                &lt;Text style={{ fontSize: 16, fontWeight: 'bold', color: '#276FBF' }}&gt;入口　咨询台&lt;/Text&gt;&#13;&#10;                &lt;Text style={{ fontSize: 12, color: '#546779' }}&gt;[1,1,18,3]&lt;/Text&gt;&#13;&#10;            &lt;/Box&gt;&#13;&#10;&#13;&#10;            &lt;Box style={{ width: 396, height: 88, background: '#EDF4FC', borderRadius: 8, padding: '0 14px', flexDirection: 'row', alignItems: 'center', justifyContent: 'space-between' }}&gt;&#13;&#10;                &lt;Text style={{ fontSize: 16, fontWeight: 'bold', color: '#276FBF' }}&gt;等候区&lt;/Text&gt;&#13;&#10;                &lt;Text style={{ fontSize: 12, color: '#546779' }}&gt;[1,4,18,4]&lt;/Text&gt;&#13;&#10;            &lt;/Box&gt;&#13;&#10;&#13;&#10;            &lt;Box style={{ flexDirection: 'row' }}&gt;&#13;&#10;                &lt;Box style={{ width: 198, height: 154, background: '#ECF7F2', borderRadius: 8, padding: 14, flexDirection: 'column', gap: 6 }}&gt;&#13;&#10;                    &lt;Text style={{ fontSize: 16, fontWeight: 'bold', color: '#26816B' }}&gt;A 服务区&lt;/Text&gt;&#13;&#10;                    &lt;Text style={{ fontSize: 14, color: '#26816B' }}&gt;A 窗口&lt;/Text&gt;&#13;&#10;                    &lt;Text style={{ fontSize: 12, color: '#546779' }}&gt;[1,8,9,7]&lt;/Text&gt;&#13;&#10;                &lt;/Box&gt;&#13;&#10;                &lt;Box style={{ width: 198, height: 154, background: '#ECF7F2', borderRadius: 8, padding: 14, flexDirection: 'column', gap: 6 }}&gt;&#13;&#10;                    &lt;Text style={{ fontSize: 16, fontWeight: 'bold', color: '#26816B' }}&gt;B 服务区&lt;/Text&gt;&#13;&#10;                    &lt;Text style={{ fontSize: 14, color: '#26816B' }}&gt;B 窗口&lt;/Text&gt;&#13;&#10;                    &lt;Text style={{ fontSize: 12, color: '#546779' }}&gt;[10,8,9,7]&lt;/Text&gt;&#13;&#10;                &lt;/Box&gt;&#13;&#10;            &lt;/Box&gt;&#13;&#10;        &lt;/Box&gt;&#13;&#10;&#13;&#10;        &lt;Box style={{ width: 640, flexDirection: 'column', justifyContent: 'center', gap: 14 }}&gt;&#13;&#10;&#13;&#10;            &lt;Box style={{ width: 640, height: 84, background: '#F7F3E8', borderRadius: 10, padding: '0 22px', flexDirection: 'column', gap: 4, justifyContent: 'center' }}&gt;&#13;&#10;                &lt;Text style={{ fontSize: 17, fontWeight: 'bold', color: '#20344B' }}&gt;World 青禾社区　›　Sector 便民服务站&lt;/Text&gt;&#13;&#10;                &lt;Text style={{ fontSize: 14, color: '#546779' }}&gt;下设入口、等候区、A 服务区、B 服务区四个 Arena&lt;/Text&gt;&#13;&#10;            &lt;/Box&gt;&#13;&#10;&#13;&#10;            &lt;Box style={{ width: 640, height: 54, background: '#F4F7FA', borderRadius: 8, padding: '0 20px', flexDirection: 'row', alignItems: 'center', gap: 16 }}&gt;&#13;&#10;                &lt;Text style={{ fontSize: 16, fontWeight: 'bold', color: '#20344B', width: 110 }}&gt;入口&lt;/Text&gt;&#13;&#10;                &lt;Text style={{ fontSize: 14, color: '#546779' }}&gt;公共通道，人物从这里进入世界&lt;/Text&gt;&#13;&#10;            &lt;/Box&gt;&#13;&#10;&#13;&#10;            &lt;Box style={{ width: 640, height: 54, background: '#F4F7FA', borderRadius: 8, padding: '0 20px', flexDirection: 'row', alignItems: 'center', gap: 16 }}&gt;&#13;&#10;                &lt;Text style={{ fontSize: 16, fontWeight: 'bold', color: '#20344B', width: 110 }}&gt;等候区&lt;/Text&gt;&#13;&#10;                &lt;Text style={{ fontSize: 14, color: '#546779' }}&gt;引导员余真的初始装配位置&lt;/Text&gt;&#13;&#10;            &lt;/Box&gt;&#13;&#10;&#13;&#10;            &lt;Box style={{ width: 640, height: 54, background: '#F4F7FA', borderRadius: 8, padding: '0 20px', flexDirection: 'row', alignItems: 'center', gap: 16 }}&gt;&#13;&#10;                &lt;Text style={{ fontSize: 16, fontWeight: 'bold', color: '#20344B', width: 110 }}&gt;A 服务区&lt;/Text&gt;&#13;&#10;                &lt;Text style={{ fontSize: 14, color: '#546779' }}&gt;公开语义只写「内设一个咨询窗口」&lt;/Text&gt;&#13;&#10;            &lt;/Box&gt;&#13;&#10;&#13;&#10;            &lt;Box style={{ width: 640, height: 54, background: '#F4F7FA', borderRadius: 8, padding: '0 20px', flexDirection: 'row', alignItems: 'center', gap: 16 }}&gt;&#13;&#10;                &lt;Text style={{ fontSize: 16, fontWeight: 'bold', color: '#20344B', width: 110 }}&gt;B 服务区&lt;/Text&gt;&#13;&#10;                &lt;Text style={{ fontSize: 14, color: '#546779' }}&gt;公开语义只写「内设一个咨询窗口」&lt;/Text&gt;&#13;&#10;            &lt;/Box&gt;&#13;&#10;&#13;&#10;            &lt;Box style={{ width: 640, flexDirection: 'row', gap: 20 }}&gt;&#13;&#10;                &lt;Box style={{ width: 200, height: 82, background: '#ECF7F2', borderRadius: 10, padding: '12px 16px', flexDirection: 'column', gap: 4, justifyContent: 'center' }}&gt;&#13;&#10;                    &lt;Text style={{ fontSize: 16, fontWeight: 'bold', color: '#26816B' }}&gt;咨询台&lt;/Text&gt;&#13;&#10;                    &lt;Text style={{ fontSize: 13, color: '#546779' }}&gt;位于入口&lt;/Text&gt;&#13;&#10;                &lt;/Box&gt;&#13;&#10;                &lt;Box style={{ width: 200, height: 82, background: '#ECF7F2', borderRadius: 10, padding: '12px 16px', flexDirection: 'column', gap: 4, justifyContent: 'center' }}&gt;&#13;&#10;                    &lt;Text style={{ fontSize: 16, fontWeight: 'bold', color: '#26816B' }}&gt;A 窗口&lt;/Text&gt;&#13;&#10;                    &lt;Text style={{ fontSize: 13, color: '#546779' }}&gt;位于 A 服务区&lt;/Text&gt;&#13;&#10;                &lt;/Box&gt;&#13;&#10;                &lt;Box style={{ width: 200, height: 82, background: '#ECF7F2', borderRadius: 10, padding: '12px 16px', flexDirection: 'column', gap: 4, justifyContent: 'center' }}&gt;&#13;&#10;                    &lt;Text style={{ fontSize: 16, fontWeight: 'bold', color: '#26816B' }}&gt;B 窗口&lt;/Text&gt;&#13;&#10;                    &lt;Text style={{ fontSize: 13, color: '#546779' }}&gt;位于 B 服务区&lt;/Text&gt;&#13;&#10;                &lt;/Box&gt;&#13;&#10;            &lt;/Box&gt;&#13;&#10;&#13;&#10;        &lt;/Box&gt;&#13;&#10;&#13;&#10;    &lt;/Box&gt;&#13;&#10;&#13;&#10;    &lt;Box style={{ height: 40, flexDirection: 'row', justifyContent: 'space-between', alignItems: 'center' }}&gt;&#13;&#10;        &lt;Text style={{ fontSize: 14, color: '#546779' }}&gt;5.3 作者资源与信息边界&lt;/Text&gt;&#13;&#10;        &lt;Text style={{ fontSize: 14, color: '#546779' }}&gt;08 / 27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地图给出地点，不替咨询台回答问题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青禾社区的空间底稿</a:t>
            </a:r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609600" y="1714500"/>
            <a:ext cx="4572000" cy="400050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800100" y="2057400"/>
            <a:ext cx="419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整图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20 × 16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格　·　草图矩形坐标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800100" y="2286000"/>
            <a:ext cx="3771900" cy="628650"/>
          </a:xfrm>
          <a:prstGeom prst="roundRect">
            <a:avLst>
              <a:gd name="adj" fmla="val 121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933450" y="25050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入口　咨询台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3943350" y="2533650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[1,1,18,3]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800100" y="2990850"/>
            <a:ext cx="377190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933450" y="33147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等候区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3943350" y="3343275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[1,4,18,4]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800100" y="3905250"/>
            <a:ext cx="1885950" cy="1466850"/>
          </a:xfrm>
          <a:prstGeom prst="roundRect">
            <a:avLst>
              <a:gd name="adj" fmla="val 519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933450" y="403860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服务区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933450" y="4286250"/>
            <a:ext cx="161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窗口</a:t>
            </a:r>
            <a:endParaRPr/>
          </a:p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933450" y="4505325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[1,8,9,7]</a:t>
            </a:r>
            <a:endParaRPr/>
          </a:p>
        </p:txBody>
      </p:sp>
      <p:sp>
        <p:nvSpPr>
          <p:cNvPr id="758" name=""/>
          <p:cNvSpPr/>
          <p:nvPr/>
        </p:nvSpPr>
        <p:spPr>
          <a:xfrm rot="0" flipH="0" flipV="0">
            <a:off x="2686050" y="3905250"/>
            <a:ext cx="1885950" cy="1466850"/>
          </a:xfrm>
          <a:prstGeom prst="roundRect">
            <a:avLst>
              <a:gd name="adj" fmla="val 519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2819400" y="403860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服务区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2819400" y="4286250"/>
            <a:ext cx="161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窗口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2819400" y="4505325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[10,8,9,7]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5486400" y="1562100"/>
            <a:ext cx="6096000" cy="800100"/>
          </a:xfrm>
          <a:prstGeom prst="roundRect">
            <a:avLst>
              <a:gd name="adj" fmla="val 1190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5695950" y="1762125"/>
            <a:ext cx="567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World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青禾社区　›　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Sector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便民服务站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5695950" y="2000250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下设入口、等候区、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服务区、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服务区四个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Arena</a:t>
            </a:r>
            <a:endParaRPr/>
          </a:p>
        </p:txBody>
      </p:sp>
      <p:sp>
        <p:nvSpPr>
          <p:cNvPr id="765" name=""/>
          <p:cNvSpPr/>
          <p:nvPr/>
        </p:nvSpPr>
        <p:spPr>
          <a:xfrm rot="0" flipH="0" flipV="0">
            <a:off x="5486400" y="2495550"/>
            <a:ext cx="6096000" cy="514350"/>
          </a:xfrm>
          <a:prstGeom prst="roundRect">
            <a:avLst>
              <a:gd name="adj" fmla="val 148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5676900" y="265747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入口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6877050" y="267652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公共通道，人物从这里进入世界</a:t>
            </a:r>
            <a:endParaRPr/>
          </a:p>
        </p:txBody>
      </p:sp>
      <p:sp>
        <p:nvSpPr>
          <p:cNvPr id="768" name=""/>
          <p:cNvSpPr/>
          <p:nvPr/>
        </p:nvSpPr>
        <p:spPr>
          <a:xfrm rot="0" flipH="0" flipV="0">
            <a:off x="5486400" y="3143250"/>
            <a:ext cx="6096000" cy="514350"/>
          </a:xfrm>
          <a:prstGeom prst="roundRect">
            <a:avLst>
              <a:gd name="adj" fmla="val 148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5676900" y="330517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等候区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6877050" y="33242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引导员余真的初始装配位置</a:t>
            </a:r>
            <a:endParaRPr/>
          </a:p>
        </p:txBody>
      </p:sp>
      <p:sp>
        <p:nvSpPr>
          <p:cNvPr id="771" name=""/>
          <p:cNvSpPr/>
          <p:nvPr/>
        </p:nvSpPr>
        <p:spPr>
          <a:xfrm rot="0" flipH="0" flipV="0">
            <a:off x="5486400" y="3790950"/>
            <a:ext cx="6096000" cy="514350"/>
          </a:xfrm>
          <a:prstGeom prst="roundRect">
            <a:avLst>
              <a:gd name="adj" fmla="val 148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5676900" y="395287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服务区</a:t>
            </a:r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6877050" y="397192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公开语义只写「内设一个咨询窗口」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5486400" y="4438650"/>
            <a:ext cx="6096000" cy="514350"/>
          </a:xfrm>
          <a:prstGeom prst="roundRect">
            <a:avLst>
              <a:gd name="adj" fmla="val 148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5676900" y="4600575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服务区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6877050" y="461962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公开语义只写「内设一个咨询窗口」</a:t>
            </a:r>
            <a:endParaRPr/>
          </a:p>
        </p:txBody>
      </p:sp>
      <p:sp>
        <p:nvSpPr>
          <p:cNvPr id="777" name=""/>
          <p:cNvSpPr/>
          <p:nvPr/>
        </p:nvSpPr>
        <p:spPr>
          <a:xfrm rot="0" flipH="0" flipV="0">
            <a:off x="5486400" y="5086350"/>
            <a:ext cx="1905000" cy="781050"/>
          </a:xfrm>
          <a:prstGeom prst="roundRect">
            <a:avLst>
              <a:gd name="adj" fmla="val 1219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5638800" y="5286375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咨询台</a:t>
            </a:r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5638800" y="5514975"/>
            <a:ext cx="1600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位于入口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7581900" y="5086350"/>
            <a:ext cx="1905000" cy="781050"/>
          </a:xfrm>
          <a:prstGeom prst="roundRect">
            <a:avLst>
              <a:gd name="adj" fmla="val 1219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7734300" y="5286375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窗口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7734300" y="5514975"/>
            <a:ext cx="1600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位于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服务区</a:t>
            </a:r>
            <a:endParaRPr/>
          </a:p>
        </p:txBody>
      </p:sp>
      <p:sp>
        <p:nvSpPr>
          <p:cNvPr id="783" name=""/>
          <p:cNvSpPr/>
          <p:nvPr/>
        </p:nvSpPr>
        <p:spPr>
          <a:xfrm rot="0" flipH="0" flipV="0">
            <a:off x="9677400" y="5086350"/>
            <a:ext cx="1905000" cy="781050"/>
          </a:xfrm>
          <a:prstGeom prst="roundRect">
            <a:avLst>
              <a:gd name="adj" fmla="val 1219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9829800" y="5286375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窗口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9829800" y="5514975"/>
            <a:ext cx="1600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位于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服务区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27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88" name="" descr="&lt;Slide notes={`地图不只是背景图。它由三部分组成，各自负责一段。&#13;&#10;&#13;&#10;图片负责「看起来是什么」——柜台长什么样。节点和语义负责「这个设施是什么、能做什么交互」，这一层是公开的，所以里面不能写任务答案。碰撞和通路负责「人物能到哪里」——能不能走过去，会不会穿过去。&#13;&#10;&#13;&#10;三个对象的具体矩形和相邻格子，仍然要在素材制作阶段补齐并核验。现在手里的是草图，不能把尚未完成的草图称为可以导入的地图，更不能临时借用旧案例里同名的物件，就认为地址的含义一样。第三章讲过地图与空间的操作，进到相应服务区以后，人物还要从感知里取得对象地址与交互项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3.2　地图给出地点，不替咨询台回答问题&lt;/Text&gt;&#13;&#10;            &lt;Text style={{ fontSize: 34, fontWeight: 'bold', color: '#20344B' }}&gt;图像、节点与碰撞各管一段&lt;/Text&gt;&#13;&#10;        &lt;/Box&gt;&#13;&#10;    &lt;/Box&gt;&#13;&#10;&#13;&#10;    &lt;Box style={{ height: 540, flexDirection: 'row', alignItems: 'center', gap: 32 }}&gt;&#13;&#10;&#13;&#10;        &lt;Box style={{ width: 668, flexDirection: 'column', justifyContent: 'center', gap: 16 }}&gt;&#13;&#10;&#13;&#10;            &lt;Box style={{ width: 668, height: 132, background: '#F4F7FA', borderRadius: 10, padding: '20px 24px', flexDirection: 'row', alignItems: 'center', gap: 18 }}&gt;&#13;&#10;                &lt;Box style={{ width: 4, height: 88, background: '#26816B' }} /&gt;&#13;&#10;                &lt;Box style={{ width: 598, flexDirection: 'column', gap: 6 }}&gt;&#13;&#10;                    &lt;Text style={{ fontSize: 20, fontWeight: 'bold', color: '#20344B' }}&gt;图像&lt;/Text&gt;&#13;&#10;                    &lt;Text style={{ fontSize: 15, color: '#546779', lineHeight: 1.5 }}&gt;图片显示柜台长什么样；作者侧要备齐背景图与对象图片&lt;/Text&gt;&#13;&#10;                    &lt;Text style={{ fontSize: 14, color: '#26816B', lineHeight: 1.5 }}&gt;核对：素材是否与实际保存的资源一致&lt;/Text&gt;&#13;&#10;                &lt;/Box&gt;&#13;&#10;            &lt;/Box&gt;&#13;&#10;&#13;&#10;            &lt;Box style={{ width: 668, height: 132, background: '#F4F7FA', borderRadius: 10, padding: '20px 24px', flexDirection: 'row', alignItems: 'center', gap: 18 }}&gt;&#13;&#10;                &lt;Box style={{ width: 4, height: 88, background: '#276FBF' }} /&gt;&#13;&#10;                &lt;Box style={{ width: 598, flexDirection: 'column', gap: 6 }}&gt;&#13;&#10;                    &lt;Text style={{ fontSize: 20, fontWeight: 'bold', color: '#20344B' }}&gt;节点与语义&lt;/Text&gt;&#13;&#10;                    &lt;Text style={{ fontSize: 15, color: '#546779', lineHeight: 1.5 }}&gt;语义说明这个设施是什么、能做哪些交互，这一层是公开的&lt;/Text&gt;&#13;&#10;                    &lt;Text style={{ fontSize: 14, color: '#26816B', lineHeight: 1.5 }}&gt;核对：公开语义里不含任何任务答案&lt;/Text&gt;&#13;&#10;                &lt;/Box&gt;&#13;&#10;            &lt;/Box&gt;&#13;&#10;&#13;&#10;            &lt;Box style={{ width: 668, height: 132, background: '#F4F7FA', borderRadius: 10, padding: '20px 24px', flexDirection: 'row', alignItems: 'center', gap: 18 }}&gt;&#13;&#10;                &lt;Box style={{ width: 4, height: 88, background: '#276FBF' }} /&gt;&#13;&#10;                &lt;Box style={{ width: 598, flexDirection: 'column', gap: 6 }}&gt;&#13;&#10;                    &lt;Text style={{ fontSize: 20, fontWeight: 'bold', color: '#20344B' }}&gt;碰撞与通路&lt;/Text&gt;&#13;&#10;                    &lt;Text style={{ fontSize: 15, color: '#546779', lineHeight: 1.5 }}&gt;通路决定人物能到哪里、能不能走过去&lt;/Text&gt;&#13;&#10;                    &lt;Text style={{ fontSize: 14, color: '#26816B', lineHeight: 1.5 }}&gt;核对：矩形与邻格须在素材制作阶段补齐并核验&lt;/Text&gt;&#13;&#10;                &lt;/Box&gt;&#13;&#10;            &lt;/Box&gt;&#13;&#10;&#13;&#10;        &lt;/Box&gt;&#13;&#10;&#13;&#10;        &lt;Box style={{ width: 452, flexDirection: 'column', justifyContent: 'center', gap: 20 }}&gt;&#13;&#10;&#13;&#10;            &lt;Box style={{ width: 452, height: 250, background: '#FFF4E6', borderRadius: 12, padding: '24px 26px', flexDirection: 'column', gap: 12, justifyContent: 'center' }}&gt;&#13;&#10;                &lt;Text style={{ fontSize: 14, color: '#CB6B28' }}&gt;需要判断的地方&lt;/Text&gt;&#13;&#10;                &lt;Text style={{ fontSize: 24, fontWeight: 'bold', color: '#CB6B28', lineHeight: 1.3 }}&gt;不能想当然&lt;/Text&gt;&#13;&#10;                &lt;Text style={{ fontSize: 15, color: '#546779', lineHeight: 1.65, width: 400 }}&gt;不能把尚未完成的 4.1 草图称为可导入地图。&lt;/Text&gt;&#13;&#10;                &lt;Text style={{ fontSize: 15, color: '#546779', lineHeight: 1.65, width: 400 }}&gt;更不能临时借用旧案例里的同名物件，并认为地址含义相同。&lt;/Text&gt;&#13;&#10;            &lt;/Box&gt;&#13;&#10;&#13;&#10;            &lt;Box style={{ width: 452, height: 190, background: '#EDF4FC', borderRadius: 12, padding: '24px 26px', flexDirection: 'column', gap: 10, justifyContent: 'center' }}&gt;&#13;&#10;                &lt;Text style={{ fontSize: 18, fontWeight: 'bold', color: '#276FBF' }}&gt;进入服务区后再感知&lt;/Text&gt;&#13;&#10;                &lt;Text style={{ fontSize: 15, color: '#546779', lineHeight: 1.65, width: 400 }}&gt;人物进入相应服务区后，再从感知取得对象地址与交互项；界面操作参照第三章的资源教程。&lt;/Text&gt;&#13;&#10;            &lt;/Box&gt;&#13;&#10;&#13;&#10;        &lt;/Box&gt;&#13;&#10;&#13;&#10;    &lt;/Box&gt;&#13;&#10;&#13;&#10;    &lt;Box style={{ height: 40, flexDirection: 'row', justifyContent: 'space-between', alignItems: 'center' }}&gt;&#13;&#10;        &lt;Text style={{ fontSize: 14, color: '#546779' }}&gt;5.3 作者资源与信息边界&lt;/Text&gt;&#13;&#10;        &lt;Text style={{ fontSize: 14, color: '#546779' }}&gt;09 / 27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地图给出地点，不替咨询台回答问题</a:t>
            </a:r>
            <a:endParaRPr/>
          </a:p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图像、节点与碰撞各管一段</a:t>
            </a:r>
            <a:endParaRPr/>
          </a:p>
        </p:txBody>
      </p:sp>
      <p:sp>
        <p:nvSpPr>
          <p:cNvPr id="793" name=""/>
          <p:cNvSpPr/>
          <p:nvPr/>
        </p:nvSpPr>
        <p:spPr>
          <a:xfrm rot="0" flipH="0" flipV="0">
            <a:off x="609600" y="1676400"/>
            <a:ext cx="63627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94" name=""/>
          <p:cNvSpPr/>
          <p:nvPr/>
        </p:nvSpPr>
        <p:spPr>
          <a:xfrm rot="0" flipH="0" flipV="0">
            <a:off x="838200" y="1885950"/>
            <a:ext cx="38100" cy="838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1047750" y="1885950"/>
            <a:ext cx="5695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图像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1047750" y="2171700"/>
            <a:ext cx="5695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图片显示柜台长什么样；作者侧要备齐背景图与对象图片</a:t>
            </a:r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1047750" y="248602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核对：素材是否与实际保存的资源一致</a:t>
            </a:r>
            <a:endParaRPr/>
          </a:p>
        </p:txBody>
      </p:sp>
      <p:sp>
        <p:nvSpPr>
          <p:cNvPr id="798" name=""/>
          <p:cNvSpPr/>
          <p:nvPr/>
        </p:nvSpPr>
        <p:spPr>
          <a:xfrm rot="0" flipH="0" flipV="0">
            <a:off x="609600" y="3086100"/>
            <a:ext cx="63627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99" name=""/>
          <p:cNvSpPr/>
          <p:nvPr/>
        </p:nvSpPr>
        <p:spPr>
          <a:xfrm rot="0" flipH="0" flipV="0">
            <a:off x="838200" y="3295650"/>
            <a:ext cx="38100" cy="838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1047750" y="3295650"/>
            <a:ext cx="5695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节点与语义</a:t>
            </a:r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1047750" y="3581400"/>
            <a:ext cx="5695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语义说明这个设施是什么、能做哪些交互，这一层是公开的</a:t>
            </a:r>
            <a:endParaRPr/>
          </a:p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1047750" y="389572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核对：公开语义里不含任何任务答案</a:t>
            </a:r>
            <a:endParaRPr/>
          </a:p>
        </p:txBody>
      </p:sp>
      <p:sp>
        <p:nvSpPr>
          <p:cNvPr id="803" name=""/>
          <p:cNvSpPr/>
          <p:nvPr/>
        </p:nvSpPr>
        <p:spPr>
          <a:xfrm rot="0" flipH="0" flipV="0">
            <a:off x="609600" y="4495800"/>
            <a:ext cx="63627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04" name=""/>
          <p:cNvSpPr/>
          <p:nvPr/>
        </p:nvSpPr>
        <p:spPr>
          <a:xfrm rot="0" flipH="0" flipV="0">
            <a:off x="838200" y="4705350"/>
            <a:ext cx="38100" cy="838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1047750" y="4705350"/>
            <a:ext cx="5695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碰撞与通路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1047750" y="4991100"/>
            <a:ext cx="5695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通路决定人物能到哪里、能不能走过去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1047750" y="530542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核对：矩形与邻格须在素材制作阶段补齐并核验</a:t>
            </a:r>
            <a:endParaRPr/>
          </a:p>
        </p:txBody>
      </p:sp>
      <p:sp>
        <p:nvSpPr>
          <p:cNvPr id="808" name=""/>
          <p:cNvSpPr/>
          <p:nvPr/>
        </p:nvSpPr>
        <p:spPr>
          <a:xfrm rot="0" flipH="0" flipV="0">
            <a:off x="7277100" y="1524000"/>
            <a:ext cx="4305300" cy="2381250"/>
          </a:xfrm>
          <a:prstGeom prst="roundRect">
            <a:avLst>
              <a:gd name="adj" fmla="val 48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7524750" y="1857375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需要判断的地方</a:t>
            </a:r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7524750" y="2133600"/>
            <a:ext cx="3810000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800" b="1">
                <a:solidFill>
                  <a:srgbClr val="CB6B28"/>
                </a:solidFill>
                <a:latin typeface="Microsoft YaHei"/>
                <a:ea typeface="Microsoft YaHei"/>
              </a:rPr>
              <a:t>不能想当然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7524750" y="2609850"/>
            <a:ext cx="38100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不能把尚未完成的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4.1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草图称为可导入地图。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7524750" y="3009900"/>
            <a:ext cx="3810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更不能临时借用旧案例里的同名物件，并认为地址含义相同。</a:t>
            </a:r>
            <a:endParaRPr/>
          </a:p>
        </p:txBody>
      </p:sp>
      <p:sp>
        <p:nvSpPr>
          <p:cNvPr id="813" name=""/>
          <p:cNvSpPr/>
          <p:nvPr/>
        </p:nvSpPr>
        <p:spPr>
          <a:xfrm rot="0" flipH="0" flipV="0">
            <a:off x="7277100" y="4095750"/>
            <a:ext cx="4305300" cy="1809750"/>
          </a:xfrm>
          <a:prstGeom prst="roundRect">
            <a:avLst>
              <a:gd name="adj" fmla="val 631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7524750" y="4562475"/>
            <a:ext cx="381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进入服务区后再感知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7524750" y="4867275"/>
            <a:ext cx="3810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人物进入相应服务区后，再从感知取得对象地址与交互项；界面操作参照第三章的资源教程。</a:t>
            </a:r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27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6" name="" descr="&lt;Slide notes={`两组来访者拿到的东西是一样的：四个 Arena 的真实初始已知地址。这一点不能省，否则人物连路都走不了，实验根本跑不起来。&#10;&#10;但地址不等于答案。他们不知道窗口怎么分工，也不知道自己被归到哪一类。真正进入相应服务区以后，还要从感知里取得对象地址和交互项——也就是说，走近了才看得见柜台。&#10;&#10;还有一条容易被忽略：收到一句文字形式的地址，不会自动新增系统的已知空间。地址要真的存进已知空间里，人物才认这个位置。&#10;&#10;所以这一步提供的是合法移动的公共空间基础，不是让角色提前知道咨询答案。前者是入场券，后者是作弊，两者在材料上必须分得清清楚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3.2　地图给出地点，不替咨询台回答问题&lt;/Text&gt;&#10;            &lt;Text style={{ fontSize: 34, fontWeight: 'bold', color: '#20344B' }}&gt;合法移动的基础，不是咨询答案&lt;/Text&gt;&#10;        &lt;/Box&gt;&#10;    &lt;/Box&gt;&#10;&#10;    &lt;Box style={{ height: 540, flexDirection: 'column', justifyContent: 'center', gap: 24 }}&gt;&#10;&#10;        &lt;Box style={{ flexDirection: 'row', gap: 32 }}&gt;&#10;&#10;            &lt;Box style={{ width: 560, height: 300, background: '#ECF7F2', borderRadius: 12, padding: '26px 30px', flexDirection: 'column', gap: 12, justifyContent: 'center' }}&gt;&#10;                &lt;Text style={{ fontSize: 22, fontWeight: 'bold', color: '#26816B' }}&gt;地图给的&lt;/Text&gt;&#10;                &lt;Box style={{ width: 500, height: 56, background: '#FFFFFF', borderRadius: 8, padding: '0 16px', justifyContent: 'center' }}&gt;&#10;                    &lt;Text style={{ fontSize: 15, color: '#20344B' }}&gt;两组来访者都获得四个 Arena 的真实初始已知地址&lt;/Text&gt;&#10;                &lt;/Box&gt;&#10;                &lt;Box style={{ width: 500, height: 56, background: '#FFFFFF', borderRadius: 8, padding: '0 16px', justifyContent: 'center' }}&gt;&#10;                    &lt;Text style={{ fontSize: 15, color: '#20344B' }}&gt;这是合法移动所需的公共空间基础&lt;/Text&gt;&#10;                &lt;/Box&gt;&#10;                &lt;Box style={{ width: 500, height: 56, background: '#FFFFFF', borderRadius: 8, padding: '0 16px', justifyContent: 'center' }}&gt;&#10;                    &lt;Text style={{ fontSize: 15, color: '#20344B' }}&gt;两个条件不同的组别拿到同一份空间底稿&lt;/Text&gt;&#10;                &lt;/Box&gt;&#10;            &lt;/Box&gt;&#10;&#10;            &lt;Box style={{ width: 560, height: 300, background: '#EDF4FC', borderRadius: 12, padding: '26px 30px', flexDirection: 'column', gap: 12, justifyContent: 'center' }}&gt;&#10;                &lt;Text style={{ fontSize: 22, fontWeight: 'bold', color: '#276FBF' }}&gt;地图没给的&lt;/Text&gt;&#10;                &lt;Box style={{ width: 500, height: 56, background: '#FFFFFF', borderRadius: 8, padding: '0 16px', justifyContent: 'center' }}&gt;&#10;                    &lt;Text style={{ fontSize: 15, color: '#20344B' }}&gt;不知道窗口分工，也不知道自己被归到哪一类&lt;/Text&gt;&#10;                &lt;/Box&gt;&#10;                &lt;Box style={{ width: 500, height: 56, background: '#FFFFFF', borderRadius: 8, padding: '0 16px', justifyContent: 'center' }}&gt;&#10;                    &lt;Text style={{ fontSize: 15, color: '#20344B' }}&gt;对象地址与交互项要进入服务区后从感知取得&lt;/Text&gt;&#10;                &lt;/Box&gt;&#10;                &lt;Box style={{ width: 500, height: 56, background: '#FFFFFF', borderRadius: 8, padding: '0 16px', justifyContent: 'center' }}&gt;&#10;                    &lt;Text style={{ fontSize: 15, color: '#20344B' }}&gt;公开语义里不出现任何分流答案&lt;/Text&gt;&#10;                &lt;/Box&gt;&#10;            &lt;/Box&gt;&#10;&#10;        &lt;/Box&gt;&#10;&#10;        &lt;Box style={{ width: 1152, height: 92, background: '#FFF4E6', borderRadius: 12, padding: '0 26px', flexDirection: 'row', alignItems: 'center', gap: 20 }}&gt;&#10;            &lt;Box style={{ width: 4, height: 52, background: '#CB6B28' }} /&gt;&#10;            &lt;Box style={{ width: 1076, flexDirection: 'column', gap: 4 }}&gt;&#10;                &lt;Text style={{ fontSize: 17, fontWeight: 'bold', color: '#CB6B28' }}&gt;收到一句文字地址，不自动新增系统已知空间&lt;/Text&gt;&#10;                &lt;Text style={{ fontSize: 15, color: '#546779', lineHeight: 1.5 }}&gt;提供的是合法移动的公共空间基础，不是让角色预先知道咨询答案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10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地图给出地点，不替咨询台回答问题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合法移动的基础，不是咨询答案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09600" y="1733550"/>
            <a:ext cx="5334000" cy="2857500"/>
          </a:xfrm>
          <a:prstGeom prst="roundRect">
            <a:avLst>
              <a:gd name="adj" fmla="val 4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95350" y="2066925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地图给的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895350" y="2438400"/>
            <a:ext cx="4762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047750" y="26193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两组来访者都获得四个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Arena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的真实初始已知地址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895350" y="3086100"/>
            <a:ext cx="4762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047750" y="32670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这是合法移动所需的公共空间基础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895350" y="3733800"/>
            <a:ext cx="4762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047750" y="39147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两个条件不同的组别拿到同一份空间底稿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248400" y="1733550"/>
            <a:ext cx="5334000" cy="28575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534150" y="2066925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地图没给的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534150" y="2438400"/>
            <a:ext cx="4762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686550" y="26193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不知道窗口分工，也不知道自己被归到哪一类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534150" y="3086100"/>
            <a:ext cx="4762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686550" y="32670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对象地址与交互项要进入服务区后从感知取得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534150" y="3733800"/>
            <a:ext cx="4762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686550" y="39147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公开语义里不出现任何分流答案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09600" y="4819650"/>
            <a:ext cx="10972800" cy="876300"/>
          </a:xfrm>
          <a:prstGeom prst="roundRect">
            <a:avLst>
              <a:gd name="adj" fmla="val 130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857250" y="5010150"/>
            <a:ext cx="38100" cy="495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085850" y="5010150"/>
            <a:ext cx="10248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收到一句文字地址，不自动新增系统已知空间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085850" y="5248275"/>
            <a:ext cx="10248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提供的是合法移动的公共空间基础，不是让角色预先知道咨询答案。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27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3" name="" descr="&lt;Slide notes={`分完信息，接下来要分别核对两份清单。&#10;&#10;第一份是人物目录。它必须包含周澈、谭悦、孟川、邱禾和余真五条独立的 Agent。注意 H1 到 H4 只是任务标签，是作者表里的编号，不能代替实际保存之后的 Agent 身份——保存下来的是五条身份，不是四个标签再加一个引导员。&#10;&#10;第二份是资源目录。三个绑定 Skill 的设施——咨询台、A 窗口、B 窗口——不进公共人物目录，它们是对象，不是人。Crowd 也只是这五个人的选择集，不是第六位角色。&#10;&#10;两份清单分开列，核对的时候才不会把设施当成人，也不会因为少了一个人而看不出问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3.3　把人物初态与对象知识分别核对&lt;/Text&gt;&#10;            &lt;Text style={{ fontSize: 34, fontWeight: 'bold', color: '#20344B' }}&gt;知识块 ③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③&lt;/Text&gt;&#10;&#10;        &lt;Text style={{ fontSize: 56, fontWeight: 'bold', color: '#20344B', lineHeight: 1.15 }}&gt;把人物初态与对象知识分别核对&lt;/Text&gt;&#10;&#10;        &lt;Box style={{ width: 72, height: 4, background: '#276FBF' }} /&gt;&#10;&#10;        &lt;Text style={{ fontSize: 18, color: '#546779', lineHeight: 1.7, width: 980 }}&gt;人物清单必须有五条独立 Agent；H1—H4 只是任务标签，不能代替实际保存后的身份；三个绑定 Skill 的设施也不加入公共人物目录。&lt;/Text&gt;&#10;&#10;        &lt;Box style={{ flexDirection: 'row', alignItems: 'center', marginTop: 10 }}&gt;&#10;            &lt;Box style={{ width: 200, height: 64, background: '#F7F3E8', borderRadius: 8, justifyContent: 'center', alignItems: 'center' }}&gt;&#10;                &lt;Text style={{ fontSize: 16, color: '#20344B' }}&gt;公共人物目录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150, height: 64, background: '#EDF4FC', borderRadius: 8, justifyContent: 'center', alignItems: 'center' }}&gt;&#10;                &lt;Text style={{ fontSize: 15, color: '#276FBF' }}&gt;周澈&lt;/Text&gt;&#10;            &lt;/Box&gt;&#10;            &lt;Box style={{ width: 14, height: 64 }} /&gt;&#10;            &lt;Box style={{ width: 150, height: 64, background: '#EDF4FC', borderRadius: 8, justifyContent: 'center', alignItems: 'center' }}&gt;&#10;                &lt;Text style={{ fontSize: 15, color: '#276FBF' }}&gt;谭悦&lt;/Text&gt;&#10;            &lt;/Box&gt;&#10;            &lt;Box style={{ width: 14, height: 64 }} /&gt;&#10;            &lt;Box style={{ width: 150, height: 64, background: '#EDF4FC', borderRadius: 8, justifyContent: 'center', alignItems: 'center' }}&gt;&#10;                &lt;Text style={{ fontSize: 15, color: '#276FBF' }}&gt;孟川&lt;/Text&gt;&#10;            &lt;/Box&gt;&#10;            &lt;Box style={{ width: 14, height: 64 }} /&gt;&#10;            &lt;Box style={{ width: 150, height: 64, background: '#EDF4FC', borderRadius: 8, justifyContent: 'center', alignItems: 'center' }}&gt;&#10;                &lt;Text style={{ fontSize: 15, color: '#276FBF' }}&gt;邱禾&lt;/Text&gt;&#10;            &lt;/Box&gt;&#10;            &lt;Box style={{ width: 14, height: 64 }} /&gt;&#10;            &lt;Box style={{ width: 150, height: 64, background: '#ECF7F2', borderRadius: 8, justifyContent: 'center', alignItems: 'center' }}&gt;&#10;                &lt;Text style={{ fontSize: 15, color: '#26816B' }}&gt;余真&lt;/Text&gt;&#10;            &lt;/Box&gt;&#10;        &lt;/Box&gt;&#10;&#10;        &lt;Box style={{ flexDirection: 'row', alignItems: 'center' }}&gt;&#10;            &lt;Box style={{ width: 200, height: 64, background: '#F7F3E8', borderRadius: 8, justifyContent: 'center', alignItems: 'center' }}&gt;&#10;                &lt;Text style={{ fontSize: 16, color: '#20344B' }}&gt;公共资源目录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170, height: 64, background: '#ECF7F2', borderRadius: 8, justifyContent: 'center', alignItems: 'center' }}&gt;&#10;                &lt;Text style={{ fontSize: 15, color: '#26816B' }}&gt;咨询台&lt;/Text&gt;&#10;            &lt;/Box&gt;&#10;            &lt;Box style={{ width: 14, height: 64 }} /&gt;&#10;            &lt;Box style={{ width: 170, height: 64, background: '#ECF7F2', borderRadius: 8, justifyContent: 'center', alignItems: 'center' }}&gt;&#10;                &lt;Text style={{ fontSize: 15, color: '#26816B' }}&gt;A 窗口&lt;/Text&gt;&#10;            &lt;/Box&gt;&#10;            &lt;Box style={{ width: 14, height: 64 }} /&gt;&#10;            &lt;Box style={{ width: 170, height: 64, background: '#ECF7F2', borderRadius: 8, justifyContent: 'center', alignItems: 'center' }}&gt;&#10;                &lt;Text style={{ fontSize: 15, color: '#26816B' }}&gt;B 窗口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1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305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把人物初态与对象知识分别核对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305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③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133350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09600" y="26098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把人物初态与对象知识分别核对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09600" y="35242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3733800"/>
            <a:ext cx="9334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人物清单必须有五条独立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；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H1—H4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只是任务标签，不能代替实际保存后的身份；三个绑定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的设施也不加入公共人物目录。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09600" y="4705350"/>
            <a:ext cx="1905000" cy="609600"/>
          </a:xfrm>
          <a:prstGeom prst="roundRect">
            <a:avLst>
              <a:gd name="adj" fmla="val 125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104900" y="49149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公共人物目录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2686050" y="48577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2933700" y="470535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505200" y="49244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周澈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4495800" y="470535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067300" y="49244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谭悦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057900" y="470535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629400" y="49244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孟川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7620000" y="470535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191500" y="49244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邱禾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9182100" y="4705350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753600" y="49244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余真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609600" y="5486400"/>
            <a:ext cx="1905000" cy="609600"/>
          </a:xfrm>
          <a:prstGeom prst="roundRect">
            <a:avLst>
              <a:gd name="adj" fmla="val 125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04900" y="56959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公共资源目录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2686050" y="56388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2933700" y="5486400"/>
            <a:ext cx="16192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3533775" y="57054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咨询台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4686300" y="5486400"/>
            <a:ext cx="16192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286375" y="57054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窗口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438900" y="5486400"/>
            <a:ext cx="16192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038975" y="57054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窗口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27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6" name="" descr="&lt;Slide notes={`五名 Agent 分别是周澈、谭悦、孟川、邱禾和引导员余真。四位来访者各有一条独立的 Agent 身份，余真是引导员。&#10;&#10;周澈要借活动室办读书会，得先确认照明；谭悦想预约手工作品展示，关心桌面照明。孟川发现东侧一盏灯不亮，邱禾发现入口灯持续闪烁，他们想知道怎么报告。这四件事分属两类：一类是安排以后怎么用，一类是报告现在坏了什么。&#10;&#10;最容易出错的是把 H1 到 H4 当成人物。它们只是任务标签，是对着作者表说话的编号。真正保存进系统的是五条身份，余真也在其中，不能因为她不求助就漏掉。&#10;&#10;Crowd 只是一个把五个人选进来的集合，不是第六位角色；三个设施也不进公共人物目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3.3　把人物初态与对象知识分别核对&lt;/Text&gt;&#10;            &lt;Text style={{ fontSize: 34, fontWeight: 'bold', color: '#20344B' }}&gt;五名 Agent，不是一个 Crowd&lt;/Text&gt;&#10;        &lt;/Box&gt;&#10;    &lt;/Box&gt;&#10;&#10;    &lt;Box style={{ height: 540, flexDirection: 'column', justifyContent: 'center', gap: 20 }}&gt;&#10;&#10;        &lt;Box style={{ flexDirection: 'row', gap: 18 }}&gt;&#10;&#10;            &lt;Box style={{ width: 216, height: 300, background: '#F4F7FA', borderRadius: 12, padding: '22px 18px', flexDirection: 'column', gap: 10 }}&gt;&#10;                &lt;Box style={{ width: 48, height: 48, borderRadius: 8, background: '#276FBF', justifyContent: 'center', alignItems: 'center' }}&gt;&#10;                    &lt;Text style={{ fontSize: 20, fontWeight: 'bold', color: '#FFFFFF' }}&gt;H1&lt;/Text&gt;&#10;                &lt;/Box&gt;&#10;                &lt;Text style={{ fontSize: 24, fontWeight: 'bold', color: '#20344B' }}&gt;周澈&lt;/Text&gt;&#10;                &lt;Text style={{ fontSize: 14, color: '#276FBF' }}&gt;来访者&lt;/Text&gt;&#10;                &lt;Box style={{ width: 40, height: 3, background: '#B5C7D8' }} /&gt;&#10;                &lt;Text style={{ fontSize: 13, color: '#546779' }}&gt;初始可见&lt;/Text&gt;&#10;                &lt;Text style={{ fontSize: 14, color: '#20344B', lineHeight: 1.55, width: 180 }}&gt;下周借活动室办读书会，需确认照明&lt;/Text&gt;&#10;            &lt;/Box&gt;&#10;&#10;            &lt;Box style={{ width: 216, height: 300, background: '#F4F7FA', borderRadius: 12, padding: '22px 18px', flexDirection: 'column', gap: 10 }}&gt;&#10;                &lt;Box style={{ width: 48, height: 48, borderRadius: 8, background: '#276FBF', justifyContent: 'center', alignItems: 'center' }}&gt;&#10;                    &lt;Text style={{ fontSize: 20, fontWeight: 'bold', color: '#FFFFFF' }}&gt;H2&lt;/Text&gt;&#10;                &lt;/Box&gt;&#10;                &lt;Text style={{ fontSize: 24, fontWeight: 'bold', color: '#20344B' }}&gt;谭悦&lt;/Text&gt;&#10;                &lt;Text style={{ fontSize: 14, color: '#276FBF' }}&gt;来访者&lt;/Text&gt;&#10;                &lt;Box style={{ width: 40, height: 3, background: '#B5C7D8' }} /&gt;&#10;                &lt;Text style={{ fontSize: 13, color: '#546779' }}&gt;初始可见&lt;/Text&gt;&#10;                &lt;Text style={{ fontSize: 14, color: '#20344B', lineHeight: 1.55, width: 180 }}&gt;想预约手工作品展示，需确认桌面照明&lt;/Text&gt;&#10;            &lt;/Box&gt;&#10;&#10;            &lt;Box style={{ width: 216, height: 300, background: '#F4F7FA', borderRadius: 12, padding: '22px 18px', flexDirection: 'column', gap: 10 }}&gt;&#10;                &lt;Box style={{ width: 48, height: 48, borderRadius: 8, background: '#276FBF', justifyContent: 'center', alignItems: 'center' }}&gt;&#10;                    &lt;Text style={{ fontSize: 20, fontWeight: 'bold', color: '#FFFFFF' }}&gt;H3&lt;/Text&gt;&#10;                &lt;/Box&gt;&#10;                &lt;Text style={{ fontSize: 24, fontWeight: 'bold', color: '#20344B' }}&gt;孟川&lt;/Text&gt;&#10;                &lt;Text style={{ fontSize: 14, color: '#276FBF' }}&gt;来访者&lt;/Text&gt;&#10;                &lt;Box style={{ width: 40, height: 3, background: '#B5C7D8' }} /&gt;&#10;                &lt;Text style={{ fontSize: 13, color: '#546779' }}&gt;初始经历&lt;/Text&gt;&#10;                &lt;Text style={{ fontSize: 14, color: '#20344B', lineHeight: 1.55, width: 180 }}&gt;东侧一盏灯不亮，想了解如何报告&lt;/Text&gt;&#10;            &lt;/Box&gt;&#10;&#10;            &lt;Box style={{ width: 216, height: 300, background: '#F4F7FA', borderRadius: 12, padding: '22px 18px', flexDirection: 'column', gap: 10 }}&gt;&#10;                &lt;Box style={{ width: 48, height: 48, borderRadius: 8, background: '#276FBF', justifyContent: 'center', alignItems: 'center' }}&gt;&#10;                    &lt;Text style={{ fontSize: 20, fontWeight: 'bold', color: '#FFFFFF' }}&gt;H4&lt;/Text&gt;&#10;                &lt;/Box&gt;&#10;                &lt;Text style={{ fontSize: 24, fontWeight: 'bold', color: '#20344B' }}&gt;邱禾&lt;/Text&gt;&#10;                &lt;Text style={{ fontSize: 14, color: '#276FBF' }}&gt;来访者&lt;/Text&gt;&#10;                &lt;Box style={{ width: 40, height: 3, background: '#B5C7D8' }} /&gt;&#10;                &lt;Text style={{ fontSize: 13, color: '#546779' }}&gt;初始经历&lt;/Text&gt;&#10;                &lt;Text style={{ fontSize: 14, color: '#20344B', lineHeight: 1.55, width: 180 }}&gt;入口灯持续闪烁，想了解如何报告&lt;/Text&gt;&#10;            &lt;/Box&gt;&#10;&#10;            &lt;Box style={{ width: 216, height: 300, background: '#ECF7F2', borderRadius: 12, padding: '22px 18px', flexDirection: 'column', gap: 10 }}&gt;&#10;                &lt;Box style={{ width: 48, height: 48, borderRadius: 8, background: '#26816B', justifyContent: 'center', alignItems: 'center' }}&gt;&#10;                    &lt;Text style={{ fontSize: 20, fontWeight: 'bold', color: '#FFFFFF' }}&gt;引&lt;/Text&gt;&#10;                &lt;/Box&gt;&#10;                &lt;Text style={{ fontSize: 24, fontWeight: 'bold', color: '#20344B' }}&gt;余真&lt;/Text&gt;&#10;                &lt;Text style={{ fontSize: 14, color: '#26816B' }}&gt;引导员&lt;/Text&gt;&#10;                &lt;Box style={{ width: 40, height: 3, background: '#B5C7D8' }} /&gt;&#10;                &lt;Text style={{ fontSize: 13, color: '#546779' }}&gt;初始已知&lt;/Text&gt;&#10;                &lt;Text style={{ fontSize: 14, color: '#20344B', lineHeight: 1.55, width: 180 }}&gt;服务分工与咨询台位置；不知四项具体任务&lt;/Text&gt;&#10;            &lt;/Box&gt;&#10;&#10;        &lt;/Box&gt;&#10;&#10;        &lt;Box style={{ width: 1152, height: 110, background: '#FFF4E6', borderRadius: 12, padding: '0 26px', flexDirection: 'row', alignItems: 'center', gap: 20 }}&gt;&#10;            &lt;Box style={{ width: 4, height: 62, background: '#CB6B28' }} /&gt;&#10;            &lt;Box style={{ width: 1076, flexDirection: 'column', gap: 5 }}&gt;&#10;                &lt;Text style={{ fontSize: 18, fontWeight: 'bold', color: '#CB6B28' }}&gt;Crowd 只是五人选择集，不是第六位角色&lt;/Text&gt;&#10;                &lt;Text style={{ fontSize: 15, color: '#546779', lineHeight: 1.5 }}&gt;H1—H4 是任务标签，不能代替实际保存后的 Agent 身份；三个绑定 Skill 的设施也不加入公共人物目录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1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1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把人物初态与对象知识分别核对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14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五名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，不是一个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Crowd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609600" y="1666875"/>
            <a:ext cx="2057400" cy="285750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781050" y="187642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76300" y="1990725"/>
            <a:ext cx="276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H1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81050" y="2428875"/>
            <a:ext cx="1714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周澈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81050" y="280035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来访者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781050" y="3057525"/>
            <a:ext cx="381000" cy="2857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81050" y="31813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初始可见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81050" y="3429000"/>
            <a:ext cx="1714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下周借活动室办读书会，需确认照明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2838450" y="1666875"/>
            <a:ext cx="2057400" cy="285750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3009900" y="187642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105150" y="1990725"/>
            <a:ext cx="276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H2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009900" y="2428875"/>
            <a:ext cx="1714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谭悦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3009900" y="280035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来访者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3009900" y="3057525"/>
            <a:ext cx="381000" cy="2857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009900" y="31813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初始可见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009900" y="3429000"/>
            <a:ext cx="1714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想预约手工作品展示，需确认桌面照明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5067300" y="1666875"/>
            <a:ext cx="2057400" cy="285750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5238750" y="187642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334000" y="1990725"/>
            <a:ext cx="276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H3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238750" y="2428875"/>
            <a:ext cx="1714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孟川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238750" y="280035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来访者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5238750" y="3057525"/>
            <a:ext cx="381000" cy="2857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238750" y="31813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初始经历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238750" y="3429000"/>
            <a:ext cx="1714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东侧一盏灯不亮，想了解如何报告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7296150" y="1666875"/>
            <a:ext cx="2057400" cy="285750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7467600" y="187642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562850" y="1990725"/>
            <a:ext cx="276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H4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467600" y="2428875"/>
            <a:ext cx="1714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邱禾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467600" y="280035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来访者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7467600" y="3057525"/>
            <a:ext cx="381000" cy="2857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467600" y="31813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初始经历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467600" y="3429000"/>
            <a:ext cx="1714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入口灯持续闪烁，想了解如何报告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9525000" y="1666875"/>
            <a:ext cx="2057400" cy="2857500"/>
          </a:xfrm>
          <a:prstGeom prst="roundRect">
            <a:avLst>
              <a:gd name="adj" fmla="val 555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9696450" y="187642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829800" y="19907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引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9696450" y="2428875"/>
            <a:ext cx="1714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0344B"/>
                </a:solidFill>
                <a:latin typeface="Microsoft YaHei"/>
                <a:ea typeface="Microsoft YaHei"/>
              </a:rPr>
              <a:t>余真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696450" y="280035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引导员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9696450" y="3057525"/>
            <a:ext cx="381000" cy="2857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9696450" y="318135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初始已知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9696450" y="3429000"/>
            <a:ext cx="17145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服务分工与咨询台位置；不知四项具体任务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09600" y="4714875"/>
            <a:ext cx="10972800" cy="1047750"/>
          </a:xfrm>
          <a:prstGeom prst="roundRect">
            <a:avLst>
              <a:gd name="adj" fmla="val 1090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857250" y="4943475"/>
            <a:ext cx="38100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085850" y="4981575"/>
            <a:ext cx="10248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Crowd 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只是五人选择集，不是第六位角色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085850" y="5238750"/>
            <a:ext cx="10248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H1—H4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是任务标签，不能代替实际保存后的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身份；三个绑定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的设施也不加入公共人物目录。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27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47" name="" descr="&lt;Slide notes={`打开周澈的资料，应该看到未来读书会的私人目的和规定首句；不应该看到「正确窗口 A」这样的评分提示。前者是他的处境，后者是判分答案。&#13;&#10;&#13;&#10;打开孟川的资料，应该看到他对现有灯光问题的初始经历；他的首次话语和周澈一样，容易被当成错误。&#13;&#10;&#13;&#10;打开余真的资料，他应该知道服务分工和咨询台位置，但初始不知道四项具体任务。他的共同策略是「对实际遇到且求助的人说明入口与已知地址，不替咨询台预先分类」。如果加上主动逐人问询，看起来只是人物更热情，实际会改变两组拿到的信息渠道。&#13;&#10;&#13;&#10;公共 Brain 可以要求「被问到后如实补充自己的目的」，但不能把各人的私人目的再汇总抄一遍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3.3　把人物初态与对象知识分别核对&lt;/Text&gt;&#13;&#10;            &lt;Text style={{ fontSize: 34, fontWeight: 'bold', color: '#20344B' }}&gt;逐人打开，各看各的&lt;/Text&gt;&#13;&#10;        &lt;/Box&gt;&#13;&#10;    &lt;/Box&gt;&#13;&#10;&#13;&#10;    &lt;Box style={{ height: 540, flexDirection: 'row', alignItems: 'center', gap: 32 }}&gt;&#13;&#10;&#13;&#10;        &lt;Box style={{ width: 668, flexDirection: 'column', justifyContent: 'center', gap: 16 }}&gt;&#13;&#10;&#13;&#10;            &lt;Box style={{ width: 668, height: 150, background: '#F4F7FA', borderRadius: 10, padding: '18px 22px', flexDirection: 'row', alignItems: 'center', gap: 18 }}&gt;&#13;&#10;                &lt;Box style={{ width: 4, height: 106, background: '#276FBF' }} /&gt;&#13;&#10;                &lt;Box style={{ width: 602, flexDirection: 'column', gap: 6 }}&gt;&#13;&#10;                    &lt;Text style={{ fontSize: 19, fontWeight: 'bold', color: '#20344B' }}&gt;核对周澈&lt;/Text&gt;&#13;&#10;                    &lt;Text style={{ fontSize: 15, color: '#546779', lineHeight: 1.5 }}&gt;应看到未来读书会的私人目的和规定首句&lt;/Text&gt;&#13;&#10;                    &lt;Text style={{ fontSize: 14, color: '#CB6B28', lineHeight: 1.5 }}&gt;看不到「正确窗口 A」的评分提示&lt;/Text&gt;&#13;&#10;                &lt;/Box&gt;&#13;&#10;            &lt;/Box&gt;&#13;&#10;&#13;&#10;            &lt;Box style={{ width: 668, height: 150, background: '#F4F7FA', borderRadius: 10, padding: '18px 22px', flexDirection: 'row', alignItems: 'center', gap: 18 }}&gt;&#13;&#10;                &lt;Box style={{ width: 4, height: 106, background: '#276FBF' }} /&gt;&#13;&#10;                &lt;Box style={{ width: 602, flexDirection: 'column', gap: 6 }}&gt;&#13;&#10;                    &lt;Text style={{ fontSize: 19, fontWeight: 'bold', color: '#20344B' }}&gt;核对孟川&lt;/Text&gt;&#13;&#10;                    &lt;Text style={{ fontSize: 15, color: '#546779', lineHeight: 1.5 }}&gt;应看到对现有灯光问题的初始经历&lt;/Text&gt;&#13;&#10;                    &lt;Text style={{ fontSize: 14, color: '#26816B', lineHeight: 1.5 }}&gt;首次话语与周澈相同，这一点不是错误&lt;/Text&gt;&#13;&#10;                &lt;/Box&gt;&#13;&#10;            &lt;/Box&gt;&#13;&#10;&#13;&#10;            &lt;Box style={{ width: 668, height: 150, background: '#F4F7FA', borderRadius: 10, padding: '18px 22px', flexDirection: 'row', alignItems: 'center', gap: 18 }}&gt;&#13;&#10;                &lt;Box style={{ width: 4, height: 106, background: '#26816B' }} /&gt;&#13;&#10;                &lt;Box style={{ width: 602, flexDirection: 'column', gap: 6 }}&gt;&#13;&#10;                    &lt;Text style={{ fontSize: 19, fontWeight: 'bold', color: '#20344B' }}&gt;核对余真&lt;/Text&gt;&#13;&#10;                    &lt;Text style={{ fontSize: 15, color: '#546779', lineHeight: 1.5 }}&gt;知道服务分工和咨询台位置，初始不知道四项具体任务&lt;/Text&gt;&#13;&#10;                    &lt;Text style={{ fontSize: 14, color: '#26816B', lineHeight: 1.5 }}&gt;共同策略：说明入口与已知地址，不替咨询台预先分类&lt;/Text&gt;&#13;&#10;                &lt;/Box&gt;&#13;&#10;            &lt;/Box&gt;&#13;&#10;&#13;&#10;        &lt;/Box&gt;&#13;&#10;&#13;&#10;        &lt;Box style={{ width: 452, flexDirection: 'column', justifyContent: 'center', gap: 20 }}&gt;&#13;&#10;&#13;&#10;            &lt;Box style={{ width: 452, height: 230, background: '#EDF4FC', borderRadius: 12, padding: '24px 26px', flexDirection: 'column', gap: 10, justifyContent: 'center' }}&gt;&#13;&#10;                &lt;Text style={{ fontSize: 19, fontWeight: 'bold', color: '#276FBF' }}&gt;公共 Brain 的写法&lt;/Text&gt;&#13;&#10;                &lt;Text style={{ fontSize: 15, color: '#546779', lineHeight: 1.65, width: 400 }}&gt;可以要求「被问到后如实补充自己的目的」。&lt;/Text&gt;&#13;&#10;                &lt;Text style={{ fontSize: 15, color: '#546779', lineHeight: 1.65, width: 400 }}&gt;不能把各人的私人目的再汇总抄一遍，那等于把四份材料合并成一份。&lt;/Text&gt;&#13;&#10;            &lt;/Box&gt;&#13;&#10;&#13;&#10;            &lt;Box style={{ width: 452, height: 200, background: '#FFF4E6', borderRadius: 12, padding: '24px 26px', flexDirection: 'column', gap: 10, justifyContent: 'center' }}&gt;&#13;&#10;                &lt;Text style={{ fontSize: 14, color: '#CB6B28' }}&gt;需要判断的地方&lt;/Text&gt;&#13;&#10;                &lt;Text style={{ fontSize: 19, fontWeight: 'bold', color: '#CB6B28', lineHeight: 1.35 }}&gt;多问一句也会改变条件&lt;/Text&gt;&#13;&#10;                &lt;Text style={{ fontSize: 15, color: '#546779', lineHeight: 1.65, width: 400 }}&gt;给余真加上主动逐人问询，看起来只是人物更热情，实际上会改变两组拿到的信息渠道。&lt;/Text&gt;&#13;&#10;            &lt;/Box&gt;&#13;&#10;&#13;&#10;        &lt;/Box&gt;&#13;&#10;&#13;&#10;    &lt;/Box&gt;&#13;&#10;&#13;&#10;    &lt;Box style={{ height: 40, flexDirection: 'row', justifyContent: 'space-between', alignItems: 'center' }}&gt;&#13;&#10;        &lt;Text style={{ fontSize: 14, color: '#546779' }}&gt;5.3 作者资源与信息边界&lt;/Text&gt;&#13;&#10;        &lt;Text style={{ fontSize: 14, color: '#546779' }}&gt;13 / 27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把人物初态与对象知识分别核对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逐人打开，各看各的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09600" y="1419225"/>
            <a:ext cx="63627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819150" y="1628775"/>
            <a:ext cx="38100" cy="1009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028700" y="1714500"/>
            <a:ext cx="5734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核对周澈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028700" y="1990725"/>
            <a:ext cx="5734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应看到未来读书会的私人目的和规定首句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028700" y="2305050"/>
            <a:ext cx="5734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看不到「正确窗口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」的评分提示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09600" y="3000375"/>
            <a:ext cx="63627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819150" y="3209925"/>
            <a:ext cx="38100" cy="1009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028700" y="3295650"/>
            <a:ext cx="5734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核对孟川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028700" y="3571875"/>
            <a:ext cx="5734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应看到对现有灯光问题的初始经历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028700" y="3886200"/>
            <a:ext cx="5734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首次话语与周澈相同，这一点不是错误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09600" y="4581525"/>
            <a:ext cx="63627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819150" y="4791075"/>
            <a:ext cx="38100" cy="1009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028700" y="4876800"/>
            <a:ext cx="5734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核对余真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028700" y="5153025"/>
            <a:ext cx="5734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知道服务分工和咨询台位置，初始不知道四项具体任务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028700" y="5467350"/>
            <a:ext cx="5734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共同策略：说明入口与已知地址，不替咨询台预先分类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7277100" y="1571625"/>
            <a:ext cx="4305300" cy="2190750"/>
          </a:xfrm>
          <a:prstGeom prst="roundRect">
            <a:avLst>
              <a:gd name="adj" fmla="val 52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524750" y="2038350"/>
            <a:ext cx="3810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公共</a:t>
            </a: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的写法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524750" y="2352675"/>
            <a:ext cx="38100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可以要求「被问到后如实补充自己的目的」。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524750" y="2733675"/>
            <a:ext cx="3810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不能把各人的私人目的再汇总抄一遍，那等于把四份材料合并成一份。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7277100" y="3952875"/>
            <a:ext cx="4305300" cy="1905000"/>
          </a:xfrm>
          <a:prstGeom prst="roundRect">
            <a:avLst>
              <a:gd name="adj" fmla="val 6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524750" y="4295775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需要判断的地方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524750" y="4552950"/>
            <a:ext cx="3810000" cy="295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多问一句也会改变条件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524750" y="4943475"/>
            <a:ext cx="3810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给余真加上主动逐人问询，看起来只是人物更热情，实际上会改变两组拿到的信息渠道。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27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77" name="" descr="&lt;Slide notes={`公共 Agent 的核心定义里是没有出生坐标的。这一点很重要，因为出生位置取决于这次实验怎么装配，而不是这个人物本身是谁。选入实验之后，四位来访者装配到入口，余真装配到等候区，然后要记录空间选择器实际保存下来的位置，不能凭印象写。&#10;&#10;还有一件事容易走偏：初始经历来自作者设定，不需要伪造一条声称在某个 Step 发生过的记忆记录。人物一开始就知道灯坏了，这是作者给的设定，不是他跑出来的结果。&#10;&#10;真正的记忆证据，是角色进入运行以后，通过真实的工具调用写入和更新的。这条界线划清了，我们才知道哪些内容是设计，哪些是运行事实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3.3　把人物初态与对象知识分别核对&lt;/Text&gt;&#10;            &lt;Text style={{ fontSize: 34, fontWeight: 'bold', color: '#20344B' }}&gt;出生坐标不在公共核心&lt;/Text&gt;&#10;        &lt;/Box&gt;&#10;    &lt;/Box&gt;&#10;&#10;    &lt;Box style={{ height: 540, flexDirection: 'row', alignItems: 'center', gap: 32 }}&gt;&#10;&#10;        &lt;Box style={{ width: 500, flexDirection: 'column', gap: 14, justifyContent: 'center' }}&gt;&#10;            &lt;Text style={{ fontSize: 14, color: '#546779' }}&gt;5.3.3　人物初态&lt;/Text&gt;&#10;            &lt;Text style={{ fontSize: 30, fontWeight: 'bold', color: '#20344B', lineHeight: 1.25 }}&gt;位置在装配时{'\n'}才被确定&lt;/Text&gt;&#10;            &lt;Box style={{ width: 72, height: 4, background: '#276FBF' }} /&gt;&#10;            &lt;Text style={{ fontSize: 16, color: '#546779', lineHeight: 1.75, width: 460 }}&gt;公共 Agent 核心不含出生坐标。选入实验后，四位来访者装配到入口，余真装配到等候区，再记录空间选择器实际保存的位置。&lt;/Text&gt;&#10;            &lt;Box style={{ width: 460, height: 72, background: '#EDF4FC', borderRadius: 10, padding: '0 20px', flexDirection: 'column', gap: 4, justifyContent: 'center' }}&gt;&#10;                &lt;Text style={{ fontSize: 16, fontWeight: 'bold', color: '#276FBF' }}&gt;初始经历来自作者设定&lt;/Text&gt;&#10;                &lt;Text style={{ fontSize: 13, color: '#546779' }}&gt;不是运行中自己长出来的&lt;/Text&gt;&#10;            &lt;/Box&gt;&#10;        &lt;/Box&gt;&#10;&#10;        &lt;Box style={{ width: 620, flexDirection: 'column', justifyContent: 'center', gap: 20 }}&gt;&#10;&#10;            &lt;Box style={{ width: 620, height: 160, background: '#F4F7FA', borderRadius: 12, padding: '22px 26px', flexDirection: 'column', gap: 8, justifyContent: 'center' }}&gt;&#10;                &lt;Text style={{ fontSize: 20, fontWeight: 'bold', color: '#20344B' }}&gt;出生坐标&lt;/Text&gt;&#10;                &lt;Text style={{ fontSize: 15, color: '#546779', lineHeight: 1.6, width: 564 }}&gt;身份定义里不写位置；位置由本次实验的装配决定，并记录实际保存的结果。&lt;/Text&gt;&#10;            &lt;/Box&gt;&#10;&#10;            &lt;Box style={{ width: 620, height: 160, background: '#FFF4E6', borderRadius: 12, padding: '22px 26px', flexDirection: 'column', gap: 8, justifyContent: 'center' }}&gt;&#10;                &lt;Text style={{ fontSize: 20, fontWeight: 'bold', color: '#CB6B28' }}&gt;不伪造记忆记录&lt;/Text&gt;&#10;                &lt;Text style={{ fontSize: 15, color: '#546779', lineHeight: 1.6, width: 564 }}&gt;不需要造一条声称在某个 Step 发生过的记忆记录来充当初始经历。&lt;/Text&gt;&#10;            &lt;/Box&gt;&#10;&#10;            &lt;Box style={{ width: 620, height: 160, background: '#ECF7F2', borderRadius: 12, padding: '22px 26px', flexDirection: 'column', gap: 8, justifyContent: 'center' }}&gt;&#10;                &lt;Text style={{ fontSize: 20, fontWeight: 'bold', color: '#26816B' }}&gt;运行之后才形成证据&lt;/Text&gt;&#10;                &lt;Text style={{ fontSize: 15, color: '#546779', lineHeight: 1.6, width: 564 }}&gt;角色进入运行以后如何写入与更新记忆，由真实工具调用形成证据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1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把人物初态与对象知识分别核对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出生坐标不在公共核心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09600" y="2257425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人物初态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09600" y="2552700"/>
            <a:ext cx="47625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20344B"/>
                </a:solidFill>
                <a:latin typeface="Microsoft YaHei"/>
                <a:ea typeface="Microsoft YaHei"/>
              </a:rPr>
              <a:t>位置在装配时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20344B"/>
                </a:solidFill>
                <a:latin typeface="Microsoft YaHei"/>
                <a:ea typeface="Microsoft YaHei"/>
              </a:rPr>
              <a:t>才被确定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09600" y="35433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9600" y="3714750"/>
            <a:ext cx="43815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公共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核心不含出生坐标。选入实验后，四位来访者装配到入口，余真装配到等候区，再记录空间选择器实际保存的位置。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09600" y="4495800"/>
            <a:ext cx="43815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00100" y="4648200"/>
            <a:ext cx="400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初始经历来自作者设定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00100" y="4876800"/>
            <a:ext cx="4000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不是运行中自己长出来的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5676900" y="1238250"/>
            <a:ext cx="5905500" cy="152400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924550" y="1714500"/>
            <a:ext cx="541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出生坐标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924550" y="2019300"/>
            <a:ext cx="5372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身份定义里不写位置；位置由本次实验的装配决定，并记录实际保存的结果。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5676900" y="2952750"/>
            <a:ext cx="5905500" cy="1524000"/>
          </a:xfrm>
          <a:prstGeom prst="roundRect">
            <a:avLst>
              <a:gd name="adj" fmla="val 7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5924550" y="3429000"/>
            <a:ext cx="541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不伪造记忆记录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5924550" y="3733800"/>
            <a:ext cx="5372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不需要造一条声称在某个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发生过的记忆记录来充当初始经历。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5676900" y="4667250"/>
            <a:ext cx="5905500" cy="1524000"/>
          </a:xfrm>
          <a:prstGeom prst="roundRect">
            <a:avLst>
              <a:gd name="adj" fmla="val 7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924550" y="5143500"/>
            <a:ext cx="541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运行之后才形成证据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924550" y="5448300"/>
            <a:ext cx="5372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角色进入运行以后如何写入与更新记忆，由真实工具调用形成证据。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27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00" name="" descr="&lt;Slide notes={`前四块都在解决「谁看到什么」，接下来要回答一个更实在的问题：装进实验的到底是什么。&#10;&#10;可以这样理解：把一个独立实验当作一个包裹，它需要的内容有地图与三个对象、五名 Agent 与 Crowd、Brain 与对象 Skill、模型配置，再加上实验装配本身。少一样，实验就跑不起来，或者跑起来也不是你要的那个。&#10;&#10;「完整内容与装配」这几个字是重点。资源不是只写一段描述就够了，地图要有真实图片和节点资料，人物要有头像和行走图，Brain 要有完整正文。&#10;&#10;当前这些资源还都在待制作、待导入的状态。宁可少一类组件，也不要在没有引用的情况下硬凑数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3.4　完整资源闭包需要逐项点清&lt;/Text&gt;&#10;            &lt;Text style={{ fontSize: 34, fontWeight: 'bold', color: '#20344B' }}&gt;知识块 ④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④&lt;/Text&gt;&#10;&#10;        &lt;Text style={{ fontSize: 56, fontWeight: 'bold', color: '#20344B', lineHeight: 1.15 }}&gt;完整资源闭包需要逐项点清&lt;/Text&gt;&#10;&#10;        &lt;Box style={{ width: 72, height: 4, background: '#276FBF' }} /&gt;&#10;&#10;        &lt;Text style={{ fontSize: 18, color: '#546779', lineHeight: 1.7, width: 980 }}&gt;作者交付的不只是几份自然语言段落：地图要有实际图片与节点资料，人物要有头像与行走图，唯一 Brain 要有完整正文，三个对象要绑定各自根 Skill。&lt;/Text&gt;&#10;&#10;        &lt;Box style={{ flexDirection: 'row', alignItems: 'center', marginTop: 10 }}&gt;&#10;            &lt;Box style={{ width: 150, height: 64, background: '#ECF7F2', borderRadius: 8, justifyContent: 'center', alignItems: 'center' }}&gt;&#10;                &lt;Text style={{ fontSize: 14, color: '#26816B' }}&gt;地图与对象&lt;/Text&gt;&#10;            &lt;/Box&gt;&#10;            &lt;Box style={{ width: 12, height: 64 }} /&gt;&#10;            &lt;Box style={{ width: 150, height: 64, background: '#ECF7F2', borderRadius: 8, justifyContent: 'center', alignItems: 'center' }}&gt;&#10;                &lt;Text style={{ fontSize: 14, color: '#26816B' }}&gt;Agent 与 Crowd&lt;/Text&gt;&#10;            &lt;/Box&gt;&#10;            &lt;Box style={{ width: 12, height: 64 }} /&gt;&#10;            &lt;Box style={{ width: 150, height: 64, background: '#ECF7F2', borderRadius: 8, justifyContent: 'center', alignItems: 'center' }}&gt;&#10;                &lt;Text style={{ fontSize: 14, color: '#26816B' }}&gt;Brain 与 Skill&lt;/Text&gt;&#10;            &lt;/Box&gt;&#10;            &lt;Box style={{ width: 12, height: 64 }} /&gt;&#10;            &lt;Box style={{ width: 150, height: 64, background: '#ECF7F2', borderRadius: 8, justifyContent: 'center', alignItems: 'center' }}&gt;&#10;                &lt;Text style={{ fontSize: 14, color: '#26816B' }}&gt;模型配置&lt;/Text&gt;&#10;            &lt;/Box&gt;&#10;            &lt;Box style={{ width: 12, height: 64 }} /&gt;&#10;            &lt;Box style={{ width: 150, height: 64, background: '#ECF7F2', borderRadius: 8, justifyContent: 'center', alignItems: 'center' }}&gt;&#10;                &lt;Text style={{ fontSize: 14, color: '#26816B' }}&gt;实验装配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220, height: 64, background: '#EDF4FC', borderRadius: 8, justifyContent: 'center', alignItems: 'center' }}&gt;&#10;                &lt;Text style={{ fontSize: 16, fontWeight: 'bold', color: '#276FBF' }}&gt;独立实验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1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完整资源闭包需要逐项点清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038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④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09600" y="1724025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30003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完整资源闭包需要逐项点清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09600" y="3914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" y="4124325"/>
            <a:ext cx="93345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作者交付的不只是几份自然语言段落：地图要有实际图片与节点资料，人物要有头像与行走图，唯一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要有完整正文，三个对象要绑定各自根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09600" y="50958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990600" y="53244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地图与对象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2152650" y="50958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2362200" y="5324475"/>
            <a:ext cx="1019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Crowd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3695700" y="50958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010025" y="53244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5238750" y="50958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686425" y="53244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模型配置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781800" y="5095875"/>
            <a:ext cx="14287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229475" y="53244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实验装配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382000" y="524827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8629650" y="5095875"/>
            <a:ext cx="2095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372600" y="53054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独立实验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27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24" name="" descr="&lt;Slide notes={`作者交付的，不只是几份自然语言段落。&#10;&#10;地图要有实际的图片和节点资料；人物要有对应的头像和行走图；唯一的那份 Brain 要有完整正文；三个对象要各自绑定自己的根 Skill。这四类之外，还要加上模型配置和实验装配，一共五类输入。&#10;&#10;如果引用了子 Skill、脚本或者模板，它们也要进依赖清单。反过来，没有引用就不要为了凑数量去增加组件。&#10;&#10;箭头表示的是完整内容装入实验。要注意，当前这些资源还处在待制作、待导入的状态——没有引用就不凑组件，密钥的值也不进入包。这一点在后面核对的时候会反复用到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3.4　完整资源闭包需要逐项点清&lt;/Text&gt;&#10;            &lt;Text style={{ fontSize: 34, fontWeight: 'bold', color: '#20344B' }}&gt;装进实验的是五类输入&lt;/Text&gt;&#10;        &lt;/Box&gt;&#10;    &lt;/Box&gt;&#10;&#10;    &lt;Box style={{ height: 540, flexDirection: 'row', alignItems: 'center' }}&gt;&#10;&#10;        &lt;Box style={{ width: 880, flexDirection: 'column', justifyContent: 'center', gap: 12 }}&gt;&#10;&#10;            &lt;Box style={{ width: 880, height: 84, background: '#ECF7F2', borderRadius: 10, padding: '0 20px', flexDirection: 'row', alignItems: 'center', gap: 16 }}&gt;&#10;                &lt;Box style={{ width: 4, height: 56, background: '#26816B' }} /&gt;&#10;                &lt;Box style={{ flexDirection: 'column', gap: 4, width: 820 }}&gt;&#10;                    &lt;Text style={{ fontSize: 18, fontWeight: 'bold', color: '#26816B' }}&gt;地图与三个对象&lt;/Text&gt;&#10;                    &lt;Text style={{ fontSize: 14, color: '#546779', lineHeight: 1.45 }}&gt;图片、节点、碰撞与交互&lt;/Text&gt;&#10;                &lt;/Box&gt;&#10;            &lt;/Box&gt;&#10;&#10;            &lt;Box style={{ width: 880, height: 84, background: '#F4F7FA', borderRadius: 10, padding: '0 20px', flexDirection: 'row', alignItems: 'center', gap: 16 }}&gt;&#10;                &lt;Box style={{ width: 4, height: 56, background: '#276FBF' }} /&gt;&#10;                &lt;Box style={{ flexDirection: 'column', gap: 4, width: 820 }}&gt;&#10;                    &lt;Text style={{ fontSize: 18, fontWeight: 'bold', color: '#20344B' }}&gt;五名 Agent 与 Crowd&lt;/Text&gt;&#10;                    &lt;Text style={{ fontSize: 14, color: '#546779', lineHeight: 1.45 }}&gt;人物资料、素材、五人名单&lt;/Text&gt;&#10;                &lt;/Box&gt;&#10;            &lt;/Box&gt;&#10;&#10;            &lt;Box style={{ width: 880, height: 84, background: '#F4F7FA', borderRadius: 10, padding: '0 20px', flexDirection: 'row', alignItems: 'center', gap: 16 }}&gt;&#10;                &lt;Box style={{ width: 4, height: 56, background: '#276FBF' }} /&gt;&#10;                &lt;Box style={{ flexDirection: 'column', gap: 4, width: 820 }}&gt;&#10;                    &lt;Text style={{ fontSize: 18, fontWeight: 'bold', color: '#20344B' }}&gt;Brain 与对象 Skill&lt;/Text&gt;&#10;                    &lt;Text style={{ fontSize: 14, color: '#546779', lineHeight: 1.45 }}&gt;完整正文、包内 skill_key 及依赖&lt;/Text&gt;&#10;                &lt;/Box&gt;&#10;            &lt;/Box&gt;&#10;&#10;            &lt;Box style={{ width: 880, height: 84, background: '#F4F7FA', borderRadius: 10, padding: '0 20px', flexDirection: 'row', alignItems: 'center', gap: 16 }}&gt;&#10;                &lt;Box style={{ width: 4, height: 56, background: '#276FBF' }} /&gt;&#10;                &lt;Box style={{ flexDirection: 'column', gap: 4, width: 820 }}&gt;&#10;                    &lt;Text style={{ fontSize: 18, fontWeight: 'bold', color: '#20344B' }}&gt;模型配置&lt;/Text&gt;&#10;                    &lt;Text style={{ fontSize: 14, color: '#546779', lineHeight: 1.45 }}&gt;服务、参数、凭据环境要求&lt;/Text&gt;&#10;                &lt;/Box&gt;&#10;            &lt;/Box&gt;&#10;&#10;            &lt;Box style={{ width: 880, height: 84, background: '#F4F7FA', borderRadius: 10, padding: '0 20px', flexDirection: 'row', alignItems: 'center', gap: 16 }}&gt;&#10;                &lt;Box style={{ width: 4, height: 56, background: '#276FBF' }} /&gt;&#10;                &lt;Box style={{ flexDirection: 'column', gap: 4, width: 820 }}&gt;&#10;                    &lt;Text style={{ fontSize: 18, fontWeight: 'bold', color: '#20344B' }}&gt;实验装配&lt;/Text&gt;&#10;                    &lt;Text style={{ fontSize: 14, color: '#546779', lineHeight: 1.45 }}&gt;出生、已知空间、时间与运行参数&lt;/Text&gt;&#10;                &lt;/Box&gt;&#10;            &lt;/Box&gt;&#10;&#10;            &lt;Text style={{ fontSize: 15, color: '#546779', lineHeight: 1.5, width: 880 }}&gt;箭头表示完整内容装入实验；当前仍待实际制作与导入。没有引用就不凑组件，密钥值不进入包。&lt;/Text&gt;&#10;&#10;        &lt;/Box&gt;&#10;&#10;        &lt;Box style={{ width: 44, height: 540, justifyContent: 'center', alignItems: 'center' }}&gt;&#10;            &lt;Text style={{ fontSize: 30, color: '#276FBF' }}&gt;›&lt;/Text&gt;&#10;        &lt;/Box&gt;&#10;&#10;        &lt;Box style={{ width: 228, flexDirection: 'column', justifyContent: 'center', gap: 12 }}&gt;&#10;            &lt;Box style={{ width: 228, height: 220, background: '#EDF4FC', borderRadius: 12, padding: '0 20px', flexDirection: 'column', gap: 8, justifyContent: 'center' }}&gt;&#10;                &lt;Text style={{ fontSize: 22, fontWeight: 'bold', color: '#276FBF', lineHeight: 1.3 }}&gt;独立{'\n'}实验&lt;/Text&gt;&#10;                &lt;Box style={{ width: 44, height: 3, background: '#276FBF' }} /&gt;&#10;                &lt;Text style={{ fontSize: 14, color: '#546779', lineHeight: 1.5, width: 188 }}&gt;完整内容与装配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1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完整资源闭包需要逐项点清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装进实验的是五类输入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09600" y="1304925"/>
            <a:ext cx="8382000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800100" y="1438275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990600" y="1466850"/>
            <a:ext cx="7810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地图与三个对象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990600" y="1714500"/>
            <a:ext cx="78105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图片、节点、碰撞与交互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09600" y="2219325"/>
            <a:ext cx="83820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800100" y="23526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90600" y="2381250"/>
            <a:ext cx="7810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五名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Crowd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990600" y="2628900"/>
            <a:ext cx="78105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人物资料、素材、五人名单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09600" y="3133725"/>
            <a:ext cx="83820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800100" y="32670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990600" y="3295650"/>
            <a:ext cx="7810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与对象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90600" y="3543300"/>
            <a:ext cx="78105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完整正文、包内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skill_key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及依赖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09600" y="4048125"/>
            <a:ext cx="83820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800100" y="41814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990600" y="4210050"/>
            <a:ext cx="7810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模型配置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990600" y="4457700"/>
            <a:ext cx="78105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服务、参数、凭据环境要求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609600" y="4962525"/>
            <a:ext cx="83820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800100" y="50958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90600" y="5124450"/>
            <a:ext cx="7810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实验装配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90600" y="5372100"/>
            <a:ext cx="78105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出生、已知空间、时间与运行参数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9600" y="5876925"/>
            <a:ext cx="8382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箭头表示完整内容装入实验；当前仍待实际制作与导入。没有引用就不凑组件，密钥值不进入包。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9153525" y="354330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9410700" y="2667000"/>
            <a:ext cx="2171700" cy="2095500"/>
          </a:xfrm>
          <a:prstGeom prst="roundRect">
            <a:avLst>
              <a:gd name="adj" fmla="val 545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9601200" y="3171825"/>
            <a:ext cx="1790700" cy="657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独立</a:t>
            </a:r>
            <a:endParaRPr/>
          </a:p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实验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9601200" y="3905250"/>
            <a:ext cx="419100" cy="28575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9601200" y="4010025"/>
            <a:ext cx="1790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完整内容与装配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27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57" name="" descr="&lt;Slide notes={`作者侧要准备什么、保存后要登记什么，是两件事，要分开记。&#13;&#10;&#13;&#10;地图与三个对象：作者侧要有背景、节点、碰撞、对象位置和交互说明；保存后要登记实际资源和节点身份、显示绑定与语义。&#13;&#10;&#13;&#10;五名 Agent 与 Crowd：作者侧要有各自的资料、图片和五人名单；保存后要核对稳定身份、成员数以及实际保存下来的内容。&#13;&#10;&#13;&#10;Brain 与对象 Skill：作者侧要有完整正文、包内的 skill_key 以及依赖；保存后要登记真实键、内容摘要和绑定关系。&#13;&#10;&#13;&#10;模型配置：登记所选配置和凭据的环境要求，但密钥正文不进登记项。&#13;&#10;&#13;&#10;实验装配：保存后登记实验身份、实际坐标和保存结果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3.4　完整资源闭包需要逐项点清&lt;/Text&gt;&#13;&#10;            &lt;Text style={{ fontSize: 34, fontWeight: 'bold', color: '#20344B' }}&gt;保存之后还要登记什么&lt;/Text&gt;&#13;&#10;        &lt;/Box&gt;&#13;&#10;    &lt;/Box&gt;&#13;&#10;&#13;&#10;    &lt;Box style={{ height: 540, flexDirection: 'column', justifyContent: 'center', gap: 10 }}&gt;&#13;&#10;&#13;&#10;        &lt;Box style={{ width: 1152, height: 30, padding: '0 18px', flexDirection: 'row', alignItems: 'center', gap: 16 }}&gt;&#13;&#10;            &lt;Box style={{ width: 4 }} /&gt;&#13;&#10;            &lt;Box style={{ width: 216 }}&gt;&lt;Text style={{ fontSize: 14, fontWeight: 'bold', color: '#276FBF' }}&gt;资源项&lt;/Text&gt;&lt;/Box&gt;&#13;&#10;            &lt;Box style={{ width: 424 }}&gt;&lt;Text style={{ fontSize: 14, fontWeight: 'bold', color: '#276FBF' }}&gt;作者侧应备齐&lt;/Text&gt;&lt;/Box&gt;&#13;&#10;            &lt;Box style={{ width: 424 }}&gt;&lt;Text style={{ fontSize: 14, fontWeight: 'bold', color: '#276FBF' }}&gt;保存后需登记&lt;/Text&gt;&lt;/Box&gt;&#13;&#10;        &lt;/Box&gt;&#13;&#10;&#13;&#10;        &lt;Box style={{ width: 1152, height: 88, background: '#F4F7FA', borderRadius: 8, padding: '0 18px', flexDirection: 'row', alignItems: 'center', gap: 16 }}&gt;&#13;&#10;            &lt;Box style={{ width: 4, height: 56, background: '#276FBF' }} /&gt;&#13;&#10;            &lt;Box style={{ width: 216 }}&gt;&lt;Text style={{ fontSize: 14, fontWeight: 'bold', color: '#20344B', lineHeight: 1.45 }}&gt;地图与三个对象&lt;/Text&gt;&lt;/Box&gt;&#13;&#10;            &lt;Box style={{ width: 424 }}&gt;&lt;Text style={{ fontSize: 13, color: '#546779', lineHeight: 1.5 }}&gt;背景、节点、碰撞、对象位置与交互说明&lt;/Text&gt;&lt;/Box&gt;&#13;&#10;            &lt;Box style={{ width: 424 }}&gt;&lt;Text style={{ fontSize: 13, color: '#546779', lineHeight: 1.5 }}&gt;实际资源及节点身份、显示绑定与语义&lt;/Text&gt;&lt;/Box&gt;&#13;&#10;        &lt;/Box&gt;&#13;&#10;&#13;&#10;        &lt;Box style={{ width: 1152, height: 88, background: '#F4F7FA', borderRadius: 8, padding: '0 18px', flexDirection: 'row', alignItems: 'center', gap: 16 }}&gt;&#13;&#10;            &lt;Box style={{ width: 4, height: 56, background: '#26816B' }} /&gt;&#13;&#10;            &lt;Box style={{ width: 216 }}&gt;&lt;Text style={{ fontSize: 14, fontWeight: 'bold', color: '#20344B', lineHeight: 1.45 }}&gt;五名 Agent{'\n'}与 Crowd&lt;/Text&gt;&lt;/Box&gt;&#13;&#10;            &lt;Box style={{ width: 424 }}&gt;&lt;Text style={{ fontSize: 13, color: '#546779', lineHeight: 1.5 }}&gt;各自资料、图片、五人名单&lt;/Text&gt;&lt;/Box&gt;&#13;&#10;            &lt;Box style={{ width: 424 }}&gt;&lt;Text style={{ fontSize: 13, color: '#546779', lineHeight: 1.5 }}&gt;稳定身份、成员数、保存后的内容&lt;/Text&gt;&lt;/Box&gt;&#13;&#10;        &lt;/Box&gt;&#13;&#10;&#13;&#10;        &lt;Box style={{ width: 1152, height: 88, background: '#F4F7FA', borderRadius: 8, padding: '0 18px', flexDirection: 'row', alignItems: 'center', gap: 16 }}&gt;&#13;&#10;            &lt;Box style={{ width: 4, height: 56, background: '#276FBF' }} /&gt;&#13;&#10;            &lt;Box style={{ width: 216 }}&gt;&lt;Text style={{ fontSize: 14, fontWeight: 'bold', color: '#20344B', lineHeight: 1.45 }}&gt;Brain 与{'\n'}对象 Skill&lt;/Text&gt;&lt;/Box&gt;&#13;&#10;            &lt;Box style={{ width: 424 }}&gt;&lt;Text style={{ fontSize: 13, color: '#546779', lineHeight: 1.5 }}&gt;完整正文、包内 skill_key 及依赖&lt;/Text&gt;&lt;/Box&gt;&#13;&#10;            &lt;Box style={{ width: 424 }}&gt;&lt;Text style={{ fontSize: 13, color: '#546779', lineHeight: 1.5 }}&gt;真实键、内容摘要、绑定关系&lt;/Text&gt;&lt;/Box&gt;&#13;&#10;        &lt;/Box&gt;&#13;&#10;&#13;&#10;        &lt;Box style={{ width: 1152, height: 88, background: '#F4F7FA', borderRadius: 8, padding: '0 18px', flexDirection: 'row', alignItems: 'center', gap: 16 }}&gt;&#13;&#10;            &lt;Box style={{ width: 4, height: 56, background: '#CB6B28' }} /&gt;&#13;&#10;            &lt;Box style={{ width: 216 }}&gt;&lt;Text style={{ fontSize: 14, fontWeight: 'bold', color: '#20344B', lineHeight: 1.45 }}&gt;模型配置&lt;/Text&gt;&lt;/Box&gt;&#13;&#10;            &lt;Box style={{ width: 424 }}&gt;&lt;Text style={{ fontSize: 13, color: '#546779', lineHeight: 1.5 }}&gt;实际服务和适用参数说明&lt;/Text&gt;&lt;/Box&gt;&#13;&#10;            &lt;Box style={{ width: 424 }}&gt;&lt;Text style={{ fontSize: 13, color: '#CB6B28', lineHeight: 1.5 }}&gt;所选配置与凭据环境要求，不登记密钥正文&lt;/Text&gt;&lt;/Box&gt;&#13;&#10;        &lt;/Box&gt;&#13;&#10;&#13;&#10;        &lt;Box style={{ width: 1152, height: 88, background: '#F4F7FA', borderRadius: 8, padding: '0 18px', flexDirection: 'row', alignItems: 'center', gap: 16 }}&gt;&#13;&#10;            &lt;Box style={{ width: 4, height: 56, background: '#276FBF' }} /&gt;&#13;&#10;            &lt;Box style={{ width: 216 }}&gt;&lt;Text style={{ fontSize: 14, fontWeight: 'bold', color: '#20344B', lineHeight: 1.45 }}&gt;实验装配&lt;/Text&gt;&lt;/Box&gt;&#13;&#10;            &lt;Box style={{ width: 424 }}&gt;&lt;Text style={{ fontSize: 13, color: '#546779', lineHeight: 1.5 }}&gt;出生、已知空间、时间与运行参数&lt;/Text&gt;&lt;/Box&gt;&#13;&#10;            &lt;Box style={{ width: 424 }}&gt;&lt;Text style={{ fontSize: 13, color: '#546779', lineHeight: 1.5 }}&gt;实验身份、实际坐标、保存结果&lt;/Text&gt;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5.3 作者资源与信息边界&lt;/Text&gt;&#13;&#10;        &lt;Text style={{ fontSize: 14, color: '#546779' }}&gt;17 / 27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完整资源闭包需要逐项点清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保存之后还要登记什么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971550" y="1304925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资源项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181350" y="1304925"/>
            <a:ext cx="4038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作者侧应备齐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372350" y="1304925"/>
            <a:ext cx="4038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保存后需登记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609600" y="1619250"/>
            <a:ext cx="109728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781050" y="17716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71550" y="1924050"/>
            <a:ext cx="20574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地图与三个对象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3181350" y="1924050"/>
            <a:ext cx="4038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背景、节点、碰撞、对象位置与交互说明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372350" y="1924050"/>
            <a:ext cx="4038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实际资源及节点身份、显示绑定与语义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609600" y="2552700"/>
            <a:ext cx="109728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781050" y="2705100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971550" y="2743200"/>
            <a:ext cx="2057400" cy="4667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五名</a:t>
            </a:r>
            <a:r>
              <a:rPr lang="en-US" sz="10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  <a:p>
            <a:pPr>
              <a:lnSpc>
                <a:spcPct val="145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10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Crowd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3181350" y="2857500"/>
            <a:ext cx="4038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各自资料、图片、五人名单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7372350" y="2857500"/>
            <a:ext cx="4038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稳定身份、成员数、保存后的内容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09600" y="3486150"/>
            <a:ext cx="109728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6" name=""/>
          <p:cNvSpPr/>
          <p:nvPr/>
        </p:nvSpPr>
        <p:spPr>
          <a:xfrm rot="0" flipH="0" flipV="0">
            <a:off x="781050" y="36385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971550" y="3676650"/>
            <a:ext cx="2057400" cy="4667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endParaRPr/>
          </a:p>
          <a:p>
            <a:pPr>
              <a:lnSpc>
                <a:spcPct val="145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对象</a:t>
            </a:r>
            <a:r>
              <a:rPr lang="en-US" sz="10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3181350" y="3790950"/>
            <a:ext cx="4038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完整正文、包内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skill_key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及依赖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372350" y="3790950"/>
            <a:ext cx="4038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真实键、内容摘要、绑定关系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09600" y="4419600"/>
            <a:ext cx="109728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781050" y="457200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971550" y="4724400"/>
            <a:ext cx="20574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模型配置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3181350" y="4724400"/>
            <a:ext cx="4038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实际服务和适用参数说明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372350" y="4724400"/>
            <a:ext cx="4038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所选配置与凭据环境要求，不登记密钥正文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09600" y="5353050"/>
            <a:ext cx="109728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781050" y="55054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71550" y="5657850"/>
            <a:ext cx="20574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实验装配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3181350" y="5657850"/>
            <a:ext cx="4038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出生、已知空间、时间与运行参数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7372350" y="5657850"/>
            <a:ext cx="4038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实验身份、实际坐标、保存结果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27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92" name="" descr="&lt;Slide notes={`选入实验的时候，复制过去的是完整内容和它的依赖。这一点要记住：公共资源后面改了，不会自动传到已经复制出去的实验副本里，两边从此是分开的。&#10;&#10;Skill 有个特殊情况。同一个 key、内容也一样，可以合并；同一个 key 但内容不一样，就必须处理冲突，不能靠名字相近就静默挑一个用。&#10;&#10;有人会问，图片原件在我自己的作者目录里明明存在，为什么实验里看不到？因为原件存在，不等于已经上传进实验副本。&#10;&#10;还有一层边界要划清：提供 Embedding 配置，不表示记忆已经改用向量检索；有评分表，也不表示自定义 Evaluator 已经由 Runtime 执行。这些能力的当前范围要看第三章的核查记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3.4　完整资源闭包需要逐项点清&lt;/Text&gt;&#10;            &lt;Text style={{ fontSize: 34, fontWeight: 'bold', color: '#20344B' }}&gt;复制的是完整内容与依赖&lt;/Text&gt;&#10;        &lt;/Box&gt;&#10;    &lt;/Box&gt;&#10;&#10;    &lt;Box style={{ height: 540, flexDirection: 'column', justifyContent: 'center', gap: 24 }}&gt;&#10;&#10;        &lt;Box style={{ flexDirection: 'row', gap: 32 }}&gt;&#10;&#10;            &lt;Box style={{ width: 560, height: 300, background: '#EDF4FC', borderRadius: 12, padding: '26px 30px', flexDirection: 'column', gap: 12, justifyContent: 'center' }}&gt;&#10;                &lt;Text style={{ fontSize: 22, fontWeight: 'bold', color: '#276FBF' }}&gt;复制行为&lt;/Text&gt;&#10;                &lt;Box style={{ width: 500, height: 56, background: '#FFFFFF', borderRadius: 8, padding: '0 16px', justifyContent: 'center' }}&gt;&#10;                    &lt;Text style={{ fontSize: 15, color: '#20344B' }}&gt;选入实验时复制的是完整内容及依赖&lt;/Text&gt;&#10;                &lt;/Box&gt;&#10;                &lt;Box style={{ width: 500, height: 56, background: '#FFFFFF', borderRadius: 8, padding: '0 16px', justifyContent: 'center' }}&gt;&#10;                    &lt;Text style={{ fontSize: 15, color: '#20344B' }}&gt;公共资源后续改动不会自动传过去&lt;/Text&gt;&#10;                &lt;/Box&gt;&#10;                &lt;Box style={{ width: 500, height: 56, background: '#FFFFFF', borderRadius: 8, padding: '0 16px', justifyContent: 'center' }}&gt;&#10;                    &lt;Text style={{ fontSize: 15, color: '#20344B' }}&gt;原件存在，不等于已上传进实验副本&lt;/Text&gt;&#10;                &lt;/Box&gt;&#10;            &lt;/Box&gt;&#10;&#10;            &lt;Box style={{ width: 560, height: 300, background: '#ECF7F2', borderRadius: 12, padding: '26px 30px', flexDirection: 'column', gap: 12, justifyContent: 'center' }}&gt;&#10;                &lt;Text style={{ fontSize: 22, fontWeight: 'bold', color: '#26816B' }}&gt;同 key 的两种情况&lt;/Text&gt;&#10;                &lt;Box style={{ width: 500, height: 56, background: '#FFFFFF', borderRadius: 8, padding: '0 16px', justifyContent: 'center' }}&gt;&#10;                    &lt;Text style={{ fontSize: 15, color: '#20344B' }}&gt;Skill 同 key 同内容，可以合并&lt;/Text&gt;&#10;                &lt;/Box&gt;&#10;                &lt;Box style={{ width: 500, height: 56, background: '#FFFFFF', borderRadius: 8, padding: '0 16px', justifyContent: 'center' }}&gt;&#10;                    &lt;Text style={{ fontSize: 15, color: '#20344B' }}&gt;同 key 异内容，必须处理冲突&lt;/Text&gt;&#10;                &lt;/Box&gt;&#10;                &lt;Box style={{ width: 500, height: 56, background: '#FFF4E6', borderRadius: 8, padding: '0 16px', justifyContent: 'center' }}&gt;&#10;                    &lt;Text style={{ fontSize: 15, color: '#CB6B28' }}&gt;不能靠名称相近静默选择一个&lt;/Text&gt;&#10;                &lt;/Box&gt;&#10;            &lt;/Box&gt;&#10;&#10;        &lt;/Box&gt;&#10;&#10;        &lt;Box style={{ width: 1152, height: 100, background: '#FFF4E6', borderRadius: 12, padding: '0 26px', flexDirection: 'row', alignItems: 'center', gap: 20 }}&gt;&#10;            &lt;Box style={{ width: 4, height: 60, background: '#CB6B28' }} /&gt;&#10;            &lt;Box style={{ width: 1076, flexDirection: 'column', gap: 4 }}&gt;&#10;                &lt;Text style={{ fontSize: 17, fontWeight: 'bold', color: '#CB6B28' }}&gt;配置存在，不等于能力已启用&lt;/Text&gt;&#10;                &lt;Text style={{ fontSize: 15, color: '#546779', lineHeight: 1.5 }}&gt;提供 Embedding 配置不表示记忆已改用向量检索；评分表也不表示自定义 Evaluator 已由 Runtime 执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18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完整资源闭包需要逐项点清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复制的是完整内容与依赖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609600" y="1695450"/>
            <a:ext cx="5334000" cy="28575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95350" y="2028825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复制行为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895350" y="2400300"/>
            <a:ext cx="4762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047750" y="25812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选入实验时复制的是完整内容及依赖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895350" y="3048000"/>
            <a:ext cx="4762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047750" y="32289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公共资源后续改动不会自动传过去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895350" y="3695700"/>
            <a:ext cx="4762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047750" y="38766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原件存在，不等于已上传进实验副本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248400" y="1695450"/>
            <a:ext cx="5334000" cy="2857500"/>
          </a:xfrm>
          <a:prstGeom prst="roundRect">
            <a:avLst>
              <a:gd name="adj" fmla="val 4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534150" y="2028825"/>
            <a:ext cx="4762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同</a:t>
            </a:r>
            <a:r>
              <a:rPr lang="en-US" sz="16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key </a:t>
            </a: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的两种情况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6534150" y="2400300"/>
            <a:ext cx="4762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686550" y="25812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同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key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同内容，可以合并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6534150" y="3048000"/>
            <a:ext cx="4762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686550" y="32289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同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key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异内容，必须处理冲突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534150" y="3695700"/>
            <a:ext cx="47625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686550" y="3876675"/>
            <a:ext cx="4457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不能靠名称相近静默选择一个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609600" y="4781550"/>
            <a:ext cx="10972800" cy="952500"/>
          </a:xfrm>
          <a:prstGeom prst="roundRect">
            <a:avLst>
              <a:gd name="adj" fmla="val 12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857250" y="497205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085850" y="5010150"/>
            <a:ext cx="10248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配置存在，不等于能力已启用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085850" y="5248275"/>
            <a:ext cx="10248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提供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Embedding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配置不表示记忆已改用向量检索；评分表也不表示自定义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已由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Runtime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执行。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27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19" name="" descr="&lt;Slide notes={`前一块讲清楚了要准备什么，接下来讲按什么顺序动手。&#10;&#10;顺序只有一个常识性的答案：先分配，再制作，最后装配核对。分配表没定，制作就没有依据——你不知道这份人物资料该写多细，也不知道哪些内容必须留在作者一侧。&#10;&#10;制作和保存是第二步，这时候才会发现依赖是不是齐的。装配核对放在最后，因为它检查的是信息流，不是文件有没有生成。&#10;&#10;把顺序定下来还有一个实际好处：出问题的时候能判断是哪一步留下的。是分配表写错了，还是制作时漏了素材，还是装配时选错了资源——每一步都有对应的排查方向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3.5　按内容关系安排作者操作&lt;/Text&gt;&#10;            &lt;Text style={{ fontSize: 34, fontWeight: 'bold', color: '#20344B' }}&gt;知识块 ⑤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⑤&lt;/Text&gt;&#10;&#10;        &lt;Text style={{ fontSize: 56, fontWeight: 'bold', color: '#20344B', lineHeight: 1.15 }}&gt;按内容关系安排作者操作&lt;/Text&gt;&#10;&#10;        &lt;Box style={{ width: 72, height: 4, background: '#276FBF' }} /&gt;&#10;&#10;        &lt;Text style={{ fontSize: 18, color: '#546779', lineHeight: 1.7, width: 980 }}&gt;先完成本节分配表，再制作并保存公共材料，最后装配出生与已知空间并从同一实验重开核对。&lt;/Text&gt;&#10;&#10;        &lt;Box style={{ flexDirection: 'row', alignItems: 'center', marginTop: 10, gap: 14 }}&gt;&#10;            &lt;Box style={{ width: 240, height: 64, background: '#F7F3E8', borderRadius: 8, justifyContent: 'center', alignItems: 'center' }}&gt;&#10;                &lt;Text style={{ fontSize: 17, color: '#20344B' }}&gt;分配表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240, height: 64, background: '#EDF4FC', borderRadius: 8, justifyContent: 'center', alignItems: 'center' }}&gt;&#10;                &lt;Text style={{ fontSize: 17, color: '#276FBF' }}&gt;制作与保存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240, height: 64, background: '#ECF7F2', borderRadius: 8, justifyContent: 'center', alignItems: 'center' }}&gt;&#10;                &lt;Text style={{ fontSize: 17, color: '#26816B' }}&gt;装配与核对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19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按内容关系安排作者操作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905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⑤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09600" y="190500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按内容关系安排作者操作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609600" y="40957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9334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先完成本节分配表，再制作并保存公共材料，最后装配出生与已知空间并从同一实验重开核对。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609600" y="4924425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514475" y="513397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分配表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320040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3581400" y="4924425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4324350" y="513397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制作与保存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17220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553200" y="4924425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7296150" y="513397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装配与核对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27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84" name="" descr="&lt;Slide notes={`动手的顺序是有讲究的：先分配，再制作，最后修正。&#10;&#10;第一步，把本节的分配表做完——每一行都要写清内容是什么、交给谁、通过什么方式进去、绝对不能包含什么。这张表定了，后面做什么才算有依据。&#10;&#10;第二步，按表制作并保存公共材料。做的过程中如果发现依赖没齐，就补齐对应内容，不要把悬空引用留给运行时去猜——系统猜不出来，只会失败。如果发现人物资料里混进了评分答案，先改文稿，改完再录入。&#10;&#10;还有一条边界：具体 Skill 的共同部分和唯一替换段，留到下一节评审。不能在这一节另写一套略有不同的业务流程，那样会出现两个互相矛盾的版本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3.5　按内容关系安排作者操作&lt;/Text&gt;&#10;            &lt;Text style={{ fontSize: 34, fontWeight: 'bold', color: '#20344B' }}&gt;先分配，再制作，后修正&lt;/Text&gt;&#10;        &lt;/Box&gt;&#10;    &lt;/Box&gt;&#10;&#10;    &lt;Box style={{ height: 540, flexDirection: 'column', justifyContent: 'center', gap: 14 }}&gt;&#10;&#10;        &lt;Box style={{ width: 1152, height: 120, background: '#F4F7FA', borderRadius: 10, padding: '0 24px', flexDirection: 'row', alignItems: 'center', gap: 20 }}&gt;&#10;            &lt;Box style={{ width: 64, height: 64, borderRadius: 8, background: '#276FBF', justifyContent: 'center', alignItems: 'center' }}&gt;&#10;                &lt;Text style={{ fontSize: 28, fontWeight: 'bold', color: '#FFFFFF' }}&gt;1&lt;/Text&gt;&#10;            &lt;/Box&gt;&#10;            &lt;Box style={{ width: 1020, flexDirection: 'column', gap: 6 }}&gt;&#10;                &lt;Text style={{ fontSize: 20, fontWeight: 'bold', color: '#20344B' }}&gt;先完成本节分配表&lt;/Text&gt;&#10;                &lt;Text style={{ fontSize: 15, color: '#546779', lineHeight: 1.5 }}&gt;内容、接收者、进入方式、不得包含什么，四件事逐行写清，再谈制作。&lt;/Text&gt;&#10;            &lt;/Box&gt;&#10;        &lt;/Box&gt;&#10;&#10;        &lt;Box style={{ width: 1152, height: 120, background: '#F4F7FA', borderRadius: 10, padding: '0 24px', flexDirection: 'row', alignItems: 'center', gap: 20 }}&gt;&#10;            &lt;Box style={{ width: 64, height: 64, borderRadius: 8, background: '#276FBF', justifyContent: 'center', alignItems: 'center' }}&gt;&#10;                &lt;Text style={{ fontSize: 28, fontWeight: 'bold', color: '#FFFFFF' }}&gt;2&lt;/Text&gt;&#10;            &lt;/Box&gt;&#10;            &lt;Box style={{ width: 1020, flexDirection: 'column', gap: 6 }}&gt;&#10;                &lt;Text style={{ fontSize: 20, fontWeight: 'bold', color: '#20344B' }}&gt;再制作并保存公共材料&lt;/Text&gt;&#10;                &lt;Text style={{ fontSize: 15, color: '#CB6B28', lineHeight: 1.5 }}&gt;发现依赖未齐就补齐对应内容，不把悬空引用留给运行时猜测。&lt;/Text&gt;&#10;            &lt;/Box&gt;&#10;        &lt;/Box&gt;&#10;&#10;        &lt;Box style={{ width: 1152, height: 120, background: '#F4F7FA', borderRadius: 10, padding: '0 24px', flexDirection: 'row', alignItems: 'center', gap: 20 }}&gt;&#10;            &lt;Box style={{ width: 64, height: 64, borderRadius: 8, background: '#26816B', justifyContent: 'center', alignItems: 'center' }}&gt;&#10;                &lt;Text style={{ fontSize: 28, fontWeight: 'bold', color: '#FFFFFF' }}&gt;3&lt;/Text&gt;&#10;            &lt;/Box&gt;&#10;            &lt;Box style={{ width: 1020, flexDirection: 'column', gap: 6 }}&gt;&#10;                &lt;Text style={{ fontSize: 20, fontWeight: 'bold', color: '#20344B' }}&gt;发现问题先改文稿&lt;/Text&gt;&#10;                &lt;Text style={{ fontSize: 15, color: '#546779', lineHeight: 1.5 }}&gt;人物资料一旦包含评分答案，修正文稿之后再录入，不在系统里就地遮掩。&lt;/Text&gt;&#10;            &lt;/Box&gt;&#10;        &lt;/Box&gt;&#10;&#10;        &lt;Box style={{ width: 1152, height: 110, background: '#FFF4E6', borderRadius: 10, padding: '0 26px', flexDirection: 'row', alignItems: 'center', gap: 20 }}&gt;&#10;            &lt;Box style={{ width: 4, height: 62, background: '#CB6B28' }} /&gt;&#10;            &lt;Box style={{ width: 1076, flexDirection: 'column', gap: 5 }}&gt;&#10;                &lt;Text style={{ fontSize: 17, fontWeight: 'bold', color: '#CB6B28' }}&gt;不要在写作阶段抢跑下一节&lt;/Text&gt;&#10;                &lt;Text style={{ fontSize: 15, color: '#546779', lineHeight: 1.5 }}&gt;具体 Skill 的共同部分和唯一替换段留到 5.4 评审，不能在本节另写一套略有不同的业务流程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20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按内容关系安排作者操作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先分配，再制作，后修正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609600" y="1276350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0" name=""/>
          <p:cNvSpPr/>
          <p:nvPr/>
        </p:nvSpPr>
        <p:spPr>
          <a:xfrm rot="0" flipH="0" flipV="0">
            <a:off x="838200" y="154305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057275" y="1685925"/>
            <a:ext cx="1714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638300" y="1581150"/>
            <a:ext cx="971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先完成本节分配表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638300" y="1866900"/>
            <a:ext cx="9715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内容、接收者、进入方式、不得包含什么，四件事逐行写清，再谈制作。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09600" y="2552700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838200" y="281940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1057275" y="2962275"/>
            <a:ext cx="1714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1638300" y="2857500"/>
            <a:ext cx="971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再制作并保存公共材料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638300" y="3143250"/>
            <a:ext cx="9715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发现依赖未齐就补齐对应内容，不把悬空引用留给运行时猜测。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609600" y="3829050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0" name=""/>
          <p:cNvSpPr/>
          <p:nvPr/>
        </p:nvSpPr>
        <p:spPr>
          <a:xfrm rot="0" flipH="0" flipV="0">
            <a:off x="838200" y="409575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057275" y="4238625"/>
            <a:ext cx="1714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638300" y="4133850"/>
            <a:ext cx="971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发现问题先改文稿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638300" y="4419600"/>
            <a:ext cx="9715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人物资料一旦包含评分答案，修正文稿之后再录入，不在系统里就地遮掩。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5105400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857250" y="5334000"/>
            <a:ext cx="38100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1085850" y="5381625"/>
            <a:ext cx="10248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不要在写作阶段抢跑下一节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1085850" y="5629275"/>
            <a:ext cx="10248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具体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的共同部分和唯一替换段留到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5.4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评审，不能在本节另写一套略有不同的业务流程。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27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10" name="" descr="&lt;Slide notes={`材料齐了以后，通过第三章的浏览器路径把内容选进独立实验，核对五个人、三个对象以及它们的依赖，不是看一眼导入提示就算过。&#13;&#10;&#13;&#10;接着装配出生与已知空间，保存，再从同一个实验重新打开——只有重开，才能看到真正存进去的是什么。&#13;&#10;&#13;&#10;两组的共同条件要写全：都是 2026 年 10 月 18 日九点到十点十五分，时区 Asia/Shanghai，每步一分钟，一共 76 步。身份和实验名称可以不一样，共同内容不能漂移。&#13;&#10;&#13;&#10;核对顺序：先打开孟川资料看私人目的与首句，再打开咨询台 Skill 看它有分工但没有答案表，然后打开地图看公共语义有没有泄露任务，最后打开实验内人物，对比出生地址和公共副本的区别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3.5　按内容关系安排作者操作&lt;/Text&gt;&#13;&#10;            &lt;Text style={{ fontSize: 34, fontWeight: 'bold', color: '#20344B' }}&gt;装配条件与核对顺序&lt;/Text&gt;&#13;&#10;        &lt;/Box&gt;&#13;&#10;    &lt;/Box&gt;&#13;&#10;&#13;&#10;    &lt;Box style={{ height: 540, flexDirection: 'row', alignItems: 'center', gap: 32 }}&gt;&#13;&#10;&#13;&#10;        &lt;Box style={{ width: 550, flexDirection: 'column', justifyContent: 'center', gap: 14 }}&gt;&#13;&#10;&#13;&#10;            &lt;Box style={{ width: 550, height: 200, background: '#EDF4FC', borderRadius: 12, padding: '24px 28px', flexDirection: 'column', gap: 10, justifyContent: 'center' }}&gt;&#13;&#10;                &lt;Text style={{ fontSize: 21, fontWeight: 'bold', color: '#276FBF' }}&gt;选入独立实验&lt;/Text&gt;&#13;&#10;                &lt;Text style={{ fontSize: 15, color: '#546779', lineHeight: 1.6, width: 494 }}&gt;通过第三章的浏览器路径选入，核对五人、三个对象及依赖，而不是只看导入提示。&lt;/Text&gt;&#13;&#10;                &lt;Text style={{ fontSize: 15, color: '#546779', lineHeight: 1.6, width: 494 }}&gt;再装配出生与已知空间，保存并从同一实验重开。&lt;/Text&gt;&#13;&#10;            &lt;/Box&gt;&#13;&#10;&#13;&#10;            &lt;Box style={{ width: 550, height: 150, background: '#F7F3E8', borderRadius: 12, padding: '24px 28px', flexDirection: 'column', gap: 8, justifyContent: 'center' }}&gt;&#13;&#10;                &lt;Text style={{ fontSize: 21, fontWeight: 'bold', color: '#20344B' }}&gt;两组共同条件&lt;/Text&gt;&#13;&#10;                &lt;Text style={{ fontSize: 15, color: '#546779', lineHeight: 1.6, width: 494 }}&gt;2026-10-18 09:00—10:15　·　Asia/Shanghai　·　每步一分钟　·　76 步&lt;/Text&gt;&#13;&#10;            &lt;/Box&gt;&#13;&#10;&#13;&#10;            &lt;Box style={{ width: 550, height: 100, background: '#FFF4E6', borderRadius: 12, padding: '0 28px', flexDirection: 'row', alignItems: 'center', gap: 18 }}&gt;&#13;&#10;                &lt;Box style={{ width: 4, height: 56, background: '#CB6B28' }} /&gt;&#13;&#10;                &lt;Text style={{ fontSize: 15, color: '#CB6B28', lineHeight: 1.6, width: 466 }}&gt;身份和实验名称可以不同，共同内容不能随之漂移。&lt;/Text&gt;&#13;&#10;            &lt;/Box&gt;&#13;&#10;&#13;&#10;        &lt;/Box&gt;&#13;&#10;&#13;&#10;        &lt;Box style={{ width: 570, flexDirection: 'column', justifyContent: 'center', gap: 10 }}&gt;&#13;&#10;&#13;&#10;            &lt;Box style={{ width: 570, height: 84, background: '#F4F7FA', borderRadius: 10, padding: '0 18px', flexDirection: 'row', alignItems: 'center', gap: 14 }}&gt;&#13;&#10;                &lt;Box style={{ width: 32, height: 32, borderRadius: 6, background: '#276FBF', justifyContent: 'center', alignItems: 'center' }}&gt;&#13;&#10;                    &lt;Text style={{ fontSize: 15, fontWeight: 'bold', color: '#FFFFFF' }}&gt;1&lt;/Text&gt;&#13;&#10;                &lt;/Box&gt;&#13;&#10;                &lt;Box style={{ width: 488, flexDirection: 'column', gap: 3 }}&gt;&#13;&#10;                    &lt;Text style={{ fontSize: 16, fontWeight: 'bold', color: '#20344B' }}&gt;打开孟川资料&lt;/Text&gt;&#13;&#10;                    &lt;Text style={{ fontSize: 13, color: '#546779' }}&gt;看私人目的与首句&lt;/Text&gt;&#13;&#10;                &lt;/Box&gt;&#13;&#10;            &lt;/Box&gt;&#13;&#10;&#13;&#10;            &lt;Box style={{ width: 570, height: 84, background: '#F4F7FA', borderRadius: 10, padding: '0 18px', flexDirection: 'row', alignItems: 'center', gap: 14 }}&gt;&#13;&#10;                &lt;Box style={{ width: 32, height: 32, borderRadius: 6, background: '#276FBF', justifyContent: 'center', alignItems: 'center' }}&gt;&#13;&#10;                    &lt;Text style={{ fontSize: 15, fontWeight: 'bold', color: '#FFFFFF' }}&gt;2&lt;/Text&gt;&#13;&#10;                &lt;/Box&gt;&#13;&#10;                &lt;Box style={{ width: 488, flexDirection: 'column', gap: 3 }}&gt;&#13;&#10;                    &lt;Text style={{ fontSize: 16, fontWeight: 'bold', color: '#20344B' }}&gt;打开咨询台 Skill&lt;/Text&gt;&#13;&#10;                    &lt;Text style={{ fontSize: 13, color: '#546779' }}&gt;看有分工，但没有四人的答案表&lt;/Text&gt;&#13;&#10;                &lt;/Box&gt;&#13;&#10;            &lt;/Box&gt;&#13;&#10;&#13;&#10;            &lt;Box style={{ width: 570, height: 84, background: '#F4F7FA', borderRadius: 10, padding: '0 18px', flexDirection: 'row', alignItems: 'center', gap: 14 }}&gt;&#13;&#10;                &lt;Box style={{ width: 32, height: 32, borderRadius: 6, background: '#276FBF', justifyContent: 'center', alignItems: 'center' }}&gt;&#13;&#10;                    &lt;Text style={{ fontSize: 15, fontWeight: 'bold', color: '#FFFFFF' }}&gt;3&lt;/Text&gt;&#13;&#10;                &lt;/Box&gt;&#13;&#10;                &lt;Box style={{ width: 488, flexDirection: 'column', gap: 3 }}&gt;&#13;&#10;                    &lt;Text style={{ fontSize: 16, fontWeight: 'bold', color: '#20344B' }}&gt;打开地图&lt;/Text&gt;&#13;&#10;                    &lt;Text style={{ fontSize: 13, color: '#546779' }}&gt;看公共语义没有泄露任务&lt;/Text&gt;&#13;&#10;                &lt;/Box&gt;&#13;&#10;            &lt;/Box&gt;&#13;&#10;&#13;&#10;            &lt;Box style={{ width: 570, height: 84, background: '#F4F7FA', borderRadius: 10, padding: '0 18px', flexDirection: 'row', alignItems: 'center', gap: 14 }}&gt;&#13;&#10;                &lt;Box style={{ width: 32, height: 32, borderRadius: 6, background: '#276FBF', justifyContent: 'center', alignItems: 'center' }}&gt;&#13;&#10;                    &lt;Text style={{ fontSize: 15, fontWeight: 'bold', color: '#FFFFFF' }}&gt;4&lt;/Text&gt;&#13;&#10;                &lt;/Box&gt;&#13;&#10;                &lt;Box style={{ width: 488, flexDirection: 'column', gap: 3 }}&gt;&#13;&#10;                    &lt;Text style={{ fontSize: 16, fontWeight: 'bold', color: '#20344B' }}&gt;打开实验内人物&lt;/Text&gt;&#13;&#10;                    &lt;Text style={{ fontSize: 13, color: '#546779' }}&gt;核对实际出生地址与公共副本的区别&lt;/Text&gt;&#13;&#10;                &lt;/Box&gt;&#13;&#10;            &lt;/Box&gt;&#13;&#10;&#13;&#10;            &lt;Box style={{ width: 570, height: 76, background: '#ECF7F2', borderRadius: 10, padding: '0 20px', flexDirection: 'row', alignItems: 'center', gap: 16 }}&gt;&#13;&#10;                &lt;Box style={{ width: 4, height: 44, background: '#26816B' }} /&gt;&#13;&#10;                &lt;Text style={{ fontSize: 15, fontWeight: 'bold', color: '#26816B', width: 490 }}&gt;检查的是信息流，不只是字段有没有填满。&lt;/Text&gt;&#13;&#10;            &lt;/Box&gt;&#13;&#10;&#13;&#10;        &lt;/Box&gt;&#13;&#10;&#13;&#10;    &lt;/Box&gt;&#13;&#10;&#13;&#10;    &lt;Box style={{ height: 40, flexDirection: 'row', justifyContent: 'space-between', alignItems: 'center' }}&gt;&#13;&#10;        &lt;Text style={{ fontSize: 14, color: '#546779' }}&gt;5.3 作者资源与信息边界&lt;/Text&gt;&#13;&#10;        &lt;Text style={{ fontSize: 14, color: '#546779' }}&gt;21 / 27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按内容关系安排作者操作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装配条件与核对顺序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09600" y="1438275"/>
            <a:ext cx="5238750" cy="1905000"/>
          </a:xfrm>
          <a:prstGeom prst="roundRect">
            <a:avLst>
              <a:gd name="adj" fmla="val 6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876300" y="1762125"/>
            <a:ext cx="4705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76FBF"/>
                </a:solidFill>
                <a:latin typeface="Microsoft YaHei"/>
                <a:ea typeface="Microsoft YaHei"/>
              </a:rPr>
              <a:t>选入独立实验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876300" y="2105025"/>
            <a:ext cx="4705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通过第三章的浏览器路径选入，核对五人、三个对象及依赖，而不是只看导入提示。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876300" y="2752725"/>
            <a:ext cx="47053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再装配出生与已知空间，保存并从同一实验重开。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609600" y="3476625"/>
            <a:ext cx="5238750" cy="1428750"/>
          </a:xfrm>
          <a:prstGeom prst="roundRect">
            <a:avLst>
              <a:gd name="adj" fmla="val 8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76300" y="3752850"/>
            <a:ext cx="47053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两组共同条件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876300" y="4076700"/>
            <a:ext cx="4705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2026-10-18 09:00—10:15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Asia/Shanghai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每步一分钟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76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09600" y="5038725"/>
            <a:ext cx="5238750" cy="952500"/>
          </a:xfrm>
          <a:prstGeom prst="roundRect">
            <a:avLst>
              <a:gd name="adj" fmla="val 12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3" name=""/>
          <p:cNvSpPr/>
          <p:nvPr/>
        </p:nvSpPr>
        <p:spPr>
          <a:xfrm rot="0" flipH="0" flipV="0">
            <a:off x="876300" y="524827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085850" y="5381625"/>
            <a:ext cx="44386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身份和实验名称可以不同，共同内容不能随之漂移。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6153150" y="1562100"/>
            <a:ext cx="542925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6" name=""/>
          <p:cNvSpPr/>
          <p:nvPr/>
        </p:nvSpPr>
        <p:spPr>
          <a:xfrm rot="0" flipH="0" flipV="0">
            <a:off x="6324600" y="180975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429375" y="18764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6762750" y="1781175"/>
            <a:ext cx="464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打开孟川资料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762750" y="2000250"/>
            <a:ext cx="464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看私人目的与首句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6153150" y="2457450"/>
            <a:ext cx="542925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1" name=""/>
          <p:cNvSpPr/>
          <p:nvPr/>
        </p:nvSpPr>
        <p:spPr>
          <a:xfrm rot="0" flipH="0" flipV="0">
            <a:off x="6324600" y="27051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6429375" y="27717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762750" y="2676525"/>
            <a:ext cx="464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打开咨询台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762750" y="2895600"/>
            <a:ext cx="464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看有分工，但没有四人的答案表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6153150" y="3352800"/>
            <a:ext cx="542925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6" name=""/>
          <p:cNvSpPr/>
          <p:nvPr/>
        </p:nvSpPr>
        <p:spPr>
          <a:xfrm rot="0" flipH="0" flipV="0">
            <a:off x="6324600" y="360045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6429375" y="36671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762750" y="3571875"/>
            <a:ext cx="464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打开地图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762750" y="3790950"/>
            <a:ext cx="464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看公共语义没有泄露任务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6153150" y="4248150"/>
            <a:ext cx="542925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1" name=""/>
          <p:cNvSpPr/>
          <p:nvPr/>
        </p:nvSpPr>
        <p:spPr>
          <a:xfrm rot="0" flipH="0" flipV="0">
            <a:off x="6324600" y="4495800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6429375" y="45624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762750" y="4467225"/>
            <a:ext cx="464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打开实验内人物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762750" y="4686300"/>
            <a:ext cx="464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核对实际出生地址与公共副本的区别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153150" y="5143500"/>
            <a:ext cx="542925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46" name=""/>
          <p:cNvSpPr/>
          <p:nvPr/>
        </p:nvSpPr>
        <p:spPr>
          <a:xfrm rot="0" flipH="0" flipV="0">
            <a:off x="6343650" y="529590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534150" y="5419725"/>
            <a:ext cx="466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检查的是信息流，不只是字段有没有填满。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27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50" name="" descr="&lt;Slide notes={`实验一旦封存，就不是随便改的地方了。要对已经封存的内容做调整，先创建一个新的独立草稿，在草稿上改，改完再走一次保存和核对。&#10;&#10;这里有三条容易被忽略的对应关系。第一，公共模型或 Skill 改了，不等于实验已经换用了新材料——实验副本是复制过去的，两边从此分开。第二，更换地图之后，坐标和地址也要重新核对，不能沿用旧场景的含义，同名物件在新场景里可能完全不是一回事。第三，保存入口与封存边界按第三章的实验生命周期走，不要用直接修改包文件的方式替代页面操作，那样做出来的东西没有对应的证据。&#10;&#10;把这三条记住，就不会出现「我明明改了，为什么结果没变」这种困惑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3.5　按内容关系安排作者操作&lt;/Text&gt;&#10;            &lt;Text style={{ fontSize: 34, fontWeight: 'bold', color: '#20344B' }}&gt;封存之后要改，先建新草稿&lt;/Text&gt;&#10;        &lt;/Box&gt;&#10;    &lt;/Box&gt;&#10;&#10;    &lt;Box style={{ height: 540, flexDirection: 'row', alignItems: 'center', gap: 32 }}&gt;&#10;&#10;        &lt;Box style={{ width: 500, flexDirection: 'column', gap: 14, justifyContent: 'center' }}&gt;&#10;            &lt;Text style={{ fontSize: 14, color: '#546779' }}&gt;5.3.5　封存边界&lt;/Text&gt;&#10;            &lt;Text style={{ fontSize: 30, fontWeight: 'bold', color: '#20344B', lineHeight: 1.25 }}&gt;先建新的{'\n'}独立草稿&lt;/Text&gt;&#10;            &lt;Box style={{ width: 72, height: 4, background: '#276FBF' }} /&gt;&#10;            &lt;Text style={{ fontSize: 16, color: '#546779', lineHeight: 1.75, width: 460 }}&gt;对已经封存的内容需要调整时，先创建新的独立草稿，改完再重新保存并核对一次。&lt;/Text&gt;&#10;            &lt;Box style={{ width: 460, height: 76, background: '#EDF4FC', borderRadius: 10, padding: '0 20px', flexDirection: 'column', gap: 4, justifyContent: 'center' }}&gt;&#10;                &lt;Text style={{ fontSize: 16, fontWeight: 'bold', color: '#276FBF' }}&gt;保存入口与封存边界&lt;/Text&gt;&#10;                &lt;Text style={{ fontSize: 13, color: '#546779' }}&gt;参照第三章实验生命周期&lt;/Text&gt;&#10;            &lt;/Box&gt;&#10;        &lt;/Box&gt;&#10;&#10;        &lt;Box style={{ width: 620, flexDirection: 'column', justifyContent: 'center', gap: 20 }}&gt;&#10;&#10;            &lt;Box style={{ width: 620, height: 160, background: '#F4F7FA', borderRadius: 12, padding: '22px 26px', flexDirection: 'column', gap: 8, justifyContent: 'center' }}&gt;&#10;                &lt;Text style={{ fontSize: 20, fontWeight: 'bold', color: '#20344B' }}&gt;改了公共内容，实验不会跟着变&lt;/Text&gt;&#10;                &lt;Text style={{ fontSize: 15, color: '#546779', lineHeight: 1.6, width: 564 }}&gt;公共模型或 Skill 改了，不等于实验已经换用新材料。&lt;/Text&gt;&#10;            &lt;/Box&gt;&#10;&#10;            &lt;Box style={{ width: 620, height: 160, background: '#F4F7FA', borderRadius: 12, padding: '22px 26px', flexDirection: 'column', gap: 8, justifyContent: 'center' }}&gt;&#10;                &lt;Text style={{ fontSize: 20, fontWeight: 'bold', color: '#20344B' }}&gt;换了地图，地址要重新核对&lt;/Text&gt;&#10;                &lt;Text style={{ fontSize: 15, color: '#546779', lineHeight: 1.6, width: 564 }}&gt;坐标与地址不能沿用旧场景的含义，同名物件未必是同一回事。&lt;/Text&gt;&#10;            &lt;/Box&gt;&#10;&#10;            &lt;Box style={{ width: 620, height: 160, background: '#FFF4E6', borderRadius: 12, padding: '22px 26px', flexDirection: 'column', gap: 8, justifyContent: 'center' }}&gt;&#10;                &lt;Text style={{ fontSize: 20, fontWeight: 'bold', color: '#CB6B28' }}&gt;不用改包文件替代页面操作&lt;/Text&gt;&#10;                &lt;Text style={{ fontSize: 15, color: '#546779', lineHeight: 1.6, width: 564 }}&gt;直接修改包文件绕过了页面入口，也就失去了对应的保存与核对记录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2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按内容关系安排作者操作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封存之后要改，先建新草稿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09600" y="2238375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封存边界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609600" y="2533650"/>
            <a:ext cx="47625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20344B"/>
                </a:solidFill>
                <a:latin typeface="Microsoft YaHei"/>
                <a:ea typeface="Microsoft YaHei"/>
              </a:rPr>
              <a:t>先建新的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20344B"/>
                </a:solidFill>
                <a:latin typeface="Microsoft YaHei"/>
                <a:ea typeface="Microsoft YaHei"/>
              </a:rPr>
              <a:t>独立草稿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609600" y="35242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09600" y="3695700"/>
            <a:ext cx="43815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对已经封存的内容需要调整时，先创建新的独立草稿，改完再重新保存并核对一次。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609600" y="4476750"/>
            <a:ext cx="43815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800100" y="4648200"/>
            <a:ext cx="400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保存入口与封存边界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00100" y="4876800"/>
            <a:ext cx="4000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参照第三章实验生命周期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5676900" y="1238250"/>
            <a:ext cx="5905500" cy="152400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5924550" y="1714500"/>
            <a:ext cx="541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改了公共内容，实验不会跟着变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5924550" y="2019300"/>
            <a:ext cx="5372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公共模型或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改了，不等于实验已经换用新材料。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5676900" y="2952750"/>
            <a:ext cx="5905500" cy="152400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5924550" y="3429000"/>
            <a:ext cx="541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换了地图，地址要重新核对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5924550" y="3733800"/>
            <a:ext cx="5372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坐标与地址不能沿用旧场景的含义，同名物件未必是同一回事。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5676900" y="4667250"/>
            <a:ext cx="5905500" cy="1524000"/>
          </a:xfrm>
          <a:prstGeom prst="roundRect">
            <a:avLst>
              <a:gd name="adj" fmla="val 7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5924550" y="5143500"/>
            <a:ext cx="541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不用改包文件替代页面操作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5924550" y="5448300"/>
            <a:ext cx="5372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直接修改包文件绕过了页面入口，也就失去了对应的保存与核对记录。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27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73" name="" descr="&lt;Slide notes={`最后一块，也是整节最容易被跳过的一块：怎么知道真的做完了。&#10;&#10;答案是不要用一个「完成」概括所有工作。同一份资源，至少要分四栏记录：文稿备齐了吗？公共资源保存了吗？实验副本核对了吗？运行证据拿到了吗？&#10;&#10;这四栏允许状态不一样。文稿可能已经改好，图片却还没上传；公共 Skill 可能已经更新，实验里还是旧内容；预检可能通过了，但一次 Run 都还没跑。&#10;&#10;把这四栏分开记，接收者才能一眼看出哪些检查已经完成、哪些还需要继续，也才不会把「文件有了」当成「工作做完了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3.6　用状态表避免「文件有了就是完成了」&lt;/Text&gt;&#10;            &lt;Text style={{ fontSize: 34, fontWeight: 'bold', color: '#20344B' }}&gt;知识块 ⑥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⑥&lt;/Text&gt;&#10;&#10;        &lt;Text style={{ fontSize: 56, fontWeight: 'bold', color: '#20344B', lineHeight: 1.15 }}&gt;用状态表避免「文件有了就是完成了」&lt;/Text&gt;&#10;&#10;        &lt;Box style={{ width: 72, height: 4, background: '#276FBF' }} /&gt;&#10;&#10;        &lt;Text style={{ fontSize: 18, color: '#546779', lineHeight: 1.7, width: 980 }}&gt;接收检查至少分出四个并列核对项，它们允许有不同状态，不能只用一个绿色「完成」覆盖全部工作。&lt;/Text&gt;&#10;&#10;        &lt;Box style={{ flexDirection: 'row', alignItems: 'center', marginTop: 10, gap: 14 }}&gt;&#10;            &lt;Box style={{ width: 230, height: 64, background: '#EDF4FC', borderRadius: 8, justifyContent: 'center', alignItems: 'center' }}&gt;&#10;                &lt;Text style={{ fontSize: 16, color: '#276FBF' }}&gt;文稿已备？&lt;/Text&gt;&#10;            &lt;/Box&gt;&#10;            &lt;Box style={{ width: 230, height: 64, background: '#EDF4FC', borderRadius: 8, justifyContent: 'center', alignItems: 'center' }}&gt;&#10;                &lt;Text style={{ fontSize: 16, color: '#276FBF' }}&gt;公共资源已保存？&lt;/Text&gt;&#10;            &lt;/Box&gt;&#10;            &lt;Box style={{ width: 230, height: 64, background: '#ECF7F2', borderRadius: 8, justifyContent: 'center', alignItems: 'center' }}&gt;&#10;                &lt;Text style={{ fontSize: 16, color: '#26816B' }}&gt;实验副本已核对？&lt;/Text&gt;&#10;            &lt;/Box&gt;&#10;            &lt;Box style={{ width: 230, height: 64, background: '#FFF4E6', borderRadius: 8, justifyContent: 'center', alignItems: 'center' }}&gt;&#10;                &lt;Text style={{ fontSize: 16, color: '#CB6B28' }}&gt;运行证据已取得？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2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用状态表避免「文件有了就是完成了」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705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⑥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609600" y="190500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⑥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用状态表避免「文件有了就是完成了」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609600" y="40957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9334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接收检查至少分出四个并列核对项，它们允许有不同状态，不能只用一个绿色「完成」覆盖全部工作。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609600" y="4924425"/>
            <a:ext cx="21907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1323975" y="513397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文稿已备？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2933700" y="4924425"/>
            <a:ext cx="21907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3419475" y="51339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公共资源已保存？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5257800" y="4924425"/>
            <a:ext cx="21907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5743575" y="51339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实验副本已核对？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7581900" y="4924425"/>
            <a:ext cx="219075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8067675" y="51339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运行证据已取得？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27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92" name="" descr="&lt;Slide notes={`同一份资源，要分四个面分别核对。&#10;&#10;第一个面：文稿备齐了吗？也就是作者资料有没有审读过。第二个面：公共资源保存了吗？实际内容和素材有没有真的存进去。第三个面：实验副本核对了吗？把实验重新打开，检查包里面装的到底是什么。第四个面：运行证据拿到了吗？有没有可以定位的真实提交事实。&#10;&#10;这四栏允许状态不一样，而且经常不一样。文稿已改、公共资源已保存、实验副本还没同步、Run 还没跑，是很常见的一种中间状态。&#10;&#10;如果只用一个绿色的「完成」把这四栏盖住，接收者就不知道你到底检查到哪一步。运行证据要和前三项分得最开——它是唯一需要真的跑起来才能拿到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3.6　用状态表避免「文件有了就是完成了」&lt;/Text&gt;&#10;            &lt;Text style={{ fontSize: 34, fontWeight: 'bold', color: '#20344B' }}&gt;同一份资源，四个核对面&lt;/Text&gt;&#10;        &lt;/Box&gt;&#10;    &lt;/Box&gt;&#10;&#10;    &lt;Box style={{ height: 540, flexDirection: 'column', justifyContent: 'center', gap: 24 }}&gt;&#10;&#10;        &lt;Box style={{ flexDirection: 'row', gap: 20 }}&gt;&#10;&#10;            &lt;Box style={{ width: 273, height: 300, background: '#EDF4FC', borderRadius: 12, padding: '22px 20px', flexDirection: 'column', gap: 10 }}&gt;&#10;                &lt;Text style={{ fontSize: 15, color: '#276FBF' }}&gt;第一面&lt;/Text&gt;&#10;                &lt;Text style={{ fontSize: 22, fontWeight: 'bold', color: '#276FBF', lineHeight: 1.3 }}&gt;文稿{'\n'}已备？&lt;/Text&gt;&#10;                &lt;Box style={{ width: 40, height: 3, background: '#B5C7D8' }} /&gt;&#10;                &lt;Text style={{ fontSize: 13, color: '#546779' }}&gt;记什么&lt;/Text&gt;&#10;                &lt;Text style={{ fontSize: 15, color: '#20344B', lineHeight: 1.6, width: 233 }}&gt;作者资料是否已经审读通过。&lt;/Text&gt;&#10;            &lt;/Box&gt;&#10;&#10;            &lt;Box style={{ width: 273, height: 300, background: '#EDF4FC', borderRadius: 12, padding: '22px 20px', flexDirection: 'column', gap: 10 }}&gt;&#10;                &lt;Text style={{ fontSize: 15, color: '#276FBF' }}&gt;第二面&lt;/Text&gt;&#10;                &lt;Text style={{ fontSize: 22, fontWeight: 'bold', color: '#276FBF', lineHeight: 1.3 }}&gt;公共资源{'\n'}已保存？&lt;/Text&gt;&#10;                &lt;Box style={{ width: 40, height: 3, background: '#B5C7D8' }} /&gt;&#10;                &lt;Text style={{ fontSize: 13, color: '#546779' }}&gt;记什么&lt;/Text&gt;&#10;                &lt;Text style={{ fontSize: 15, color: '#20344B', lineHeight: 1.6, width: 233 }}&gt;实际内容与素材是否真的存进了公共资源。&lt;/Text&gt;&#10;            &lt;/Box&gt;&#10;&#10;            &lt;Box style={{ width: 273, height: 300, background: '#ECF7F2', borderRadius: 12, padding: '22px 20px', flexDirection: 'column', gap: 10 }}&gt;&#10;                &lt;Text style={{ fontSize: 15, color: '#26816B' }}&gt;第三面&lt;/Text&gt;&#10;                &lt;Text style={{ fontSize: 22, fontWeight: 'bold', color: '#26816B', lineHeight: 1.3 }}&gt;实验副本{'\n'}已核对？&lt;/Text&gt;&#10;                &lt;Box style={{ width: 40, height: 3, background: '#B5C7D8' }} /&gt;&#10;                &lt;Text style={{ fontSize: 13, color: '#546779' }}&gt;记什么&lt;/Text&gt;&#10;                &lt;Text style={{ fontSize: 15, color: '#20344B', lineHeight: 1.6, width: 233 }}&gt;重新打开实验，检查包内实际装了什么。&lt;/Text&gt;&#10;            &lt;/Box&gt;&#10;&#10;            &lt;Box style={{ width: 273, height: 300, background: '#FFF4E6', borderRadius: 12, padding: '22px 20px', flexDirection: 'column', gap: 10 }}&gt;&#10;                &lt;Text style={{ fontSize: 15, color: '#CB6B28' }}&gt;第四面&lt;/Text&gt;&#10;                &lt;Text style={{ fontSize: 22, fontWeight: 'bold', color: '#CB6B28', lineHeight: 1.3 }}&gt;运行证据{'\n'}已取得？&lt;/Text&gt;&#10;                &lt;Box style={{ width: 40, height: 3, background: '#CB6B28' }} /&gt;&#10;                &lt;Text style={{ fontSize: 13, color: '#546779' }}&gt;记什么&lt;/Text&gt;&#10;                &lt;Text style={{ fontSize: 15, color: '#20344B', lineHeight: 1.6, width: 233 }}&gt;是否有可定位的真实提交事实。&lt;/Text&gt;&#10;            &lt;/Box&gt;&#10;&#10;        &lt;/Box&gt;&#10;&#10;        &lt;Box style={{ width: 1152, height: 110, background: '#FFF4E6', borderRadius: 12, padding: '0 26px', flexDirection: 'row', alignItems: 'center', gap: 20 }}&gt;&#10;            &lt;Box style={{ width: 4, height: 62, background: '#CB6B28' }} /&gt;&#10;            &lt;Box style={{ width: 1076, flexDirection: 'column', gap: 5 }}&gt;&#10;                &lt;Text style={{ fontSize: 18, fontWeight: 'bold', color: '#CB6B28' }}&gt;四栏可以有不同状态&lt;/Text&gt;&#10;                &lt;Text style={{ fontSize: 15, color: '#546779', lineHeight: 1.5 }}&gt;不能只用一个绿色「完成」覆盖全部工作；本章当前示例都尚未执行这些系统操作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2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用状态表避免「文件有了就是完成了」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同一份资源，四个核对面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609600" y="1647825"/>
            <a:ext cx="2600325" cy="2857500"/>
          </a:xfrm>
          <a:prstGeom prst="roundRect">
            <a:avLst>
              <a:gd name="adj" fmla="val 43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00100" y="1857375"/>
            <a:ext cx="2219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第一面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800100" y="2124075"/>
            <a:ext cx="2219325" cy="657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文稿</a:t>
            </a:r>
            <a:endParaRPr/>
          </a:p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已备？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800100" y="2876550"/>
            <a:ext cx="381000" cy="2857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800100" y="3000375"/>
            <a:ext cx="2219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记什么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800100" y="3248025"/>
            <a:ext cx="22193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作者资料是否已经审读通过。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3400425" y="1647825"/>
            <a:ext cx="2600325" cy="2857500"/>
          </a:xfrm>
          <a:prstGeom prst="roundRect">
            <a:avLst>
              <a:gd name="adj" fmla="val 439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3590925" y="1857375"/>
            <a:ext cx="2219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第二面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3590925" y="2124075"/>
            <a:ext cx="2219325" cy="657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公共资源</a:t>
            </a:r>
            <a:endParaRPr/>
          </a:p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已保存？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3590925" y="2876550"/>
            <a:ext cx="381000" cy="2857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3590925" y="3000375"/>
            <a:ext cx="2219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记什么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3590925" y="3248025"/>
            <a:ext cx="22193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实际内容与素材是否真的存进了公共资源。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6191250" y="1647825"/>
            <a:ext cx="2600325" cy="2857500"/>
          </a:xfrm>
          <a:prstGeom prst="roundRect">
            <a:avLst>
              <a:gd name="adj" fmla="val 439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6381750" y="1857375"/>
            <a:ext cx="2219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第三面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6381750" y="2124075"/>
            <a:ext cx="2219325" cy="657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实验副本</a:t>
            </a:r>
            <a:endParaRPr/>
          </a:p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已核对？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6381750" y="2876550"/>
            <a:ext cx="381000" cy="2857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6381750" y="3000375"/>
            <a:ext cx="2219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记什么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381750" y="3248025"/>
            <a:ext cx="22193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重新打开实验，检查包内实际装了什么。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8982075" y="1647825"/>
            <a:ext cx="2600325" cy="2857500"/>
          </a:xfrm>
          <a:prstGeom prst="roundRect">
            <a:avLst>
              <a:gd name="adj" fmla="val 439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9172575" y="1857375"/>
            <a:ext cx="2219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第四面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9172575" y="2124075"/>
            <a:ext cx="2219325" cy="6572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运行证据</a:t>
            </a:r>
            <a:endParaRPr/>
          </a:p>
          <a:p>
            <a:pPr>
              <a:lnSpc>
                <a:spcPct val="13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已取得？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9172575" y="2876550"/>
            <a:ext cx="381000" cy="28575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9172575" y="3000375"/>
            <a:ext cx="2219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记什么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9172575" y="3248025"/>
            <a:ext cx="22193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是否有可定位的真实提交事实。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609600" y="4733925"/>
            <a:ext cx="10972800" cy="1047750"/>
          </a:xfrm>
          <a:prstGeom prst="roundRect">
            <a:avLst>
              <a:gd name="adj" fmla="val 1090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857250" y="4962525"/>
            <a:ext cx="38100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1085850" y="5000625"/>
            <a:ext cx="10248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四栏可以有不同状态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1085850" y="5257800"/>
            <a:ext cx="10248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不能只用一个绿色「完成」覆盖全部工作；本章当前示例都尚未执行这些系统操作。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27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527" name="" descr="&lt;Slide notes={`举三种「看起来做完了」的情形。&#13;&#10;&#13;&#10;第一种：孟川的作者卡已经审读过，但图片还没上传。这时候应该写「文稿已备、公共资源待保存」，不能写完成。&#13;&#10;&#13;&#10;第二种：咨询台的公共 Skill 已经改成澄清策略，但实验里还是旧内容，应该写「实验副本未同步」。&#13;&#10;&#13;&#10;第三种：预检通过了，但一次 Run 都没跑，只能记录预检结果，不能填「分流正确」，那要靠运行事实支撑。&#13;&#10;&#13;&#10;还有两条规矩。页面重开以后如果内容不符，先核对是不是打开了公共资源或另一个实验，很多「保存失败」其实是打开错了对象。确认同一对象确实没保存好，就保留身份、前后内容与页面证据，按仓库规则处理，不要为了填完表格从外部改数据库、实验目录或历史 Run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3.6　用状态表避免「文件有了就是完成了」&lt;/Text&gt;&#13;&#10;            &lt;Text style={{ fontSize: 34, fontWeight: 'bold', color: '#20344B' }}&gt;三种「看起来做完了」&lt;/Text&gt;&#13;&#10;        &lt;/Box&gt;&#13;&#10;    &lt;/Box&gt;&#13;&#10;&#13;&#10;    &lt;Box style={{ height: 540, flexDirection: 'column', justifyContent: 'center', gap: 12 }}&gt;&#13;&#10;&#13;&#10;        &lt;Box style={{ width: 1152, height: 120, background: '#F4F7FA', borderRadius: 10, padding: '0 24px', flexDirection: 'row', alignItems: 'center', gap: 18 }}&gt;&#13;&#10;            &lt;Box style={{ width: 4, height: 76, background: '#276FBF' }} /&gt;&#13;&#10;            &lt;Box style={{ width: 600, flexDirection: 'column', gap: 6 }}&gt;&#13;&#10;                &lt;Text style={{ fontSize: 18, fontWeight: 'bold', color: '#20344B' }}&gt;作者卡已审读，图片未上传&lt;/Text&gt;&#13;&#10;                &lt;Text style={{ fontSize: 14, color: '#546779', lineHeight: 1.5 }}&gt;文稿这一栏可以打勾，素材这一栏不行&lt;/Text&gt;&#13;&#10;            &lt;/Box&gt;&#13;&#10;            &lt;Box style={{ width: 462, height: 56, background: '#FFFFFF', borderRadius: 8, padding: '0 16px', justifyContent: 'center' }}&gt;&#13;&#10;                &lt;Text style={{ fontSize: 15, fontWeight: 'bold', color: '#276FBF' }}&gt;文稿已备、公共资源待保存&lt;/Text&gt;&#13;&#10;            &lt;/Box&gt;&#13;&#10;        &lt;/Box&gt;&#13;&#10;&#13;&#10;        &lt;Box style={{ width: 1152, height: 120, background: '#F4F7FA', borderRadius: 10, padding: '0 24px', flexDirection: 'row', alignItems: 'center', gap: 18 }}&gt;&#13;&#10;            &lt;Box style={{ width: 4, height: 76, background: '#CB6B28' }} /&gt;&#13;&#10;            &lt;Box style={{ width: 600, flexDirection: 'column', gap: 6 }}&gt;&#13;&#10;                &lt;Text style={{ fontSize: 18, fontWeight: 'bold', color: '#20344B' }}&gt;公共 Skill 已改，实验仍是旧内容&lt;/Text&gt;&#13;&#10;                &lt;Text style={{ fontSize: 14, color: '#546779', lineHeight: 1.5 }}&gt;公共侧动了，复制出去的副本不会自动跟着动&lt;/Text&gt;&#13;&#10;            &lt;/Box&gt;&#13;&#10;            &lt;Box style={{ width: 462, height: 56, background: '#FFF4E6', borderRadius: 8, padding: '0 16px', justifyContent: 'center' }}&gt;&#13;&#10;                &lt;Text style={{ fontSize: 15, fontWeight: 'bold', color: '#CB6B28' }}&gt;实验副本未同步&lt;/Text&gt;&#13;&#10;            &lt;/Box&gt;&#13;&#10;        &lt;/Box&gt;&#13;&#10;&#13;&#10;        &lt;Box style={{ width: 1152, height: 120, background: '#F4F7FA', borderRadius: 10, padding: '0 24px', flexDirection: 'row', alignItems: 'center', gap: 18 }}&gt;&#13;&#10;            &lt;Box style={{ width: 4, height: 76, background: '#CB6B28' }} /&gt;&#13;&#10;            &lt;Box style={{ width: 600, flexDirection: 'column', gap: 6 }}&gt;&#13;&#10;                &lt;Text style={{ fontSize: 18, fontWeight: 'bold', color: '#20344B' }}&gt;预检通过，但一次 Run 都没有&lt;/Text&gt;&#13;&#10;                &lt;Text style={{ fontSize: 14, color: '#546779', lineHeight: 1.5 }}&gt;没有运行就没有真实提交事实可定位&lt;/Text&gt;&#13;&#10;            &lt;/Box&gt;&#13;&#10;            &lt;Box style={{ width: 462, height: 56, background: '#FFF4E6', borderRadius: 8, padding: '0 16px', justifyContent: 'center' }}&gt;&#13;&#10;                &lt;Text style={{ fontSize: 15, fontWeight: 'bold', color: '#CB6B28' }}&gt;只能记预检结果，不能填分流正确&lt;/Text&gt;&#13;&#10;            &lt;/Box&gt;&#13;&#10;        &lt;/Box&gt;&#13;&#10;&#13;&#10;        &lt;Box style={{ width: 1152, height: 110, background: '#EDF4FC', borderRadius: 10, padding: '0 26px', flexDirection: 'row', alignItems: 'center', gap: 20 }}&gt;&#13;&#10;            &lt;Box style={{ width: 4, height: 62, background: '#276FBF' }} /&gt;&#13;&#10;            &lt;Box style={{ width: 1076, flexDirection: 'column', gap: 5 }}&gt;&#13;&#10;                &lt;Text style={{ fontSize: 17, fontWeight: 'bold', color: '#276FBF' }}&gt;内容登记错误与真实产品缺陷要分开&lt;/Text&gt;&#13;&#10;                &lt;Text style={{ fontSize: 15, color: '#546779', lineHeight: 1.5 }}&gt;页面重开后内容不符，先核对是不是打开了公共资源或另一个实验；确认未正确保存就留证据按仓库规则处理，不从外部改数据库、实验目录或历史 Run。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5.3 作者资源与信息边界&lt;/Text&gt;&#13;&#10;        &lt;Text style={{ fontSize: 14, color: '#546779' }}&gt;25 / 27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用状态表避免「文件有了就是完成了」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三种「看起来做完了」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609600" y="1304925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3" name=""/>
          <p:cNvSpPr/>
          <p:nvPr/>
        </p:nvSpPr>
        <p:spPr>
          <a:xfrm rot="0" flipH="0" flipV="0">
            <a:off x="838200" y="1514475"/>
            <a:ext cx="38100" cy="723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1047750" y="1619250"/>
            <a:ext cx="571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作者卡已审读，图片未上传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1047750" y="1885950"/>
            <a:ext cx="5715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文稿这一栏可以打勾，素材这一栏不行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6934200" y="1609725"/>
            <a:ext cx="44005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7086600" y="1790700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文稿已备、公共资源待保存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609600" y="2562225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9" name=""/>
          <p:cNvSpPr/>
          <p:nvPr/>
        </p:nvSpPr>
        <p:spPr>
          <a:xfrm rot="0" flipH="0" flipV="0">
            <a:off x="838200" y="2771775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047750" y="2876550"/>
            <a:ext cx="571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公共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已改，实验仍是旧内容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1047750" y="3143250"/>
            <a:ext cx="5715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公共侧动了，复制出去的副本不会自动跟着动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6934200" y="2867025"/>
            <a:ext cx="440055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7086600" y="3048000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实验副本未同步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609600" y="3819525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5" name=""/>
          <p:cNvSpPr/>
          <p:nvPr/>
        </p:nvSpPr>
        <p:spPr>
          <a:xfrm rot="0" flipH="0" flipV="0">
            <a:off x="838200" y="4029075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1047750" y="4133850"/>
            <a:ext cx="571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预检通过，但一次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都没有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1047750" y="4400550"/>
            <a:ext cx="5715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没有运行就没有真实提交事实可定位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6934200" y="4124325"/>
            <a:ext cx="440055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086600" y="4305300"/>
            <a:ext cx="409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只能记预检结果，不能填分流正确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609600" y="507682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1" name=""/>
          <p:cNvSpPr/>
          <p:nvPr/>
        </p:nvSpPr>
        <p:spPr>
          <a:xfrm rot="0" flipH="0" flipV="0">
            <a:off x="857250" y="530542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1085850" y="5353050"/>
            <a:ext cx="10248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内容登记错误与真实产品缺陷要分开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1085850" y="5600700"/>
            <a:ext cx="10248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页面重开后内容不符，先核对是不是打开了公共资源或另一个实验；确认未正确保存就留证据按仓库规则处理，不从外部改数据库、实验目录或历史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27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56" name="" descr="&lt;Slide notes={`最后留一个练习。&#10;&#10;有人建议：把窗口分工写进所有来访者的目标里，这样保证没有人走错。这听起来是在提高成功率，实际上是在改研究条件——两组来访者一开始就都知道答案，澄清策略这个变量就没了。你要能说明它改变了什么，也要能指出正确的分工应该留在哪些材料里：咨询台、两个窗口的根 Skill，以及余真的资料，而不是来访者的目标。&#10;&#10;第二个动作是请另一位读者只看分配表，看他能不能指出缺口，比如第五个人被遗漏、把对象当成 Agent、两组用了不同的图片或视野。&#10;&#10;能指出缺口，正是作者评审的价值。但要注意，评审通过不等于运行验收通过，两件事不能互相替代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3.6　用状态表避免「文件有了就是完成了」&lt;/Text&gt;&#10;            &lt;Text style={{ fontSize: 34, fontWeight: 'bold', color: '#20344B' }}&gt;把缺口指出来，也是评审&lt;/Text&gt;&#10;        &lt;/Box&gt;&#10;    &lt;/Box&gt;&#10;&#10;    &lt;Box style={{ height: 540, flexDirection: 'column', justifyContent: 'center', gap: 16 }}&gt;&#10;&#10;        &lt;Box style={{ width: 1152, height: 130, background: '#F7F3E8', borderRadius: 12, padding: '22px 28px', flexDirection: 'column', gap: 8, justifyContent: 'center' }}&gt;&#10;            &lt;Text style={{ fontSize: 14, color: '#546779' }}&gt;练习&lt;/Text&gt;&#10;            &lt;Text style={{ fontSize: 21, fontWeight: 'bold', color: '#20344B', lineHeight: 1.35 }}&gt;有人建议把窗口分工写进所有来访者的目标，保证无人走错&lt;/Text&gt;&#10;            &lt;Text style={{ fontSize: 15, color: '#546779', lineHeight: 1.5 }}&gt;先判断它会改变什么，再说明正确分工应该留在哪些材料中。&lt;/Text&gt;&#10;        &lt;/Box&gt;&#10;&#10;        &lt;Box style={{ width: 1152, height: 84, background: '#F4F7FA', borderRadius: 10, padding: '0 22px', flexDirection: 'row', alignItems: 'center', gap: 16 }}&gt;&#10;            &lt;Box style={{ width: 32, height: 32, borderRadius: 6, background: '#276FBF', justifyContent: 'center', alignItems: 'center' }}&gt;&#10;                &lt;Text style={{ fontSize: 15, fontWeight: 'bold', color: '#FFFFFF' }}&gt;1&lt;/Text&gt;&#10;            &lt;/Box&gt;&#10;            &lt;Text style={{ fontSize: 16, color: '#20344B', width: 1030 }}&gt;说明这样写会怎样改变研究条件：两组来访者一开始就知道了答案。&lt;/Text&gt;&#10;        &lt;/Box&gt;&#10;&#10;        &lt;Box style={{ width: 1152, height: 84, background: '#F4F7FA', borderRadius: 10, padding: '0 22px', flexDirection: 'row', alignItems: 'center', gap: 16 }}&gt;&#10;            &lt;Box style={{ width: 32, height: 32, borderRadius: 6, background: '#276FBF', justifyContent: 'center', alignItems: 'center' }}&gt;&#10;                &lt;Text style={{ fontSize: 15, fontWeight: 'bold', color: '#FFFFFF' }}&gt;2&lt;/Text&gt;&#10;            &lt;/Box&gt;&#10;            &lt;Text style={{ fontSize: 16, color: '#20344B', width: 1030 }}&gt;指出正确分工应该留在咨询台、两个窗口的根 Skill 以及余真的资料里。&lt;/Text&gt;&#10;        &lt;/Box&gt;&#10;&#10;        &lt;Box style={{ width: 1152, height: 84, background: '#F4F7FA', borderRadius: 10, padding: '0 22px', flexDirection: 'row', alignItems: 'center', gap: 16 }}&gt;&#10;            &lt;Box style={{ width: 32, height: 32, borderRadius: 6, background: '#276FBF', justifyContent: 'center', alignItems: 'center' }}&gt;&#10;                &lt;Text style={{ fontSize: 15, fontWeight: 'bold', color: '#FFFFFF' }}&gt;3&lt;/Text&gt;&#10;            &lt;/Box&gt;&#10;            &lt;Text style={{ fontSize: 16, color: '#20344B', width: 1030 }}&gt;请另一位读者只看分配表，找出「第五个人被遗漏」「对象当成 Agent」等问题。&lt;/Text&gt;&#10;        &lt;/Box&gt;&#10;&#10;        &lt;Box style={{ width: 1152, height: 76, background: '#FFF4E6', borderRadius: 10, padding: '0 26px', flexDirection: 'row', alignItems: 'center', gap: 20 }}&gt;&#10;            &lt;Box style={{ width: 4, height: 44, background: '#CB6B28' }} /&gt;&#10;            &lt;Text style={{ fontSize: 16, fontWeight: 'bold', color: '#CB6B28', width: 1076 }}&gt;能够指出缺口，正是作者评审的价值；它仍不是运行验收通过。&lt;/Text&gt;&#10;        &lt;/Box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2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用状态表避免「文件有了就是完成了」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把缺口指出来，也是评审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609600" y="1228725"/>
            <a:ext cx="10972800" cy="1238250"/>
          </a:xfrm>
          <a:prstGeom prst="roundRect">
            <a:avLst>
              <a:gd name="adj" fmla="val 923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876300" y="1400175"/>
            <a:ext cx="1043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练习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876300" y="1638300"/>
            <a:ext cx="10439400" cy="3333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有人建议把窗口分工写进所有来访者的目标，保证无人走错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876300" y="2047875"/>
            <a:ext cx="10439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先判断它会改变什么，再说明正确分工应该留在哪些材料中。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609600" y="26193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6" name=""/>
          <p:cNvSpPr/>
          <p:nvPr/>
        </p:nvSpPr>
        <p:spPr>
          <a:xfrm rot="0" flipH="0" flipV="0">
            <a:off x="819150" y="286702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923925" y="29337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1276350" y="2924175"/>
            <a:ext cx="981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说明这样写会怎样改变研究条件：两组来访者一开始就知道了答案。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609600" y="35718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0" name=""/>
          <p:cNvSpPr/>
          <p:nvPr/>
        </p:nvSpPr>
        <p:spPr>
          <a:xfrm rot="0" flipH="0" flipV="0">
            <a:off x="819150" y="381952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923925" y="38862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1276350" y="3876675"/>
            <a:ext cx="981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指出正确分工应该留在咨询台、两个窗口的根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以及余真的资料里。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609600" y="45243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4" name=""/>
          <p:cNvSpPr/>
          <p:nvPr/>
        </p:nvSpPr>
        <p:spPr>
          <a:xfrm rot="0" flipH="0" flipV="0">
            <a:off x="819150" y="477202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923925" y="48387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1276350" y="4829175"/>
            <a:ext cx="981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请另一位读者只看分配表，找出「第五个人被遗漏」「对象当成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」等问题。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609600" y="547687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8" name=""/>
          <p:cNvSpPr/>
          <p:nvPr/>
        </p:nvSpPr>
        <p:spPr>
          <a:xfrm rot="0" flipH="0" flipV="0">
            <a:off x="857250" y="562927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085850" y="5743575"/>
            <a:ext cx="1024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能够指出缺口，正是作者评审的价值；它仍不是运行验收通过。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27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582" name="" descr="&lt;Slide notes={`这一节要带走的是三句话。&#10;&#10;第一句，信息按接收者分配。一张作者表不等于同一份角色输入；正确窗口答案只给作者和评分者，不能写进角色资料，也不能写进公共 Brain。&#10;&#10;第二句，图纸不等于答案。地图、语义和碰撞各管一段，公开空间语义里不写「谁该去哪个窗口」。答案一旦写进共同输入，那不是跨身份记忆泄漏，而是材料本身泄露。&#10;&#10;第三句，状态分栏登记。文稿、公共资源、实验副本、运行证据是四个核对面，互不替代。缺什么就先写清楚缺什么，不要用一个「完成」盖住全部工作。&#10;&#10;下一节我们看 Skill 的精确文本与行为评审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3　作者资源与信息边界&lt;/Text&gt;&#10;            &lt;Text style={{ fontSize: 34, fontWeight: 'bold', color: '#20344B' }}&gt;本节小结&lt;/Text&gt;&#10;        &lt;/Box&gt;&#10;    &lt;/Box&gt;&#10;&#10;    &lt;Box style={{ height: 540, flexDirection: 'column', justifyContent: 'center', gap: 14 }}&gt;&#10;&#10;        &lt;Text style={{ fontSize: 44, fontWeight: 'bold', color: '#20344B', lineHeight: 1.25 }}&gt;记住三句话&lt;/Text&gt;&#10;&#10;        &lt;Box style={{ width: 1152, height: 104, background: '#EDF4FC', borderRadius: 10, padding: '0 24px', flexDirection: 'row', alignItems: 'center', gap: 20 }}&gt;&#10;            &lt;Text style={{ fontSize: 34, fontWeight: 'bold', color: '#276FBF', width: 56 }}&gt;一&lt;/Text&gt;&#10;            &lt;Box style={{ width: 1020, flexDirection: 'column', gap: 4 }}&gt;&#10;                &lt;Text style={{ fontSize: 20, fontWeight: 'bold', color: '#276FBF' }}&gt;信息按接收者分配&lt;/Text&gt;&#10;                &lt;Text style={{ fontSize: 16, color: '#546779', lineHeight: 1.5 }}&gt;一张作者表不等于同一份角色输入；答案表只给作者与评分者，不进角色与公共 Brain。&lt;/Text&gt;&#10;            &lt;/Box&gt;&#10;        &lt;/Box&gt;&#10;&#10;        &lt;Box style={{ width: 1152, height: 104, background: '#ECF7F2', borderRadius: 10, padding: '0 24px', flexDirection: 'row', alignItems: 'center', gap: 20 }}&gt;&#10;            &lt;Text style={{ fontSize: 34, fontWeight: 'bold', color: '#26816B', width: 56 }}&gt;二&lt;/Text&gt;&#10;            &lt;Box style={{ width: 1020, flexDirection: 'column', gap: 4 }}&gt;&#10;                &lt;Text style={{ fontSize: 20, fontWeight: 'bold', color: '#26816B' }}&gt;图纸不等于答案&lt;/Text&gt;&#10;                &lt;Text style={{ fontSize: 16, color: '#546779', lineHeight: 1.5 }}&gt;地图、语义与碰撞各司其职，公开空间语义里不写「谁该去哪个窗口」。&lt;/Text&gt;&#10;            &lt;/Box&gt;&#10;        &lt;/Box&gt;&#10;&#10;        &lt;Box style={{ width: 1152, height: 104, background: '#FFF4E6', borderRadius: 10, padding: '0 24px', flexDirection: 'row', alignItems: 'center', gap: 20 }}&gt;&#10;            &lt;Text style={{ fontSize: 34, fontWeight: 'bold', color: '#CB6B28', width: 56 }}&gt;三&lt;/Text&gt;&#10;            &lt;Box style={{ width: 1020, flexDirection: 'column', gap: 4 }}&gt;&#10;                &lt;Text style={{ fontSize: 20, fontWeight: 'bold', color: '#CB6B28' }}&gt;状态分栏登记&lt;/Text&gt;&#10;                &lt;Text style={{ fontSize: 16, color: '#546779', lineHeight: 1.5 }}&gt;文稿、公共资源、实验副本、运行证据互不替代；缺什么就写清楚缺什么。&lt;/Text&gt;&#10;            &lt;/Box&gt;&#10;        &lt;/Box&gt;&#10;&#10;        &lt;Text style={{ fontSize: 15, color: '#546779', marginTop: 6 }}&gt;第五章　5.3　作者资源与信息边界　·　下一节：Skill 与评审&lt;/Text&gt;&#10;&#10;    &lt;/Box&gt;&#10;&#10;    &lt;Box style={{ height: 40, flexDirection: 'row', justifyContent: 'space-between', alignItems: 'center' }}&gt;&#10;        &lt;Text style={{ fontSize: 14, color: '#546779' }}&gt;5.3 作者资源与信息边界&lt;/Text&gt;&#10;        &lt;Text style={{ fontSize: 14, color: '#546779' }}&gt;27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作者资源与信息边界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057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本节小结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09600" y="1533525"/>
            <a:ext cx="10972800" cy="628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记住三句话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09600" y="22955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838200" y="2600325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76FBF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1562100" y="2524125"/>
            <a:ext cx="971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信息按接收者分配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1562100" y="2790825"/>
            <a:ext cx="9715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一张作者表不等于同一份角色输入；答案表只给作者与评分者，不进角色与公共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609600" y="341947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38200" y="3724275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6816B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562100" y="3648075"/>
            <a:ext cx="971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图纸不等于答案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1562100" y="3914775"/>
            <a:ext cx="9715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地图、语义与碰撞各司其职，公开空间语义里不写「谁该去哪个窗口」。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609600" y="45434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838200" y="4848225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CB6B28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1562100" y="4772025"/>
            <a:ext cx="971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状态分栏登记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562100" y="5038725"/>
            <a:ext cx="9715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文稿、公共资源、实验副本、运行证据互不替代；缺什么就写清楚缺什么。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09600" y="57245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5.3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作者资源与信息边界　·　下一节：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与评审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作者资源与信息边界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27 / 27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2026-09-29T10:36:51Z</dcterms:created>
  <dcterms:modified xsi:type="dcterms:W3CDTF">2026-09-29T10:36:51Z</dcterms:modified>
</cp:coreProperties>
</file>