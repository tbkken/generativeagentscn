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3" Type="http://schemas.openxmlformats.org/officeDocument/2006/relationships/slide" Target="slides/slide3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notesMaster" Target="notesMasters/notesMaster1.xml" 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这一节要解决的是一件很具体的事：当我们把服务大厅的一次比较实验交给别人，对方凭什么知道该继续还是该停。</a:t>
            </a:r>
          </a:p>
          <a:p>
            <a:r>
              <a:rPr lang="zh-CN" dirty="0"/>
              <a:t>我先说明当前的状态。四项咨询需求已经明确，唯一策略差异也定了，但还没有创建实验、没有真实调用、没有业务结果。所以这里拿出来的计划和预算都是事前材料，不是已经跑出来的成绩。</a:t>
            </a:r>
          </a:p>
          <a:p>
            <a:r>
              <a:rPr lang="zh-CN" dirty="0"/>
              <a:t>一份合格的事前材料要回答四件事：下一步做什么、依据什么进入下一阶段、准备消耗多少资源、遇到问题由谁判断。把这四件事写清楚，接手的人就不必再来问一遍。</a:t>
            </a:r>
          </a:p>
          <a:p>
            <a:r>
              <a:rPr lang="zh-CN" dirty="0"/>
              <a:t>记住这个分寸：计划可以写得很完整，运行结果却仍然是空的。只有后续事实形成，才能把“计划执行”改成“已经观察”。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这六个知识块可以按三个问题来记：谁负责、什么时候算过关、要花多少又什么时候停。</a:t>
            </a:r>
          </a:p>
          <a:p>
            <a:r>
              <a:rPr lang="zh-CN" dirty="0"/>
              <a:t>前两块讲组织和门禁。角色与仿真角色分开，是说周澈、谭悦这些人物不会替项目完成验收；按证据推进，是说每个阶段都要先回答一个具体问题，答得上来才进下一步。</a:t>
            </a:r>
          </a:p>
          <a:p>
            <a:r>
              <a:rPr lang="zh-CN" dirty="0"/>
              <a:t>中间两块最容易被忽略。数量要先算清八个参与者乘七十六步，再按假设乘出调用与尝试次数；预算则要连同阈值和停止条件一起写，否则它只是一张估算纸。</a:t>
            </a:r>
          </a:p>
          <a:p>
            <a:r>
              <a:rPr lang="zh-CN" dirty="0"/>
              <a:t>最后两块讲收尾。故障要分清是行为结果、调用问题还是系统问题，处理方式完全不同；日志要留下别人能接着做的那几个关键身份。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最容易混的一件事分开。周澈、谭悦、孟川、邱禾和引导员余真，是跑在世界里的五个人物，他们有自己的职业、目标和信息边界。项目负责人、操作人员和评阅者不是世界里的角色，而是组织这次实验的人。</a:t>
            </a:r>
          </a:p>
          <a:p>
            <a:r>
              <a:rPr lang="zh-CN" dirty="0"/>
              <a:t>这个区分有两条实际后果。第一，人物的目标不会替项目完成验收。咨询台按预定策略猜错了窗口，不等于验收失败，它可能正是我们想观察的行为结果。第二，组织实验的人也不会因为写了 Skill、建了实验，就获得系统管理权限。</a:t>
            </a:r>
          </a:p>
          <a:p>
            <a:r>
              <a:rPr lang="zh-CN" dirty="0"/>
              <a:t>换句话说，同一件事要用两种眼光看：一种看故事里发生了什么，一种看我们作为项目方是否按计划推进。把这两种眼光分开，后面的判据和预算才不会互相污染。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两组角色的差别，可以按五条线索逐行对照。</a:t>
            </a:r>
          </a:p>
          <a:p>
            <a:r>
              <a:rPr lang="zh-CN" dirty="0"/>
              <a:t>第一条是谁。一边是五名人物，一边是三类职责；同一个人可以同时出现在两边，但写记录时必须注明以什么身份作出决定。</a:t>
            </a:r>
          </a:p>
          <a:p>
            <a:r>
              <a:rPr lang="zh-CN" dirty="0"/>
              <a:t>第二条是依据。人物按自己的职业目标和设计好的信息边界行动，项目方依据的是范围、判据与授权。</a:t>
            </a:r>
          </a:p>
          <a:p>
            <a:r>
              <a:rPr lang="zh-CN" dirty="0"/>
              <a:t>第三条是权限，也是最实际的一条：组织实验的人写了 Skill、建了实验，并不因此获得系统管理权限。</a:t>
            </a:r>
          </a:p>
          <a:p>
            <a:r>
              <a:rPr lang="zh-CN" dirty="0"/>
              <a:t>第四条是验收归属。人物的职业或目标不会替项目完成验收。</a:t>
            </a:r>
          </a:p>
          <a:p>
            <a:r>
              <a:rPr lang="zh-CN" dirty="0"/>
              <a:t>最后一条是出错时的态度。操作人员发现 H3 到了 A 窗口，第一步应当记录这个事实，而不是为了按时交付，自己把正确窗口改成 A。需求变更与操作纠错必须留下不同的理由。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四项职责其实对应一次交接的四个方向。</a:t>
            </a:r>
          </a:p>
          <a:p>
            <a:r>
              <a:rPr lang="zh-CN" dirty="0"/>
              <a:t>需求负责人先交出范围和判据，包括唯一的那一处策略差异，以及本次明确不做的事项。作者与操作人员交出可核对的材料、已保存的配置、实际使用的身份，以及操作与问题记录。证据评阅者交出每一项判断背后的请求、回复、位置与确认记录，还要一并交出缺失项。接收负责人交出的是所需交付级别、可用环境、未完成工作和接手确认。</a:t>
            </a:r>
          </a:p>
          <a:p>
            <a:r>
              <a:rPr lang="zh-CN" dirty="0"/>
              <a:t>强调两点。第一，一个人可以同时承担多项职责，但写记录时要注明这次是以哪个身份作出的决定。第二，完整目的表只供作者和评阅者使用，人物、咨询台与引导员按各自的信息边界获取内容。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举一个很常见的例子。操作人员在观察时发现 H3 走到了 A 窗口，而按需求它应该对应 B 窗口。</a:t>
            </a:r>
          </a:p>
          <a:p>
            <a:r>
              <a:rPr lang="zh-CN" dirty="0"/>
              <a:t>第一步该做的是记录事实：什么时间、哪一次运行、画面里发生了什么。不能做的是顺手把它改成正确窗口，好让交付看起来按时完成。</a:t>
            </a:r>
          </a:p>
          <a:p>
            <a:r>
              <a:rPr lang="zh-CN" dirty="0"/>
              <a:t>这条边界为什么重要？因为需求变更和操作纠错是两件不同的事，理由必须分别留下。前者是项目决定改了什么，后者是我们发现了偏差；混在一起，后面任何人都无法判断结果到底反映了什么。</a:t>
            </a:r>
          </a:p>
          <a:p>
            <a:r>
              <a:rPr lang="zh-CN" dirty="0"/>
              <a:t>还有一组名字要固定：策略上的两组叫直接建议组和先澄清组，简称基线组与澄清组；窗口叫 A 和 B。H1、H2 的需求对应 A 窗口，H3、H4 对应 B 窗口，组名与窗口名不能互相替代。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项目最常见的一种失误，是按日历宣布完成。到了周五就写“实验已完成”，可材料里还有没保存的配置、没提交的步骤。</a:t>
            </a:r>
          </a:p>
          <a:p>
            <a:r>
              <a:rPr lang="zh-CN" dirty="0"/>
              <a:t>这里给出的替代方案是一条可检查的链：材料可审阅、配置已保存、实验输入已固定、运行事实可读、结果可交付。每个阶段完成之后，都要留下一个明确的交接记录，而不是凭印象往下走。</a:t>
            </a:r>
          </a:p>
          <a:p>
            <a:r>
              <a:rPr lang="zh-CN" dirty="0"/>
              <a:t>这六道门有一个共同点：它们问的都不是“感觉好不好”，而是“能不能指出来在哪里”。材料在哪里、配置保存在哪、Run 的编号是什么、哪一步已经提交。</a:t>
            </a:r>
          </a:p>
          <a:p>
            <a:r>
              <a:rPr lang="zh-CN" dirty="0"/>
              <a:t>答得上来就进下一阶段；答不上来就说明这一步还没做完。这是把项目从口号变成可交接工作的关键一步。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这条链的六段，各自要留下一样东西。</a:t>
            </a:r>
          </a:p>
          <a:p>
            <a:r>
              <a:rPr lang="zh-CN" dirty="0"/>
              <a:t>材料审阅过关，说明四项需求、窗口分工和两段咨询策略都完整，也没有泄漏私人目的。浏览器配置过关，说明图片、空间、出生点、Skill 与模型确实保存了，而且重开之后还在。执行准备过关，说明两组除咨询策略之外完全一致，预检和预算都对得上当前草稿。运行观察过关，说明当前 Run、Attempt、已提交 Step 和在途请求都能读出来。结果收集过关，说明四项任务和全部失败都登记了，报告能追到提交事实。交付检查过关，说明接收者拿到了哪类文件、哪些用途已经验证。</a:t>
            </a:r>
          </a:p>
          <a:p>
            <a:r>
              <a:rPr lang="zh-CN" dirty="0"/>
              <a:t>注意每一段的关键词都是“可核对”。配置不是我口头说保存了，而是重开之后还在。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六道门各自有一个必须回答的问题，而且答案必须是事实，不是态度。</a:t>
            </a:r>
          </a:p>
          <a:p>
            <a:r>
              <a:rPr lang="zh-CN" dirty="0"/>
              <a:t>材料审阅要回答：四项需求、窗口分工和两段咨询策略是否完整，是否泄漏了私人目的。浏览器配置要回答：图片、空间、出生点、Skill 与模型是不是真的保存了，重开之后还在不在。执行准备要回答：两组除咨询策略之外是否一致，预检和预算对不对得上当前草稿。运行观察要回答：当前 Run、Attempt、已提交 Step 与在途请求分别是什么。结果收集要回答：四项任务和全部失败是否登记，报告能不能追到提交事实。交付检查要回答：接收者拿到了哪类文件，哪些用途已经被验证。</a:t>
            </a:r>
          </a:p>
          <a:p>
            <a:r>
              <a:rPr lang="zh-CN" dirty="0"/>
              <a:t>答不上来，就说明这一步还没有完成，不需要争论。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配置和执行这两件事，仍然走第三章讲过的浏览器流程，本节不另开一条捷径。</a:t>
            </a:r>
          </a:p>
          <a:p>
            <a:r>
              <a:rPr lang="zh-CN" dirty="0"/>
              <a:t>有三条约束要记住。第一，不通过脚本去补齐界面上还没有保存的内容。界面上没保存，说明这份配置在系统里并不存在，用脚本补上只会让记录和实际不一致。第二，不把本地 Skill 文档解析通过当作正式运行通过；解析器读得懂文字，不等于实验里真的按这段文字行为。</a:t>
            </a:r>
          </a:p>
          <a:p>
            <a:r>
              <a:rPr lang="zh-CN" dirty="0"/>
              <a:t>第三，如果执行前复制了草稿，要重新确认当前实验身份。旧的预检截图属于旧副本，不能拿来当新副本的证明。</a:t>
            </a:r>
          </a:p>
          <a:p>
            <a:r>
              <a:rPr lang="zh-CN" dirty="0"/>
              <a:t>这些约束看起来严格，其实是在保护一件事：报告里的每一个结论，都能追到当时真正运行的那份输入。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排程这件事，最容易把两件事混成一件：虚拟时间和真实时间。</a:t>
            </a:r>
          </a:p>
          <a:p>
            <a:r>
              <a:rPr lang="zh-CN" dirty="0"/>
              <a:t>按候选时间 2026 年 10 月 18 日 09:00 起算，每步一分钟，共 76 步。第一步落在 09:00，最后一步落在 10:15，中间覆盖 75 个虚拟分钟。注意 76 步只跨 75 分钟，因为第一步并不消耗时间。</a:t>
            </a:r>
          </a:p>
          <a:p>
            <a:r>
              <a:rPr lang="zh-CN" dirty="0"/>
              <a:t>但这 75 个虚拟分钟完全不代表真实耗时。真实世界里，模型调用要等，浏览器要渲染，操作人员可能中途暂停。所以排程表里必须把三样东西分开登记：实际操作时间、模型耗时、暂停时间。</a:t>
            </a:r>
          </a:p>
          <a:p>
            <a:r>
              <a:rPr lang="zh-CN" dirty="0"/>
              <a:t>最不能写的一句话是“上午安排两小时操作”。那是我们安排的时间，不是系统保证两小时内一定完成。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接下来算钱，但先别急着写金额。</a:t>
            </a:r>
          </a:p>
          <a:p>
            <a:r>
              <a:rPr lang="zh-CN" dirty="0"/>
              <a:t>正确的顺序是先列数量。八个参与者乘七十六步，得到 608 个参与者轮次；再按每轮平均 2.5 次逻辑调用，得到 1,520 次；物理尝试比逻辑调用多 25%，得到 1,900 次。</a:t>
            </a:r>
          </a:p>
          <a:p>
            <a:r>
              <a:rPr lang="zh-CN" dirty="0"/>
              <a:t>为什么不能跳过数量直接写“大概几十美元”？因为一旦金额被写下来，它就变成别人对不上的东西。数量可以核，假设可以改，金额只跟着它们走。哪里多了哪里少了，回头一看就知道该改哪一个。</a:t>
            </a:r>
          </a:p>
          <a:p>
            <a:r>
              <a:rPr lang="zh-CN" dirty="0"/>
              <a:t>整条推演只挂在三个假设上：有多少参与者轮次、每轮平均几次逻辑调用、额外尝试占多大比例。把这三个数写清楚，别人就能重算一遍，也能在第一次实际观察之后按事实修订。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这四段数字连起来看，逻辑是清楚的。</a:t>
            </a:r>
          </a:p>
          <a:p>
            <a:r>
              <a:rPr lang="zh-CN" dirty="0"/>
              <a:t>八个参与者是五名人物加咨询台、A 窗口和 B 窗口。这里有个容易漏的点：咨询台和两个窗口没有来访者时，仍然会自主执行，所以不能只算四名来访者，那样会少算一半。</a:t>
            </a:r>
          </a:p>
          <a:p>
            <a:r>
              <a:rPr lang="zh-CN" dirty="0"/>
              <a:t>608 是参与者轮次，不是模型请求数。一个轮次里，人物可能先推理再调用工具，来回几次，所以下一步才是逻辑调用：608 乘 2.5 等于 1,520 次。</a:t>
            </a:r>
          </a:p>
          <a:p>
            <a:r>
              <a:rPr lang="zh-CN" dirty="0"/>
              <a:t>再往下一层是物理尝试。请求可能失败要重试，所以物理尝试比逻辑调用多 25%，1,520 乘 1.25 等于 1,900 次。</a:t>
            </a:r>
          </a:p>
          <a:p>
            <a:r>
              <a:rPr lang="zh-CN" dirty="0"/>
              <a:t>轮次、逻辑调用、物理尝试，一层比一层更接近真实计费。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把所有假设代进去，就得到一张可以逐行核对的表。</a:t>
            </a:r>
          </a:p>
          <a:p>
            <a:r>
              <a:rPr lang="zh-CN" dirty="0"/>
              <a:t>逻辑调用是 608 乘 2.5，等于 1,520 次。含重试的物理尝试是 1,520 乘 1.25，等于 1,900 次。输入量是 1,900 乘 1,500，等于 285 万 Token；输出量是 1,900 乘 300，等于 57 万 Token。</a:t>
            </a:r>
          </a:p>
          <a:p>
            <a:r>
              <a:rPr lang="zh-CN" dirty="0"/>
              <a:t>假设计价用两个数：输入每百万一美元，输出每百万四美元。于是 2.85 乘 1 等于 2.85 美元，0.57 乘 4 等于 2.28 美元，合计 5.13 美元。</a:t>
            </a:r>
          </a:p>
          <a:p>
            <a:r>
              <a:rPr lang="zh-CN" dirty="0"/>
              <a:t>这两个单价是教学假设，不是服务商现价。这份演算的价值不在金额，而在于每一行都能被重算：换掉任何一个假设，结果都跟着变。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 Run 是 5.13 美元，项目计划两组各一个 Run，所以两 Run 合计 10.26 美元。</a:t>
            </a:r>
          </a:p>
          <a:p>
            <a:r>
              <a:rPr lang="zh-CN" dirty="0"/>
              <a:t>实际上还要留缓冲。增加 20% 预留后是 12.312 美元，向上取整到美分，登记为 12.32 美元。向上取整不是数学上的必要，而是记账习惯：写一个比计算值略大的数，避免后面出现零头对不上。</a:t>
            </a:r>
          </a:p>
          <a:p>
            <a:r>
              <a:rPr lang="zh-CN" dirty="0"/>
              <a:t>更重要的是边界。现实里失败的请求怎么计费、有没有缓存命中、用量记录是否完整、服务条款怎么规定，都可能和我们的假设不同。所以 12.32 美元只是事前登记，真正核算必须用实际记录和账单。</a:t>
            </a:r>
          </a:p>
          <a:p>
            <a:r>
              <a:rPr lang="zh-CN" dirty="0"/>
              <a:t>还有一条纪律：第一次实际观察之后可以修订下一批预算，但不要把新的估计倒写成原先就已经知道的数值。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预算这个词很容易被理解成一张费用估算表。但在一个可交接的项目里，它还要装下另一半：什么情况下停下来、停下来之后谁来看。</a:t>
            </a:r>
          </a:p>
          <a:p>
            <a:r>
              <a:rPr lang="zh-CN" dirty="0"/>
              <a:t>为什么这半边不能省？因为执行当中一定会遇到意外。模型请求反复失败、重试次数比预期多、某个步骤迟迟不动。如果没有事先写好条件，现场的人只能凭感觉决定继续还是停，而这个决定往往会被“已经投入这么多了”带着走。</a:t>
            </a:r>
          </a:p>
          <a:p>
            <a:r>
              <a:rPr lang="zh-CN" dirty="0"/>
              <a:t>所以预算表要写成能采取行动的样子：一边是预计消耗，另一边是触发条件和触发之后要做的动作。条件必须可判断，动作必须具体到找谁、看什么。</a:t>
            </a:r>
          </a:p>
          <a:p>
            <a:r>
              <a:rPr lang="zh-CN" dirty="0"/>
              <a:t>还要强调一句：这些是项目监控规则，不是已经配置进 Runtime 的自动硬上限。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费用的来源可以逐层拆开。</a:t>
            </a:r>
          </a:p>
          <a:p>
            <a:r>
              <a:rPr lang="zh-CN" dirty="0"/>
              <a:t>1,900 次物理尝试是基数，每次假设输入 1,500 Token、输出 300 Token。输入侧 285 万 Token，按每百万一美元是 2.85 美元；输出侧 57 万 Token，按每百万四美元是 2.28 美元。两块相加，每个 Run 是 5.13 美元。</a:t>
            </a:r>
          </a:p>
          <a:p>
            <a:r>
              <a:rPr lang="zh-CN" dirty="0"/>
              <a:t>两个 Run 合计 10.26 美元，再加 20% 预留得 12.312，向上取整登记为 12.32 美元。</a:t>
            </a:r>
          </a:p>
          <a:p>
            <a:r>
              <a:rPr lang="zh-CN" dirty="0"/>
              <a:t>旁边还有一条独立的预留：两个 Run 的调用量 3,800 次乘 1.2，得到 4,560 次。</a:t>
            </a:r>
          </a:p>
          <a:p>
            <a:r>
              <a:rPr lang="zh-CN" dirty="0"/>
              <a:t>另外提醒：13 美元是费用复核阈值，12.32 美元是预算登记值，含义不同。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这五行是负责人为两个 Run 事先设好的监控规则。数字只是可替换的教学方案，重点是格式：每一行都要写清登记值，以及到达条件后做什么。</a:t>
            </a:r>
          </a:p>
          <a:p>
            <a:r>
              <a:rPr lang="zh-CN" dirty="0"/>
              <a:t>本批范围是两组各一个完整窗口，动作是不因结果不满意自行增加 Run。物理尝试监控阈值是两 Run 合计 4,560 次，到达后暂停检查剩余工作与重试原因。费用复核阈值按假设计价是 13 美元，到达后核对真实计费与后续授权范围。单次墙钟复核点是从启动起两小时，包含暂停，暂停时长另列。数据缺口是当用量或关键过程记录不可获得时，标为未知，改用仍可核对的限制与证据。</a:t>
            </a:r>
          </a:p>
          <a:p>
            <a:r>
              <a:rPr lang="zh-CN" dirty="0"/>
              <a:t>这些是项目监控规则，不是已经配置进 Runtime 的自动硬上限。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四个阈值管的不是同一件事。</a:t>
            </a:r>
          </a:p>
          <a:p>
            <a:r>
              <a:rPr lang="zh-CN" dirty="0"/>
              <a:t>物理尝试监控阈值是一道量的问题。3,800 次是两个 Run 的计划量，加 20% 得到 4,560 次；到这之后暂停，先看还剩多少工作、重试是什么原因。</a:t>
            </a:r>
          </a:p>
          <a:p>
            <a:r>
              <a:rPr lang="zh-CN" dirty="0"/>
              <a:t>费用复核阈值是一道钱的问题。按假设计价 13 美元，动作是核对真实计费，并确认后续授权范围。</a:t>
            </a:r>
          </a:p>
          <a:p>
            <a:r>
              <a:rPr lang="zh-CN" dirty="0"/>
              <a:t>两小时墙钟复核点管的是一段时间，包含暂停在内，所以暂停时长要单列，才能分清哪部分在执行、哪部分在等。</a:t>
            </a:r>
          </a:p>
          <a:p>
            <a:r>
              <a:rPr lang="zh-CN" dirty="0"/>
              <a:t>数据缺口这一条最特殊：当用量或关键过程记录根本拿不到时，不要猜一个数，直接标为未知，改用仍然可以核对的限制和证据。</a:t>
            </a:r>
          </a:p>
          <a:p>
            <a:r>
              <a:rPr lang="zh-CN" dirty="0"/>
              <a:t>这些是项目里写下的监控规则，不是已经配置进 Runtime 的自动硬上限。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小规模试跑是可选的一件事。可选意味着做了不加分、不做也不扣分，关键是别把它写成别的东西。</a:t>
            </a:r>
          </a:p>
          <a:p>
            <a:r>
              <a:rPr lang="zh-CN" dirty="0"/>
              <a:t>如果确实需要检查耗时或者素材，可以单独把它登记为一项准备活动，写清输入是什么、跑了多少步、用了多少预算，以及它回答不了什么问题。</a:t>
            </a:r>
          </a:p>
          <a:p>
            <a:r>
              <a:rPr lang="zh-CN" dirty="0"/>
              <a:t>有两点不能含糊。第一，试跑不能证明 76 步内全部咨询会闭环；步数短、对象少，它验证不了完整窗口。第二，它不是正式运行前必须完成的一至三步仪式，并没有这条规定。</a:t>
            </a:r>
          </a:p>
          <a:p>
            <a:r>
              <a:rPr lang="zh-CN" dirty="0"/>
              <a:t>反过来，如果选择不试跑，也要说清楚：保留估算的不确定性，同时采用明确的观察点。最不该做的是事后补写一份根本不存在的试跑报告。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执行时最常听到的一句话是“没有进展”。但这句话本身不构成判断，它只是一个表象。</a:t>
            </a:r>
          </a:p>
          <a:p>
            <a:r>
              <a:rPr lang="zh-CN" dirty="0"/>
              <a:t>停下来的原因至少可以分成五类：咨询台按预定策略猜错了窗口；工具正确拒绝了非法目标；模型请求反复失败或者重试在增加；路径事实、对象反馈或页面身份违反了合同；或者预算已经达到，但任务还没闭环。</a:t>
            </a:r>
          </a:p>
          <a:p>
            <a:r>
              <a:rPr lang="zh-CN" dirty="0"/>
              <a:t>这五类要走的下一步完全不同。行为结果可以继续观察纠错与成本；正确拒绝要回去检查我们的输入，而不是直接判系统故障；请求失败要核对类型、预算和进展再决定；违反合同要停下来保存证据；预算达到就要把未完成状态交给负责人。</a:t>
            </a:r>
          </a:p>
          <a:p>
            <a:r>
              <a:rPr lang="zh-CN" dirty="0"/>
              <a:t>如果对所有现象都用同一个动作，最常见的就是重跑一遍。重跑既掩盖了原因，也浪费了预算。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这五个对应关系可以横向读：左边问的是“这件事属于什么”，右边给出的是“所以下一步查什么”。</a:t>
            </a:r>
          </a:p>
          <a:p>
            <a:r>
              <a:rPr lang="zh-CN" dirty="0"/>
              <a:t>猜错窗口属于策略行为结果，不是故障，保留下来继续观察纠错与成本。正确权限拒绝说明我们的参数或边界有问题，要回去检查真实输入。反复请求失败通常同时牵涉调用和预算，所以先核对类型，再看进展和预算还剩多少。路径事实、对象反馈或页面身份违反合同，属于实际系统问题，要停止当前构建或运行的验收，保存证据并报告具体问题。达到预算但还没闭环，就把未完成状态保留下来，交由负责人决定后续阶段。</a:t>
            </a:r>
          </a:p>
          <a:p>
            <a:r>
              <a:rPr lang="zh-CN" dirty="0"/>
              <a:t>左右两列不是先后的执行顺序，而是同一现象的两面。两列之间没有箭头，正是因为它们不构成一条流水线。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把五种观察和处理原则摊开看，判断的关键在于“这件事属于谁的问题”。</a:t>
            </a:r>
          </a:p>
          <a:p>
            <a:r>
              <a:rPr lang="zh-CN" dirty="0"/>
              <a:t>咨询台按预定策略猜错窗口，是设计好的行为结果，保留下来继续观察纠错和成本，不要急着修。工具正确拒绝非法目标，说明输入本身有问题，要保留输入和原因，检查 SOP 如何处理，而不是直接判系统故障。模型请求失败或重试增加，要同时看类型、预算和进展，再决定继续、暂停还是结束尝试。路径事实、对象反馈或页面身份违反合同，属于实际系统问题，要停止验收、保存证据并报告具体问题。达到预算但尚未闭环，就保留未完成状态，交给负责人决定，不能挑一个成功的 Run 替换。</a:t>
            </a:r>
          </a:p>
          <a:p>
            <a:r>
              <a:rPr lang="zh-CN" dirty="0"/>
              <a:t>修复需要针对该问题的明确决定，不能趁等决定时改数据库或公共资源绕过。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恢复这件事有一条硬边界：不能用一次新建 Run 来代替。</a:t>
            </a:r>
          </a:p>
          <a:p>
            <a:r>
              <a:rPr lang="zh-CN" dirty="0"/>
              <a:t>续跑和新建是两种不同的操作，产生的东西也不同。续跑保持原来的 Run 身份，只是在里面产生新的 Attempt，所以这次运行仍然属于同一个实验、同一份输入。如果修改了输入之后再运行，那就要使用一个新的独立实验，因为在独立实验里改完再启动，才不会污染原来的那份记录。</a:t>
            </a:r>
          </a:p>
          <a:p>
            <a:r>
              <a:rPr lang="zh-CN" dirty="0"/>
              <a:t>反过来做，就会出现一个说不清的 Run：它的前半段用的是旧输入，后半段是新输入，任何结论都追不到唯一的一份输入上。</a:t>
            </a:r>
          </a:p>
          <a:p>
            <a:r>
              <a:rPr lang="zh-CN" dirty="0"/>
              <a:t>还有一条记录习惯值得坚持：写下“为什么采取这一步”，而不只是写下“已经重启”。下一位负责人真正需要的是你的判断理由，而不是一个动作名。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这一节的最后一块，讲交接记录。</a:t>
            </a:r>
          </a:p>
          <a:p>
            <a:r>
              <a:rPr lang="zh-CN" dirty="0"/>
              <a:t>它不需要很长，一段短文就够，但必须回答六个问题：当前完成到哪个阶段；所选实验与 Run 的身份是什么；最后完整提交在哪里；已经触发了哪项预算规则；还有哪些在途或待核对的事项；下一步由谁处理。</a:t>
            </a:r>
          </a:p>
          <a:p>
            <a:r>
              <a:rPr lang="zh-CN" dirty="0"/>
              <a:t>这六问有一个共同作用：让接手的人不必从头问你。特别是身份这一项，如果还没有创建 Run，就明确写“未创建”，不要拿教学编号去冒充 UUID。填一个假的编号，比诚实地写“还没有”危险得多。</a:t>
            </a:r>
          </a:p>
          <a:p>
            <a:r>
              <a:rPr lang="zh-CN" dirty="0"/>
              <a:t>还有一点要接受：此刻计划可以写得很完整，运行结果却仍然是空的。这不是缺陷，而是这一阶段的真实状态。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交接记录可以写成一段短文，但六个问题都要落地。</a:t>
            </a:r>
          </a:p>
          <a:p>
            <a:r>
              <a:rPr lang="zh-CN" dirty="0"/>
              <a:t>当前完成到哪个阶段：是在材料审阅、浏览器配置，还是已经进到运行观察。所选实验与 Run 的身份是什么：这里要特别小心，如果还没有创建 Run，就明确填“未创建”，不要拿教学编号去代替 UUID。最后完整提交在哪里：指的是最后一个已经完整提交的边界，而不是最后一次尝试。已经触发了哪项预算规则：是物理尝试阈值、费用复核阈值，还是某个数据缺口。还有哪些在途或待核对的事项。下一步由谁处理：接手人具体是谁。</a:t>
            </a:r>
          </a:p>
          <a:p>
            <a:r>
              <a:rPr lang="zh-CN" dirty="0"/>
              <a:t>这六问从阶段一直问到责任人，读完一段话，接手的人就知道自己站在哪里。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实际消耗的汇总有一条固定路径：按 Run 汇总它的全部 Attempt。</a:t>
            </a:r>
          </a:p>
          <a:p>
            <a:r>
              <a:rPr lang="zh-CN" dirty="0"/>
              <a:t>汇总时要分别保留六项：人物、对象、逻辑调用、物理尝试、Token 和费用来源。费用来源这一项常常被省掉，但它决定了这个数字能不能被复核，比如用的是账单、控制台用量还是估算。</a:t>
            </a:r>
          </a:p>
          <a:p>
            <a:r>
              <a:rPr lang="zh-CN" dirty="0"/>
              <a:t>有三条保留规则要一起写清楚。第一，失败步骤里的模型尝试仍然有成本，不能因为没成功就不计。第二，业务证据限定在已提交的边界，但这不代表可以把未提交尝试的消耗删掉；证据边界和成本边界是两件事。第三，四项任务未闭环的数量同样要保留下来，不能只统计走完的那几项。</a:t>
            </a:r>
          </a:p>
          <a:p>
            <a:r>
              <a:rPr lang="zh-CN" dirty="0"/>
              <a:t>这样记下来，下一位负责人看到的才是完整的账，而不是一份挑过的账。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回到这一节要交付的东西：一份别人能按其继续工作的执行计划与预算登记。</a:t>
            </a:r>
          </a:p>
          <a:p>
            <a:r>
              <a:rPr lang="zh-CN" dirty="0"/>
              <a:t>完成标准不在数字漂不漂亮，而在三件事。范围与职责分得清楚，谁以什么身份对什么负责，写在纸上就能看懂。预算能被重算，数量、假设、单价逐项列出，换掉任何一个假设结果都跟着变。阈值带着动作，到达物理尝试阈值、费用复核阈值或两小时复核点时，都知道该做什么、找谁确认。</a:t>
            </a:r>
          </a:p>
          <a:p>
            <a:r>
              <a:rPr lang="zh-CN" dirty="0"/>
              <a:t>最后是状态的诚实。现在这份计划可以写得很完整，但运行结果仍然是空的，所以它只能叫“计划执行”。只有后续运行产生了事实，有了提交边界、Attempt 记录和实际用量，才能把它改成“已经观察”。</a:t>
            </a:r>
          </a:p>
          <a:p>
            <a:r>
              <a:rPr lang="zh-CN" dirty="0"/>
              <a:t>下一节就把这些记录组织成一份可以被审查的结果。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8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一节要解决的是一件很具体的事：当我们把服务大厅的一次比较实验交给别人，对方凭什么知道该继续还是该停。&#10;&#10;我先说明当前的状态。四项咨询需求已经明确，唯一策略差异也定了，但还没有创建实验、没有真实调用、没有业务结果。所以这里拿出来的计划和预算都是事前材料，不是已经跑出来的成绩。&#10;&#10;一份合格的事前材料要回答四件事：下一步做什么、依据什么进入下一阶段、准备消耗多少资源、遇到问题由谁判断。把这四件事写清楚，接手的人就不必再来问一遍。&#10;&#10;记住这个分寸：计划可以写得很完整，运行结果却仍然是空的。只有后续事实形成，才能把“计划执行”改成“已经观察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5　执行与预算&lt;/Text&gt;&#10;            &lt;Text style={{ fontSize: 34, fontWeight: 'bold', color: '#20344B' }}&gt;什么时候继续，什么时候停下&lt;/Text&gt;&#10;        &lt;/Box&gt;&#10;    &lt;/Box&gt;&#10;&#10;    &lt;Box style={{ height: 540, flexDirection: 'row', alignItems: 'center', gap: 32 }}&gt;&#10;&#10;        &lt;Box style={{ width: 500, flexDirection: 'column', gap: 14 }}&gt;&#10;            &lt;Text style={{ fontSize: 52, fontWeight: 'bold', color: '#20344B', lineHeight: 1.2 }}&gt;让下一位负责人{'\n'}知道何时继续、{'\n'}何时停下&lt;/Text&gt;&#10;            &lt;Box style={{ width: 72, height: 4, background: '#276FBF' }} /&gt;&#10;            &lt;Text style={{ fontSize: 17, color: '#546779', lineHeight: 1.7, width: 500 }}&gt;一份别人能按其继续工作的执行计划与预算登记：材料、配置、输入、事实、结果，每一步都可检查。&lt;/Text&gt;&#10;            &lt;Box style={{ flexDirection: 'row', gap: 12, marginTop: 4 }}&gt;&#10;                &lt;Box style={{ width: 158, height: 42, background: '#F7F3E8', borderRadius: 8, justifyContent: 'center', alignItems: 'center' }}&gt;&#10;                    &lt;Text style={{ fontSize: 15, color: '#546779' }}&gt;事前材料&lt;/Text&gt;&#10;                &lt;/Box&gt;&#10;                &lt;Box style={{ width: 158, height: 42, background: '#F4F7FA', borderRadius: 8, justifyContent: 'center', alignItems: 'center' }}&gt;&#10;                    &lt;Text style={{ fontSize: 15, color: '#546779' }}&gt;尚未创建 Run&lt;/Text&gt;&#10;                &lt;/Box&gt;&#10;                &lt;Box style={{ width: 158, height: 42, background: '#ECF7F2', borderRadius: 8, justifyContent: 'center', alignItems: 'center' }}&gt;&#10;                    &lt;Text style={{ fontSize: 15, color: '#26816B' }}&gt;可交接的计划&lt;/Text&gt;&#10;                &lt;/Box&gt;&#10;            &lt;/Box&gt;&#10;        &lt;/Box&gt;&#10;&#10;        &lt;Box style={{ width: 620, flexDirection: 'column', gap: 8, justifyContent: 'center' }}&gt;&#10;            &lt;Text style={{ fontSize: 14, color: '#546779' }}&gt;执行顺序是一条可检查的链，每阶段完成后再留下交接记录&lt;/Text&gt;&#10;            &lt;Box style={{ width: 620, height: 56, background: '#EDF4FC', borderRadius: 8, flexDirection: 'row', alignItems: 'center', padding: '0 20px', gap: 14 }}&gt;&#10;                &lt;Text style={{ fontSize: 22, fontWeight: 'bold', color: '#276FBF' }}&gt;材&lt;/Text&gt;&#10;                &lt;Text style={{ fontSize: 18, fontWeight: 'bold', color: '#20344B' }}&gt;材料可审阅&lt;/Text&gt;&#10;                &lt;Text style={{ fontSize: 15, color: '#546779' }}&gt;需求、窗口分工、两段咨询策略&lt;/Text&gt;&#10;            &lt;/Box&gt;&#10;            &lt;Box style={{ width: 620, height: 30, justifyContent: 'center', alignItems: 'center' }}&gt;&#10;                &lt;Text style={{ fontSize: 20, color: '#276FBF' }}&gt;↓&lt;/Text&gt;&#10;            &lt;/Box&gt;&#10;            &lt;Box style={{ width: 620, height: 56, background: '#EDF4FC', borderRadius: 8, flexDirection: 'row', alignItems: 'center', padding: '0 20px', gap: 14 }}&gt;&#10;                &lt;Text style={{ fontSize: 22, fontWeight: 'bold', color: '#276FBF' }}&gt;配&lt;/Text&gt;&#10;                &lt;Text style={{ fontSize: 18, fontWeight: 'bold', color: '#20344B' }}&gt;配置已保存&lt;/Text&gt;&#10;                &lt;Text style={{ fontSize: 15, color: '#546779' }}&gt;图片、空间、出生点、Skill 与模型&lt;/Text&gt;&#10;            &lt;/Box&gt;&#10;            &lt;Box style={{ width: 620, height: 30, justifyContent: 'center', alignItems: 'center' }}&gt;&#10;                &lt;Text style={{ fontSize: 20, color: '#276FBF' }}&gt;↓&lt;/Text&gt;&#10;            &lt;/Box&gt;&#10;            &lt;Box style={{ width: 620, height: 56, background: '#EDF4FC', borderRadius: 8, flexDirection: 'row', alignItems: 'center', padding: '0 20px', gap: 14 }}&gt;&#10;                &lt;Text style={{ fontSize: 22, fontWeight: 'bold', color: '#276FBF' }}&gt;输&lt;/Text&gt;&#10;                &lt;Text style={{ fontSize: 18, fontWeight: 'bold', color: '#20344B' }}&gt;实验输入已固定&lt;/Text&gt;&#10;                &lt;Text style={{ fontSize: 15, color: '#546779' }}&gt;两组除咨询策略外保持一致&lt;/Text&gt;&#10;            &lt;/Box&gt;&#10;            &lt;Box style={{ width: 620, height: 30, justifyContent: 'center', alignItems: 'center' }}&gt;&#10;                &lt;Text style={{ fontSize: 20, color: '#276FBF' }}&gt;↓&lt;/Text&gt;&#10;            &lt;/Box&gt;&#10;            &lt;Box style={{ width: 620, height: 56, background: '#EDF4FC', borderRadius: 8, flexDirection: 'row', alignItems: 'center', padding: '0 20px', gap: 14 }}&gt;&#10;                &lt;Text style={{ fontSize: 22, fontWeight: 'bold', color: '#276FBF' }}&gt;运&lt;/Text&gt;&#10;                &lt;Text style={{ fontSize: 18, fontWeight: 'bold', color: '#20344B' }}&gt;运行事实可读&lt;/Text&gt;&#10;                &lt;Text style={{ fontSize: 15, color: '#546779' }}&gt;Run、Attempt 与已提交 Step&lt;/Text&gt;&#10;            &lt;/Box&gt;&#10;            &lt;Box style={{ width: 620, height: 30, justifyContent: 'center', alignItems: 'center' }}&gt;&#10;                &lt;Text style={{ fontSize: 20, color: '#26816B' }}&gt;↓&lt;/Text&gt;&#10;            &lt;/Box&gt;&#10;            &lt;Box style={{ width: 620, height: 56, background: '#ECF7F2', borderRadius: 8, flexDirection: 'row', alignItems: 'center', padding: '0 20px', gap: 14 }}&gt;&#10;                &lt;Text style={{ fontSize: 22, fontWeight: 'bold', color: '#26816B' }}&gt;果&lt;/Text&gt;&#10;                &lt;Text style={{ fontSize: 18, fontWeight: 'bold', color: '#20344B' }}&gt;结果可交付&lt;/Text&gt;&#10;                &lt;Text style={{ fontSize: 15, color: '#546779' }}&gt;四项任务与全部失败都已登记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1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什么时候继续，什么时候停下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4762500" cy="2143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让下一位负责人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知道何时继续、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何时停下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152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4324350"/>
            <a:ext cx="4762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一份别人能按其继续工作的执行计划与预算登记：材料、配置、输入、事实、结果，每一步都可检查。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162550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76325" y="5276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事前材料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28850" y="5162550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543175" y="5276850"/>
            <a:ext cx="88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尚未创建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48100" y="5162550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171950" y="52768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可交接的计划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676900" y="13906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执行顺序是一条可检查的链，每阶段完成后再留下交接记录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676900" y="162877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67400" y="177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材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210300" y="1790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材料可审阅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200900" y="18097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需求、窗口分工、两段咨询策略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82025" y="22669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676900" y="260032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867400" y="27432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配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210300" y="27622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配置已保存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200900" y="2781300"/>
            <a:ext cx="2181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图片、空间、出生点、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与模型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582025" y="32385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676900" y="357187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867400" y="37147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输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210300" y="37338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实验输入已固定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543800" y="37528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两组除咨询策略外保持一致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582025" y="42100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676900" y="454342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867400" y="46863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运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210300" y="47053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运行事实可读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372350" y="472440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与已提交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582025" y="5181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676900" y="551497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867400" y="56578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果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10300" y="5676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结果可交付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200900" y="56959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四项任务与全部失败都已登记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75" name="" descr="&lt;Slide notes={`这六个知识块可以按三个问题来记：谁负责、什么时候算过关、要花多少又什么时候停。&#10;&#10;前两块讲组织和门禁。角色与仿真角色分开，是说周澈、谭悦这些人物不会替项目完成验收；按证据推进，是说每个阶段都要先回答一个具体问题，答得上来才进下一步。&#10;&#10;中间两块最容易被忽略。数量要先算清八个参与者乘七十六步，再按假设乘出调用与尝试次数；预算则要连同阈值和停止条件一起写，否则它只是一张估算纸。&#10;&#10;最后两块讲收尾。故障要分清是行为结果、调用问题还是系统问题，处理方式完全不同；日志要留下别人能接着做的那几个关键身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　执行与预算&lt;/Text&gt;&#10;            &lt;Text style={{ fontSize: 34, fontWeight: 'bold', color: '#20344B' }}&gt;本节要看清的六件事&lt;/Text&gt;&#10;        &lt;/Box&gt;&#10;    &lt;/Box&gt;&#10;&#10;    &lt;Box style={{ height: 540, flexDirection: 'row', alignItems: 'center', gap: 32 }}&gt;&#10;&#10;        &lt;Box style={{ width: 380, flexDirection: 'column', gap: 16, justifyContent: 'center' }}&gt;&#10;            &lt;Text style={{ fontSize: 24, fontWeight: 'bold', color: '#20344B', lineHeight: 1.4 }}&gt;谁负责{'\n'}什么时候算过关{'\n'}要花多少又什么时候停&lt;/Text&gt;&#10;            &lt;Box style={{ width: 60, height: 4, background: '#276FBF' }} /&gt;&#10;            &lt;Text style={{ fontSize: 16, color: '#546779', lineHeight: 1.65, width: 380 }}&gt;这六个问题按顺序走完，一份别人能接着做的执行计划就成立了。编号①到⑥与后面的六张扉页一一对应。&lt;/Text&gt;&#10;        &lt;/Box&gt;&#10;&#10;        &lt;Box style={{ width: 740, flexDirection: 'row', flexWrap: 'wrap', gap: 20 }}&gt;&#10;&#10;            &lt;Box style={{ width: 356, height: 158, background: '#EDF4FC', borderRadius: 10, padding: '16px 20px', flexDirection: 'column', gap: 6, justifyContent: 'center' }}&gt;&#10;                &lt;Text style={{ fontSize: 24, fontWeight: 'bold', color: '#276FBF' }}&gt;① 角色分开&lt;/Text&gt;&#10;                &lt;Text style={{ fontSize: 15, color: '#546779', lineHeight: 1.45 }}&gt;世界里的五个人，不等于项目里的三类职责；人物不会替项目完成验收。&lt;/Text&gt;&#10;            &lt;/Box&gt;&#10;&#10;            &lt;Box style={{ width: 356, height: 158, background: '#EDF4FC', borderRadius: 10, padding: '16px 20px', flexDirection: 'column', gap: 6, justifyContent: 'center' }}&gt;&#10;                &lt;Text style={{ fontSize: 24, fontWeight: 'bold', color: '#276FBF' }}&gt;② 六道证据门&lt;/Text&gt;&#10;                &lt;Text style={{ fontSize: 15, color: '#546779', lineHeight: 1.45 }}&gt;材料、配置、输入、运行、结果、交付，每个阶段都要先回答一个具体问题。&lt;/Text&gt;&#10;            &lt;/Box&gt;&#10;&#10;            &lt;Box style={{ width: 356, height: 158, background: '#F7F3E8', borderRadius: 10, padding: '16px 20px', flexDirection: 'column', gap: 6, justifyContent: 'center' }}&gt;&#10;                &lt;Text style={{ fontSize: 24, fontWeight: 'bold', color: '#CB6B28' }}&gt;③ 先列数量&lt;/Text&gt;&#10;                &lt;Text style={{ fontSize: 15, color: '#546779', lineHeight: 1.45 }}&gt;八个参与者乘七十六步得到轮次，再按假设推出逻辑调用与物理尝试。&lt;/Text&gt;&#10;            &lt;/Box&gt;&#10;&#10;            &lt;Box style={{ width: 356, height: 158, background: '#F7F3E8', borderRadius: 10, padding: '16px 20px', flexDirection: 'column', gap: 6, justifyContent: 'center' }}&gt;&#10;                &lt;Text style={{ fontSize: 24, fontWeight: 'bold', color: '#CB6B28' }}&gt;④ 可行动的表&lt;/Text&gt;&#10;                &lt;Text style={{ fontSize: 15, color: '#546779', lineHeight: 1.45 }}&gt;预算既含预计消耗，也含停止与复核条件；阈值必须写出到达后的动作。&lt;/Text&gt;&#10;            &lt;/Box&gt;&#10;&#10;            &lt;Box style={{ width: 356, height: 158, background: '#ECF7F2', borderRadius: 10, padding: '16px 20px', flexDirection: 'column', gap: 6, justifyContent: 'center' }}&gt;&#10;                &lt;Text style={{ fontSize: 24, fontWeight: 'bold', color: '#26816B' }}&gt;⑤ 五种处置&lt;/Text&gt;&#10;                &lt;Text style={{ fontSize: 15, color: '#546779', lineHeight: 1.45 }}&gt;猜错窗口、正确拒绝、请求失败、违反合同、预算达到，指向完全不同的下一步。&lt;/Text&gt;&#10;            &lt;/Box&gt;&#10;&#10;            &lt;Box style={{ width: 356, height: 158, background: '#ECF7F2', borderRadius: 10, padding: '16px 20px', flexDirection: 'column', gap: 6, justifyContent: 'center' }}&gt;&#10;                &lt;Text style={{ fontSize: 24, fontWeight: 'bold', color: '#26816B' }}&gt;⑥ 留下什么&lt;/Text&gt;&#10;                &lt;Text style={{ fontSize: 15, color: '#546779', lineHeight: 1.45 }}&gt;交接记录要写清阶段、身份、提交边界、已触发规则与下一步由谁处理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2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2514600"/>
            <a:ext cx="3619500" cy="1152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谁负责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什么时候算过关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要花多少又什么时候停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38195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4010025"/>
            <a:ext cx="3619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这六个问题按顺序走完，一份别人能接着做的执行计划就成立了。编号①到⑥与后面的六张扉页一一对应。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533900" y="126682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724400" y="16002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角色分开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724400" y="193357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世界里的五个人，不等于项目里的三类职责；人物不会替项目完成验收。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8115300" y="126682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05800" y="16002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六道证据门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05800" y="193357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材料、配置、输入、运行、结果、交付，每个阶段都要先回答一个具体问题。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533900" y="296227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724400" y="329565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先列数量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724400" y="36290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八个参与者乘七十六步得到轮次，再按假设推出逻辑调用与物理尝试。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115300" y="296227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05800" y="329565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可行动的表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05800" y="36290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预算既含预计消耗，也含停止与复核条件；阈值必须写出到达后的动作。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533900" y="465772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724400" y="49911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五种处置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724400" y="532447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猜错窗口、正确拒绝、请求失败、违反合同、预算达到，指向完全不同的下一步。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8115300" y="4657725"/>
            <a:ext cx="3390900" cy="1504950"/>
          </a:xfrm>
          <a:prstGeom prst="roundRect">
            <a:avLst>
              <a:gd name="adj" fmla="val 63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305800" y="49911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⑥ </a:t>
            </a: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留下什么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305800" y="532447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交接记录要写清阶段、身份、提交边界、已触发规则与下一步由谁处理。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84" name="" descr="&lt;Slide notes={`先把最容易混的一件事分开。周澈、谭悦、孟川、邱禾和引导员余真，是跑在世界里的五个人物，他们有自己的职业、目标和信息边界。项目负责人、操作人员和评阅者不是世界里的角色，而是组织这次实验的人。&#10;&#10;这个区分有两条实际后果。第一，人物的目标不会替项目完成验收。咨询台按预定策略猜错了窗口，不等于验收失败，它可能正是我们想观察的行为结果。第二，组织实验的人也不会因为写了 Skill、建了实验，就获得系统管理权限。&#10;&#10;换句话说，同一件事要用两种眼光看：一种看故事里发生了什么，一种看我们作为项目方是否按计划推进。把这两种眼光分开，后面的判据和预算才不会互相污染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80, fontWeight: 'bold', color: '#276FBF', lineHeight: 1.0 }}&gt;①&lt;/Text&gt;&#10;&#10;        &lt;Text style={{ fontSize: 56, fontWeight: 'bold', color: '#20344B', lineHeight: 1.15 }}&gt;世界里的五个人，{'\n'}不等于项目里的三类职责&lt;/Text&gt;&#10;&#10;        &lt;Box style={{ width: 72, height: 4, background: '#276FBF' }} /&gt;&#10;&#10;        &lt;Text style={{ fontSize: 18, color: '#546779', lineHeight: 1.7, width: 1000 }}&gt;人物有自己的职业与目标，不会替项目完成验收；组织实验的人对范围、记录与证据负责，也不因此获得系统管理权限。&lt;/Text&gt;&#10;&#10;        &lt;Box style={{ flexDirection: 'row', gap: 32 }}&gt;&#10;            &lt;Box style={{ width: 560, height: 140, background: '#F4F7FA', borderRadius: 10, padding: '16px 22px', flexDirection: 'column', gap: 6, justifyContent: 'center' }}&gt;&#10;                &lt;Text style={{ fontSize: 15, color: '#546779' }}&gt;世界里的参与者　·　有职业与目标&lt;/Text&gt;&#10;                &lt;Text style={{ fontSize: 22, fontWeight: 'bold', color: '#20344B' }}&gt;周澈 · 谭悦 · 孟川 · 邱禾 · 余真&lt;/Text&gt;&#10;                &lt;Text style={{ fontSize: 15, color: '#546779', lineHeight: 1.45 }}&gt;按各自信息边界获取内容，行为结果本身就是观察对象&lt;/Text&gt;&#10;            &lt;/Box&gt;&#10;            &lt;Box style={{ width: 560, height: 140, background: '#EDF4FC', borderRadius: 10, padding: '16px 22px', flexDirection: 'column', gap: 6, justifyContent: 'center' }}&gt;&#10;                &lt;Text style={{ fontSize: 15, color: '#546779' }}&gt;组织实验的人　·　对交付负责&lt;/Text&gt;&#10;                &lt;Text style={{ fontSize: 22, fontWeight: 'bold', color: '#276FBF' }}&gt;项目负责人 · 操作人员 · 评阅者&lt;/Text&gt;&#10;                &lt;Text style={{ fontSize: 15, color: '#546779', lineHeight: 1.45 }}&gt;承担范围、记录与证据判断，不替人物完成验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3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世界里的五个人，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不等于项目里的三类职责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40481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人物有自己的职业与目标，不会替项目完成验收；组织实验的人对范围、记录与证据负责，也不因此获得系统管理权限。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609600" y="478155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19150" y="50482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世界里的参与者　·　有职业与目标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19150" y="5276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周澈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谭悦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孟川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邱禾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余真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19150" y="55911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按各自信息边界获取内容，行为结果本身就是观察对象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248400" y="478155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457950" y="504825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组织实验的人　·　对交付负责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457950" y="5276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项目负责人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操作人员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评阅者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457950" y="55911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承担范围、记录与证据判断，不替人物完成验收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03" name="" descr="&lt;Slide notes={`两组角色的差别，可以按五条线索逐行对照。&#10;&#10;第一条是谁。一边是五名人物，一边是三类职责；同一个人可以同时出现在两边，但写记录时必须注明以什么身份作出决定。&#10;&#10;第二条是依据。人物按自己的职业目标和设计好的信息边界行动，项目方依据的是范围、判据与授权。&#10;&#10;第三条是权限，也是最实际的一条：组织实验的人写了 Skill、建了实验，并不因此获得系统管理权限。&#10;&#10;第四条是验收归属。人物的职业或目标不会替项目完成验收。&#10;&#10;最后一条是出错时的态度。操作人员发现 H3 到了 A 窗口，第一步应当记录这个事实，而不是为了按时交付，自己把正确窗口改成 A。需求变更与操作纠错必须留下不同的理由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1　项目角色与仿真角色分开&lt;/Text&gt;&#10;            &lt;Text style={{ fontSize: 34, fontWeight: 'bold', color: '#20344B' }}&gt;两组名字，两套职责&lt;/Text&gt;&#10;        &lt;/Box&gt;&#10;    &lt;/Box&gt;&#10;&#10;    &lt;Box style={{ height: 540, flexDirection: 'column', justifyContent: 'center', gap: 16 }}&gt;&#10;&#10;        &lt;Text style={{ fontSize: 17, color: '#546779', lineHeight: 1.6, width: 1152 }}&gt;人物不会替项目完成验收，组织实验的人也不会获得系统管理权限。同一个人可以身兼数职，记录时仍要注明以什么身份决定。&lt;/Text&gt;&#10;&#10;        &lt;Box style={{ flexDirection: 'row', gap: 40 }}&gt;&#10;&#10;            &lt;Box style={{ width: 556, flexDirection: 'column', gap: 10 }}&gt;&#10;                &lt;Box style={{ height: 44, background: '#F4F7FA', borderRadius: 8, justifyContent: 'center', padding: '0 18px' }}&gt;&#10;                    &lt;Text style={{ fontSize: 15, fontWeight: 'bold', color: '#546779' }}&gt;世界里的五名人物&lt;/Text&gt;&#10;                &lt;/Box&gt;&#10;                &lt;Box style={{ height: 68, background: '#F4F7FA', borderRadius: 8, flexDirection: 'row', alignItems: 'center', gap: 14, padding: '0 18px' }}&gt;&#10;                    &lt;Text style={{ fontSize: 15, fontWeight: 'bold', color: '#546779', width: 72 }}&gt;是谁&lt;/Text&gt;&#10;                    &lt;Text style={{ fontSize: 16, color: '#20344B', flex: 1, lineHeight: 1.4 }}&gt;周澈 · 谭悦 · 孟川 · 邱禾 · 余真&lt;/Text&gt;&#10;                &lt;/Box&gt;&#10;                &lt;Box style={{ height: 68, background: '#F4F7FA', borderRadius: 8, flexDirection: 'row', alignItems: 'center', gap: 14, padding: '0 18px' }}&gt;&#10;                    &lt;Text style={{ fontSize: 15, fontWeight: 'bold', color: '#546779', width: 72 }}&gt;依据&lt;/Text&gt;&#10;                    &lt;Text style={{ fontSize: 16, color: '#20344B', flex: 1, lineHeight: 1.4 }}&gt;自己的职业与个人目标&lt;/Text&gt;&#10;                &lt;/Box&gt;&#10;                &lt;Box style={{ height: 68, background: '#F4F7FA', borderRadius: 8, flexDirection: 'row', alignItems: 'center', gap: 14, padding: '0 18px' }}&gt;&#10;                    &lt;Text style={{ fontSize: 15, fontWeight: 'bold', color: '#546779', width: 72 }}&gt;权限&lt;/Text&gt;&#10;                    &lt;Text style={{ fontSize: 16, color: '#20344B', flex: 1, lineHeight: 1.4 }}&gt;按各自信息边界获取内容&lt;/Text&gt;&#10;                &lt;/Box&gt;&#10;                &lt;Box style={{ height: 68, background: '#F4F7FA', borderRadius: 8, flexDirection: 'row', alignItems: 'center', gap: 14, padding: '0 18px' }}&gt;&#10;                    &lt;Text style={{ fontSize: 15, fontWeight: 'bold', color: '#546779', width: 72 }}&gt;验收&lt;/Text&gt;&#10;                    &lt;Text style={{ fontSize: 16, color: '#20344B', flex: 1, lineHeight: 1.4 }}&gt;不替项目完成验收&lt;/Text&gt;&#10;                &lt;/Box&gt;&#10;                &lt;Box style={{ height: 68, background: '#F4F7FA', borderRadius: 8, flexDirection: 'row', alignItems: 'center', gap: 14, padding: '0 18px' }}&gt;&#10;                    &lt;Text style={{ fontSize: 15, fontWeight: 'bold', color: '#546779', width: 72 }}&gt;出错&lt;/Text&gt;&#10;                    &lt;Text style={{ fontSize: 16, color: '#20344B', flex: 1, lineHeight: 1.4 }}&gt;行为结果本身就是观察对象&lt;/Text&gt;&#10;                &lt;/Box&gt;&#10;            &lt;/Box&gt;&#10;&#10;            &lt;Box style={{ width: 556, flexDirection: 'column', gap: 10 }}&gt;&#10;                &lt;Box style={{ height: 44, background: '#EDF4FC', borderRadius: 8, justifyContent: 'center', padding: '0 18px' }}&gt;&#10;                    &lt;Text style={{ fontSize: 15, fontWeight: 'bold', color: '#276FBF' }}&gt;组织实验的三类职责&lt;/Text&gt;&#10;                &lt;/Box&gt;&#10;                &lt;Box style={{ height: 68, background: '#EDF4FC', borderRadius: 8, flexDirection: 'row', alignItems: 'center', gap: 14, padding: '0 18px' }}&gt;&#10;                    &lt;Text style={{ fontSize: 15, fontWeight: 'bold', color: '#276FBF', width: 72 }}&gt;是谁&lt;/Text&gt;&#10;                    &lt;Text style={{ fontSize: 16, color: '#20344B', flex: 1, lineHeight: 1.4 }}&gt;需求负责人 · 作者与操作人员 · 证据评阅者&lt;/Text&gt;&#10;                &lt;/Box&gt;&#10;                &lt;Box style={{ height: 68, background: '#EDF4FC', borderRadius: 8, flexDirection: 'row', alignItems: 'center', gap: 14, padding: '0 18px' }}&gt;&#10;                    &lt;Text style={{ fontSize: 15, fontWeight: 'bold', color: '#276FBF', width: 72 }}&gt;依据&lt;/Text&gt;&#10;                    &lt;Text style={{ fontSize: 16, color: '#20344B', flex: 1, lineHeight: 1.4 }}&gt;范围、唯一策略差异与验收判据&lt;/Text&gt;&#10;                &lt;/Box&gt;&#10;                &lt;Box style={{ height: 68, background: '#EDF4FC', borderRadius: 8, flexDirection: 'row', alignItems: 'center', gap: 14, padding: '0 18px' }}&gt;&#10;                    &lt;Text style={{ fontSize: 15, fontWeight: 'bold', color: '#276FBF', width: 72 }}&gt;权限&lt;/Text&gt;&#10;                    &lt;Text style={{ fontSize: 16, color: '#20344B', flex: 1, lineHeight: 1.4 }}&gt;不获得系统管理权限&lt;/Text&gt;&#10;                &lt;/Box&gt;&#10;                &lt;Box style={{ height: 68, background: '#EDF4FC', borderRadius: 8, flexDirection: 'row', alignItems: 'center', gap: 14, padding: '0 18px' }}&gt;&#10;                    &lt;Text style={{ fontSize: 15, fontWeight: 'bold', color: '#276FBF', width: 72 }}&gt;验收&lt;/Text&gt;&#10;                    &lt;Text style={{ fontSize: 16, color: '#20344B', flex: 1, lineHeight: 1.4 }}&gt;对范围、记录与证据负责&lt;/Text&gt;&#10;                &lt;/Box&gt;&#10;                &lt;Box style={{ height: 68, background: '#FFF4E6', borderRadius: 8, flexDirection: 'row', alignItems: 'center', gap: 14, padding: '0 18px' }}&gt;&#10;                    &lt;Text style={{ fontSize: 15, fontWeight: 'bold', color: '#CB6B28', width: 72 }}&gt;出错&lt;/Text&gt;&#10;                    &lt;Text style={{ fontSize: 16, color: '#20344B', flex: 1, lineHeight: 1.4 }}&gt;先记录事实，不擅自改成「正确」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4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项目角色与仿真角色分开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两组名字，两套职责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09600" y="14192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人物不会替项目完成验收，组织实验的人也不会获得系统管理权限。同一个人可以身兼数职，记录时仍要注明以什么身份决定。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1885950"/>
            <a:ext cx="52959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81050" y="20097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世界里的五名人物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609600" y="24003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81050" y="26384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是谁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600200" y="26003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周澈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谭悦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孟川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邱禾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余真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314325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81050" y="33813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1600200" y="334327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自己的职业与个人目标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09600" y="38862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600200" y="40862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按各自信息边界获取内容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09600" y="462915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81050" y="48672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1600200" y="482917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不替项目完成验收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09600" y="53721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781050" y="56102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出错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1600200" y="55721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行为结果本身就是观察对象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6286500" y="1885950"/>
            <a:ext cx="52959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457950" y="20097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组织实验的三类职责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6286500" y="24003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457950" y="26384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是谁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277100" y="26003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需求负责人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作者与操作人员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证据评阅者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6286500" y="314325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457950" y="33813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277100" y="334327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范围、唯一策略差异与验收判据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286500" y="38862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457950" y="41243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277100" y="40862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不获得系统管理权限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6286500" y="462915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457950" y="48672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277100" y="482917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对范围、记录与证据负责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6286500" y="5372100"/>
            <a:ext cx="52959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457950" y="561022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出错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277100" y="55721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先记录事实，不擅自改成「正确」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45" name="" descr="&lt;Slide notes={`四项职责其实对应一次交接的四个方向。&#10;&#10;需求负责人先交出范围和判据，包括唯一的那一处策略差异，以及本次明确不做的事项。作者与操作人员交出可核对的材料、已保存的配置、实际使用的身份，以及操作与问题记录。证据评阅者交出每一项判断背后的请求、回复、位置与确认记录，还要一并交出缺失项。接收负责人交出的是所需交付级别、可用环境、未完成工作和接手确认。&#10;&#10;强调两点。第一，一个人可以同时承担多项职责，但写记录时要注明这次是以哪个身份作出的决定。第二，完整目的表只供作者和评阅者使用，人物、咨询台与引导员按各自的信息边界获取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1　项目角色与仿真角色分开&lt;/Text&gt;&#10;            &lt;Text style={{ fontSize: 34, fontWeight: 'bold', color: '#20344B' }}&gt;四项职责各交出什么&lt;/Text&gt;&#10;        &lt;/Box&gt;&#10;    &lt;/Box&gt;&#10;&#10;    &lt;Box style={{ height: 540, flexDirection: 'row', alignItems: 'center', gap: 32 }}&gt;&#10;&#10;        &lt;Box style={{ width: 690, flexDirection: 'column', gap: 12 }}&gt;&#10;&#10;            &lt;Box style={{ width: 690, height: 112, background: '#EDF4FC', borderRadius: 10, flexDirection: 'row', alignItems: 'center', gap: 14, padding: '0 18px' }}&gt;&#10;                &lt;Box style={{ width: 4, height: 56, background: '#276FBF' }} /&gt;&#10;                &lt;Box style={{ width: 160, flexDirection: 'column', gap: 4 }}&gt;&#10;                    &lt;Text style={{ fontSize: 18, fontWeight: 'bold', color: '#20344B' }}&gt;需求负责人&lt;/Text&gt;&#10;                    &lt;Text style={{ fontSize: 14, color: '#546779' }}&gt;定范围与判据&lt;/Text&gt;&#10;                &lt;/Box&gt;&#10;                &lt;Text style={{ fontSize: 16, color: '#20344B', flex: 1, lineHeight: 1.5 }}&gt;四项咨询的范围、唯一策略差异、闭环判据，以及本次不做的事项&lt;/Text&gt;&#10;            &lt;/Box&gt;&#10;&#10;            &lt;Box style={{ width: 690, height: 112, background: '#EDF4FC', borderRadius: 10, flexDirection: 'row', alignItems: 'center', gap: 14, padding: '0 18px' }}&gt;&#10;                &lt;Box style={{ width: 4, height: 56, background: '#276FBF' }} /&gt;&#10;                &lt;Box style={{ width: 160, flexDirection: 'column', gap: 4 }}&gt;&#10;                    &lt;Text style={{ fontSize: 18, fontWeight: 'bold', color: '#20344B' }}&gt;作者与操作人员&lt;/Text&gt;&#10;                    &lt;Text style={{ fontSize: 14, color: '#546779' }}&gt;产出并执行&lt;/Text&gt;&#10;                &lt;/Box&gt;&#10;                &lt;Text style={{ fontSize: 16, color: '#20344B', flex: 1, lineHeight: 1.5 }}&gt;精确材料、已保存配置、实际身份，以及操作与问题记录&lt;/Text&gt;&#10;            &lt;/Box&gt;&#10;&#10;            &lt;Box style={{ width: 690, height: 112, background: '#FFF4E6', borderRadius: 10, flexDirection: 'row', alignItems: 'center', gap: 14, padding: '0 18px' }}&gt;&#10;                &lt;Box style={{ width: 4, height: 56, background: '#CB6B28' }} /&gt;&#10;                &lt;Box style={{ width: 160, flexDirection: 'column', gap: 4 }}&gt;&#10;                    &lt;Text style={{ fontSize: 18, fontWeight: 'bold', color: '#CB6B28' }}&gt;证据评阅者&lt;/Text&gt;&#10;                    &lt;Text style={{ fontSize: 14, color: '#546779' }}&gt;判断证据够不够&lt;/Text&gt;&#10;                &lt;/Box&gt;&#10;                &lt;Text style={{ fontSize: 16, color: '#20344B', flex: 1, lineHeight: 1.5 }}&gt;每项判断对应的请求、回复、位置与确认记录，以及缺失项&lt;/Text&gt;&#10;            &lt;/Box&gt;&#10;&#10;            &lt;Box style={{ width: 690, height: 112, background: '#ECF7F2', borderRadius: 10, flexDirection: 'row', alignItems: 'center', gap: 14, padding: '0 18px' }}&gt;&#10;                &lt;Box style={{ width: 4, height: 56, background: '#26816B' }} /&gt;&#10;                &lt;Box style={{ width: 160, flexDirection: 'column', gap: 4 }}&gt;&#10;                    &lt;Text style={{ fontSize: 18, fontWeight: 'bold', color: '#20344B' }}&gt;接收负责人&lt;/Text&gt;&#10;                    &lt;Text style={{ fontSize: 14, color: '#546779' }}&gt;决定能否接手&lt;/Text&gt;&#10;                &lt;/Box&gt;&#10;                &lt;Text style={{ fontSize: 16, color: '#20344B', flex: 1, lineHeight: 1.5 }}&gt;所需交付级别、可用环境、未完成工作与接手确认&lt;/Text&gt;&#10;            &lt;/Box&gt;&#10;&#10;        &lt;/Box&gt;&#10;&#10;        &lt;Box style={{ width: 430, flexDirection: 'column', gap: 16 }}&gt;&#10;            &lt;Box style={{ width: 430, height: 40, justifyContent: 'center' }}&gt;&#10;                &lt;Text style={{ fontSize: 20, fontWeight: 'bold', color: '#20344B' }}&gt;交接时的两条记录要求&lt;/Text&gt;&#10;            &lt;/Box&gt;&#10;            &lt;Box style={{ width: 430, height: 132, background: '#F4F7FA', borderRadius: 10, padding: '16px 20px', flexDirection: 'column', gap: 6, justifyContent: 'center' }}&gt;&#10;                &lt;Text style={{ fontSize: 18, fontWeight: 'bold', color: '#20344B' }}&gt;写明身份&lt;/Text&gt;&#10;                &lt;Text style={{ fontSize: 15, color: '#546779', lineHeight: 1.5 }}&gt;一个人可以承担多项职责，但记录时要注明这次以什么身份作出决定。&lt;/Text&gt;&#10;            &lt;/Box&gt;&#10;            &lt;Box style={{ width: 430, height: 132, background: '#F4F7FA', borderRadius: 10, padding: '16px 20px', flexDirection: 'column', gap: 6, justifyContent: 'center' }}&gt;&#10;                &lt;Text style={{ fontSize: 18, fontWeight: 'bold', color: '#20344B' }}&gt;目的表的边界&lt;/Text&gt;&#10;                &lt;Text style={{ fontSize: 15, color: '#546779', lineHeight: 1.5 }}&gt;完整目的表只供作者和评阅者；人物、咨询台与引导员按各自信息边界获取内容。&lt;/Text&gt;&#10;            &lt;/Box&gt;&#10;            &lt;Box style={{ width: 430, height: 100, background: '#EDF4FC', borderRadius: 10, padding: '16px 20px', flexDirection: 'column', gap: 6, justifyContent: 'center' }}&gt;&#10;                &lt;Text style={{ fontSize: 18, fontWeight: 'bold', color: '#276FBF' }}&gt;覆盖四个方向&lt;/Text&gt;&#10;                &lt;Text style={{ fontSize: 15, color: '#546779', lineHeight: 1.5 }}&gt;定范围、做材料、审证据、接交付，缺一项接手者就要回头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5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项目角色与仿真角色分开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四项职责各交出什么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609600" y="1409700"/>
            <a:ext cx="65722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781050" y="16764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52500" y="17430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需求负责人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952500" y="19907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定范围与判据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2609850" y="1666875"/>
            <a:ext cx="4400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四项咨询的范围、唯一策略差异、闭环判据，以及本次不做的事项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609600" y="2590800"/>
            <a:ext cx="657225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781050" y="28575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952500" y="29241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作者与操作人员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52500" y="31718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产出并执行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2609850" y="299085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精确材料、已保存配置、实际身份，以及操作与问题记录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609600" y="3771900"/>
            <a:ext cx="657225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1" name=""/>
          <p:cNvSpPr/>
          <p:nvPr/>
        </p:nvSpPr>
        <p:spPr>
          <a:xfrm rot="0" flipH="0" flipV="0">
            <a:off x="781050" y="40386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952500" y="41052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证据评阅者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952500" y="43529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判断证据够不够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2609850" y="417195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每项判断对应的请求、回复、位置与确认记录，以及缺失项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609600" y="4953000"/>
            <a:ext cx="657225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66" name=""/>
          <p:cNvSpPr/>
          <p:nvPr/>
        </p:nvSpPr>
        <p:spPr>
          <a:xfrm rot="0" flipH="0" flipV="0">
            <a:off x="781050" y="52197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952500" y="52863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接收负责人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952500" y="55340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决定能否接手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2609850" y="535305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所需交付级别、可用环境、未完成工作与接手确认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7486650" y="163830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交接时的两条记录要求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7486650" y="2095500"/>
            <a:ext cx="409575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7677150" y="2333625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写明身份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7677150" y="2600325"/>
            <a:ext cx="3714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一个人可以承担多项职责，但记录时要注明这次以什么身份作出决定。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7486650" y="3505200"/>
            <a:ext cx="409575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677150" y="3743325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目的表的边界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677150" y="4010025"/>
            <a:ext cx="3714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完整目的表只供作者和评阅者；人物、咨询台与引导员按各自信息边界获取内容。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7486650" y="4914900"/>
            <a:ext cx="409575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677150" y="5000625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覆盖四个方向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677150" y="5267325"/>
            <a:ext cx="3714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定范围、做材料、审证据、接交付，缺一项接手者就要回头问。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782" name="" descr="&lt;Slide notes={`举一个很常见的例子。操作人员在观察时发现 H3 走到了 A 窗口，而按需求它应该对应 B 窗口。&#10;&#10;第一步该做的是记录事实：什么时间、哪一次运行、画面里发生了什么。不能做的是顺手把它改成正确窗口，好让交付看起来按时完成。&#10;&#10;这条边界为什么重要？因为需求变更和操作纠错是两件不同的事，理由必须分别留下。前者是项目决定改了什么，后者是我们发现了偏差；混在一起，后面任何人都无法判断结果到底反映了什么。&#10;&#10;还有一组名字要固定：策略上的两组叫直接建议组和先澄清组，简称基线组与澄清组；窗口叫 A 和 B。H1、H2 的需求对应 A 窗口，H3、H4 对应 B 窗口，组名与窗口名不能互相替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1　项目角色与仿真角色分开&lt;/Text&gt;&#10;            &lt;Text style={{ fontSize: 34, fontWeight: 'bold', color: '#20344B' }}&gt;一个人身兼多职，仍要注明身份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26, fontWeight: 'bold', color: '#20344B', lineHeight: 1.4 }}&gt;同一个发现，{'\n'}换一个身份，{'\n'}处理方式就不同&lt;/Text&gt;&#10;            &lt;Box style={{ width: 60, height: 4, background: '#276FBF' }} /&gt;&#10;            &lt;Text style={{ fontSize: 16, color: '#546779', lineHeight: 1.7, width: 420 }}&gt;身兼多职在真实项目里很常见。关键在于记录时要写清楚：这次是以需求负责人的身份改范围，还是以操作人员的身份报告一处偏差。&lt;/Text&gt;&#10;        &lt;/Box&gt;&#10;&#10;        &lt;Box style={{ width: 700, flexDirection: 'column', gap: 16 }}&gt;&#10;&#10;            &lt;Box style={{ width: 700, height: 176, background: '#FFF4E6', borderRadius: 10, padding: '18px 24px', flexDirection: 'column', gap: 10, justifyContent: 'center' }}&gt;&#10;                &lt;Text style={{ fontSize: 15, color: '#CB6B28' }}&gt;一个常见情形&lt;/Text&gt;&#10;                &lt;Text style={{ fontSize: 22, fontWeight: 'bold', color: '#20344B' }}&gt;操作人员发现 H3 到了 A 窗口&lt;/Text&gt;&#10;                &lt;Box style={{ flexDirection: 'row', gap: 20 }}&gt;&#10;                    &lt;Box style={{ width: 312, flexDirection: 'column', gap: 4 }}&gt;&#10;                        &lt;Text style={{ fontSize: 15, fontWeight: 'bold', color: '#26816B' }}&gt;应当做&lt;/Text&gt;&#10;                        &lt;Text style={{ fontSize: 15, color: '#546779', lineHeight: 1.45 }}&gt;先记录事实：时间、Run、画面内容&lt;/Text&gt;&#10;                    &lt;/Box&gt;&#10;                    &lt;Box style={{ width: 312, flexDirection: 'column', gap: 4 }}&gt;&#10;                        &lt;Text style={{ fontSize: 15, fontWeight: 'bold', color: '#CB6B28' }}&gt;不应当做&lt;/Text&gt;&#10;                        &lt;Text style={{ fontSize: 15, color: '#546779', lineHeight: 1.45 }}&gt;为了按时交付，自己把正确窗口改成 A&lt;/Text&gt;&#10;                    &lt;/Box&gt;&#10;                &lt;/Box&gt;&#10;            &lt;/Box&gt;&#10;&#10;            &lt;Box style={{ width: 700, height: 100, background: '#F4F7FA', borderRadius: 10, flexDirection: 'row', alignItems: 'center', gap: 16, padding: '0 22px' }}&gt;&#10;                &lt;Box style={{ width: 4, height: 56, background: '#276FBF' }} /&gt;&#10;                &lt;Text style={{ fontSize: 16, color: '#20344B', flex: 1, lineHeight: 1.5 }}&gt;需求变更与操作纠错必须留下不同的理由：一个是项目决定改了什么，一个是我们发现了偏差。&lt;/Text&gt;&#10;            &lt;/Box&gt;&#10;&#10;            &lt;Box style={{ width: 700, height: 100, background: '#EDF4FC', borderRadius: 10, flexDirection: 'row', alignItems: 'center', gap: 16, padding: '0 22px' }}&gt;&#10;                &lt;Box style={{ width: 4, height: 56, background: '#276FBF' }} /&gt;&#10;                &lt;Text style={{ fontSize: 16, color: '#20344B', flex: 1, lineHeight: 1.5 }}&gt;策略组别叫「直接建议组／先澄清组」，简称基线组与澄清组，不与 A、B 服务窗口混用。&lt;/Text&gt;&#10;            &lt;/Box&gt;&#10;&#10;            &lt;Box style={{ width: 700, height: 100, background: '#ECF7F2', borderRadius: 10, flexDirection: 'row', alignItems: 'center', gap: 16, padding: '0 22px' }}&gt;&#10;                &lt;Box style={{ width: 4, height: 56, background: '#26816B' }} /&gt;&#10;                &lt;Text style={{ fontSize: 16, color: '#20344B', flex: 1, lineHeight: 1.5 }}&gt;H1、H2 的需求对应 A 窗口；H3、H4 对应 B 窗口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6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项目角色与仿真角色分开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一个人身兼多职，仍要注明身份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09600" y="2447925"/>
            <a:ext cx="4000500" cy="12573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同一个发现，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换一个身份，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处理方式就不同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609600" y="38576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4000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身兼多职在真实项目里很常见。关键在于记录时要写清楚：这次是以需求负责人的身份改范围，还是以操作人员的身份报告一处偏差。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4914900" y="1219200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5143500" y="151447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一个常见情形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5143500" y="1781175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操作人员发现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到了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5143500" y="21336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应当做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5143500" y="2343150"/>
            <a:ext cx="2971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先记录事实：时间、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、画面内容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8305800" y="21336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不应当做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8305800" y="2343150"/>
            <a:ext cx="2971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为了按时交付，自己把正确窗口改成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4914900" y="3048000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5124450" y="32575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5314950" y="3248025"/>
            <a:ext cx="605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需求变更与操作纠错必须留下不同的理由：一个是项目决定改了什么，一个是我们发现了偏差。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4914900" y="4152900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5124450" y="43624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5314950" y="4352925"/>
            <a:ext cx="605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策略组别叫「直接建议组／先澄清组」，简称基线组与澄清组，不与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服务窗口混用。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4914900" y="5257800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5124450" y="546735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5314950" y="5600700"/>
            <a:ext cx="6057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H1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的需求对应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窗口；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H3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H4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对应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窗口。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08" name="" descr="&lt;Slide notes={`项目最常见的一种失误，是按日历宣布完成。到了周五就写“实验已完成”，可材料里还有没保存的配置、没提交的步骤。&#10;&#10;这里给出的替代方案是一条可检查的链：材料可审阅、配置已保存、实验输入已固定、运行事实可读、结果可交付。每个阶段完成之后，都要留下一个明确的交接记录，而不是凭印象往下走。&#10;&#10;这六道门有一个共同点：它们问的都不是“感觉好不好”，而是“能不能指出来在哪里”。材料在哪里、配置保存在哪、Run 的编号是什么、哪一步已经提交。&#10;&#10;答得上来就进下一阶段；答不上来就说明这一步还没做完。这是把项目从口号变成可交接工作的关键一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②&lt;/Text&gt;&#10;        &lt;/Box&gt;&#10;    &lt;/Box&gt;&#10;&#10;    &lt;Box style={{ height: 540, flexDirection: 'column', justifyContent: 'center', gap: 20 }}&gt;&#10;&#10;        &lt;Text style={{ fontSize: 80, fontWeight: 'bold', color: '#276FBF', lineHeight: 1.0 }}&gt;②&lt;/Text&gt;&#10;&#10;        &lt;Text style={{ fontSize: 56, fontWeight: 'bold', color: '#20344B', lineHeight: 1.15 }}&gt;六道证据门，{'\n'}回答得了才进下一步&lt;/Text&gt;&#10;&#10;        &lt;Box style={{ width: 72, height: 4, background: '#276FBF' }} /&gt;&#10;&#10;        &lt;Text style={{ fontSize: 18, color: '#546779', lineHeight: 1.7, width: 1000 }}&gt;执行顺序不是日历，而是一条可检查的链。每个阶段完成后再留下一个明确的交接记录。&lt;/Text&gt;&#10;&#10;        &lt;Box style={{ flexDirection: 'row', gap: 12 }}&gt;&#10;            &lt;Box style={{ width: 172, height: 80, background: '#F4F7FA', borderRadius: 8, justifyContent: 'center', alignItems: 'center' }}&gt;&#10;                &lt;Text style={{ fontSize: 17, fontWeight: 'bold', color: '#20344B' }}&gt;材料审阅&lt;/Text&gt;&#10;            &lt;/Box&gt;&#10;            &lt;Box style={{ width: 172, height: 80, background: '#F4F7FA', borderRadius: 8, justifyContent: 'center', alignItems: 'center' }}&gt;&#10;                &lt;Text style={{ fontSize: 17, fontWeight: 'bold', color: '#20344B' }}&gt;浏览器配置&lt;/Text&gt;&#10;            &lt;/Box&gt;&#10;            &lt;Box style={{ width: 172, height: 80, background: '#EDF4FC', borderRadius: 8, justifyContent: 'center', alignItems: 'center' }}&gt;&#10;                &lt;Text style={{ fontSize: 17, fontWeight: 'bold', color: '#20344B' }}&gt;执行准备&lt;/Text&gt;&#10;            &lt;/Box&gt;&#10;            &lt;Box style={{ width: 172, height: 80, background: '#EDF4FC', borderRadius: 8, justifyContent: 'center', alignItems: 'center' }}&gt;&#10;                &lt;Text style={{ fontSize: 17, fontWeight: 'bold', color: '#20344B' }}&gt;运行观察&lt;/Text&gt;&#10;            &lt;/Box&gt;&#10;            &lt;Box style={{ width: 172, height: 80, background: '#ECF7F2', borderRadius: 8, justifyContent: 'center', alignItems: 'center' }}&gt;&#10;                &lt;Text style={{ fontSize: 17, fontWeight: 'bold', color: '#20344B' }}&gt;结果收集&lt;/Text&gt;&#10;            &lt;/Box&gt;&#10;            &lt;Box style={{ width: 172, height: 80, background: '#ECF7F2', borderRadius: 8, justifyContent: 'center', alignItems: 'center' }}&gt;&#10;                &lt;Text style={{ fontSize: 17, fontWeight: 'bold', color: '#20344B' }}&gt;交付检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7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六道证据门，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回答得了才进下一步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09600" y="43338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609600" y="45624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执行顺序不是日历，而是一条可检查的链。每个阶段完成后再留下一个明确的交接记录。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6096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1049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材料审阅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23622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2781300" y="53911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浏览器配置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41148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46101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执行准备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58674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3627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运行观察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76200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1153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结果收集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93726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9867900" y="5391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交付检查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31" name="" descr="&lt;Slide notes={`这条链的六段，各自要留下一样东西。&#10;&#10;材料审阅过关，说明四项需求、窗口分工和两段咨询策略都完整，也没有泄漏私人目的。浏览器配置过关，说明图片、空间、出生点、Skill 与模型确实保存了，而且重开之后还在。执行准备过关，说明两组除咨询策略之外完全一致，预检和预算都对得上当前草稿。运行观察过关，说明当前 Run、Attempt、已提交 Step 和在途请求都能读出来。结果收集过关，说明四项任务和全部失败都登记了，报告能追到提交事实。交付检查过关，说明接收者拿到了哪类文件、哪些用途已经验证。&#10;&#10;注意每一段的关键词都是“可核对”。配置不是我口头说保存了，而是重开之后还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2　按证据推进项目，而不是按日历宣布完成&lt;/Text&gt;&#10;            &lt;Text style={{ fontSize: 34, fontWeight: 'bold', color: '#20344B' }}&gt;一条可检查的执行链&lt;/Text&gt;&#10;        &lt;/Box&gt;&#10;    &lt;/Box&gt;&#10;&#10;    &lt;Box style={{ height: 540, flexDirection: 'column', justifyContent: 'center', gap: 18 }}&gt;&#10;&#10;        &lt;Text style={{ fontSize: 17, color: '#546779', lineHeight: 1.6, width: 1152 }}&gt;材料可审阅，配置已保存，实验输入已固定，运行事实可读，最后结果可交付。每一段都要能指出证据在哪里，而不只是凭印象说做完了。&lt;/Text&gt;&#10;&#10;        &lt;Box style={{ flexDirection: 'row', alignItems: 'center' }}&gt;&#10;&#10;            &lt;Box style={{ width: 154, height: 236, background: '#F4F7FA', borderRadius: 10, padding: '18px 16px', flexDirection: 'column', gap: 8 }}&gt;&#10;                &lt;Text style={{ fontSize: 28, fontWeight: 'bold', color: '#546779' }}&gt;01&lt;/Text&gt;&#10;                &lt;Text style={{ fontSize: 18, fontWeight: 'bold', color: '#20344B' }}&gt;材料审阅&lt;/Text&gt;&#10;                &lt;Text style={{ fontSize: 15, color: '#546779', lineHeight: 1.45 }}&gt;材料可审阅&lt;/Text&gt;&#10;                &lt;Text style={{ fontSize: 15, color: '#546779', lineHeight: 1.45, flex: 1 }}&gt;需求、窗口分工与两段策略完整，不泄漏私人目的&lt;/Text&gt;&#10;            &lt;/Box&gt;&#10;&#10;            &lt;Box style={{ width: 42, height: 236, justifyContent: 'center', alignItems: 'center' }}&gt;&#10;                &lt;Text style={{ fontSize: 26, color: '#276FBF' }}&gt;›&lt;/Text&gt;&#10;            &lt;/Box&gt;&#10;&#10;            &lt;Box style={{ width: 154, height: 236, background: '#F4F7FA', borderRadius: 10, padding: '18px 16px', flexDirection: 'column', gap: 8 }}&gt;&#10;                &lt;Text style={{ fontSize: 28, fontWeight: 'bold', color: '#546779' }}&gt;02&lt;/Text&gt;&#10;                &lt;Text style={{ fontSize: 18, fontWeight: 'bold', color: '#20344B' }}&gt;浏览器配置&lt;/Text&gt;&#10;                &lt;Text style={{ fontSize: 15, color: '#276FBF', lineHeight: 1.45 }}&gt;配置已保存&lt;/Text&gt;&#10;                &lt;Text style={{ fontSize: 15, color: '#546779', lineHeight: 1.45, flex: 1 }}&gt;图片、空间、出生点、Skill 与模型已保存并重开核对&lt;/Text&gt;&#10;            &lt;/Box&gt;&#10;&#10;            &lt;Box style={{ width: 42, height: 236, justifyContent: 'center', alignItems: 'center' }}&gt;&#10;                &lt;Text style={{ fontSize: 26, color: '#276FBF' }}&gt;›&lt;/Text&gt;&#10;            &lt;/Box&gt;&#10;&#10;            &lt;Box style={{ width: 154, height: 236, background: '#EDF4FC', borderRadius: 10, padding: '18px 16px', flexDirection: 'column', gap: 8 }}&gt;&#10;                &lt;Text style={{ fontSize: 28, fontWeight: 'bold', color: '#276FBF' }}&gt;03&lt;/Text&gt;&#10;                &lt;Text style={{ fontSize: 18, fontWeight: 'bold', color: '#20344B' }}&gt;执行准备&lt;/Text&gt;&#10;                &lt;Text style={{ fontSize: 15, color: '#276FBF', lineHeight: 1.45 }}&gt;输入已固定&lt;/Text&gt;&#10;                &lt;Text style={{ fontSize: 15, color: '#546779', lineHeight: 1.45, flex: 1 }}&gt;两组除咨询策略外一致，预检与预算对应当前草稿&lt;/Text&gt;&#10;            &lt;/Box&gt;&#10;&#10;            &lt;Box style={{ width: 42, height: 236, justifyContent: 'center', alignItems: 'center' }}&gt;&#10;                &lt;Text style={{ fontSize: 26, color: '#276FBF' }}&gt;›&lt;/Text&gt;&#10;            &lt;/Box&gt;&#10;&#10;            &lt;Box style={{ width: 154, height: 236, background: '#EDF4FC', borderRadius: 10, padding: '18px 16px', flexDirection: 'column', gap: 8 }}&gt;&#10;                &lt;Text style={{ fontSize: 28, fontWeight: 'bold', color: '#276FBF' }}&gt;04&lt;/Text&gt;&#10;                &lt;Text style={{ fontSize: 18, fontWeight: 'bold', color: '#20344B' }}&gt;运行观察&lt;/Text&gt;&#10;                &lt;Text style={{ fontSize: 15, color: '#276FBF', lineHeight: 1.45 }}&gt;事实可读&lt;/Text&gt;&#10;                &lt;Text style={{ fontSize: 15, color: '#546779', lineHeight: 1.45, flex: 1 }}&gt;当前 Run、Attempt、已提交 Step 与在途请求都读得到&lt;/Text&gt;&#10;            &lt;/Box&gt;&#10;&#10;            &lt;Box style={{ width: 42, height: 236, justifyContent: 'center', alignItems: 'center' }}&gt;&#10;                &lt;Text style={{ fontSize: 26, color: '#26816B' }}&gt;›&lt;/Text&gt;&#10;            &lt;/Box&gt;&#10;&#10;            &lt;Box style={{ width: 154, height: 236, background: '#ECF7F2', borderRadius: 10, padding: '18px 16px', flexDirection: 'column', gap: 8 }}&gt;&#10;                &lt;Text style={{ fontSize: 28, fontWeight: 'bold', color: '#26816B' }}&gt;05&lt;/Text&gt;&#10;                &lt;Text style={{ fontSize: 18, fontWeight: 'bold', color: '#20344B' }}&gt;结果收集&lt;/Text&gt;&#10;                &lt;Text style={{ fontSize: 15, color: '#26816B', lineHeight: 1.45 }}&gt;失败也登记&lt;/Text&gt;&#10;                &lt;Text style={{ fontSize: 15, color: '#546779', lineHeight: 1.45, flex: 1 }}&gt;四项任务与全部失败登记，报告追得到提交事实&lt;/Text&gt;&#10;            &lt;/Box&gt;&#10;&#10;            &lt;Box style={{ width: 42, height: 236, justifyContent: 'center', alignItems: 'center' }}&gt;&#10;                &lt;Text style={{ fontSize: 26, color: '#26816B' }}&gt;›&lt;/Text&gt;&#10;            &lt;/Box&gt;&#10;&#10;            &lt;Box style={{ width: 154, height: 236, background: '#ECF7F2', borderRadius: 10, padding: '18px 16px', flexDirection: 'column', gap: 8 }}&gt;&#10;                &lt;Text style={{ fontSize: 28, fontWeight: 'bold', color: '#26816B' }}&gt;06&lt;/Text&gt;&#10;                &lt;Text style={{ fontSize: 18, fontWeight: 'bold', color: '#20344B' }}&gt;交付检查&lt;/Text&gt;&#10;                &lt;Text style={{ fontSize: 15, color: '#26816B', lineHeight: 1.45 }}&gt;结果可交付&lt;/Text&gt;&#10;                &lt;Text style={{ fontSize: 15, color: '#546779', lineHeight: 1.45, flex: 1 }}&gt;接收者拿到哪类文件，哪些用途已经验证&lt;/Text&gt;&#10;            &lt;/Box&gt;&#10;&#10;        &lt;/Box&gt;&#10;&#10;        &lt;Box style={{ width: 1152, height: 72, background: '#F4F7FA', borderRadius: 10, flexDirection: 'row', alignItems: 'center', gap: 16, padding: '0 22px' }}&gt;&#10;            &lt;Box style={{ width: 4, height: 44, background: '#276FBF' }} /&gt;&#10;            &lt;Text style={{ fontSize: 16, color: '#20344B', flex: 1, lineHeight: 1.5 }}&gt;每一段留下的都不是感觉，而是一个能被别人指出来、翻出来的位置或编号。&lt;/Text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8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按证据推进项目，而不是按日历宣布完成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一条可检查的执行链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材料可审阅，配置已保存，实验输入已固定，运行事实可读，最后结果可交付。每一段都要能指出证据在哪里，而不只是凭印象说做完了。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6096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7620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54677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7620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材料审阅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7620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材料可审阅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762000" y="3600450"/>
            <a:ext cx="1162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需求、窗口分工与两段策略完整，不泄漏私人目的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2238375" y="3381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24765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26289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54677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6289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浏览器配置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26289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配置已保存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2628900" y="3600450"/>
            <a:ext cx="1162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图片、空间、出生点、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与模型已保存并重开核对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105275" y="3381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43434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44958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44958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执行准备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44958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输入已固定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4495800" y="3600450"/>
            <a:ext cx="1162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两组除咨询策略外一致，预检与预算对应当前草稿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5972175" y="3381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62103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3627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63627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运行观察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63627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事实可读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6362700" y="3600450"/>
            <a:ext cx="11620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、已提交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与在途请求都读得到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7839075" y="3381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80772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2296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6816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2296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结果收集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2296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失败也登记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229600" y="3600450"/>
            <a:ext cx="1162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四项任务与全部失败登记，报告追得到提交事实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9705975" y="3381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9944100" y="2409825"/>
            <a:ext cx="1466850" cy="2247900"/>
          </a:xfrm>
          <a:prstGeom prst="roundRect">
            <a:avLst>
              <a:gd name="adj" fmla="val 649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0096500" y="2581275"/>
            <a:ext cx="1162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6816B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10096500" y="2981325"/>
            <a:ext cx="116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交付检查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0096500" y="326707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结果可交付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0096500" y="3600450"/>
            <a:ext cx="1162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接收者拿到哪类文件，哪些用途已经验证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609600" y="48291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3" name=""/>
          <p:cNvSpPr/>
          <p:nvPr/>
        </p:nvSpPr>
        <p:spPr>
          <a:xfrm rot="0" flipH="0" flipV="0">
            <a:off x="819150" y="49625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009650" y="503872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每一段留下的都不是感觉，而是一个能被别人指出来、翻出来的位置或编号。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877" name="" descr="&lt;Slide notes={`六道门各自有一个必须回答的问题，而且答案必须是事实，不是态度。&#10;&#10;材料审阅要回答：四项需求、窗口分工和两段咨询策略是否完整，是否泄漏了私人目的。浏览器配置要回答：图片、空间、出生点、Skill 与模型是不是真的保存了，重开之后还在不在。执行准备要回答：两组除咨询策略之外是否一致，预检和预算对不对得上当前草稿。运行观察要回答：当前 Run、Attempt、已提交 Step 与在途请求分别是什么。结果收集要回答：四项任务和全部失败是否登记，报告能不能追到提交事实。交付检查要回答：接收者拿到了哪类文件，哪些用途已经被验证。&#10;&#10;答不上来，就说明这一步还没有完成，不需要争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2　按证据推进项目，而不是按日历宣布完成&lt;/Text&gt;&#10;            &lt;Text style={{ fontSize: 34, fontWeight: 'bold', color: '#20344B' }}&gt;进入下一阶段前必须回答什么&lt;/Text&gt;&#10;        &lt;/Box&gt;&#10;    &lt;/Box&gt;&#10;&#10;    &lt;Box style={{ height: 540, flexDirection: 'row', alignItems: 'center', gap: 32 }}&gt;&#10;&#10;        &lt;Box style={{ width: 690, flexDirection: 'column', gap: 8 }}&gt;&#10;&#10;            &lt;Box style={{ width: 690, height: 34, background: '#F4F7FA', borderRadius: 6, flexDirection: 'row', alignItems: 'center', padding: '0 18px', gap: 14 }}&gt;&#10;                &lt;Text style={{ fontSize: 14, fontWeight: 'bold', color: '#546779', width: 150 }}&gt;阶段&lt;/Text&gt;&#10;                &lt;Text style={{ fontSize: 14, fontWeight: 'bold', color: '#546779', flex: 1 }}&gt;进入下一阶段前必须回答的问题&lt;/Text&gt;&#10;            &lt;/Box&gt;&#10;&#10;            &lt;Box style={{ width: 690, height: 72, background: '#F4F7FA', borderRadius: 8, flexDirection: 'row', alignItems: 'center', gap: 14, padding: '0 18px' }}&gt;&#10;                &lt;Box style={{ width: 4, height: 40, background: '#546779' }} /&gt;&#10;                &lt;Text style={{ fontSize: 16, fontWeight: 'bold', color: '#20344B', width: 132 }}&gt;材料审阅&lt;/Text&gt;&#10;                &lt;Text style={{ fontSize: 15, color: '#546779', flex: 1, lineHeight: 1.4 }}&gt;四项需求、窗口分工和两段咨询策略是否完整且不泄漏私人目的？&lt;/Text&gt;&#10;            &lt;/Box&gt;&#10;&#10;            &lt;Box style={{ width: 690, height: 72, background: '#EDF4FC', borderRadius: 8, flexDirection: 'row', alignItems: 'center', gap: 14, padding: '0 18px' }}&gt;&#10;                &lt;Box style={{ width: 4, height: 40, background: '#276FBF' }} /&gt;&#10;                &lt;Text style={{ fontSize: 16, fontWeight: 'bold', color: '#20344B', width: 132 }}&gt;浏览器配置&lt;/Text&gt;&#10;                &lt;Text style={{ fontSize: 15, color: '#546779', flex: 1, lineHeight: 1.4 }}&gt;图片、空间、出生点、Skill 与模型是否实际保存并重开核对？&lt;/Text&gt;&#10;            &lt;/Box&gt;&#10;&#10;            &lt;Box style={{ width: 690, height: 72, background: '#EDF4FC', borderRadius: 8, flexDirection: 'row', alignItems: 'center', gap: 14, padding: '0 18px' }}&gt;&#10;                &lt;Box style={{ width: 4, height: 40, background: '#276FBF' }} /&gt;&#10;                &lt;Text style={{ fontSize: 16, fontWeight: 'bold', color: '#20344B', width: 132 }}&gt;执行准备&lt;/Text&gt;&#10;                &lt;Text style={{ fontSize: 15, color: '#546779', flex: 1, lineHeight: 1.4 }}&gt;两组除咨询策略外是否一致，预检与预算是否对应当前草稿？&lt;/Text&gt;&#10;            &lt;/Box&gt;&#10;&#10;            &lt;Box style={{ width: 690, height: 72, background: '#EDF4FC', borderRadius: 8, flexDirection: 'row', alignItems: 'center', gap: 14, padding: '0 18px' }}&gt;&#10;                &lt;Box style={{ width: 4, height: 40, background: '#276FBF' }} /&gt;&#10;                &lt;Text style={{ fontSize: 16, fontWeight: 'bold', color: '#20344B', width: 132 }}&gt;运行观察&lt;/Text&gt;&#10;                &lt;Text style={{ fontSize: 15, color: '#546779', flex: 1, lineHeight: 1.4 }}&gt;当前 Run、Attempt、已提交 Step 与在途请求是什么？&lt;/Text&gt;&#10;            &lt;/Box&gt;&#10;&#10;            &lt;Box style={{ width: 690, height: 72, background: '#ECF7F2', borderRadius: 8, flexDirection: 'row', alignItems: 'center', gap: 14, padding: '0 18px' }}&gt;&#10;                &lt;Box style={{ width: 4, height: 40, background: '#26816B' }} /&gt;&#10;                &lt;Text style={{ fontSize: 16, fontWeight: 'bold', color: '#20344B', width: 132 }}&gt;结果收集&lt;/Text&gt;&#10;                &lt;Text style={{ fontSize: 15, color: '#546779', flex: 1, lineHeight: 1.4 }}&gt;四项任务与全部失败是否登记，报告能否追到提交事实？&lt;/Text&gt;&#10;            &lt;/Box&gt;&#10;&#10;            &lt;Box style={{ width: 690, height: 72, background: '#ECF7F2', borderRadius: 8, flexDirection: 'row', alignItems: 'center', gap: 14, padding: '0 18px' }}&gt;&#10;                &lt;Box style={{ width: 4, height: 40, background: '#26816B' }} /&gt;&#10;                &lt;Text style={{ fontSize: 16, fontWeight: 'bold', color: '#20344B', width: 132 }}&gt;交付检查&lt;/Text&gt;&#10;                &lt;Text style={{ fontSize: 15, color: '#546779', flex: 1, lineHeight: 1.4 }}&gt;接收者拿到了哪类文件，哪些用途已经验证？&lt;/Text&gt;&#10;            &lt;/Box&gt;&#10;&#10;        &lt;/Box&gt;&#10;&#10;        &lt;Box style={{ width: 430, flexDirection: 'column', gap: 16 }}&gt;&#10;            &lt;Box style={{ width: 430, height: 184, background: '#FFF4E6', borderRadius: 10, padding: '18px 22px', flexDirection: 'column', gap: 8, justifyContent: 'center' }}&gt;&#10;                &lt;Text style={{ fontSize: 18, fontWeight: 'bold', color: '#CB6B28' }}&gt;答不上来就是没完成&lt;/Text&gt;&#10;                &lt;Text style={{ fontSize: 15, color: '#546779', lineHeight: 1.5 }}&gt;这些问题问的都是「能不能指出来在哪里」，没有一个问「感觉好不好」。&lt;/Text&gt;&#10;            &lt;/Box&gt;&#10;            &lt;Box style={{ width: 430, height: 184, background: '#F4F7FA', borderRadius: 10, padding: '18px 22px', flexDirection: 'column', gap: 8, justifyContent: 'center' }}&gt;&#10;                &lt;Text style={{ fontSize: 18, fontWeight: 'bold', color: '#20344B' }}&gt;仍然走第三章的流程&lt;/Text&gt;&#10;                &lt;Text style={{ fontSize: 15, color: '#546779', lineHeight: 1.5 }}&gt;配置和执行都在浏览器界面里完成，本节不另设一条捷径。&lt;/Text&gt;&#10;            &lt;/Box&gt;&#10;            &lt;Box style={{ width: 430, height: 132, background: '#EDF4FC', borderRadius: 10, padding: '18px 22px', flexDirection: 'column', gap: 8, justifyContent: 'center' }}&gt;&#10;                &lt;Text style={{ fontSize: 18, fontWeight: 'bold', color: '#276FBF' }}&gt;每段都留交接记录&lt;/Text&gt;&#10;                &lt;Text style={{ fontSize: 15, color: '#546779', lineHeight: 1.5 }}&gt;阶段完成之后再往下走，记录里要写清判断依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09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按证据推进项目，而不是按日历宣布完成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进入下一阶段前必须回答什么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609600" y="1266825"/>
            <a:ext cx="6572250" cy="323850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2343150" y="1352550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进入下一阶段前必须回答的问题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09600" y="1666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86" name=""/>
          <p:cNvSpPr/>
          <p:nvPr/>
        </p:nvSpPr>
        <p:spPr>
          <a:xfrm rot="0" flipH="0" flipV="0">
            <a:off x="781050" y="1819275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952500" y="1914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材料审阅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2343150" y="1885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四项需求、窗口分工和两段咨询策略是否完整且不泄漏私人目的？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2428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781050" y="25812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952500" y="2676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浏览器配置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2343150" y="2647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图片、空间、出生点、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与模型是否实际保存并重开核对？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09600" y="3190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4" name=""/>
          <p:cNvSpPr/>
          <p:nvPr/>
        </p:nvSpPr>
        <p:spPr>
          <a:xfrm rot="0" flipH="0" flipV="0">
            <a:off x="781050" y="33432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952500" y="3438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执行准备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2343150" y="3409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两组除咨询策略外是否一致，预检与预算是否对应当前草稿？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609600" y="3952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8" name=""/>
          <p:cNvSpPr/>
          <p:nvPr/>
        </p:nvSpPr>
        <p:spPr>
          <a:xfrm rot="0" flipH="0" flipV="0">
            <a:off x="781050" y="41052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952500" y="4200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运行观察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2343150" y="4171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、已提交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与在途请求是什么？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609600" y="4714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2" name=""/>
          <p:cNvSpPr/>
          <p:nvPr/>
        </p:nvSpPr>
        <p:spPr>
          <a:xfrm rot="0" flipH="0" flipV="0">
            <a:off x="781050" y="48672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952500" y="4962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结果收集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2343150" y="4933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四项任务与全部失败是否登记，报告能否追到提交事实？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609600" y="5476875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6" name=""/>
          <p:cNvSpPr/>
          <p:nvPr/>
        </p:nvSpPr>
        <p:spPr>
          <a:xfrm rot="0" flipH="0" flipV="0">
            <a:off x="781050" y="56292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952500" y="572452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交付检查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2343150" y="569595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接收者拿到了哪类文件，哪些用途已经验证？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7486650" y="1181100"/>
            <a:ext cx="4095750" cy="1752600"/>
          </a:xfrm>
          <a:prstGeom prst="roundRect">
            <a:avLst>
              <a:gd name="adj" fmla="val 543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696200" y="16573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答不上来就是没完成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696200" y="1943100"/>
            <a:ext cx="3676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这些问题问的都是「能不能指出来在哪里」，没有一个问「感觉好不好」。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7486650" y="3086100"/>
            <a:ext cx="4095750" cy="1752600"/>
          </a:xfrm>
          <a:prstGeom prst="roundRect">
            <a:avLst>
              <a:gd name="adj" fmla="val 543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696200" y="35623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仍然走第三章的流程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696200" y="3848100"/>
            <a:ext cx="3676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配置和执行都在浏览器界面里完成，本节不另设一条捷径。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7486650" y="4991100"/>
            <a:ext cx="40957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7696200" y="53530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每段都留交接记录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7696200" y="5638800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阶段完成之后再往下走，记录里要写清判断依据。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notes={`配置和执行这两件事，仍然走第三章讲过的浏览器流程，本节不另开一条捷径。&#10;&#10;有三条约束要记住。第一，不通过脚本去补齐界面上还没有保存的内容。界面上没保存，说明这份配置在系统里并不存在，用脚本补上只会让记录和实际不一致。第二，不把本地 Skill 文档解析通过当作正式运行通过；解析器读得懂文字，不等于实验里真的按这段文字行为。&#10;&#10;第三，如果执行前复制了草稿，要重新确认当前实验身份。旧的预检截图属于旧副本，不能拿来当新副本的证明。&#10;&#10;这些约束看起来严格，其实是在保护一件事：报告里的每一个结论，都能追到当时真正运行的那份输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2　按证据推进项目，而不是按日历宣布完成&lt;/Text&gt;&#10;            &lt;Text style={{ fontSize: 34, fontWeight: 'bold', color: '#20344B' }}&gt;配置与执行仍走第三章的浏览器流程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26, fontWeight: 'bold', color: '#20344B', lineHeight: 1.4 }}&gt;不另开一处{'\n'}更省事的入口&lt;/Text&gt;&#10;            &lt;Box style={{ width: 60, height: 4, background: '#276FBF' }} /&gt;&#10;            &lt;Text style={{ fontSize: 16, color: '#546779', lineHeight: 1.7, width: 420 }}&gt;界面里保存了什么、运行时就用了什么。绕过界面图省事，省下的是几分钟，赔上的是整份记录能不能被别人核对。&lt;/Text&gt;&#10;            &lt;Box style={{ width: 420, height: 44, background: '#EDF4FC', borderRadius: 8, justifyContent: 'center', alignItems: 'center' }}&gt;&#10;                &lt;Text style={{ fontSize: 16, color: '#276FBF' }}&gt;配置与执行　→　第三章的流程&lt;/Text&gt;&#10;            &lt;/Box&gt;&#10;        &lt;/Box&gt;&#10;&#10;        &lt;Box style={{ width: 700, flexDirection: 'column', gap: 14 }}&gt;&#10;&#10;            &lt;Box style={{ width: 700, height: 112, background: '#FFF4E6', borderRadius: 10, flexDirection: 'row', alignItems: 'center', gap: 16, padding: '0 22px' }}&gt;&#10;                &lt;Box style={{ width: 4, height: 56, background: '#CB6B28' }} /&gt;&#10;                &lt;Box style={{ flexDirection: 'column', gap: 4, flex: 1 }}&gt;&#10;                    &lt;Text style={{ fontSize: 18, fontWeight: 'bold', color: '#CB6B28' }}&gt;不通过脚本补齐未保存的内容&lt;/Text&gt;&#10;                    &lt;Text style={{ fontSize: 15, color: '#546779', lineHeight: 1.5 }}&gt;界面上没有保存，就说明这份配置在系统里并不存在。&lt;/Text&gt;&#10;                &lt;/Box&gt;&#10;            &lt;/Box&gt;&#10;&#10;            &lt;Box style={{ width: 700, height: 112, background: '#FFF4E6', borderRadius: 10, flexDirection: 'row', alignItems: 'center', gap: 16, padding: '0 22px' }}&gt;&#10;                &lt;Box style={{ width: 4, height: 56, background: '#CB6B28' }} /&gt;&#10;                &lt;Box style={{ flexDirection: 'column', gap: 4, flex: 1 }}&gt;&#10;                    &lt;Text style={{ fontSize: 18, fontWeight: 'bold', color: '#CB6B28' }}&gt;不把解析通过当作运行通过&lt;/Text&gt;&#10;                    &lt;Text style={{ fontSize: 15, color: '#546779', lineHeight: 1.5 }}&gt;本地 Skill 文档能被解析，不等于实验里真的按这段文字行为。&lt;/Text&gt;&#10;                &lt;/Box&gt;&#10;            &lt;/Box&gt;&#10;&#10;            &lt;Box style={{ width: 700, height: 112, background: '#F4F7FA', borderRadius: 10, flexDirection: 'row', alignItems: 'center', gap: 16, padding: '0 22px' }}&gt;&#10;                &lt;Box style={{ width: 4, height: 56, background: '#276FBF' }} /&gt;&#10;                &lt;Box style={{ flexDirection: 'column', gap: 4, flex: 1 }}&gt;&#10;                    &lt;Text style={{ fontSize: 18, fontWeight: 'bold', color: '#20344B' }}&gt;复制草稿后重新确认身份&lt;/Text&gt;&#10;                    &lt;Text style={{ fontSize: 15, color: '#546779', lineHeight: 1.5 }}&gt;旧预检截图属于旧副本，不能当作新副本的证明。&lt;/Text&gt;&#10;                &lt;/Box&gt;&#10;            &lt;/Box&gt;&#10;&#10;            &lt;Box style={{ width: 700, height: 96, background: '#ECF7F2', borderRadius: 10, flexDirection: 'row', alignItems: 'center', gap: 16, padding: '0 22px' }}&gt;&#10;                &lt;Box style={{ width: 4, height: 52, background: '#26816B' }} /&gt;&#10;                &lt;Text style={{ fontSize: 16, color: '#20344B', flex: 1, lineHeight: 1.5 }}&gt;守住这条线，报告里的每个结论才能追到当时真正运行的那份输入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0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按证据推进项目，而不是按日历宣布完成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配置与执行仍走第三章的浏览器流程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4000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不另开一处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更省事的入口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5147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705225"/>
            <a:ext cx="400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界面里保存了什么、运行时就用了什么。绕过界面图省事，省下的是几分钟，赔上的是整份记录能不能被别人核对。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4486275"/>
            <a:ext cx="40005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543050" y="46005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配置与执行　→　第三章的流程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914900" y="145732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124450" y="17240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14950" y="174307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不通过脚本补齐未保存的内容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314950" y="199072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界面上没有保存，就说明这份配置在系统里并不存在。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914900" y="265747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5124450" y="29241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14950" y="294322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不把解析通过当作运行通过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314950" y="319087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文档能被解析，不等于实验里真的按这段文字行为。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914900" y="385762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124450" y="41243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14950" y="414337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复制草稿后重新确认身份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314950" y="439102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旧预检截图属于旧副本，不能当作新副本的证明。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914900" y="5057775"/>
            <a:ext cx="66675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5124450" y="52673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14950" y="5381625"/>
            <a:ext cx="6057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守住这条线，报告里的每个结论才能追到当时真正运行的那份输入。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notes={`排程这件事，最容易把两件事混成一件：虚拟时间和真实时间。&#10;&#10;按候选时间 2026 年 10 月 18 日 09:00 起算，每步一分钟，共 76 步。第一步落在 09:00，最后一步落在 10:15，中间覆盖 75 个虚拟分钟。注意 76 步只跨 75 分钟，因为第一步并不消耗时间。&#10;&#10;但这 75 个虚拟分钟完全不代表真实耗时。真实世界里，模型调用要等，浏览器要渲染，操作人员可能中途暂停。所以排程表里必须把三样东西分开登记：实际操作时间、模型耗时、暂停时间。&#10;&#10;最不能写的一句话是“上午安排两小时操作”。那是我们安排的时间，不是系统保证两小时内一定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2　按证据推进项目，而不是按日历宣布完成&lt;/Text&gt;&#10;            &lt;Text style={{ fontSize: 34, fontWeight: 'bold', color: '#20344B' }}&gt;76 步覆盖 75 个虚拟分钟&lt;/Text&gt;&#10;        &lt;/Box&gt;&#10;    &lt;/Box&gt;&#10;&#10;    &lt;Box style={{ height: 540, flexDirection: 'column', justifyContent: 'center', gap: 16 }}&gt;&#10;&#10;        &lt;Box style={{ flexDirection: 'row', alignItems: 'center', gap: 14 }}&gt;&#10;            &lt;Box style={{ height: 44, background: '#F4F7FA', borderRadius: 8, justifyContent: 'center', padding: '0 20px' }}&gt;&#10;                &lt;Text style={{ fontSize: 16, color: '#546779' }}&gt;候选时间　2026-10-18T09:00:00+08:00&lt;/Text&gt;&#10;            &lt;/Box&gt;&#10;            &lt;Box style={{ height: 44, background: '#EDF4FC', borderRadius: 8, justifyContent: 'center', padding: '0 20px' }}&gt;&#10;                &lt;Text style={{ fontSize: 16, color: '#276FBF' }}&gt;每步一分钟　·　共 76 步&lt;/Text&gt;&#10;            &lt;/Box&gt;&#10;            &lt;Box style={{ height: 44, background: '#ECF7F2', borderRadius: 8, justifyContent: 'center', padding: '0 20px' }}&gt;&#10;                &lt;Text style={{ fontSize: 16, color: '#26816B' }}&gt;覆盖 75 个虚拟分钟&lt;/Text&gt;&#10;            &lt;/Box&gt;&#10;        &lt;/Box&gt;&#10;&#10;        &lt;Box style={{ flexDirection: 'row' }}&gt;&#10;            &lt;Box style={{ width: 192, height: 88, background: '#EDF4FC', flexDirection: 'column', gap: 4, justifyContent: 'center', padding: '0 20px' }}&gt;&#10;                &lt;Text style={{ fontSize: 22, fontWeight: 'bold', color: '#276FBF' }}&gt;09:00&lt;/Text&gt;&#10;                &lt;Text style={{ fontSize: 14, color: '#546779' }}&gt;Step 1 · 起点&lt;/Text&gt;&#10;            &lt;/Box&gt;&#10;            &lt;Box style={{ width: 192, height: 88, background: '#EDF4FC', flexDirection: 'column', gap: 4, justifyContent: 'center', padding: '0 20px' }}&gt;&#10;                &lt;Text style={{ fontSize: 22, fontWeight: 'bold', color: '#276FBF' }}&gt;09:15&lt;/Text&gt;&#10;                &lt;Text style={{ fontSize: 14, color: '#546779' }}&gt;第 16 步&lt;/Text&gt;&#10;            &lt;/Box&gt;&#10;            &lt;Box style={{ width: 192, height: 88, background: '#EDF4FC', flexDirection: 'column', gap: 4, justifyContent: 'center', padding: '0 20px' }}&gt;&#10;                &lt;Text style={{ fontSize: 22, fontWeight: 'bold', color: '#276FBF' }}&gt;09:30&lt;/Text&gt;&#10;                &lt;Text style={{ fontSize: 14, color: '#546779' }}&gt;第 31 步&lt;/Text&gt;&#10;            &lt;/Box&gt;&#10;            &lt;Box style={{ width: 192, height: 88, background: '#EDF4FC', flexDirection: 'column', gap: 4, justifyContent: 'center', padding: '0 20px' }}&gt;&#10;                &lt;Text style={{ fontSize: 22, fontWeight: 'bold', color: '#276FBF' }}&gt;09:45&lt;/Text&gt;&#10;                &lt;Text style={{ fontSize: 14, color: '#546779' }}&gt;第 46 步&lt;/Text&gt;&#10;            &lt;/Box&gt;&#10;            &lt;Box style={{ width: 192, height: 88, background: '#ECF7F2', flexDirection: 'column', gap: 4, justifyContent: 'center', padding: '0 20px' }}&gt;&#10;                &lt;Text style={{ fontSize: 22, fontWeight: 'bold', color: '#26816B' }}&gt;10:00&lt;/Text&gt;&#10;                &lt;Text style={{ fontSize: 14, color: '#546779' }}&gt;第 61 步&lt;/Text&gt;&#10;            &lt;/Box&gt;&#10;            &lt;Box style={{ width: 192, height: 88, background: '#ECF7F2', flexDirection: 'column', gap: 4, justifyContent: 'center', padding: '0 20px' }}&gt;&#10;                &lt;Text style={{ fontSize: 22, fontWeight: 'bold', color: '#26816B' }}&gt;10:15&lt;/Text&gt;&#10;                &lt;Text style={{ fontSize: 14, color: '#546779' }}&gt;Step 76 · 终点&lt;/Text&gt;&#10;            &lt;/Box&gt;&#10;        &lt;/Box&gt;&#10;&#10;        &lt;Box style={{ flexDirection: 'row', gap: 16 }}&gt;&#10;            &lt;Box style={{ width: 373, height: 116, background: '#F4F7FA', borderRadius: 10, padding: '16px 20px', flexDirection: 'column', gap: 6, justifyContent: 'center' }}&gt;&#10;                &lt;Text style={{ fontSize: 18, fontWeight: 'bold', color: '#20344B' }}&gt;实际操作时间&lt;/Text&gt;&#10;                &lt;Text style={{ fontSize: 15, color: '#546779', lineHeight: 1.5 }}&gt;我们坐在屏幕前实际花了多久&lt;/Text&gt;&#10;            &lt;/Box&gt;&#10;            &lt;Box style={{ width: 373, height: 116, background: '#F4F7FA', borderRadius: 10, padding: '16px 20px', flexDirection: 'column', gap: 6, justifyContent: 'center' }}&gt;&#10;                &lt;Text style={{ fontSize: 18, fontWeight: 'bold', color: '#20344B' }}&gt;模型耗时&lt;/Text&gt;&#10;                &lt;Text style={{ fontSize: 15, color: '#546779', lineHeight: 1.5 }}&gt;每次请求从发出到返回的等待&lt;/Text&gt;&#10;            &lt;/Box&gt;&#10;            &lt;Box style={{ width: 374, height: 116, background: '#F4F7FA', borderRadius: 10, padding: '16px 20px', flexDirection: 'column', gap: 6, justifyContent: 'center' }}&gt;&#10;                &lt;Text style={{ fontSize: 18, fontWeight: 'bold', color: '#20344B' }}&gt;暂停时间&lt;/Text&gt;&#10;                &lt;Text style={{ fontSize: 15, color: '#546779', lineHeight: 1.5 }}&gt;中途停下、复核与等待决定的时间&lt;/Text&gt;&#10;            &lt;/Box&gt;&#10;        &lt;/Box&gt;&#10;&#10;        &lt;Box style={{ width: 1152, height: 76, background: '#FFF4E6', borderRadius: 10, flexDirection: 'row', alignItems: 'center', gap: 16, padding: '0 22px' }}&gt;&#10;            &lt;Box style={{ width: 4, height: 44, background: '#CB6B28' }} /&gt;&#10;            &lt;Text style={{ fontSize: 16, color: '#20344B', flex: 1, lineHeight: 1.5 }}&gt;不能把“上午安排两小时操作”写成“系统保证两小时内完成”。前者是我们的安排，后者是系统的承诺。&lt;/Text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1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86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按证据推进项目，而不是按日历宣布完成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步覆盖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个虚拟分钟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1943100"/>
            <a:ext cx="32004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2819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候选时间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2026-10-18T09:00:00+08:00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3943350" y="1943100"/>
            <a:ext cx="2066925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33850" y="2057400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每步一分钟　·　共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143625" y="1943100"/>
            <a:ext cx="1724025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334125" y="205740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覆盖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个虚拟分钟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514600"/>
            <a:ext cx="1828800" cy="8382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001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1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2438400" y="2514600"/>
            <a:ext cx="1828800" cy="8382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26289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09:15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6289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267200" y="2514600"/>
            <a:ext cx="1828800" cy="8382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4577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4577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0" y="2514600"/>
            <a:ext cx="1828800" cy="8382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2865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09:45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2865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924800" y="2514600"/>
            <a:ext cx="1828800" cy="8382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1153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1153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9753600" y="2514600"/>
            <a:ext cx="1828800" cy="8382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944100" y="2705100"/>
            <a:ext cx="144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10:15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944100" y="30003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76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终点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3505200"/>
            <a:ext cx="3552825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实际操作时间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0100" y="4067175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我们坐在屏幕前实际花了多久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314825" y="3505200"/>
            <a:ext cx="3552825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505325" y="38004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模型耗时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505325" y="4067175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每次请求从发出到返回的等待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020050" y="3505200"/>
            <a:ext cx="356235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210550" y="3800475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暂停时间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210550" y="406717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中途停下、复核与等待决定的时间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47625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19150" y="49149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09650" y="49911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不能把“上午安排两小时操作”写成“系统保证两小时内完成”。前者是我们的安排，后者是系统的承诺。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2" name="" descr="&lt;Slide notes={`接下来算钱，但先别急着写金额。&#10;&#10;正确的顺序是先列数量。八个参与者乘七十六步，得到 608 个参与者轮次；再按每轮平均 2.5 次逻辑调用，得到 1,520 次；物理尝试比逻辑调用多 25%，得到 1,900 次。&#10;&#10;为什么不能跳过数量直接写“大概几十美元”？因为一旦金额被写下来，它就变成别人对不上的东西。数量可以核，假设可以改，金额只跟着它们走。哪里多了哪里少了，回头一看就知道该改哪一个。&#10;&#10;整条推演只挂在三个假设上：有多少参与者轮次、每轮平均几次逻辑调用、额外尝试占多大比例。把这三个数写清楚，别人就能重算一遍，也能在第一次实际观察之后按事实修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③&lt;/Text&gt;&#10;        &lt;/Box&gt;&#10;    &lt;/Box&gt;&#10;&#10;    &lt;Box style={{ height: 540, flexDirection: 'column', justifyContent: 'center', gap: 20 }}&gt;&#10;&#10;        &lt;Text style={{ fontSize: 80, fontWeight: 'bold', color: '#276FBF', lineHeight: 1.0 }}&gt;③&lt;/Text&gt;&#10;&#10;        &lt;Text style={{ fontSize: 56, fontWeight: 'bold', color: '#20344B', lineHeight: 1.15 }}&gt;从 608 轮次推到{'\n'}1,900 次物理尝试&lt;/Text&gt;&#10;&#10;        &lt;Box style={{ width: 72, height: 4, background: '#276FBF' }} /&gt;&#10;&#10;        &lt;Text style={{ fontSize: 18, color: '#546779', lineHeight: 1.7, width: 1000 }}&gt;先列数量，再按一组写明的假设算出金额。整条推演只挂在三个假设上。&lt;/Text&gt;&#10;&#10;        &lt;Box style={{ flexDirection: 'row', gap: 20 }}&gt;&#10;            &lt;Box style={{ width: 370, height: 148, background: '#F4F7FA', borderRadius: 10, padding: '18px 22px', flexDirection: 'column', gap: 8, justifyContent: 'center' }}&gt;&#10;                &lt;Text style={{ fontSize: 20, fontWeight: 'bold', color: '#20344B' }}&gt;第一层：轮次&lt;/Text&gt;&#10;                &lt;Text style={{ fontSize: 15, color: '#546779', lineHeight: 1.5 }}&gt;五名人物加咨询台、A 窗口、B 窗口，共八个参与者；乘七十六步。&lt;/Text&gt;&#10;            &lt;/Box&gt;&#10;            &lt;Box style={{ width: 370, height: 148, background: '#F4F7FA', borderRadius: 10, padding: '18px 22px', flexDirection: 'column', gap: 8, justifyContent: 'center' }}&gt;&#10;                &lt;Text style={{ fontSize: 20, fontWeight: 'bold', color: '#20344B' }}&gt;第二层：调用数&lt;/Text&gt;&#10;                &lt;Text style={{ fontSize: 15, color: '#546779', lineHeight: 1.5 }}&gt;假设每个参与者轮次平均产生 2.5 次逻辑调用。&lt;/Text&gt;&#10;            &lt;/Box&gt;&#10;            &lt;Box style={{ width: 372, height: 148, background: '#FFF4E6', borderRadius: 10, padding: '18px 22px', flexDirection: 'column', gap: 8, justifyContent: 'center' }}&gt;&#10;                &lt;Text style={{ fontSize: 20, fontWeight: 'bold', color: '#CB6B28' }}&gt;第三层：额外尝试&lt;/Text&gt;&#10;                &lt;Text style={{ fontSize: 15, color: '#546779', lineHeight: 1.5 }}&gt;假设物理尝试比逻辑调用多 25%，这才是计费口径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2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608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轮次推到</a:t>
            </a:r>
            <a:endParaRPr/>
          </a:p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1,900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次物理尝试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4010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先列数量，再按一组写明的假设算出金额。整条推演只挂在三个假设上。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4781550"/>
            <a:ext cx="352425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19150" y="507682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第一层：轮次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19150" y="5381625"/>
            <a:ext cx="3105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五名人物加咨询台、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窗口，共八个参与者；乘七十六步。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324350" y="4781550"/>
            <a:ext cx="352425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533900" y="52101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第二层：调用数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533900" y="551497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假设每个参与者轮次平均产生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次逻辑调用。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039100" y="4781550"/>
            <a:ext cx="3543300" cy="1409700"/>
          </a:xfrm>
          <a:prstGeom prst="roundRect">
            <a:avLst>
              <a:gd name="adj" fmla="val 67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248650" y="507682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第三层：额外尝试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248650" y="5381625"/>
            <a:ext cx="3124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假设物理尝试比逻辑调用多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25%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，这才是计费口径。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notes={`这四段数字连起来看，逻辑是清楚的。&#10;&#10;八个参与者是五名人物加咨询台、A 窗口和 B 窗口。这里有个容易漏的点：咨询台和两个窗口没有来访者时，仍然会自主执行，所以不能只算四名来访者，那样会少算一半。&#10;&#10;608 是参与者轮次，不是模型请求数。一个轮次里，人物可能先推理再调用工具，来回几次，所以下一步才是逻辑调用：608 乘 2.5 等于 1,520 次。&#10;&#10;再往下一层是物理尝试。请求可能失败要重试，所以物理尝试比逻辑调用多 25%，1,520 乘 1.25 等于 1,900 次。&#10;&#10;轮次、逻辑调用、物理尝试，一层比一层更接近真实计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3　先列数量，再计算一份假设预算&lt;/Text&gt;&#10;            &lt;Text style={{ fontSize: 34, fontWeight: 'bold', color: '#20344B' }}&gt;轮次、调用与尝试的关系&lt;/Text&gt;&#10;        &lt;/Box&gt;&#10;    &lt;/Box&gt;&#10;&#10;    &lt;Box style={{ height: 540, flexDirection: 'column', justifyContent: 'center', gap: 16 }}&gt;&#10;&#10;        &lt;Text style={{ fontSize: 17, color: '#546779', lineHeight: 1.6, width: 1152 }}&gt;从参与者轮次出发，先得到逻辑调用，再加上重试产生的额外尝试。三次假设分别是 2.5 次／轮与 25%。&lt;/Text&gt;&#10;&#10;        &lt;Box style={{ flexDirection: 'row', alignItems: 'center' }}&gt;&#10;&#10;            &lt;Box style={{ width: 250, height: 216, background: '#F4F7FA', borderRadius: 10, padding: '18px 20px', flexDirection: 'column', gap: 8 }}&gt;&#10;                &lt;Text style={{ fontSize: 15, color: '#546779' }}&gt;参与者&lt;/Text&gt;&#10;                &lt;Text style={{ fontSize: 34, fontWeight: 'bold', color: '#20344B' }}&gt;8 × 76&lt;/Text&gt;&#10;                &lt;Text style={{ fontSize: 18, fontWeight: 'bold', color: '#20344B' }}&gt;五个参与者加三个对象&lt;/Text&gt;&#10;                &lt;Text style={{ fontSize: 15, color: '#546779', lineHeight: 1.45, flex: 1 }}&gt;五名人物，加咨询台、A 窗口、B 窗口&lt;/Text&gt;&#10;            &lt;/Box&gt;&#10;&#10;            &lt;Box style={{ width: 44, height: 216, justifyContent: 'center', alignItems: 'center' }}&gt;&#10;                &lt;Text style={{ fontSize: 26, color: '#276FBF' }}&gt;›&lt;/Text&gt;&#10;            &lt;/Box&gt;&#10;&#10;            &lt;Box style={{ width: 250, height: 216, background: '#EDF4FC', borderRadius: 10, padding: '18px 20px', flexDirection: 'column', gap: 8 }}&gt;&#10;                &lt;Text style={{ fontSize: 15, color: '#546779' }}&gt;参与者轮次&lt;/Text&gt;&#10;                &lt;Text style={{ fontSize: 34, fontWeight: 'bold', color: '#276FBF' }}&gt;608&lt;/Text&gt;&#10;                &lt;Text style={{ fontSize: 18, fontWeight: 'bold', color: '#20344B' }}&gt;一个 Run 的轮次&lt;/Text&gt;&#10;                &lt;Text style={{ fontSize: 15, color: '#546779', lineHeight: 1.45, flex: 1 }}&gt;轮次数不等于模型请求数，每轮可能多次往返&lt;/Text&gt;&#10;            &lt;/Box&gt;&#10;&#10;            &lt;Box style={{ width: 44, height: 216, justifyContent: 'center', alignItems: 'center' }}&gt;&#10;                &lt;Text style={{ fontSize: 26, color: '#276FBF' }}&gt;›&lt;/Text&gt;&#10;            &lt;/Box&gt;&#10;&#10;            &lt;Box style={{ width: 250, height: 216, background: '#EDF4FC', borderRadius: 10, padding: '18px 20px', flexDirection: 'column', gap: 8 }}&gt;&#10;                &lt;Text style={{ fontSize: 15, color: '#546779' }}&gt;逻辑调用&lt;/Text&gt;&#10;                &lt;Text style={{ fontSize: 34, fontWeight: 'bold', color: '#276FBF' }}&gt;1,520&lt;/Text&gt;&#10;                &lt;Text style={{ fontSize: 18, fontWeight: 'bold', color: '#20344B' }}&gt;每轮假设 2.5 次&lt;/Text&gt;&#10;                &lt;Text style={{ fontSize: 15, color: '#546779', lineHeight: 1.45, flex: 1 }}&gt;608 乘 2.5 得到 1,520 次&lt;/Text&gt;&#10;            &lt;/Box&gt;&#10;&#10;            &lt;Box style={{ width: 44, height: 216, justifyContent: 'center', alignItems: 'center' }}&gt;&#10;                &lt;Text style={{ fontSize: 26, color: '#CB6B28' }}&gt;›&lt;/Text&gt;&#10;            &lt;/Box&gt;&#10;&#10;            &lt;Box style={{ width: 250, height: 216, background: '#FFF4E6', borderRadius: 10, padding: '18px 20px', flexDirection: 'column', gap: 8 }}&gt;&#10;                &lt;Text style={{ fontSize: 15, color: '#546779' }}&gt;物理尝试&lt;/Text&gt;&#10;                &lt;Text style={{ fontSize: 34, fontWeight: 'bold', color: '#CB6B28' }}&gt;1,900&lt;/Text&gt;&#10;                &lt;Text style={{ fontSize: 18, fontWeight: 'bold', color: '#20344B' }}&gt;按逻辑量加 25%&lt;/Text&gt;&#10;                &lt;Text style={{ fontSize: 15, color: '#546779', lineHeight: 1.45, flex: 1 }}&gt;1,520 乘 1.25 得到 1,900 次&lt;/Text&gt;&#10;            &lt;/Box&gt;&#10;&#10;        &lt;/Box&gt;&#10;&#10;        &lt;Box style={{ width: 1152, height: 72, background: '#ECF7F2', borderRadius: 10, flexDirection: 'row', alignItems: 'center', gap: 16, padding: '0 22px' }}&gt;&#10;            &lt;Box style={{ width: 4, height: 44, background: '#26816B' }} /&gt;&#10;            &lt;Text style={{ fontSize: 16, color: '#20344B', flex: 1, lineHeight: 1.5 }}&gt;对象无人咨询时仍可自主执行，所以八个参与者都要计入，不能只算四名来访者。&lt;/Text&gt;&#10;        &lt;/Box&gt;&#10;&#10;        &lt;Box style={{ width: 1152, height: 72, background: '#FFF4E6', borderRadius: 10, flexDirection: 'row', alignItems: 'center', gap: 16, padding: '0 22px' }}&gt;&#10;            &lt;Box style={{ width: 4, height: 44, background: '#CB6B28' }} /&gt;&#10;            &lt;Text style={{ fontSize: 16, color: '#20344B', flex: 1, lineHeight: 1.5 }}&gt;物理尝试才是计费口径；1,900 只是假设量，最终以实际记录与账单为准。&lt;/Text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3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先列数量，再计算一份假设预算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轮次、调用与尝试的关系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从参与者轮次出发，先得到逻辑调用，再加上重试产生的额外尝试。三次假设分别是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次／轮与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25%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2085975"/>
            <a:ext cx="2381250" cy="2057400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22574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2000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8 × 76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00100" y="2971800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五个参与者加三个对象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20002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五名人物，加咨询台、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162300" y="2962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409950" y="2085975"/>
            <a:ext cx="2381250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600450" y="22574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参与者轮次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600450" y="2505075"/>
            <a:ext cx="2000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608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600450" y="2971800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的轮次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600450" y="3257550"/>
            <a:ext cx="20002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轮次数不等于模型请求数，每轮可能多次往返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962650" y="2962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210300" y="2085975"/>
            <a:ext cx="2381250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400800" y="22574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00800" y="2505075"/>
            <a:ext cx="2000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1,520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400800" y="2971800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每轮假设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400800" y="3257550"/>
            <a:ext cx="2000250" cy="714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608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得到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1,520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63000" y="2962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9010650" y="2085975"/>
            <a:ext cx="2381250" cy="2057400"/>
          </a:xfrm>
          <a:prstGeom prst="roundRect">
            <a:avLst>
              <a:gd name="adj" fmla="val 463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201150" y="22574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201150" y="2505075"/>
            <a:ext cx="2000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6B28"/>
                </a:solidFill>
                <a:latin typeface="Microsoft YaHei"/>
                <a:ea typeface="Microsoft YaHei"/>
              </a:rPr>
              <a:t>1,900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201150" y="2971800"/>
            <a:ext cx="2000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按逻辑量加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201150" y="3257550"/>
            <a:ext cx="2000250" cy="714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1,520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1.25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得到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1,900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42957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819150" y="44291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09650" y="450532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对象无人咨询时仍可自主执行，所以八个参与者都要计入，不能只算四名来访者。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51339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19150" y="52673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09650" y="534352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物理尝试才是计费口径；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1,900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只是假设量，最终以实际记录与账单为准。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9" name="" descr="&lt;Slide notes={`把所有假设代进去，就得到一张可以逐行核对的表。&#10;&#10;逻辑调用是 608 乘 2.5，等于 1,520 次。含重试的物理尝试是 1,520 乘 1.25，等于 1,900 次。输入量是 1,900 乘 1,500，等于 285 万 Token；输出量是 1,900 乘 300，等于 57 万 Token。&#10;&#10;假设计价用两个数：输入每百万 Token 一美元，输出每百万四美元。于是 2.85 乘 1 等于 2.85 美元，0.57 乘 4 等于 2.28 美元，合计 5.13 美元。&#10;&#10;这两个单价是教学假设，不是任何服务商的现价。这张表的价值不在金额，而在于每一行都能被重算：换掉任何一个假设，结果都跟着变，别人一眼就能看出你改了哪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3　先列数量，再计算一份假设预算&lt;/Text&gt;&#10;            &lt;Text style={{ fontSize: 34, fontWeight: 'bold', color: '#20344B' }}&gt;一个 Run 的逐项演算&lt;/Text&gt;&#10;        &lt;/Box&gt;&#10;    &lt;/Box&gt;&#10;&#10;    &lt;Box style={{ height: 540, flexDirection: 'row', alignItems: 'center', gap: 32 }}&gt;&#10;&#10;        &lt;Box style={{ width: 500, flexDirection: 'column', gap: 14, justifyContent: 'center' }}&gt;&#10;            &lt;Text style={{ fontSize: 26, fontWeight: 'bold', color: '#20344B', lineHeight: 1.4 }}&gt;纯假设的{'\n'}预算演算&lt;/Text&gt;&#10;            &lt;Box style={{ width: 60, height: 4, background: '#276FBF' }} /&gt;&#10;            &lt;Text style={{ fontSize: 16, color: '#546779', lineHeight: 1.7, width: 500 }}&gt;先计划两组各一个 Run，再把每个参与者轮次折算成 Token 与费用。单价不是任何服务商的现价。&lt;/Text&gt;&#10;            &lt;Box style={{ width: 500, height: 96, background: '#F7F3E8', borderRadius: 10, padding: '16px 20px', flexDirection: 'column', gap: 6, justifyContent: 'center' }}&gt;&#10;                &lt;Text style={{ fontSize: 16, fontWeight: 'bold', color: '#20344B' }}&gt;每次物理尝试的用量假设&lt;/Text&gt;&#10;                &lt;Text style={{ fontSize: 15, color: '#546779', lineHeight: 1.5 }}&gt;平均 1,500 输入 Token、300 输出 Token&lt;/Text&gt;&#10;            &lt;/Box&gt;&#10;            &lt;Box style={{ width: 500, height: 96, background: '#F7F3E8', borderRadius: 10, padding: '16px 20px', flexDirection: 'column', gap: 6, justifyContent: 'center' }}&gt;&#10;                &lt;Text style={{ fontSize: 16, fontWeight: 'bold', color: '#20344B' }}&gt;每次逻辑调用的往返假设&lt;/Text&gt;&#10;                &lt;Text style={{ fontSize: 15, color: '#546779', lineHeight: 1.5 }}&gt;平均 2.5 次逻辑调用／轮；额外尝试加 25%&lt;/Text&gt;&#10;            &lt;/Box&gt;&#10;        &lt;/Box&gt;&#10;&#10;        &lt;Box style={{ width: 620, flexDirection: 'column', gap: 8 }}&gt;&#10;&#10;            &lt;Box style={{ width: 620, height: 76, background: '#F4F7FA', borderRadius: 8, flexDirection: 'row', alignItems: 'center', gap: 14, padding: '0 18px' }}&gt;&#10;                &lt;Text style={{ fontSize: 16, fontWeight: 'bold', color: '#20344B', width: 188 }}&gt;逻辑调用&lt;/Text&gt;&#10;                &lt;Text style={{ fontSize: 16, color: '#546779', flex: 1, lineHeight: 1.4 }}&gt;608 × 2.5 = 1,520 次&lt;/Text&gt;&#10;            &lt;/Box&gt;&#10;&#10;            &lt;Box style={{ width: 620, height: 76, background: '#FFF4E6', borderRadius: 8, flexDirection: 'row', alignItems: 'center', gap: 14, padding: '0 18px' }}&gt;&#10;                &lt;Text style={{ fontSize: 16, fontWeight: 'bold', color: '#CB6B28', width: 188 }}&gt;含重试的物理尝试&lt;/Text&gt;&#10;                &lt;Text style={{ fontSize: 16, color: '#546779', flex: 1, lineHeight: 1.4 }}&gt;1,520 × 1.25 = 1,900 次&lt;/Text&gt;&#10;            &lt;/Box&gt;&#10;&#10;            &lt;Box style={{ width: 620, height: 76, background: '#EDF4FC', borderRadius: 8, flexDirection: 'row', alignItems: 'center', gap: 14, padding: '0 18px' }}&gt;&#10;                &lt;Text style={{ fontSize: 16, fontWeight: 'bold', color: '#20344B', width: 188 }}&gt;输入量&lt;/Text&gt;&#10;                &lt;Text style={{ fontSize: 16, color: '#546779', flex: 1, lineHeight: 1.4 }}&gt;1,900 × 1,500 = 2,850,000 Token&lt;/Text&gt;&#10;            &lt;/Box&gt;&#10;&#10;            &lt;Box style={{ width: 620, height: 76, background: '#EDF4FC', borderRadius: 8, flexDirection: 'row', alignItems: 'center', gap: 14, padding: '0 18px' }}&gt;&#10;                &lt;Text style={{ fontSize: 16, fontWeight: 'bold', color: '#20344B', width: 188 }}&gt;输出量&lt;/Text&gt;&#10;                &lt;Text style={{ fontSize: 16, color: '#546779', flex: 1, lineHeight: 1.4 }}&gt;1,900 × 300 = 570,000 Token&lt;/Text&gt;&#10;            &lt;/Box&gt;&#10;&#10;            &lt;Box style={{ width: 620, height: 76, background: '#F7F3E8', borderRadius: 8, flexDirection: 'row', alignItems: 'center', gap: 14, padding: '0 18px' }}&gt;&#10;                &lt;Text style={{ fontSize: 16, fontWeight: 'bold', color: '#20344B', width: 188 }}&gt;假设计价&lt;/Text&gt;&#10;                &lt;Text style={{ fontSize: 16, color: '#546779', flex: 1, lineHeight: 1.4 }}&gt;输入每百万 1 美元，输出每百万 4 美元&lt;/Text&gt;&#10;            &lt;/Box&gt;&#10;&#10;            &lt;Box style={{ width: 620, height: 76, background: '#ECF7F2', borderRadius: 8, flexDirection: 'row', alignItems: 'center', gap: 14, padding: '0 18px' }}&gt;&#10;                &lt;Text style={{ fontSize: 16, fontWeight: 'bold', color: '#26816B', width: 188 }}&gt;假设费用&lt;/Text&gt;&#10;                &lt;Text style={{ fontSize: 16, color: '#546779', flex: 1, lineHeight: 1.4 }}&gt;2.85 × 1 + 0.57 × 4 = 5.13 美元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4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先列数量，再计算一份假设预算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114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的逐项演算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4762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纯假设的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预算演算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27527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4762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先计划两组各一个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，再把每个参与者轮次折算成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与费用。单价不是任何服务商的现价。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3686175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3895725"/>
            <a:ext cx="438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每次物理尝试的用量假设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0100" y="41433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平均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1,500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4733925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00100" y="4943475"/>
            <a:ext cx="438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每次逻辑调用的往返假设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0100" y="519112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平均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次逻辑调用／轮；额外尝试加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676900" y="13525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848350" y="16192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772400" y="15906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608 × 2.5 = 1,520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676900" y="21526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848350" y="24193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含重试的物理尝试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772400" y="23907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1,520 × 1.25 = 1,900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676900" y="29527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848350" y="32194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输入量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772400" y="31908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1,900 × 1,500 = 2,850,000 Token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676900" y="37528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848350" y="40195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输出量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772400" y="39909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1,900 × 300 = 570,000 Token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676900" y="45529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848350" y="48196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假设计价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772400" y="47910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输入每百万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美元，输出每百万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676900" y="5353050"/>
            <a:ext cx="5905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848350" y="56197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假设费用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772400" y="5591175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2.85 × 1 + 0.57 × 4 = 5.13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notes={`一个 Run 是 5.13 美元，项目计划两组各一个 Run，所以两 Run 合计 10.26 美元。&#10;&#10;实际上还要留缓冲。增加 20% 预留后是 12.312 美元，向上取整到美分，登记为 12.32 美元。向上取整不是数学上的必要，而是记账习惯：写一个比计算值略大的数，避免后面出现零头对不上。&#10;&#10;更重要的是边界。现实里失败的请求怎么计费、有没有缓存命中、用量记录是否完整、服务条款怎么规定，都可能和我们的假设不同。所以 12.32 美元只是事前登记，真正核算必须用实际记录和账单。&#10;&#10;还有一条纪律：第一次实际观察之后可以修订下一批预算，但不要把新的估计倒写成原先就已经知道的数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3　先列数量，再计算一份假设预算&lt;/Text&gt;&#10;            &lt;Text style={{ fontSize: 34, fontWeight: 'bold', color: '#20344B' }}&gt;两个 Run 与 20% 预留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26, fontWeight: 'bold', color: '#20344B', lineHeight: 1.4 }}&gt;先登记一个数，{'\n'}再说清它管什么&lt;/Text&gt;&#10;            &lt;Box style={{ width: 60, height: 4, background: '#276FBF' }} /&gt;&#10;            &lt;Text style={{ fontSize: 16, color: '#546779', lineHeight: 1.7, width: 420 }}&gt;预算登记的是事前假设，不是账单结论。写清它建立在哪些前提上，比把数字写得更精确更重要。&lt;/Text&gt;&#10;            &lt;Box style={{ width: 420, height: 76, background: '#ECF7F2', borderRadius: 10, flexDirection: 'row', alignItems: 'center', gap: 14, padding: '0 20px' }}&gt;&#10;                &lt;Box style={{ width: 4, height: 44, background: '#26816B' }} /&gt;&#10;                &lt;Text style={{ fontSize: 16, color: '#20344B', flex: 1, lineHeight: 1.5 }}&gt;两组各一个完整窗口，是这一批的范围。&lt;/Text&gt;&#10;            &lt;/Box&gt;&#10;        &lt;/Box&gt;&#10;&#10;        &lt;Box style={{ width: 700, flexDirection: 'column', gap: 16 }}&gt;&#10;&#10;            &lt;Box style={{ flexDirection: 'row', alignItems: 'center' }}&gt;&#10;                &lt;Box style={{ width: 200, height: 136, background: '#EDF4FC', borderRadius: 10, flexDirection: 'column', gap: 6, justifyContent: 'center', alignItems: 'center' }}&gt;&#10;                    &lt;Text style={{ fontSize: 28, fontWeight: 'bold', color: '#276FBF' }}&gt;5.13&lt;/Text&gt;&#10;                    &lt;Text style={{ fontSize: 15, color: '#546779' }}&gt;美元／每 Run&lt;/Text&gt;&#10;                &lt;/Box&gt;&#10;                &lt;Box style={{ width: 44, height: 136, justifyContent: 'center', alignItems: 'center' }}&gt;&#10;                    &lt;Text style={{ fontSize: 26, color: '#276FBF' }}&gt;›&lt;/Text&gt;&#10;                &lt;/Box&gt;&#10;                &lt;Box style={{ width: 200, height: 136, background: '#EDF4FC', borderRadius: 10, flexDirection: 'column', gap: 6, justifyContent: 'center', alignItems: 'center' }}&gt;&#10;                    &lt;Text style={{ fontSize: 28, fontWeight: 'bold', color: '#276FBF' }}&gt;10.26&lt;/Text&gt;&#10;                    &lt;Text style={{ fontSize: 15, color: '#546779' }}&gt;美元／两 Run&lt;/Text&gt;&#10;                &lt;/Box&gt;&#10;                &lt;Box style={{ width: 44, height: 136, justifyContent: 'center', alignItems: 'center' }}&gt;&#10;                    &lt;Text style={{ fontSize: 26, color: '#26816B' }}&gt;›&lt;/Text&gt;&#10;                &lt;/Box&gt;&#10;                &lt;Box style={{ width: 200, height: 136, background: '#ECF7F2', borderRadius: 10, flexDirection: 'column', gap: 6, justifyContent: 'center', alignItems: 'center' }}&gt;&#10;                    &lt;Text style={{ fontSize: 28, fontWeight: 'bold', color: '#26816B' }}&gt;12.32&lt;/Text&gt;&#10;                    &lt;Text style={{ fontSize: 15, color: '#546779' }}&gt;美元／含 20% 预留&lt;/Text&gt;&#10;                &lt;/Box&gt;&#10;            &lt;/Box&gt;&#10;&#10;            &lt;Box style={{ width: 700, height: 84, background: '#F4F7FA', borderRadius: 10, flexDirection: 'row', alignItems: 'center', gap: 14, padding: '0 20px' }}&gt;&#10;                &lt;Box style={{ width: 4, height: 48, background: '#276FBF' }} /&gt;&#10;                &lt;Text style={{ fontSize: 15, color: '#546779', flex: 1, lineHeight: 1.5 }}&gt;12.312 向上取整到美分得到 12.32：写一个略大的数，避免后续零头对不上。&lt;/Text&gt;&#10;            &lt;/Box&gt;&#10;&#10;            &lt;Box style={{ width: 700, height: 84, background: '#F4F7FA', borderRadius: 10, flexDirection: 'row', alignItems: 'center', gap: 14, padding: '0 20px' }}&gt;&#10;                &lt;Box style={{ width: 4, height: 48, background: '#276FBF' }} /&gt;&#10;                &lt;Text style={{ fontSize: 15, color: '#546779', flex: 1, lineHeight: 1.5 }}&gt;失败计费、缓存、用量缺失与服务条款都可能不同，实际核算须用实际记录与账单。&lt;/Text&gt;&#10;            &lt;/Box&gt;&#10;&#10;            &lt;Box style={{ width: 700, height: 84, background: '#FFF4E6', borderRadius: 10, flexDirection: 'row', alignItems: 'center', gap: 14, padding: '0 20px' }}&gt;&#10;                &lt;Box style={{ width: 4, height: 48, background: '#CB6B28' }} /&gt;&#10;                &lt;Text style={{ fontSize: 15, color: '#546779', flex: 1, lineHeight: 1.5 }}&gt;首次实际观察后可以修订下一批预算，但不要把新的估计倒写成原先就已知道的数值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5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先列数量，再计算一份假设预算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35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预留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371725"/>
            <a:ext cx="4000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先登记一个数，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再说清它管什么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33623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400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预算登记的是事前假设，不是账单结论。写清它建立在哪些前提上，比把数字写得更精确更重要。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4333875"/>
            <a:ext cx="40005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800100" y="448627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71550" y="4562475"/>
            <a:ext cx="344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两组各一个完整窗口，是这一批的范围。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4914900" y="1638300"/>
            <a:ext cx="190500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581650" y="2009775"/>
            <a:ext cx="571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5.13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429250" y="2390775"/>
            <a:ext cx="88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美元／每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991350" y="2133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239000" y="1638300"/>
            <a:ext cx="190500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820025" y="2009775"/>
            <a:ext cx="7429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10.26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753350" y="2390775"/>
            <a:ext cx="88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美元／两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315450" y="21336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9563100" y="1638300"/>
            <a:ext cx="190500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144125" y="2009775"/>
            <a:ext cx="7429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6816B"/>
                </a:solidFill>
                <a:latin typeface="Microsoft YaHei"/>
                <a:ea typeface="Microsoft YaHei"/>
              </a:rPr>
              <a:t>12.32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896475" y="23907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美元／含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预留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914900" y="30861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5105400" y="32575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276850" y="33623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12.312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向上取整到美分得到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12.32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：写一个略大的数，避免后续零头对不上。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914900" y="40386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5105400" y="42100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276850" y="43148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失败计费、缓存、用量缺失与服务条款都可能不同，实际核算须用实际记录与账单。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914900" y="499110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105400" y="51625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276850" y="5267325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首次实际观察后可以修订下一批预算，但不要把新的估计倒写成原先就已知道的数值。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 notes={`预算这个词很容易被理解成一张费用估算表。但在一个可交接的项目里，它还要装下另一半：什么情况下停下来、停下来之后谁来看。&#10;&#10;为什么这半边不能省？因为执行当中一定会遇到意外。模型请求反复失败、重试次数比预期多、某个步骤迟迟不动。如果没有事先写好条件，现场的人只能凭感觉决定继续还是停，而这个决定往往会被“已经投入这么多了”带着走。&#10;&#10;所以预算表要写成能采取行动的样子：一边是预计消耗，另一边是触发条件和触发之后要做的动作。条件必须可判断，动作必须具体到找谁、看什么。&#10;&#10;还要强调一句：这些是项目监控规则，不是已经配置进 Runtime 的自动硬上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④&lt;/Text&gt;&#10;        &lt;/Box&gt;&#10;    &lt;/Box&gt;&#10;&#10;    &lt;Box style={{ height: 540, flexDirection: 'column', justifyContent: 'center', gap: 20 }}&gt;&#10;&#10;        &lt;Text style={{ fontSize: 80, fontWeight: 'bold', color: '#276FBF', lineHeight: 1.0 }}&gt;④&lt;/Text&gt;&#10;&#10;        &lt;Text style={{ fontSize: 56, fontWeight: 'bold', color: '#20344B', lineHeight: 1.15 }}&gt;预算里要写进{'\n'}停止与复核条件&lt;/Text&gt;&#10;&#10;        &lt;Box style={{ width: 72, height: 4, background: '#276FBF' }} /&gt;&#10;&#10;        &lt;Text style={{ fontSize: 18, color: '#546779', lineHeight: 1.7, width: 1000 }}&gt;预算既包含预计消耗，也包含停止和复核条件；条件要可判断，动作要具体。&lt;/Text&gt;&#10;&#10;        &lt;Box style={{ flexDirection: 'row', alignItems: 'center' }}&gt;&#10;            &lt;Box style={{ width: 480, height: 148, background: '#EDF4FC', borderRadius: 10, padding: '18px 24px', flexDirection: 'column', gap: 8, justifyContent: 'center' }}&gt;&#10;                &lt;Text style={{ fontSize: 22, fontWeight: 'bold', color: '#276FBF' }}&gt;预计消耗&lt;/Text&gt;&#10;                &lt;Text style={{ fontSize: 16, color: '#546779', lineHeight: 1.5 }}&gt;轮次、调用、Token 与费用，按写明的假设逐项推算。&lt;/Text&gt;&#10;            &lt;/Box&gt;&#10;            &lt;Box style={{ width: 44, height: 148, justifyContent: 'center', alignItems: 'center' }}&gt;&#10;                &lt;Text style={{ fontSize: 26, color: '#276FBF' }}&gt;›&lt;/Text&gt;&#10;            &lt;/Box&gt;&#10;            &lt;Box style={{ width: 480, height: 148, background: '#FFF4E6', borderRadius: 10, padding: '18px 24px', flexDirection: 'column', gap: 8, justifyContent: 'center' }}&gt;&#10;                &lt;Text style={{ fontSize: 22, fontWeight: 'bold', color: '#CB6B28' }}&gt;停止与复核条件&lt;/Text&gt;&#10;                &lt;Text style={{ fontSize: 16, color: '#546779', lineHeight: 1.5 }}&gt;阈值、触发后的动作，以及由谁核对真实计费与后续授权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6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预算里要写进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停止与复核条件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4010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预算既包含预计消耗，也包含停止和复核条件；条件要可判断，动作要具体。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4781550"/>
            <a:ext cx="457200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5181600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预计消耗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8200" y="5514975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轮次、调用、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与费用，按写明的假设逐项推算。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353050" y="5334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600700" y="4781550"/>
            <a:ext cx="4572000" cy="1409700"/>
          </a:xfrm>
          <a:prstGeom prst="roundRect">
            <a:avLst>
              <a:gd name="adj" fmla="val 67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829300" y="5181600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停止与复核条件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829300" y="5514975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阈值、触发后的动作，以及由谁核对真实计费与后续授权。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notes={`把费用拆开看，钱的来源就很清楚。&#10;&#10;1,900 次物理尝试是基数，每次假设输入 1,500 Token、输出 300 Token。输入侧 1900 乘 1500 是 285 万 Token，按每百万一美元是 2.85 美元；输出侧 1900 乘 300 是 57 万 Token，按每百万四美元是 2.28 美元。两块相加，每个 Run 是 5.13 美元。&#10;&#10;两个 Run 合计 10.26 美元，再加 20% 预留得 12.312，向上取整登记为 12.32 美元。&#10;&#10;旁边有一条独立的预留：两个 Run 的调用量 3,800 次乘 1.2，得到 4,560 次物理尝试预留。&#10;&#10;最后提醒一处容易混淆的地方：13 美元是负责人的费用复核阈值，触发的是复核动作；12.32 美元是预算登记值。两个数字含义不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4　把预算写成能采取行动的表&lt;/Text&gt;&#10;            &lt;Text style={{ fontSize: 34, fontWeight: 'bold', color: '#20344B' }}&gt;从一次尝试折到总预算&lt;/Text&gt;&#10;        &lt;/Box&gt;&#10;    &lt;/Box&gt;&#10;&#10;    &lt;Box style={{ height: 540, flexDirection: 'row', alignItems: 'center', gap: 32 }}&gt;&#10;&#10;        &lt;Box style={{ width: 700, flexDirection: 'column' }}&gt;&#10;&#10;            &lt;Box style={{ width: 700, height: 76, background: '#F4F7FA', borderRadius: 10, flexDirection: 'column', gap: 4, justifyContent: 'center', padding: '0 20px' }}&gt;&#10;                &lt;Text style={{ fontSize: 20, fontWeight: 'bold', color: '#20344B' }}&gt;假设 1,900 次物理尝试&lt;/Text&gt;&#10;                &lt;Text style={{ fontSize: 15, color: '#546779' }}&gt;每次输入 1,500 Token、输出 300 Token&lt;/Text&gt;&#10;            &lt;/Box&gt;&#10;&#10;            &lt;Box style={{ width: 700, height: 28, justifyContent: 'center', alignItems: 'center' }}&gt;&#10;                &lt;Text style={{ fontSize: 20, color: '#276FBF' }}&gt;↓&lt;/Text&gt;&#10;            &lt;/Box&gt;&#10;&#10;            &lt;Box style={{ flexDirection: 'row', gap: 20 }}&gt;&#10;                &lt;Box style={{ width: 340, height: 96, background: '#EDF4FC', borderRadius: 10, flexDirection: 'column', gap: 4, justifyContent: 'center', padding: '0 18px' }}&gt;&#10;                    &lt;Text style={{ fontSize: 15, color: '#546779' }}&gt;输入 · 285 万 Token&lt;/Text&gt;&#10;                    &lt;Text style={{ fontSize: 18, fontWeight: 'bold', color: '#276FBF' }}&gt;2.85 美元&lt;/Text&gt;&#10;                    &lt;Text style={{ fontSize: 14, color: '#546779' }}&gt;假设每百万 1 美元&lt;/Text&gt;&#10;                &lt;/Box&gt;&#10;                &lt;Box style={{ width: 340, height: 96, background: '#EDF4FC', borderRadius: 10, flexDirection: 'column', gap: 4, justifyContent: 'center', padding: '0 18px' }}&gt;&#10;                    &lt;Text style={{ fontSize: 15, color: '#546779' }}&gt;输出 · 57 万 Token&lt;/Text&gt;&#10;                    &lt;Text style={{ fontSize: 18, fontWeight: 'bold', color: '#276FBF' }}&gt;2.28 美元&lt;/Text&gt;&#10;                    &lt;Text style={{ fontSize: 14, color: '#546779' }}&gt;假设每百万 4 美元&lt;/Text&gt;&#10;                &lt;/Box&gt;&#10;            &lt;/Box&gt;&#10;&#10;            &lt;Box style={{ width: 700, height: 28, justifyContent: 'center', alignItems: 'center' }}&gt;&#10;                &lt;Text style={{ fontSize: 20, color: '#276FBF' }}&gt;↓&lt;/Text&gt;&#10;            &lt;/Box&gt;&#10;&#10;            &lt;Box style={{ width: 700, height: 76, background: '#EDF4FC', borderRadius: 10, flexDirection: 'row', alignItems: 'center', gap: 14, padding: '0 20px' }}&gt;&#10;                &lt;Text style={{ fontSize: 20, fontWeight: 'bold', color: '#20344B' }}&gt;每 Run&lt;/Text&gt;&#10;                &lt;Text style={{ fontSize: 24, fontWeight: 'bold', color: '#276FBF' }}&gt;2.85 + 2.28 = 5.13 美元&lt;/Text&gt;&#10;            &lt;/Box&gt;&#10;&#10;            &lt;Box style={{ width: 700, height: 28, justifyContent: 'center', alignItems: 'center' }}&gt;&#10;                &lt;Text style={{ fontSize: 20, color: '#276FBF' }}&gt;↓&lt;/Text&gt;&#10;            &lt;/Box&gt;&#10;&#10;            &lt;Box style={{ width: 700, height: 76, background: '#EDF4FC', borderRadius: 10, flexDirection: 'row', alignItems: 'center', gap: 14, padding: '0 20px' }}&gt;&#10;                &lt;Text style={{ fontSize: 20, fontWeight: 'bold', color: '#20344B' }}&gt;两个 Run&lt;/Text&gt;&#10;                &lt;Text style={{ fontSize: 24, fontWeight: 'bold', color: '#276FBF' }}&gt;10.26 美元&lt;/Text&gt;&#10;            &lt;/Box&gt;&#10;&#10;            &lt;Box style={{ width: 700, height: 28, justifyContent: 'center', alignItems: 'center' }}&gt;&#10;                &lt;Text style={{ fontSize: 20, color: '#26816B' }}&gt;↓&lt;/Text&gt;&#10;            &lt;/Box&gt;&#10;&#10;            &lt;Box style={{ width: 700, height: 84, background: '#ECF7F2', borderRadius: 10, flexDirection: 'row', alignItems: 'center', gap: 14, padding: '0 20px' }}&gt;&#10;                &lt;Text style={{ fontSize: 20, fontWeight: 'bold', color: '#20344B' }}&gt;加 20% 预留&lt;/Text&gt;&#10;                &lt;Text style={{ fontSize: 20, fontWeight: 'bold', color: '#26816B' }}&gt;12.312 → 向上取整 12.32 美元&lt;/Text&gt;&#10;            &lt;/Box&gt;&#10;&#10;        &lt;/Box&gt;&#10;&#10;        &lt;Box style={{ width: 420, flexDirection: 'column', gap: 16 }}&gt;&#10;&#10;            &lt;Box style={{ width: 420, height: 164, background: '#FFF4E6', borderRadius: 10, padding: '18px 22px', flexDirection: 'column', gap: 8, justifyContent: 'center' }}&gt;&#10;                &lt;Text style={{ fontSize: 18, fontWeight: 'bold', color: '#CB6B28' }}&gt;独立的调用预留&lt;/Text&gt;&#10;                &lt;Text style={{ fontSize: 26, fontWeight: 'bold', color: '#20344B' }}&gt;4,560 次&lt;/Text&gt;&#10;                &lt;Text style={{ fontSize: 15, color: '#546779', lineHeight: 1.5 }}&gt;两 Run 调用量 3,800 乘 1.2，得到物理尝试预留。&lt;/Text&gt;&#10;            &lt;/Box&gt;&#10;&#10;            &lt;Box style={{ width: 420, height: 140, background: '#F4F7FA', borderRadius: 10, padding: '18px 22px', flexDirection: 'column', gap: 8, justifyContent: 'center' }}&gt;&#10;                &lt;Text style={{ fontSize: 18, fontWeight: 'bold', color: '#20344B' }}&gt;13 美元不是预算值&lt;/Text&gt;&#10;                &lt;Text style={{ fontSize: 15, color: '#546779', lineHeight: 1.5 }}&gt;它是负责人的费用复核阈值，触发的是核对真实计费与授权范围这个动作。&lt;/Text&gt;&#10;            &lt;/Box&gt;&#10;&#10;            &lt;Box style={{ width: 420, height: 140, background: '#F7F3E8', borderRadius: 10, padding: '18px 22px', flexDirection: 'column', gap: 8, justifyContent: 'center' }}&gt;&#10;                &lt;Text style={{ fontSize: 18, fontWeight: 'bold', color: '#20344B' }}&gt;只是假设算术&lt;/Text&gt;&#10;                &lt;Text style={{ fontSize: 15, color: '#546779', lineHeight: 1.5 }}&gt;不是厂商现价，也不是实测账单；项目监控阈值不是 Runtime 自动硬上限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7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把预算写成能采取行动的表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从一次尝试折到总预算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1238250"/>
            <a:ext cx="6667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00100" y="1381125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假设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1,900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次物理尝试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00100" y="1647825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每次输入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1,500 Token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、输出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300 Token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895725" y="19812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2228850"/>
            <a:ext cx="32385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81050" y="23812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285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81050" y="259080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2.85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1050" y="283845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假设每百万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038600" y="2228850"/>
            <a:ext cx="32385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210050" y="23812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57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210050" y="259080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2.28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210050" y="283845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假设每百万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895725" y="31623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3409950"/>
            <a:ext cx="6667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62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每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562100" y="3638550"/>
            <a:ext cx="2619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2.85 + 2.28 = 5.13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895725" y="41529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4400550"/>
            <a:ext cx="6667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819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两个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752600" y="4629150"/>
            <a:ext cx="1162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10.26 </a:t>
            </a: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95725" y="51435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5391150"/>
            <a:ext cx="66675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00100" y="5676900"/>
            <a:ext cx="110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加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预留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038350" y="5676900"/>
            <a:ext cx="2733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12.312 →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向上取整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12.32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581900" y="1447800"/>
            <a:ext cx="4000500" cy="1562100"/>
          </a:xfrm>
          <a:prstGeom prst="roundRect">
            <a:avLst>
              <a:gd name="adj" fmla="val 609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791450" y="1771650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独立的调用预留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791450" y="2057400"/>
            <a:ext cx="3581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4,560 </a:t>
            </a: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791450" y="243840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3,800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，得到物理尝试预留。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581900" y="316230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791450" y="3429000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美元不是预算值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791450" y="3714750"/>
            <a:ext cx="3581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它是负责人的费用复核阈值，触发的是核对真实计费与授权范围这个动作。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581900" y="464820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791450" y="4914900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只是假设算术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791450" y="5200650"/>
            <a:ext cx="3581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不是厂商现价，也不是实测账单；项目监控阈值不是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Runtime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自动硬上限。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5" name="" descr="&lt;Slide notes={`这五行是负责人为两个 Run 事先设好的监控规则。数字只是可替换的教学方案，重点是格式：每一行都要写清登记值，以及到达条件后做什么。&#10;&#10;本批范围是两组各一个完整窗口，动作是不因结果不满意自行增加 Run。物理尝试监控阈值是两 Run 合计 4,560 次，到达后暂停检查剩余工作与重试原因。费用复核阈值按假设计价是 13 美元，到达后核对真实计费与后续授权范围。单次墙钟复核点是从启动起两小时，包含暂停，暂停时长另列。数据缺口是当用量或关键过程记录不可获得时，标为未知，改用仍可核对的限制与证据。&#10;&#10;这些是项目监控规则，不是已经配置进 Runtime 的自动硬上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4　把预算写成能采取行动的表&lt;/Text&gt;&#10;            &lt;Text style={{ fontSize: 34, fontWeight: 'bold', color: '#20344B' }}&gt;到达条件之后做什么&lt;/Text&gt;&#10;        &lt;/Box&gt;&#10;    &lt;/Box&gt;&#10;&#10;    &lt;Box style={{ height: 540, flexDirection: 'row', alignItems: 'center', gap: 32 }}&gt;&#10;&#10;        &lt;Box style={{ width: 740, flexDirection: 'column', gap: 8 }}&gt;&#10;&#10;            &lt;Box style={{ width: 740, height: 30, background: '#F4F7FA', borderRadius: 6, flexDirection: 'row', alignItems: 'center', padding: '0 16px', gap: 12 }}&gt;&#10;                &lt;Text style={{ fontSize: 14, fontWeight: 'bold', color: '#546779', width: 216 }}&gt;项目&lt;/Text&gt;&#10;                &lt;Text style={{ fontSize: 14, fontWeight: 'bold', color: '#546779', flex: 1 }}&gt;事前登记值　→　到达条件后的动作&lt;/Text&gt;&#10;            &lt;/Box&gt;&#10;&#10;            &lt;Box style={{ width: 740, height: 88, background: '#F4F7FA', borderRadius: 8, flexDirection: 'row', alignItems: 'center', gap: 14, padding: '0 16px' }}&gt;&#10;                &lt;Box style={{ width: 4, height: 48, background: '#276FBF' }} /&gt;&#10;                &lt;Box style={{ width: 200, flexDirection: 'column', gap: 2 }}&gt;&#10;                    &lt;Text style={{ fontSize: 16, fontWeight: 'bold', color: '#20344B' }}&gt;本批范围&lt;/Text&gt;&#10;                    &lt;Text style={{ fontSize: 14, color: '#546779' }}&gt;两组各一个完整窗口&lt;/Text&gt;&#10;                &lt;/Box&gt;&#10;                &lt;Text style={{ fontSize: 15, color: '#546779', flex: 1, lineHeight: 1.45 }}&gt;不因结果不满意自行增加 Run&lt;/Text&gt;&#10;            &lt;/Box&gt;&#10;&#10;            &lt;Box style={{ width: 740, height: 88, background: '#FFF4E6', borderRadius: 8, flexDirection: 'row', alignItems: 'center', gap: 14, padding: '0 16px' }}&gt;&#10;                &lt;Box style={{ width: 4, height: 48, background: '#CB6B28' }} /&gt;&#10;                &lt;Box style={{ width: 200, flexDirection: 'column', gap: 2 }}&gt;&#10;                    &lt;Text style={{ fontSize: 16, fontWeight: 'bold', color: '#CB6B28' }}&gt;物理尝试监控阈值&lt;/Text&gt;&#10;                    &lt;Text style={{ fontSize: 14, color: '#546779' }}&gt;两 Run 合计 4,560 次&lt;/Text&gt;&#10;                &lt;/Box&gt;&#10;                &lt;Text style={{ fontSize: 15, color: '#546779', flex: 1, lineHeight: 1.45 }}&gt;暂停检查剩余工作与重试原因&lt;/Text&gt;&#10;            &lt;/Box&gt;&#10;&#10;            &lt;Box style={{ width: 740, height: 88, background: '#FFF4E6', borderRadius: 8, flexDirection: 'row', alignItems: 'center', gap: 14, padding: '0 16px' }}&gt;&#10;                &lt;Box style={{ width: 4, height: 48, background: '#CB6B28' }} /&gt;&#10;                &lt;Box style={{ width: 200, flexDirection: 'column', gap: 2 }}&gt;&#10;                    &lt;Text style={{ fontSize: 16, fontWeight: 'bold', color: '#CB6B28' }}&gt;费用复核阈值&lt;/Text&gt;&#10;                    &lt;Text style={{ fontSize: 14, color: '#546779' }}&gt;假设计价下 13 美元&lt;/Text&gt;&#10;                &lt;/Box&gt;&#10;                &lt;Text style={{ fontSize: 15, color: '#546779', flex: 1, lineHeight: 1.45 }}&gt;核对真实计费与后续授权范围&lt;/Text&gt;&#10;            &lt;/Box&gt;&#10;&#10;            &lt;Box style={{ width: 740, height: 88, background: '#EDF4FC', borderRadius: 8, flexDirection: 'row', alignItems: 'center', gap: 14, padding: '0 16px' }}&gt;&#10;                &lt;Box style={{ width: 4, height: 48, background: '#276FBF' }} /&gt;&#10;                &lt;Box style={{ width: 200, flexDirection: 'column', gap: 2 }}&gt;&#10;                    &lt;Text style={{ fontSize: 16, fontWeight: 'bold', color: '#20344B' }}&gt;单次墙钟复核点&lt;/Text&gt;&#10;                    &lt;Text style={{ fontSize: 14, color: '#546779' }}&gt;启动起两小时，含暂停&lt;/Text&gt;&#10;                &lt;/Box&gt;&#10;                &lt;Text style={{ fontSize: 15, color: '#546779', flex: 1, lineHeight: 1.45 }}&gt;区分实际执行与等待，检查在途请求和进展&lt;/Text&gt;&#10;            &lt;/Box&gt;&#10;&#10;            &lt;Box style={{ width: 740, height: 88, background: '#FFF4E6', borderRadius: 8, flexDirection: 'row', alignItems: 'center', gap: 14, padding: '0 16px' }}&gt;&#10;                &lt;Box style={{ width: 4, height: 48, background: '#CB6B28' }} /&gt;&#10;                &lt;Box style={{ width: 200, flexDirection: 'column', gap: 2 }}&gt;&#10;                    &lt;Text style={{ fontSize: 16, fontWeight: 'bold', color: '#CB6B28' }}&gt;数据缺口&lt;/Text&gt;&#10;                    &lt;Text style={{ fontSize: 14, color: '#546779' }}&gt;用量或过程记录不可获得&lt;/Text&gt;&#10;                &lt;/Box&gt;&#10;                &lt;Text style={{ fontSize: 15, color: '#546779', flex: 1, lineHeight: 1.45 }}&gt;标为未知，改用仍可核对的限制与证据&lt;/Text&gt;&#10;            &lt;/Box&gt;&#10;&#10;        &lt;/Box&gt;&#10;&#10;        &lt;Box style={{ width: 380, flexDirection: 'column', gap: 16 }}&gt;&#10;            &lt;Box style={{ width: 380, height: 168, background: '#FFF4E6', borderRadius: 10, padding: '18px 20px', flexDirection: 'column', gap: 8, justifyContent: 'center' }}&gt;&#10;                &lt;Text style={{ fontSize: 18, fontWeight: 'bold', color: '#CB6B28' }}&gt;不是自动硬上限&lt;/Text&gt;&#10;                &lt;Text style={{ fontSize: 15, color: '#546779', lineHeight: 1.5 }}&gt;这些是项目写下的监控规则，并没有配置进 Runtime 成为自动停止线。&lt;/Text&gt;&#10;            &lt;/Box&gt;&#10;            &lt;Box style={{ width: 380, height: 168, background: '#F4F7FA', borderRadius: 10, padding: '18px 20px', flexDirection: 'column', gap: 8, justifyContent: 'center' }}&gt;&#10;                &lt;Text style={{ fontSize: 18, fontWeight: 'bold', color: '#20344B' }}&gt;四种机制各管一段&lt;/Text&gt;&#10;                &lt;Text style={{ fontSize: 15, color: '#546779', lineHeight: 1.5 }}&gt;调用预算、重试配置、运行槽位与人工停跑决定，作用并不相同。&lt;/Text&gt;&#10;            &lt;/Box&gt;&#10;            &lt;Box style={{ width: 380, height: 152, background: '#F4F7FA', borderRadius: 10, padding: '18px 20px', flexDirection: 'column', gap: 8, justifyContent: 'center' }}&gt;&#10;                &lt;Text style={{ fontSize: 18, fontWeight: 'bold', color: '#20344B' }}&gt;暂停不立即停账&lt;/Text&gt;&#10;                &lt;Text style={{ fontSize: 15, color: '#546779', lineHeight: 1.5 }}&gt;发出暂停或取消后，在途请求与安全收尾仍可能产生消耗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8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把预算写成能采取行动的表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到达条件之后做什么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09600" y="1285875"/>
            <a:ext cx="7048500" cy="2857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62000" y="13525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2933700" y="135255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事前登记值　→　到达条件后的动作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9600" y="1647825"/>
            <a:ext cx="7048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762000" y="18383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33450" y="18859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本批范围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33450" y="20955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两组各一个完整窗口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2971800" y="19431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不因结果不满意自行增加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2562225"/>
            <a:ext cx="7048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762000" y="27527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33450" y="28003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物理尝试监控阈值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33450" y="30099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4,560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2971800" y="28575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暂停检查剩余工作与重试原因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3476625"/>
            <a:ext cx="7048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762000" y="36671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33450" y="37147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费用复核阈值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33450" y="39243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假设计价下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2971800" y="37719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核对真实计费与后续授权范围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09600" y="4391025"/>
            <a:ext cx="70485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762000" y="45815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33450" y="46291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单次墙钟复核点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33450" y="48387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启动起两小时，含暂停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2971800" y="46863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区分实际执行与等待，检查在途请求和进展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5305425"/>
            <a:ext cx="7048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762000" y="54959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33450" y="55435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数据缺口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33450" y="57531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用量或过程记录不可获得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2971800" y="56007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标为未知，改用仍可核对的限制与证据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962900" y="1238250"/>
            <a:ext cx="36195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153400" y="16383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不是自动硬上限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153400" y="192405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这些是项目写下的监控规则，并没有配置进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Runtime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成为自动停止线。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962900" y="2990850"/>
            <a:ext cx="3619500" cy="1600200"/>
          </a:xfrm>
          <a:prstGeom prst="roundRect">
            <a:avLst>
              <a:gd name="adj" fmla="val 59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153400" y="33909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四种机制各管一段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153400" y="367665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调用预算、重试配置、运行槽位与人工停跑决定，作用并不相同。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7962900" y="4743450"/>
            <a:ext cx="36195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153400" y="50673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暂停不立即停账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153400" y="5353050"/>
            <a:ext cx="3238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发出暂停或取消后，在途请求与安全收尾仍可能产生消耗。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39" name="" descr="&lt;Slide notes={`把四个阈值并排看，能看出它们管的不是同一件事。&#10;&#10;物理尝试监控阈值是一道量的问题。3,800 次是两个 Run 的计划量，加 20% 得到 4,560 次；到这之后暂停，先看还剩多少工作、重试是什么原因。&#10;&#10;费用复核阈值是一道钱的问题。按假设计价 13 美元，动作是核对真实计费，并确认后续授权范围。&#10;&#10;两小时墙钟复核点管的是一段时间，包含暂停在内，所以暂停时长要单列，才能分清哪部分真正在执行、哪部分在等。&#10;&#10;数据缺口这一条最特殊：当用量或关键过程记录根本拿不到时，不要猜一个数，直接标为未知，改用仍然可以核对的限制和证据。&#10;&#10;这些是项目里写下的监控规则，不是已经配置进 Runtime 的自动硬上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4　把预算写成能采取行动的表&lt;/Text&gt;&#10;            &lt;Text style={{ fontSize: 34, fontWeight: 'bold', color: '#20344B' }}&gt;四类阈值，四种动作&lt;/Text&gt;&#10;        &lt;/Box&gt;&#10;    &lt;/Box&gt;&#10;&#10;    &lt;Box style={{ height: 540, flexDirection: 'column', justifyContent: 'center', gap: 14 }}&gt;&#10;&#10;        &lt;Text style={{ fontSize: 17, color: '#546779', lineHeight: 1.6, width: 1152 }}&gt;四条刻度分别对应量、钱、时间与数据可得性；到达之后的动作各不相同。&lt;/Text&gt;&#10;&#10;        &lt;Box style={{ width: 1152, height: 106, background: '#FFF4E6', borderRadius: 10, flexDirection: 'row', alignItems: 'center', gap: 16, padding: '0 20px' }}&gt;&#10;            &lt;Box style={{ width: 280, flexDirection: 'column', gap: 4 }}&gt;&#10;                &lt;Text style={{ fontSize: 18, fontWeight: 'bold', color: '#CB6B28' }}&gt;物理尝试监控阈值&lt;/Text&gt;&#10;                &lt;Text style={{ fontSize: 14, color: '#546779' }}&gt;两 Run 合计 4,560 次&lt;/Text&gt;&#10;            &lt;/Box&gt;&#10;            &lt;Box style={{ width: 460, flexDirection: 'column', gap: 6 }}&gt;&#10;                &lt;Box style={{ flexDirection: 'row' }}&gt;&#10;                    &lt;Box style={{ width: 383, height: 20, background: '#276FBF' }} /&gt;&#10;                    &lt;Box style={{ width: 77, height: 20, background: '#CB6B28' }} /&gt;&#10;                &lt;/Box&gt;&#10;                &lt;Text style={{ fontSize: 14, color: '#546779' }}&gt;计划 3,800 次 → 预留后 4,560 次&lt;/Text&gt;&#10;            &lt;/Box&gt;&#10;            &lt;Text style={{ fontSize: 15, color: '#20344B', flex: 1, lineHeight: 1.45 }}&gt;暂停检查剩余工作与重试原因&lt;/Text&gt;&#10;        &lt;/Box&gt;&#10;&#10;        &lt;Box style={{ width: 1152, height: 106, background: '#FFF4E6', borderRadius: 10, flexDirection: 'row', alignItems: 'center', gap: 16, padding: '0 20px' }}&gt;&#10;            &lt;Box style={{ width: 280, flexDirection: 'column', gap: 4 }}&gt;&#10;                &lt;Text style={{ fontSize: 18, fontWeight: 'bold', color: '#CB6B28' }}&gt;费用复核阈值&lt;/Text&gt;&#10;                &lt;Text style={{ fontSize: 14, color: '#546779' }}&gt;假设计价下 13 美元&lt;/Text&gt;&#10;            &lt;/Box&gt;&#10;            &lt;Box style={{ width: 460, flexDirection: 'column', gap: 6 }}&gt;&#10;                &lt;Box style={{ flexDirection: 'row' }}&gt;&#10;                    &lt;Box style={{ width: 436, height: 20, background: '#276FBF' }} /&gt;&#10;                    &lt;Box style={{ width: 24, height: 20, background: '#CB6B28' }} /&gt;&#10;                &lt;/Box&gt;&#10;                &lt;Text style={{ fontSize: 14, color: '#546779' }}&gt;预算登记 12.32 美元 → 阈值 13 美元&lt;/Text&gt;&#10;            &lt;/Box&gt;&#10;            &lt;Text style={{ fontSize: 15, color: '#20344B', flex: 1, lineHeight: 1.45 }}&gt;核对真实计费与后续授权范围&lt;/Text&gt;&#10;        &lt;/Box&gt;&#10;&#10;        &lt;Box style={{ width: 1152, height: 106, background: '#EDF4FC', borderRadius: 10, flexDirection: 'row', alignItems: 'center', gap: 16, padding: '0 20px' }}&gt;&#10;            &lt;Box style={{ width: 280, flexDirection: 'column', gap: 4 }}&gt;&#10;                &lt;Text style={{ fontSize: 18, fontWeight: 'bold', color: '#276FBF' }}&gt;单次墙钟复核点&lt;/Text&gt;&#10;                &lt;Text style={{ fontSize: 14, color: '#546779' }}&gt;从启动起两小时，含暂停&lt;/Text&gt;&#10;            &lt;/Box&gt;&#10;            &lt;Box style={{ width: 460, flexDirection: 'column', gap: 6 }}&gt;&#10;                &lt;Box style={{ flexDirection: 'row' }}&gt;&#10;                    &lt;Box style={{ width: 345, height: 20, background: '#276FBF' }} /&gt;&#10;                    &lt;Box style={{ width: 115, height: 20, background: '#B5C7D8' }} /&gt;&#10;                &lt;/Box&gt;&#10;                &lt;Text style={{ fontSize: 14, color: '#546779' }}&gt;实际执行与等待要分开登记&lt;/Text&gt;&#10;            &lt;/Box&gt;&#10;            &lt;Text style={{ fontSize: 15, color: '#20344B', flex: 1, lineHeight: 1.45 }}&gt;检查在途请求与阶段进展&lt;/Text&gt;&#10;        &lt;/Box&gt;&#10;&#10;        &lt;Box style={{ width: 1152, height: 106, background: '#FFF4E6', borderRadius: 10, flexDirection: 'row', alignItems: 'center', gap: 16, padding: '0 20px' }}&gt;&#10;            &lt;Box style={{ width: 280, flexDirection: 'column', gap: 4 }}&gt;&#10;                &lt;Text style={{ fontSize: 18, fontWeight: 'bold', color: '#CB6B28' }}&gt;数据缺口&lt;/Text&gt;&#10;                &lt;Text style={{ fontSize: 14, color: '#546779' }}&gt;用量或关键过程记录不可获得&lt;/Text&gt;&#10;            &lt;/Box&gt;&#10;            &lt;Box style={{ width: 460, flexDirection: 'column', gap: 6 }}&gt;&#10;                &lt;Box style={{ flexDirection: 'row' }}&gt;&#10;                    &lt;Box style={{ width: 92, height: 20, background: '#CB6B28' }} /&gt;&#10;                    &lt;Box style={{ width: 368, height: 20, background: '#B5C7D8' }} /&gt;&#10;                &lt;/Box&gt;&#10;                &lt;Text style={{ fontSize: 14, color: '#546779' }}&gt;可核对部分与未知部分必须分开写&lt;/Text&gt;&#10;            &lt;/Box&gt;&#10;            &lt;Text style={{ fontSize: 15, color: '#20344B', flex: 1, lineHeight: 1.45 }}&gt;标为未知，改用仍可核对的限制与证据&lt;/Text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19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把预算写成能采取行动的表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四类阈值，四种动作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四条刻度分别对应量、钱、时间与数据可得性；到达之后的动作各不相同。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172402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00100" y="20288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物理尝试监控阈值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00100" y="22764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4,560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619500" y="2028825"/>
            <a:ext cx="3648075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7267575" y="2028825"/>
            <a:ext cx="733425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619500" y="22764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3,800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预留后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4,560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53400" y="21050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暂停检查剩余工作与重试原因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286702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0100" y="31718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费用复核阈值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00100" y="34194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假设计价下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619500" y="3171825"/>
            <a:ext cx="41529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7772400" y="3171825"/>
            <a:ext cx="228600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619500" y="34194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预算登记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12.32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阈值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美元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153400" y="32480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核对真实计费与后续授权范围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401002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00100" y="43148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单次墙钟复核点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00100" y="45624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从启动起两小时，含暂停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619500" y="4314825"/>
            <a:ext cx="3286125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6905625" y="4314825"/>
            <a:ext cx="1095375" cy="1905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619500" y="45624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实际执行与等待要分开登记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153400" y="43910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检查在途请求与阶段进展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515302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0100" y="54578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数据缺口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00100" y="57054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用量或关键过程记录不可获得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3619500" y="5457825"/>
            <a:ext cx="876300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4495800" y="5457825"/>
            <a:ext cx="3505200" cy="1905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619500" y="57054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可核对部分与未知部分必须分开写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153400" y="55340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标为未知，改用仍可核对的限制与证据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28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notes={`小规模试跑是可选的一件事。可选意味着做了不加分、不做也不扣分，关键是别把它写成别的东西。&#10;&#10;如果确实需要检查耗时或者素材，可以单独把它登记为一项准备活动，写清输入是什么、跑了多少步、用了多少预算，以及它回答不了什么问题。&#10;&#10;有两点不能含糊。第一，试跑不能证明 76 步内全部咨询会闭环；步数短、对象少，它验证不了完整窗口。第二，它不是正式运行前必须完成的一至三步仪式，并没有这条规定。&#10;&#10;反过来，如果选择不试跑，也要说清楚：保留估算的不确定性，同时采用明确的观察点。最不该做的是事后补写一份根本不存在的试跑报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4　把预算写成能采取行动的表&lt;/Text&gt;&#10;            &lt;Text style={{ fontSize: 34, fontWeight: 'bold', color: '#20344B' }}&gt;小规模试跑是可选项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26, fontWeight: 'bold', color: '#20344B', lineHeight: 1.4 }}&gt;可选，{'\n'}就写成可选的样子&lt;/Text&gt;&#10;            &lt;Box style={{ width: 60, height: 4, background: '#276FBF' }} /&gt;&#10;            &lt;Text style={{ fontSize: 16, color: '#546779', lineHeight: 1.7, width: 420 }}&gt;做了要有记录，不做的理由也要写清楚。两种情况都不能让估算的不确定性凭空消失。&lt;/Text&gt;&#10;            &lt;Box style={{ width: 420, height: 88, background: '#ECF7F2', borderRadius: 10, flexDirection: 'row', alignItems: 'center', gap: 14, padding: '0 20px' }}&gt;&#10;                &lt;Box style={{ width: 4, height: 52, background: '#26816B' }} /&gt;&#10;                &lt;Text style={{ fontSize: 16, color: '#20344B', flex: 1, lineHeight: 1.5 }}&gt;不试跑时：保留不确定性，改用明确观察点。&lt;/Text&gt;&#10;            &lt;/Box&gt;&#10;        &lt;/Box&gt;&#10;&#10;        &lt;Box style={{ width: 700, flexDirection: 'column', gap: 16 }}&gt;&#10;&#10;            &lt;Box style={{ width: 700, height: 132, background: '#EDF4FC', borderRadius: 10, flexDirection: 'column', gap: 8, justifyContent: 'center', padding: '0 22px' }}&gt;&#10;                &lt;Text style={{ fontSize: 18, fontWeight: 'bold', color: '#276FBF' }}&gt;登记为一项准备活动&lt;/Text&gt;&#10;                &lt;Text style={{ fontSize: 15, color: '#546779', lineHeight: 1.5 }}&gt;说明输入、步数、预算，以及它明确不回答的问题。它不占用两 Run 的范围。&lt;/Text&gt;&#10;            &lt;/Box&gt;&#10;&#10;            &lt;Box style={{ width: 700, height: 132, background: '#FFF4E6', borderRadius: 10, flexDirection: 'column', gap: 8, justifyContent: 'center', padding: '0 22px' }}&gt;&#10;                &lt;Text style={{ fontSize: 18, fontWeight: 'bold', color: '#CB6B28' }}&gt;不能证明 76 步内会闭环&lt;/Text&gt;&#10;                &lt;Text style={{ fontSize: 15, color: '#546779', lineHeight: 1.5 }}&gt;步数短、对象少，验证不了完整窗口里的四项任务是否都能走完。&lt;/Text&gt;&#10;            &lt;/Box&gt;&#10;&#10;            &lt;Box style={{ width: 700, height: 132, background: '#FFF4E6', borderRadius: 10, flexDirection: 'column', gap: 8, justifyContent: 'center', padding: '0 22px' }}&gt;&#10;                &lt;Text style={{ fontSize: 18, fontWeight: 'bold', color: '#CB6B28' }}&gt;不是强制的开跑仪式&lt;/Text&gt;&#10;                &lt;Text style={{ fontSize: 15, color: '#546779', lineHeight: 1.5 }}&gt;正式运行前并没有必须完成一至三步的硬性规定。&lt;/Text&gt;&#10;            &lt;/Box&gt;&#10;&#10;            &lt;Box style={{ width: 700, height: 92, background: '#F4F7FA', borderRadius: 10, flexDirection: 'row', alignItems: 'center', gap: 14, padding: '0 22px' }}&gt;&#10;                &lt;Box style={{ width: 4, height: 48, background: '#276FBF' }} /&gt;&#10;                &lt;Text style={{ fontSize: 16, color: '#20344B', flex: 1, lineHeight: 1.5 }}&gt;不要事后补写一份并不存在的试跑报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0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把预算写成能采取行动的表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小规模试跑是可选项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4000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可选，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就写成可选的样子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330517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400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做了要有记录，不做的理由也要写清楚。两种情况都不能让估算的不确定性凭空消失。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4276725"/>
            <a:ext cx="40005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800100" y="44481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71550" y="4562475"/>
            <a:ext cx="344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不试跑时：保留不确定性，改用明确观察点。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4914900" y="1162050"/>
            <a:ext cx="66675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124450" y="152400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登记为一项准备活动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124450" y="1809750"/>
            <a:ext cx="624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说明输入、步数、预算，以及它明确不回答的问题。它不占用两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的范围。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4914900" y="2571750"/>
            <a:ext cx="66675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124450" y="293370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不能证明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步内会闭环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124450" y="3219450"/>
            <a:ext cx="624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步数短、对象少，验证不了完整窗口里的四项任务是否都能走完。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4914900" y="3981450"/>
            <a:ext cx="66675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124450" y="434340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不是强制的开跑仪式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124450" y="4629150"/>
            <a:ext cx="624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正式运行前并没有必须完成一至三步的硬性规定。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4914900" y="539115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5124450" y="56007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295900" y="5695950"/>
            <a:ext cx="6076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不要事后补写一份并不存在的试跑报告。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28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28" name="" descr="&lt;Slide notes={`执行时最常听到的一句话是“没有进展”。但这句话本身不构成判断，它只是一个表象。&#10;&#10;停下来的原因至少可以分成五类：咨询台按预定策略猜错了窗口；工具正确拒绝了非法目标；模型请求反复失败或者重试在增加；路径事实、对象反馈或页面身份违反了合同；或者预算已经达到，但任务还没闭环。&#10;&#10;这五类要走的下一步完全不同。行为结果可以继续观察纠错与成本；正确拒绝要回去检查我们的输入，而不是直接判系统故障；请求失败要核对类型、预算和进展再决定；违反合同要停下来保存证据；预算达到就要把未完成状态交给负责人。&#10;&#10;如果对所有现象都用同一个动作，最常见的就是重跑一遍。重跑既掩盖了原因，也浪费了预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⑤&lt;/Text&gt;&#10;        &lt;/Box&gt;&#10;    &lt;/Box&gt;&#10;&#10;    &lt;Box style={{ height: 540, flexDirection: 'column', justifyContent: 'center', gap: 20 }}&gt;&#10;&#10;        &lt;Text style={{ fontSize: 80, fontWeight: 'bold', color: '#276FBF', lineHeight: 1.0 }}&gt;⑤&lt;/Text&gt;&#10;&#10;        &lt;Text style={{ fontSize: 56, fontWeight: 'bold', color: '#20344B', lineHeight: 1.15 }}&gt;五种现象，{'\n'}指向五种不同的处置&lt;/Text&gt;&#10;&#10;        &lt;Box style={{ width: 72, height: 4, background: '#276FBF' }} /&gt;&#10;&#10;        &lt;Text style={{ fontSize: 18, color: '#546779', lineHeight: 1.7, width: 1000 }}&gt;“没有进展”只是表象。先分清属于哪一种，再横向找到对应的下一步。&lt;/Text&gt;&#10;&#10;        &lt;Box style={{ flexDirection: 'row', gap: 18 }}&gt;&#10;            &lt;Box style={{ width: 216, height: 92, background: '#EDF4FC', borderRadius: 8, flexDirection: 'column', gap: 4, justifyContent: 'center', padding: '0 18px' }}&gt;&#10;                &lt;Text style={{ fontSize: 17, fontWeight: 'bold', color: '#276FBF' }}&gt;猜错窗口&lt;/Text&gt;&#10;                &lt;Text style={{ fontSize: 14, color: '#546779' }}&gt;保留并观察纠错&lt;/Text&gt;&#10;            &lt;/Box&gt;&#10;            &lt;Box style={{ width: 216, height: 92, background: '#EDF4FC', borderRadius: 8, flexDirection: 'column', gap: 4, justifyContent: 'center', padding: '0 18px' }}&gt;&#10;                &lt;Text style={{ fontSize: 17, fontWeight: 'bold', color: '#276FBF' }}&gt;正确拒绝&lt;/Text&gt;&#10;                &lt;Text style={{ fontSize: 14, color: '#546779' }}&gt;检查真实输入&lt;/Text&gt;&#10;            &lt;/Box&gt;&#10;            &lt;Box style={{ width: 216, height: 92, background: '#EDF4FC', borderRadius: 8, flexDirection: 'column', gap: 4, justifyContent: 'center', padding: '0 18px' }}&gt;&#10;                &lt;Text style={{ fontSize: 17, fontWeight: 'bold', color: '#276FBF' }}&gt;请求失败&lt;/Text&gt;&#10;                &lt;Text style={{ fontSize: 14, color: '#546779' }}&gt;核对类型与进展&lt;/Text&gt;&#10;            &lt;/Box&gt;&#10;            &lt;Box style={{ width: 216, height: 92, background: '#FFF4E6', borderRadius: 8, flexDirection: 'column', gap: 4, justifyContent: 'center', padding: '0 18px' }}&gt;&#10;                &lt;Text style={{ fontSize: 17, fontWeight: 'bold', color: '#CB6B28' }}&gt;违反合同&lt;/Text&gt;&#10;                &lt;Text style={{ fontSize: 14, color: '#546779' }}&gt;留证并停止该项验收&lt;/Text&gt;&#10;            &lt;/Box&gt;&#10;            &lt;Box style={{ width: 216, height: 92, background: '#FFF4E6', borderRadius: 8, flexDirection: 'column', gap: 4, justifyContent: 'center', padding: '0 18px' }}&gt;&#10;                &lt;Text style={{ fontSize: 17, fontWeight: 'bold', color: '#CB6B28' }}&gt;预算已达到&lt;/Text&gt;&#10;                &lt;Text style={{ fontSize: 14, color: '#546779' }}&gt;记录未完成与决定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1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⑤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09600" y="150495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五种现象，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指向五种不同的处置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4276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4505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“没有进展”只是表象。先分清属于哪一种，再横向找到对应的下一步。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504825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81050" y="52863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猜错窗口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81050" y="5524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保留并观察纠错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2838450" y="504825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009900" y="52863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正确拒绝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009900" y="5524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检查真实输入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5067300" y="504825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238750" y="52863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请求失败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238750" y="5524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核对类型与进展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296150" y="504825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467600" y="52863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违反合同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467600" y="5524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留证并停止该项验收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9525000" y="5048250"/>
            <a:ext cx="20574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9696450" y="528637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预算已达到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696450" y="5524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记录未完成与决定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28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4" name="" descr="&lt;Slide notes={`这五个对应关系可以横向读：左边问的是“这件事属于什么”，右边给出的是“所以下一步查什么”。&#10;&#10;猜错窗口属于策略行为结果，不是故障，保留下来继续观察纠错与成本。正确权限拒绝说明我们的参数或边界有问题，要回去检查真实输入。反复请求失败通常同时牵涉调用和预算，所以先核对类型，再看进展和预算还剩多少。路径事实、对象反馈或页面身份违反合同，属于实际系统问题，要停止当前构建或运行的验收，保存证据并报告具体问题。达到预算但还没闭环，就把未完成状态保留下来，交由负责人决定后续阶段。&#10;&#10;左右两列不是先后的执行顺序，而是同一现象的两面。两列之间没有箭头，正是因为它们不构成一条流水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5　故障决策应指向不同的下一步&lt;/Text&gt;&#10;            &lt;Text style={{ fontSize: 34, fontWeight: 'bold', color: '#20344B' }}&gt;属于什么，决定下一步查什么&lt;/Text&gt;&#10;        &lt;/Box&gt;&#10;    &lt;/Box&gt;&#10;&#10;    &lt;Box style={{ height: 540, flexDirection: 'column', justifyContent: 'center', gap: 14 }}&gt;&#10;&#10;        &lt;Text style={{ fontSize: 17, color: '#546779', lineHeight: 1.6, width: 1152 }}&gt;左右两列是同一现象的两面，不是先后顺序：左列说明它属于什么，右列给出对应该查哪里、该做什么。&lt;/Text&gt;&#10;&#10;        &lt;Box style={{ flexDirection: 'row', gap: 40 }}&gt;&#10;&#10;            &lt;Box style={{ width: 556, flexDirection: 'column', gap: 8 }}&gt;&#10;                &lt;Box style={{ height: 44, background: '#F4F7FA', borderRadius: 8, justifyContent: 'center', padding: '0 20px' }}&gt;&#10;                    &lt;Text style={{ fontSize: 18, fontWeight: 'bold', color: '#546779' }}&gt;属于什么&lt;/Text&gt;&#10;                &lt;/Box&gt;&#10;                &lt;Box style={{ height: 72, background: '#F4F7FA', borderRadius: 8, flexDirection: 'row', alignItems: 'center', gap: 14, padding: '0 20px' }}&gt;&#10;                    &lt;Box style={{ width: 4, height: 40, background: '#546779' }} /&gt;&#10;                    &lt;Box style={{ flexDirection: 'column', gap: 2 }}&gt;&#10;                        &lt;Text style={{ fontSize: 16, fontWeight: 'bold', color: '#20344B' }}&gt;猜错窗口&lt;/Text&gt;&#10;                        &lt;Text style={{ fontSize: 14, color: '#546779' }}&gt;策略行为结果&lt;/Text&gt;&#10;                    &lt;/Box&gt;&#10;                &lt;/Box&gt;&#10;                &lt;Box style={{ height: 72, background: '#F4F7FA', borderRadius: 8, flexDirection: 'row', alignItems: 'center', gap: 14, padding: '0 20px' }}&gt;&#10;                    &lt;Box style={{ width: 4, height: 40, background: '#546779' }} /&gt;&#10;                    &lt;Box style={{ flexDirection: 'column', gap: 2 }}&gt;&#10;                        &lt;Text style={{ fontSize: 16, fontWeight: 'bold', color: '#20344B' }}&gt;正确权限拒绝&lt;/Text&gt;&#10;                        &lt;Text style={{ fontSize: 14, color: '#546779' }}&gt;参数或边界问题&lt;/Text&gt;&#10;                    &lt;/Box&gt;&#10;                &lt;/Box&gt;&#10;                &lt;Box style={{ height: 72, background: '#F4F7FA', borderRadius: 8, flexDirection: 'row', alignItems: 'center', gap: 14, padding: '0 20px' }}&gt;&#10;                    &lt;Box style={{ width: 4, height: 40, background: '#546779' }} /&gt;&#10;                    &lt;Box style={{ flexDirection: 'column', gap: 2 }}&gt;&#10;                        &lt;Text style={{ fontSize: 16, fontWeight: 'bold', color: '#20344B' }}&gt;反复请求失败&lt;/Text&gt;&#10;                        &lt;Text style={{ fontSize: 14, color: '#546779' }}&gt;调用与预算问题&lt;/Text&gt;&#10;                    &lt;/Box&gt;&#10;                &lt;/Box&gt;&#10;                &lt;Box style={{ height: 72, background: '#FFF4E6', borderRadius: 8, flexDirection: 'row', alignItems: 'center', gap: 14, padding: '0 20px' }}&gt;&#10;                    &lt;Box style={{ width: 4, height: 40, background: '#CB6B28' }} /&gt;&#10;                    &lt;Box style={{ flexDirection: 'column', gap: 2 }}&gt;&#10;                        &lt;Text style={{ fontSize: 16, fontWeight: 'bold', color: '#CB6B28' }}&gt;事实违反合同&lt;/Text&gt;&#10;                        &lt;Text style={{ fontSize: 14, color: '#546779' }}&gt;实际系统问题&lt;/Text&gt;&#10;                    &lt;/Box&gt;&#10;                &lt;/Box&gt;&#10;                &lt;Box style={{ height: 72, background: '#FFF4E6', borderRadius: 8, flexDirection: 'row', alignItems: 'center', gap: 14, padding: '0 20px' }}&gt;&#10;                    &lt;Box style={{ width: 4, height: 40, background: '#CB6B28' }} /&gt;&#10;                    &lt;Box style={{ flexDirection: 'column', gap: 2 }}&gt;&#10;                        &lt;Text style={{ fontSize: 16, fontWeight: 'bold', color: '#CB6B28' }}&gt;预算已达到&lt;/Text&gt;&#10;                        &lt;Text style={{ fontSize: 14, color: '#546779' }}&gt;项目停止条件&lt;/Text&gt;&#10;                    &lt;/Box&gt;&#10;                &lt;/Box&gt;&#10;            &lt;/Box&gt;&#10;&#10;            &lt;Box style={{ width: 556, flexDirection: 'column', gap: 8 }}&gt;&#10;                &lt;Box style={{ height: 44, background: '#EDF4FC', borderRadius: 8, justifyContent: 'center', padding: '0 20px' }}&gt;&#10;                    &lt;Text style={{ fontSize: 18, fontWeight: 'bold', color: '#276FBF' }}&gt;下一步&lt;/Text&gt;&#10;                &lt;/Box&gt;&#10;                &lt;Box style={{ height: 72, background: '#ECF7F2', borderRadius: 8, flexDirection: 'row', alignItems: 'center', gap: 14, padding: '0 20px' }}&gt;&#10;                    &lt;Box style={{ width: 4, height: 40, background: '#26816B' }} /&gt;&#10;                    &lt;Text style={{ fontSize: 15, color: '#20344B', flex: 1, lineHeight: 1.45 }}&gt;保留并观察纠错与成本&lt;/Text&gt;&#10;                &lt;/Box&gt;&#10;                &lt;Box style={{ height: 72, background: '#ECF7F2', borderRadius: 8, flexDirection: 'row', alignItems: 'center', gap: 14, padding: '0 20px' }}&gt;&#10;                    &lt;Box style={{ width: 4, height: 40, background: '#26816B' }} /&gt;&#10;                    &lt;Text style={{ fontSize: 15, color: '#20344B', flex: 1, lineHeight: 1.45 }}&gt;检查真实输入与 SOP&lt;/Text&gt;&#10;                &lt;/Box&gt;&#10;                &lt;Box style={{ height: 72, background: '#ECF7F2', borderRadius: 8, flexDirection: 'row', alignItems: 'center', gap: 14, padding: '0 20px' }}&gt;&#10;                    &lt;Box style={{ width: 4, height: 40, background: '#26816B' }} /&gt;&#10;                    &lt;Text style={{ fontSize: 15, color: '#20344B', flex: 1, lineHeight: 1.45 }}&gt;核对类型、预算与进展&lt;/Text&gt;&#10;                &lt;/Box&gt;&#10;                &lt;Box style={{ height: 72, background: '#FFF4E6', borderRadius: 8, flexDirection: 'row', alignItems: 'center', gap: 14, padding: '0 20px' }}&gt;&#10;                    &lt;Box style={{ width: 4, height: 40, background: '#CB6B28' }} /&gt;&#10;                    &lt;Text style={{ fontSize: 15, color: '#20344B', flex: 1, lineHeight: 1.45 }}&gt;留证并停止该项验收&lt;/Text&gt;&#10;                &lt;/Box&gt;&#10;                &lt;Box style={{ height: 72, background: '#FFF4E6', borderRadius: 8, flexDirection: 'row', alignItems: 'center', gap: 14, padding: '0 20px' }}&gt;&#10;                    &lt;Box style={{ width: 4, height: 40, background: '#CB6B28' }} /&gt;&#10;                    &lt;Text style={{ fontSize: 15, color: '#20344B', flex: 1, lineHeight: 1.45 }}&gt;记录未完成状态与决定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2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故障决策应指向不同的下一步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属于什么，决定下一步查什么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左右两列是同一现象的两面，不是先后顺序：左列说明它属于什么，右列给出对应该查哪里、该做什么。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1828800"/>
            <a:ext cx="52959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00100" y="1933575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属于什么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2324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800100" y="2476500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猜错窗口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71550" y="269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策略行为结果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3086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800100" y="3238500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71550" y="3248025"/>
            <a:ext cx="93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正确权限拒绝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71550" y="3457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参数或边界问题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3848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800100" y="4000500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71550" y="4010025"/>
            <a:ext cx="93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反复请求失败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971550" y="4219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调用与预算问题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4610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800100" y="4762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71550" y="47720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事实违反合同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71550" y="49815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实际系统问题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5372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800100" y="5524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971550" y="553402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预算已达到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71550" y="5743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项目停止条件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286500" y="1828800"/>
            <a:ext cx="52959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477000" y="1933575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286500" y="2324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6477000" y="24765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648450" y="2543175"/>
            <a:ext cx="4743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保留并观察纠错与成本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286500" y="3086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6477000" y="32385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648450" y="3305175"/>
            <a:ext cx="4743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检查真实输入与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286500" y="3848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6477000" y="40005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648450" y="4067175"/>
            <a:ext cx="4743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核对类型、预算与进展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286500" y="4610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6477000" y="4762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648450" y="4829175"/>
            <a:ext cx="4743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留证并停止该项验收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286500" y="5372100"/>
            <a:ext cx="52959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6477000" y="5524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648450" y="5591175"/>
            <a:ext cx="4743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记录未完成状态与决定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28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notes={`把五种观察和处理原则摊开看，判断的关键在于“这件事属于谁的问题”。&#10;&#10;咨询台按预定策略猜错窗口，是设计好的行为结果，保留下来继续观察纠错和成本，不要急着修。工具正确拒绝非法目标，说明我们的输入本身有问题，要保留输入和原因，检查 SOP 如何处理，而不是直接判系统故障。模型请求失败或重试增加，要同时看类型、预算和进展，再决定继续、暂停还是结束本次尝试。路径事实、对象反馈或页面身份违反合同，属于实际系统问题，要停止当前验收、保存证据并报告具体问题。达到预算但尚未闭环，就保留未完成状态，交给负责人决定，不能挑一个成功的 Run 替换。&#10;&#10;底线是：修复需要针对该问题的明确决定，不能趁等决定时改数据库或公共资源绕过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5　故障决策应指向不同的下一步&lt;/Text&gt;&#10;            &lt;Text style={{ fontSize: 34, fontWeight: 'bold', color: '#20344B' }}&gt;五种观察与处理原则&lt;/Text&gt;&#10;        &lt;/Box&gt;&#10;    &lt;/Box&gt;&#10;&#10;    &lt;Box style={{ height: 540, flexDirection: 'row', alignItems: 'center', gap: 32 }}&gt;&#10;&#10;        &lt;Box style={{ width: 690, flexDirection: 'column', gap: 8 }}&gt;&#10;&#10;            &lt;Box style={{ width: 690, height: 96, background: '#F4F7FA', borderRadius: 8, flexDirection: 'row', alignItems: 'center', gap: 14, padding: '0 18px' }}&gt;&#10;                &lt;Box style={{ width: 4, height: 52, background: '#546779' }} /&gt;&#10;                &lt;Box style={{ width: 268, flexDirection: 'column', gap: 2 }}&gt;&#10;                    &lt;Text style={{ fontSize: 15, fontWeight: 'bold', color: '#20344B' }}&gt;按预定策略猜错窗口&lt;/Text&gt;&#10;                    &lt;Text style={{ fontSize: 14, color: '#546779' }}&gt;咨询台&lt;/Text&gt;&#10;                &lt;/Box&gt;&#10;                &lt;Text style={{ fontSize: 15, color: '#546779', flex: 1, lineHeight: 1.45 }}&gt;保留为行为结果，继续观察纠错与成本&lt;/Text&gt;&#10;            &lt;/Box&gt;&#10;&#10;            &lt;Box style={{ width: 690, height: 96, background: '#F4F7FA', borderRadius: 8, flexDirection: 'row', alignItems: 'center', gap: 14, padding: '0 18px' }}&gt;&#10;                &lt;Box style={{ width: 4, height: 52, background: '#546779' }} /&gt;&#10;                &lt;Box style={{ width: 268, flexDirection: 'column', gap: 2 }}&gt;&#10;                    &lt;Text style={{ fontSize: 15, fontWeight: 'bold', color: '#20344B' }}&gt;正确拒绝非法目标&lt;/Text&gt;&#10;                    &lt;Text style={{ fontSize: 14, color: '#546779' }}&gt;工具&lt;/Text&gt;&#10;                &lt;/Box&gt;&#10;                &lt;Text style={{ fontSize: 15, color: '#546779', flex: 1, lineHeight: 1.45 }}&gt;保留输入和原因，检查 SOP 如何处理，不直接判系统故障&lt;/Text&gt;&#10;            &lt;/Box&gt;&#10;&#10;            &lt;Box style={{ width: 690, height: 96, background: '#EDF4FC', borderRadius: 8, flexDirection: 'row', alignItems: 'center', gap: 14, padding: '0 18px' }}&gt;&#10;                &lt;Box style={{ width: 4, height: 52, background: '#276FBF' }} /&gt;&#10;                &lt;Box style={{ width: 268, flexDirection: 'column', gap: 2 }}&gt;&#10;                    &lt;Text style={{ fontSize: 15, fontWeight: 'bold', color: '#20344B' }}&gt;请求失败或重试增加&lt;/Text&gt;&#10;                    &lt;Text style={{ fontSize: 14, color: '#546779' }}&gt;模型调用&lt;/Text&gt;&#10;                &lt;/Box&gt;&#10;                &lt;Text style={{ fontSize: 15, color: '#546779', flex: 1, lineHeight: 1.45 }}&gt;核对类型、预算和进展，再决定继续、暂停或结束本次尝试&lt;/Text&gt;&#10;            &lt;/Box&gt;&#10;&#10;            &lt;Box style={{ width: 690, height: 96, background: '#FFF4E6', borderRadius: 8, flexDirection: 'row', alignItems: 'center', gap: 14, padding: '0 18px' }}&gt;&#10;                &lt;Box style={{ width: 4, height: 52, background: '#CB6B28' }} /&gt;&#10;                &lt;Box style={{ width: 268, flexDirection: 'column', gap: 2 }}&gt;&#10;                    &lt;Text style={{ fontSize: 15, fontWeight: 'bold', color: '#CB6B28' }}&gt;路径事实、对象反馈或页面身份违反合同&lt;/Text&gt;&#10;                    &lt;Text style={{ fontSize: 14, color: '#546779' }}&gt;系统机制&lt;/Text&gt;&#10;                &lt;/Box&gt;&#10;                &lt;Text style={{ fontSize: 15, color: '#546779', flex: 1, lineHeight: 1.45 }}&gt;停止当前构建／运行验收，保存证据并报告具体问题&lt;/Text&gt;&#10;            &lt;/Box&gt;&#10;&#10;            &lt;Box style={{ width: 690, height: 96, background: '#FFF4E6', borderRadius: 8, flexDirection: 'row', alignItems: 'center', gap: 14, padding: '0 18px' }}&gt;&#10;                &lt;Box style={{ width: 4, height: 52, background: '#CB6B28' }} /&gt;&#10;                &lt;Box style={{ width: 268, flexDirection: 'column', gap: 2 }}&gt;&#10;                    &lt;Text style={{ fontSize: 15, fontWeight: 'bold', color: '#CB6B28' }}&gt;达到预算但尚未闭环&lt;/Text&gt;&#10;                    &lt;Text style={{ fontSize: 14, color: '#546779' }}&gt;项目条件&lt;/Text&gt;&#10;                &lt;/Box&gt;&#10;                &lt;Text style={{ fontSize: 15, color: '#546779', flex: 1, lineHeight: 1.45 }}&gt;保留未完成状态，交由负责人决定，不挑成功 Run 替换&lt;/Text&gt;&#10;            &lt;/Box&gt;&#10;&#10;        &lt;/Box&gt;&#10;&#10;        &lt;Box style={{ width: 430, flexDirection: 'column', gap: 16 }}&gt;&#10;            &lt;Box style={{ width: 430, height: 160, background: '#EDF4FC', borderRadius: 10, padding: '18px 22px', flexDirection: 'column', gap: 8, justifyContent: 'center' }}&gt;&#10;                &lt;Text style={{ fontSize: 18, fontWeight: 'bold', color: '#276FBF' }}&gt;先读状态，再下判断&lt;/Text&gt;&#10;                &lt;Text style={{ fontSize: 15, color: '#546779', lineHeight: 1.5 }}&gt;画面暂时没有移动时，先读实际状态和调用记录，而不是先归因。&lt;/Text&gt;&#10;            &lt;/Box&gt;&#10;            &lt;Box style={{ width: 430, height: 172, background: '#F4F7FA', borderRadius: 10, padding: '18px 22px', flexDirection: 'column', gap: 8, justifyContent: 'center' }}&gt;&#10;                &lt;Text style={{ fontSize: 18, fontWeight: 'bold', color: '#20344B' }}&gt;这些都是不同的情况&lt;/Text&gt;&#10;                &lt;Text style={{ fontSize: 15, color: '#546779', lineHeight: 1.5 }}&gt;一次有理由的等待、一条未投递完的对象回复、一个在途模型请求、反复无进展。&lt;/Text&gt;&#10;            &lt;/Box&gt;&#10;            &lt;Box style={{ width: 430, height: 172, background: '#FFF4E6', borderRadius: 10, padding: '18px 22px', flexDirection: 'column', gap: 8, justifyContent: 'center' }}&gt;&#10;                &lt;Text style={{ fontSize: 18, fontWeight: 'bold', color: '#CB6B28' }}&gt;不能绕道修复&lt;/Text&gt;&#10;                &lt;Text style={{ fontSize: 15, color: '#546779', lineHeight: 1.5 }}&gt;系统问题的修复需要针对该问题的明确决定，不能在等待决定时改数据库、实验文件或公共资源绕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3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故障决策应指向不同的下一步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五种观察与处理原则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12763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781050" y="1485900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按预定策略猜错窗口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52500" y="17526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咨询台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638550" y="1609725"/>
            <a:ext cx="3371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保留为行为结果，继续观察纠错与成本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22669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781050" y="2476500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52500" y="255270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正确拒绝非法目标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52500" y="27432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638550" y="2476500"/>
            <a:ext cx="3371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保留输入和原因，检查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如何处理，不直接判系统故障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09600" y="32575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781050" y="34671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952500" y="354330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请求失败或重试增加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952500" y="37338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3638550" y="3467100"/>
            <a:ext cx="3371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核对类型、预算和进展，再决定继续、暂停或结束本次尝试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09600" y="42481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781050" y="44577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52500" y="4448175"/>
            <a:ext cx="25527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路径事实、对象反馈或页面身份违反合同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52500" y="4810125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系统机制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638550" y="4581525"/>
            <a:ext cx="3371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停止当前构建／运行验收，保存证据并报告具体问题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09600" y="52387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781050" y="54483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52500" y="552450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达到预算但尚未闭环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57150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项目条件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3638550" y="5448300"/>
            <a:ext cx="33718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保留未完成状态，交由负责人决定，不挑成功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替换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7486650" y="1162050"/>
            <a:ext cx="409575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696200" y="152400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先读状态，再下判断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696200" y="1809750"/>
            <a:ext cx="3676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画面暂时没有移动时，先读实际状态和调用记录，而不是先归因。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486650" y="2838450"/>
            <a:ext cx="4095750" cy="1638300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696200" y="32575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这些都是不同的情况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696200" y="3543300"/>
            <a:ext cx="3676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一次有理由的等待、一条未投递完的对象回复、一个在途模型请求、反复无进展。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486650" y="4629150"/>
            <a:ext cx="4095750" cy="1638300"/>
          </a:xfrm>
          <a:prstGeom prst="roundRect">
            <a:avLst>
              <a:gd name="adj" fmla="val 58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696200" y="50482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不能绕道修复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696200" y="5334000"/>
            <a:ext cx="3676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系统问题的修复需要针对该问题的明确决定，不能在等待决定时改数据库、实验文件或公共资源绕过。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28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42" name="" descr="&lt;Slide notes={`恢复这件事有一条硬边界：不能用一次新建 Run 来代替。&#10;&#10;续跑和新建是两种不同的操作，产生的东西也不同。续跑保持原来的 Run 身份，只是在里面产生新的 Attempt，所以这次运行仍然属于同一个实验、同一份输入。如果修改了输入之后再运行，那就要使用一个新的独立实验，因为在独立实验里改完再启动，才不会污染原来的那份记录。&#10;&#10;反过来做，就会出现一个说不清的 Run：它的前半段用的是旧输入，后半段是新输入，任何结论都追不到唯一的一份输入上。&#10;&#10;还有一条记录习惯值得坚持：写下“为什么采取这一步”，而不只是写下“已经重启”。下一位负责人真正需要的是你的判断理由，而不是一个动作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5　故障决策应指向不同的下一步&lt;/Text&gt;&#10;            &lt;Text style={{ fontSize: 34, fontWeight: 'bold', color: '#20344B' }}&gt;修复与恢复的边界&lt;/Text&gt;&#10;        &lt;/Box&gt;&#10;    &lt;/Box&gt;&#10;&#10;    &lt;Box style={{ height: 540, flexDirection: 'row', alignItems: 'center', gap: 32 }}&gt;&#10;&#10;        &lt;Box style={{ width: 420, flexDirection: 'column', gap: 16, justifyContent: 'center' }}&gt;&#10;            &lt;Text style={{ fontSize: 26, fontWeight: 'bold', color: '#20344B', lineHeight: 1.4 }}&gt;续跑还是新建，{'\n'}先分清改了没有&lt;/Text&gt;&#10;            &lt;Box style={{ width: 60, height: 4, background: '#276FBF' }} /&gt;&#10;            &lt;Text style={{ fontSize: 16, color: '#546779', lineHeight: 1.7, width: 420 }}&gt;判断标准只有一条：输入有没有变。输入没变就续跑，输入变了就另起一个独立实验。&lt;/Text&gt;&#10;            &lt;Box style={{ width: 420, height: 88, background: '#F7F3E8', borderRadius: 10, flexDirection: 'row', alignItems: 'center', gap: 14, padding: '0 20px' }}&gt;&#10;                &lt;Box style={{ width: 4, height: 52, background: '#546779' }} /&gt;&#10;                &lt;Text style={{ fontSize: 16, color: '#20344B', flex: 1, lineHeight: 1.5 }}&gt;记录「为何采取这一步」，比只记「已经重启」有用。&lt;/Text&gt;&#10;            &lt;/Box&gt;&#10;        &lt;/Box&gt;&#10;&#10;        &lt;Box style={{ width: 700, flexDirection: 'column', gap: 14 }}&gt;&#10;&#10;            &lt;Box style={{ width: 700, height: 128, background: '#ECF7F2', borderRadius: 10, flexDirection: 'row', alignItems: 'center', gap: 18, padding: '0 22px' }}&gt;&#10;                &lt;Box style={{ width: 190, flexDirection: 'column', gap: 4 }}&gt;&#10;                    &lt;Text style={{ fontSize: 20, fontWeight: 'bold', color: '#26816B' }}&gt;续跑&lt;/Text&gt;&#10;                    &lt;Text style={{ fontSize: 14, color: '#546779' }}&gt;输入没有变&lt;/Text&gt;&#10;                &lt;/Box&gt;&#10;                &lt;Box style={{ width: 4, height: 68, background: '#26816B' }} /&gt;&#10;                &lt;Text style={{ fontSize: 16, color: '#20344B', flex: 1, lineHeight: 1.5 }}&gt;保持原来的 Run 身份，只产生新的 Attempt；这次运行仍属于同一份输入。&lt;/Text&gt;&#10;            &lt;/Box&gt;&#10;&#10;            &lt;Box style={{ width: 700, height: 128, background: '#EDF4FC', borderRadius: 10, flexDirection: 'row', alignItems: 'center', gap: 18, padding: '0 22px' }}&gt;&#10;                &lt;Box style={{ width: 190, flexDirection: 'column', gap: 4 }}&gt;&#10;                    &lt;Text style={{ fontSize: 20, fontWeight: 'bold', color: '#276FBF' }}&gt;另起实验&lt;/Text&gt;&#10;                    &lt;Text style={{ fontSize: 14, color: '#546779' }}&gt;输入已经变了&lt;/Text&gt;&#10;                &lt;/Box&gt;&#10;                &lt;Box style={{ width: 4, height: 68, background: '#276FBF' }} /&gt;&#10;                &lt;Text style={{ fontSize: 16, color: '#20344B', flex: 1, lineHeight: 1.5 }}&gt;修改输入后再运行，应使用新的独立实验，保留原来的历史输入与结果。&lt;/Text&gt;&#10;            &lt;/Box&gt;&#10;&#10;            &lt;Box style={{ width: 700, height: 112, background: '#FFF4E6', borderRadius: 10, flexDirection: 'row', alignItems: 'center', gap: 16, padding: '0 22px' }}&gt;&#10;                &lt;Box style={{ width: 4, height: 64, background: '#CB6B28' }} /&gt;&#10;                &lt;Box style={{ flexDirection: 'column', gap: 4, flex: 1 }}&gt;&#10;                    &lt;Text style={{ fontSize: 18, fontWeight: 'bold', color: '#CB6B28' }}&gt;恢复不能用一次新建 Run 代替&lt;/Text&gt;&#10;                    &lt;Text style={{ fontSize: 15, color: '#546779', lineHeight: 1.5 }}&gt;否则会出现一个前后输入不一致的运行，结论追不到唯一一份输入。&lt;/Text&gt;&#10;                &lt;/Box&gt;&#10;            &lt;/Box&gt;&#10;&#10;            &lt;Box style={{ width: 700, height: 96, background: '#F4F7FA', borderRadius: 10, flexDirection: 'row', alignItems: 'center', gap: 16, padding: '0 22px' }}&gt;&#10;                &lt;Box style={{ width: 4, height: 52, background: '#276FBF' }} /&gt;&#10;                &lt;Text style={{ fontSize: 16, color: '#20344B', flex: 1, lineHeight: 1.5 }}&gt;控制与恢复的限制条件，应随执行计划一起交给接手者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4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故障决策应指向不同的下一步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修复与恢复的边界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40005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续跑还是新建，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先分清改了没有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330517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4000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判断标准只有一条：输入有没有变。输入没变就续跑，输入变了就另起一个独立实验。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09600" y="4276725"/>
            <a:ext cx="40005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800100" y="4448175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71550" y="4419600"/>
            <a:ext cx="3448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记录「为何采取这一步」，比只记「已经重启」有用。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4914900" y="1304925"/>
            <a:ext cx="666750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5124450" y="1704975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续跑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124450" y="19716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输入没有变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7105650" y="1590675"/>
            <a:ext cx="38100" cy="647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315200" y="1638300"/>
            <a:ext cx="4057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保持原来的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身份，只产生新的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；这次运行仍属于同一份输入。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4914900" y="2657475"/>
            <a:ext cx="66675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124450" y="3057525"/>
            <a:ext cx="180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另起实验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124450" y="332422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输入已经变了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7105650" y="2943225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315200" y="2990850"/>
            <a:ext cx="4057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修改输入后再运行，应使用新的独立实验，保留原来的历史输入与结果。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4914900" y="401002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5124450" y="4238625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314950" y="429577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恢复不能用一次新建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代替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314950" y="454342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否则会出现一个前后输入不一致的运行，结论追不到唯一一份输入。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914900" y="5210175"/>
            <a:ext cx="66675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5124450" y="54197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5314950" y="5534025"/>
            <a:ext cx="6057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控制与恢复的限制条件，应随执行计划一起交给接手者。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72" name="" descr="&lt;Slide notes={`这一节的最后一块，讲交接记录。&#10;&#10;它不需要很长，一段短文就够，但必须回答六个问题：当前完成到哪个阶段；所选实验与 Run 的身份是什么；最后完整提交在哪里；已经触发了哪项预算规则；还有哪些在途或待核对的事项；下一步由谁处理。&#10;&#10;这六问有一个共同作用：让接手的人不必从头问你。特别是身份这一项，如果还没有创建 Run，就明确写“未创建”，不要拿教学编号去冒充 UUID。填一个假的编号，比诚实地写“还没有”危险得多。&#10;&#10;还有一点要接受：此刻计划可以写得很完整，运行结果却仍然是空的。这不是缺陷，而是这一阶段的真实状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知识块 ⑥&lt;/Text&gt;&#10;        &lt;/Box&gt;&#10;    &lt;/Box&gt;&#10;&#10;    &lt;Box style={{ height: 540, flexDirection: 'column', justifyContent: 'center', gap: 20 }}&gt;&#10;&#10;        &lt;Text style={{ fontSize: 80, fontWeight: 'bold', color: '#276FBF', lineHeight: 1.0 }}&gt;⑥&lt;/Text&gt;&#10;&#10;        &lt;Text style={{ fontSize: 56, fontWeight: 'bold', color: '#20344B', lineHeight: 1.15 }}&gt;留下一份{'\n'}别人能接着做的交接记录&lt;/Text&gt;&#10;&#10;        &lt;Box style={{ width: 72, height: 4, background: '#276FBF' }} /&gt;&#10;&#10;        &lt;Text style={{ fontSize: 18, color: '#546779', lineHeight: 1.7, width: 1000 }}&gt;一段短文就够，但六个问题都要答。此刻计划可以完整，运行结果仍然为空。&lt;/Text&gt;&#10;&#10;        &lt;Box style={{ flexDirection: 'row', gap: 12 }}&gt;&#10;            &lt;Box style={{ width: 172, height: 80, background: '#EDF4FC', borderRadius: 8, justifyContent: 'center', alignItems: 'center' }}&gt;&#10;                &lt;Text style={{ fontSize: 16, fontWeight: 'bold', color: '#20344B' }}&gt;完成到哪阶段&lt;/Text&gt;&#10;            &lt;/Box&gt;&#10;            &lt;Box style={{ width: 172, height: 80, background: '#EDF4FC', borderRadius: 8, justifyContent: 'center', alignItems: 'center' }}&gt;&#10;                &lt;Text style={{ fontSize: 16, fontWeight: 'bold', color: '#20344B' }}&gt;实验与身份&lt;/Text&gt;&#10;            &lt;/Box&gt;&#10;            &lt;Box style={{ width: 172, height: 80, background: '#EDF4FC', borderRadius: 8, justifyContent: 'center', alignItems: 'center' }}&gt;&#10;                &lt;Text style={{ fontSize: 16, fontWeight: 'bold', color: '#20344B' }}&gt;最后提交位置&lt;/Text&gt;&#10;            &lt;/Box&gt;&#10;            &lt;Box style={{ width: 172, height: 80, background: '#FFF4E6', borderRadius: 8, justifyContent: 'center', alignItems: 'center' }}&gt;&#10;                &lt;Text style={{ fontSize: 16, fontWeight: 'bold', color: '#20344B' }}&gt;已触发规则&lt;/Text&gt;&#10;            &lt;/Box&gt;&#10;            &lt;Box style={{ width: 172, height: 80, background: '#FFF4E6', borderRadius: 8, justifyContent: 'center', alignItems: 'center' }}&gt;&#10;                &lt;Text style={{ fontSize: 16, fontWeight: 'bold', color: '#20344B' }}&gt;在途与待核对&lt;/Text&gt;&#10;            &lt;/Box&gt;&#10;            &lt;Box style={{ width: 172, height: 80, background: '#ECF7F2', borderRadius: 8, justifyContent: 'center', alignItems: 'center' }}&gt;&#10;                &lt;Text style={{ fontSize: 16, fontWeight: 'bold', color: '#20344B' }}&gt;下一步由谁处理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5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⑥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000" b="1">
                <a:solidFill>
                  <a:srgbClr val="276FB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留下一份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别人能接着做的交接记录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43338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45624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一段短文就够，但六个问题都要答。此刻计划可以完整，运行结果仍然为空。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971550" y="53911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完成到哪阶段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23622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800350" y="53911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实验与身份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41148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476750" y="53911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最后提交位置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58674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305550" y="53911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已触发规则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76200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981950" y="53911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在途与待核对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372600" y="5105400"/>
            <a:ext cx="1638300" cy="762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658350" y="53911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下一步由谁处理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28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95" name="" descr="&lt;Slide notes={`交接记录可以写成一段短文，但六个问题都要落地。&#10;&#10;当前完成到哪个阶段：是在材料审阅、浏览器配置，还是已经进到运行观察。所选实验与 Run 的身份是什么：这里要特别小心，如果还没有创建 Run，就明确填“未创建”，不要拿教学编号去代替 UUID。最后完整提交在哪里：指的是最后一个已经完整提交的边界，而不是最后一次尝试。已经触发了哪项预算规则：是物理尝试阈值、费用复核阈值，还是某个数据缺口。还有哪些在途或待核对的事项。下一步由谁处理：接手人具体是谁。&#10;&#10;这六问从阶段一直问到责任人，读完一段话，接手的人就知道自己站在哪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6　执行日志最后要留下什么&lt;/Text&gt;&#10;            &lt;Text style={{ fontSize: 34, fontWeight: 'bold', color: '#20344B' }}&gt;交接记录要回答的六件事&lt;/Text&gt;&#10;        &lt;/Box&gt;&#10;    &lt;/Box&gt;&#10;&#10;    &lt;Box style={{ height: 540, flexDirection: 'column', justifyContent: 'center', gap: 16 }}&gt;&#10;&#10;        &lt;Text style={{ fontSize: 17, color: '#546779', lineHeight: 1.6, width: 1152 }}&gt;一段短文就够，但这六问都要答。尚未创建 Run 时，身份一栏明确填“未创建”，不以教学编号代替 UUID。&lt;/Text&gt;&#10;&#10;        &lt;Box style={{ flexDirection: 'row', gap: 16 }}&gt;&#10;&#10;            &lt;Box style={{ width: 373, height: 216, background: '#EDF4FC', borderRadius: 10, padding: '18px 20px', flexDirection: 'column', gap: 8 }}&gt;&#10;                &lt;Text style={{ fontSize: 28, fontWeight: 'bold', color: '#276FBF' }}&gt;01&lt;/Text&gt;&#10;                &lt;Text style={{ fontSize: 18, fontWeight: 'bold', color: '#20344B' }}&gt;完成到哪个阶段&lt;/Text&gt;&#10;                &lt;Text style={{ fontSize: 15, color: '#546779', lineHeight: 1.5, flex: 1 }}&gt;材料审阅、浏览器配置、执行准备、运行观察、结果收集还是交付检查。&lt;/Text&gt;&#10;            &lt;/Box&gt;&#10;&#10;            &lt;Box style={{ width: 373, height: 216, background: '#FFF4E6', borderRadius: 10, padding: '18px 20px', flexDirection: 'column', gap: 8 }}&gt;&#10;                &lt;Text style={{ fontSize: 28, fontWeight: 'bold', color: '#CB6B28' }}&gt;02&lt;/Text&gt;&#10;                &lt;Text style={{ fontSize: 18, fontWeight: 'bold', color: '#20344B' }}&gt;实验与 Run 身份&lt;/Text&gt;&#10;                &lt;Text style={{ fontSize: 15, color: '#546779', lineHeight: 1.5, flex: 1 }}&gt;写所选实验与 Run 的标识；还没有就填“未创建”。&lt;/Text&gt;&#10;            &lt;/Box&gt;&#10;&#10;            &lt;Box style={{ width: 373, height: 216, background: '#EDF4FC', borderRadius: 10, padding: '18px 20px', flexDirection: 'column', gap: 8 }}&gt;&#10;                &lt;Text style={{ fontSize: 28, fontWeight: 'bold', color: '#276FBF' }}&gt;03&lt;/Text&gt;&#10;                &lt;Text style={{ fontSize: 18, fontWeight: 'bold', color: '#20344B' }}&gt;最后完整提交位置&lt;/Text&gt;&#10;                &lt;Text style={{ fontSize: 15, color: '#546779', lineHeight: 1.5, flex: 1 }}&gt;指最后一个完整提交的边界，而不是最后一次尝试。&lt;/Text&gt;&#10;            &lt;/Box&gt;&#10;&#10;        &lt;/Box&gt;&#10;&#10;        &lt;Box style={{ flexDirection: 'row', gap: 16 }}&gt;&#10;&#10;            &lt;Box style={{ width: 373, height: 216, background: '#FFF4E6', borderRadius: 10, padding: '18px 20px', flexDirection: 'column', gap: 8 }}&gt;&#10;                &lt;Text style={{ fontSize: 28, fontWeight: 'bold', color: '#CB6B28' }}&gt;04&lt;/Text&gt;&#10;                &lt;Text style={{ fontSize: 18, fontWeight: 'bold', color: '#20344B' }}&gt;已触发哪项预算规则&lt;/Text&gt;&#10;                &lt;Text style={{ fontSize: 15, color: '#546779', lineHeight: 1.5, flex: 1 }}&gt;物理尝试阈值、费用复核阈值、两小时复核点或数据缺口。&lt;/Text&gt;&#10;            &lt;/Box&gt;&#10;&#10;            &lt;Box style={{ width: 373, height: 216, background: '#EDF4FC', borderRadius: 10, padding: '18px 20px', flexDirection: 'column', gap: 8 }}&gt;&#10;                &lt;Text style={{ fontSize: 28, fontWeight: 'bold', color: '#276FBF' }}&gt;05&lt;/Text&gt;&#10;                &lt;Text style={{ fontSize: 18, fontWeight: 'bold', color: '#20344B' }}&gt;在途与待核对事项&lt;/Text&gt;&#10;                &lt;Text style={{ fontSize: 15, color: '#546779', lineHeight: 1.5, flex: 1 }}&gt;哪些请求还没有回来、哪些数字还没有确认。&lt;/Text&gt;&#10;            &lt;/Box&gt;&#10;&#10;            &lt;Box style={{ width: 373, height: 216, background: '#ECF7F2', borderRadius: 10, padding: '18px 20px', flexDirection: 'column', gap: 8 }}&gt;&#10;                &lt;Text style={{ fontSize: 28, fontWeight: 'bold', color: '#26816B' }}&gt;06&lt;/Text&gt;&#10;                &lt;Text style={{ fontSize: 18, fontWeight: 'bold', color: '#20344B' }}&gt;下一步由谁处理&lt;/Text&gt;&#10;                &lt;Text style={{ fontSize: 15, color: '#546779', lineHeight: 1.5, flex: 1 }}&gt;写清接手人是谁，而不是“待定”或一个岗位名称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6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执行日志最后要留下什么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交接记录要回答的六件事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一段短文就够，但这六问都要答。尚未创建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时，身份一栏明确填“未创建”，不以教学编号代替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9600" y="18192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00100" y="19907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00100" y="23907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完成到哪个阶段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00100" y="2676525"/>
            <a:ext cx="3171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材料审阅、浏览器配置、执行准备、运行观察、结果收集还是交付检查。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4314825" y="18192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505325" y="19907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CB6B2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505325" y="23907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实验与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4505325" y="2676525"/>
            <a:ext cx="3171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写所选实验与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的标识；还没有就填“未创建”。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8020050" y="18192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210550" y="19907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210550" y="23907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最后完整提交位置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210550" y="2676525"/>
            <a:ext cx="3171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指最后一个完整提交的边界，而不是最后一次尝试。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0290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00100" y="42005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CB6B2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已触发哪项预算规则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00100" y="4886325"/>
            <a:ext cx="3171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物理尝试阈值、费用复核阈值、两小时复核点或数据缺口。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4314825" y="40290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4505325" y="42005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4505325" y="46005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在途与待核对事项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505325" y="4886325"/>
            <a:ext cx="3171825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哪些请求还没有回来、哪些数字还没有确认。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8020050" y="4029075"/>
            <a:ext cx="3552825" cy="2057400"/>
          </a:xfrm>
          <a:prstGeom prst="roundRect">
            <a:avLst>
              <a:gd name="adj" fmla="val 463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210550" y="4200525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6816B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210550" y="460057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下一步由谁处理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210550" y="4886325"/>
            <a:ext cx="3171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写清接手人是谁，而不是“待定”或一个岗位名称。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28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627" name="" descr="&lt;Slide notes={`实际消耗的汇总有一条固定路径：按 Run 汇总它的全部 Attempt。&#10;&#10;汇总时要分别保留六项：人物、对象、逻辑调用、物理尝试、Token 和费用来源。费用来源这一项常常被省掉，但它决定了这个数字能不能被复核，比如用的是账单、控制台用量还是估算。&#10;&#10;有三条保留规则要一起写清楚。第一，失败步骤里的模型尝试仍然有成本，不能因为没成功就不计。第二，业务证据限定在已提交的边界，但这不代表可以把未提交尝试的消耗删掉；证据边界和成本边界是两件事。第三，四项任务未闭环的数量同样要保留下来，不能只统计走完的那几项。&#10;&#10;这样记下来，下一位负责人看到的才是完整的账，而不是一份挑过的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5.6　执行日志最后要留下什么&lt;/Text&gt;&#10;            &lt;Text style={{ fontSize: 34, fontWeight: 'bold', color: '#20344B' }}&gt;消耗按 Run 汇总，证据只认已提交&lt;/Text&gt;&#10;        &lt;/Box&gt;&#10;    &lt;/Box&gt;&#10;&#10;    &lt;Box style={{ height: 540, flexDirection: 'row', alignItems: 'center', gap: 32 }}&gt;&#10;&#10;        &lt;Box style={{ width: 550, flexDirection: 'column', gap: 12 }}&gt;&#10;            &lt;Box style={{ width: 550, height: 40, justifyContent: 'center' }}&gt;&#10;                &lt;Text style={{ fontSize: 20, fontWeight: 'bold', color: '#20344B' }}&gt;按 Run 汇总全部 Attempt&lt;/Text&gt;&#10;            &lt;/Box&gt;&#10;            &lt;Box style={{ flexDirection: 'row', gap: 14 }}&gt;&#10;                &lt;Box style={{ width: 174, height: 76, background: '#EDF4FC', borderRadius: 8, justifyContent: 'center', alignItems: 'center' }}&gt;&#10;                    &lt;Text style={{ fontSize: 16, color: '#276FBF' }}&gt;人物&lt;/Text&gt;&#10;                &lt;/Box&gt;&#10;                &lt;Box style={{ width: 174, height: 76, background: '#EDF4FC', borderRadius: 8, justifyContent: 'center', alignItems: 'center' }}&gt;&#10;                    &lt;Text style={{ fontSize: 16, color: '#276FBF' }}&gt;对象&lt;/Text&gt;&#10;                &lt;/Box&gt;&#10;                &lt;Box style={{ width: 174, height: 76, background: '#EDF4FC', borderRadius: 8, justifyContent: 'center', alignItems: 'center' }}&gt;&#10;                    &lt;Text style={{ fontSize: 16, color: '#276FBF' }}&gt;逻辑调用&lt;/Text&gt;&#10;                &lt;/Box&gt;&#10;            &lt;/Box&gt;&#10;            &lt;Box style={{ flexDirection: 'row', gap: 14 }}&gt;&#10;                &lt;Box style={{ width: 174, height: 76, background: '#EDF4FC', borderRadius: 8, justifyContent: 'center', alignItems: 'center' }}&gt;&#10;                    &lt;Text style={{ fontSize: 16, color: '#276FBF' }}&gt;物理尝试&lt;/Text&gt;&#10;                &lt;/Box&gt;&#10;                &lt;Box style={{ width: 174, height: 76, background: '#EDF4FC', borderRadius: 8, justifyContent: 'center', alignItems: 'center' }}&gt;&#10;                    &lt;Text style={{ fontSize: 16, color: '#276FBF' }}&gt;Token&lt;/Text&gt;&#10;                &lt;/Box&gt;&#10;                &lt;Box style={{ width: 174, height: 76, background: '#FFF4E6', borderRadius: 8, justifyContent: 'center', alignItems: 'center' }}&gt;&#10;                    &lt;Text style={{ fontSize: 16, color: '#CB6B28' }}&gt;费用来源&lt;/Text&gt;&#10;                &lt;/Box&gt;&#10;            &lt;/Box&gt;&#10;            &lt;Box style={{ width: 550, height: 116, background: '#F7F3E8', borderRadius: 10, padding: '16px 20px', flexDirection: 'column', gap: 6, justifyContent: 'center' }}&gt;&#10;                &lt;Text style={{ fontSize: 16, fontWeight: 'bold', color: '#20344B' }}&gt;费用来源要写出来&lt;/Text&gt;&#10;                &lt;Text style={{ fontSize: 15, color: '#546779', lineHeight: 1.5 }}&gt;是账单、控制台用量还是估算——它决定了这个数字能不能被别人复核。&lt;/Text&gt;&#10;            &lt;/Box&gt;&#10;        &lt;/Box&gt;&#10;&#10;        &lt;Box style={{ width: 570, flexDirection: 'column', gap: 16 }}&gt;&#10;&#10;            &lt;Box style={{ width: 570, height: 140, background: '#FFF4E6', borderRadius: 10, flexDirection: 'row', alignItems: 'center', gap: 16, padding: '0 22px' }}&gt;&#10;                &lt;Box style={{ width: 4, height: 72, background: '#CB6B28' }} /&gt;&#10;                &lt;Box style={{ flexDirection: 'column', gap: 4, flex: 1 }}&gt;&#10;                    &lt;Text style={{ fontSize: 18, fontWeight: 'bold', color: '#CB6B28' }}&gt;失败步骤仍有成本&lt;/Text&gt;&#10;                    &lt;Text style={{ fontSize: 15, color: '#546779', lineHeight: 1.5 }}&gt;没有成功不代表没有消耗，失败步骤里的模型尝试同样要计入。&lt;/Text&gt;&#10;                &lt;/Box&gt;&#10;            &lt;/Box&gt;&#10;&#10;            &lt;Box style={{ width: 570, height: 140, background: '#F4F7FA', borderRadius: 10, flexDirection: 'row', alignItems: 'center', gap: 16, padding: '0 22px' }}&gt;&#10;                &lt;Box style={{ width: 4, height: 72, background: '#276FBF' }} /&gt;&#10;                &lt;Box style={{ flexDirection: 'column', gap: 4, flex: 1 }}&gt;&#10;                    &lt;Text style={{ fontSize: 18, fontWeight: 'bold', color: '#20344B' }}&gt;证据边界不等于成本边界&lt;/Text&gt;&#10;                    &lt;Text style={{ fontSize: 15, color: '#546779', lineHeight: 1.5 }}&gt;业务证据限定在已提交边界，但不能因此删除未提交尝试的消耗。&lt;/Text&gt;&#10;                &lt;/Box&gt;&#10;            &lt;/Box&gt;&#10;&#10;            &lt;Box style={{ width: 570, height: 140, background: '#F4F7FA', borderRadius: 10, flexDirection: 'row', alignItems: 'center', gap: 16, padding: '0 22px' }}&gt;&#10;                &lt;Box style={{ width: 4, height: 72, background: '#276FBF' }} /&gt;&#10;                &lt;Box style={{ flexDirection: 'column', gap: 4, flex: 1 }}&gt;&#10;                    &lt;Text style={{ fontSize: 18, fontWeight: 'bold', color: '#20344B' }}&gt;未闭环数量同样保留&lt;/Text&gt;&#10;                    &lt;Text style={{ fontSize: 15, color: '#546779', lineHeight: 1.5 }}&gt;四项任务里还有几项没有闭环，这个数字要如实写下来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7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执行日志最后要留下什么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057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消耗按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汇总，证据只认已提交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09600" y="2152650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汇总全部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25717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285875" y="28384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2400300" y="25717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3076575" y="28384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4191000" y="25717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714875" y="28384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34099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133475" y="3676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2400300" y="34099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3019425" y="3676650"/>
            <a:ext cx="42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Token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4191000" y="3409950"/>
            <a:ext cx="165735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714875" y="3676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费用来源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4248150"/>
            <a:ext cx="5238750" cy="1104900"/>
          </a:xfrm>
          <a:prstGeom prst="roundRect">
            <a:avLst>
              <a:gd name="adj" fmla="val 862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00100" y="455295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费用来源要写出来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是账单、控制台用量还是估算——它决定了这个数字能不能被别人复核。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153150" y="1562100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6362700" y="18859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553200" y="19812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失败步骤仍有成本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553200" y="2228850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没有成功不代表没有消耗，失败步骤里的模型尝试同样要计入。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153150" y="3048000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6362700" y="33718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553200" y="34671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证据边界不等于成本边界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553200" y="3714750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业务证据限定在已提交边界，但不能因此删除未提交尝试的消耗。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153150" y="4533900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6362700" y="48577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553200" y="49530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未闭环数量同样保留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553200" y="5200650"/>
            <a:ext cx="4819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四项任务里还有几项没有闭环，这个数字要如实写下来。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28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662" name="" descr="&lt;Slide notes={`回到这一节要交付的东西：一份别人能按其继续工作的执行计划与预算登记。&#10;&#10;完成标准不在数字漂不漂亮，而在三件事。范围与职责分得清楚，谁以什么身份对什么负责，写在纸上就能看懂。预算能被重算，数量、假设、单价逐项列出，换掉任何一个假设结果都跟着变。阈值带着动作，到达物理尝试阈值、费用复核阈值或两小时复核点时，都知道该做什么、找谁确认。&#10;&#10;最后是状态的诚实。现在这份计划可以写得很完整，但运行结果仍然是空的，所以它只能叫“计划执行”。只有后续运行产生了事实，有了提交边界、Attempt 记录和实际用量，才能把它改成“已经观察”。&#10;&#10;下一节就把这些记录组织成一份可以被审查的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5　执行与预算&lt;/Text&gt;&#10;            &lt;Text style={{ fontSize: 34, fontWeight: 'bold', color: '#20344B' }}&gt;完成标准&lt;/Text&gt;&#10;        &lt;/Box&gt;&#10;    &lt;/Box&gt;&#10;&#10;    &lt;Box style={{ height: 540, flexDirection: 'column', justifyContent: 'center', gap: 20 }}&gt;&#10;&#10;        &lt;Text style={{ fontSize: 52, fontWeight: 'bold', color: '#20344B', lineHeight: 1.2 }}&gt;从“计划执行”到“已经观察”&lt;/Text&gt;&#10;&#10;        &lt;Box style={{ width: 72, height: 4, background: '#276FBF' }} /&gt;&#10;&#10;        &lt;Box style={{ flexDirection: 'row', alignItems: 'center' }}&gt;&#10;            &lt;Box style={{ width: 500, height: 104, background: '#F4F7FA', borderRadius: 10, padding: '16px 22px', flexDirection: 'column', gap: 4, justifyContent: 'center' }}&gt;&#10;                &lt;Text style={{ fontSize: 22, fontWeight: 'bold', color: '#546779' }}&gt;计划执行&lt;/Text&gt;&#10;                &lt;Text style={{ fontSize: 15, color: '#546779', lineHeight: 1.45 }}&gt;计划可以完整，运行结果仍然为空&lt;/Text&gt;&#10;            &lt;/Box&gt;&#10;            &lt;Box style={{ width: 44, height: 104, justifyContent: 'center', alignItems: 'center' }}&gt;&#10;                &lt;Text style={{ fontSize: 26, color: '#26816B' }}&gt;›&lt;/Text&gt;&#10;            &lt;/Box&gt;&#10;            &lt;Box style={{ width: 500, height: 104, background: '#ECF7F2', borderRadius: 10, padding: '16px 22px', flexDirection: 'column', gap: 4, justifyContent: 'center' }}&gt;&#10;                &lt;Text style={{ fontSize: 22, fontWeight: 'bold', color: '#26816B' }}&gt;已经观察&lt;/Text&gt;&#10;                &lt;Text style={{ fontSize: 15, color: '#546779', lineHeight: 1.45 }}&gt;有了提交边界、Attempt 记录与实际用量之后&lt;/Text&gt;&#10;            &lt;/Box&gt;&#10;        &lt;/Box&gt;&#10;&#10;        &lt;Box style={{ width: 1152, height: 72, background: '#EDF4FC', borderRadius: 10, flexDirection: 'row', alignItems: 'center', gap: 16, padding: '0 22px' }}&gt;&#10;            &lt;Box style={{ width: 4, height: 44, background: '#276FBF' }} /&gt;&#10;            &lt;Text style={{ fontSize: 16, color: '#20344B', flex: 1, lineHeight: 1.5 }}&gt;本节的完成标准：一份别人能按其继续工作的执行计划与预算登记。&lt;/Text&gt;&#10;        &lt;/Box&gt;&#10;&#10;        &lt;Box style={{ width: 1152, height: 72, background: '#F7F3E8', borderRadius: 10, flexDirection: 'row', alignItems: 'center', gap: 16, padding: '0 22px' }}&gt;&#10;            &lt;Box style={{ width: 4, height: 44, background: '#546779' }} /&gt;&#10;            &lt;Text style={{ fontSize: 16, color: '#20344B', flex: 1, lineHeight: 1.5 }}&gt;范围分得清、预算算得回、阈值带动作；下一节把这些记录组织成可审查的结果。&lt;/Text&gt;&#10;        &lt;/Box&gt;&#10;&#10;    &lt;/Box&gt;&#10;&#10;    &lt;Box style={{ height: 40, flexDirection: 'row', justifyContent: 'space-between', alignItems: 'center' }}&gt;&#10;        &lt;Text style={{ fontSize: 14, color: '#546779' }}&gt;5.5 执行与预算&lt;/Text&gt;&#10;        &lt;Text style={{ fontSize: 14, color: '#546779' }}&gt;28 / 28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执行与预算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完成标准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从“计划执行”到“已经观察”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609600" y="26860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/>
          <p:cNvSpPr/>
          <p:nvPr/>
        </p:nvSpPr>
        <p:spPr>
          <a:xfrm rot="0" flipH="0" flipV="0">
            <a:off x="609600" y="2914650"/>
            <a:ext cx="4762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19150" y="31337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46779"/>
                </a:solidFill>
                <a:latin typeface="Microsoft YaHei"/>
                <a:ea typeface="Microsoft YaHei"/>
              </a:rPr>
              <a:t>计划执行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19150" y="342900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计划可以完整，运行结果仍然为空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5543550" y="32575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5791200" y="2914650"/>
            <a:ext cx="4762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000750" y="31337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已经观察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00750" y="342900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有了提交边界、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记录与实际用量之后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40957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819150" y="42291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1009650" y="43053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本节的完成标准：一份别人能按其继续工作的执行计划与预算登记。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49720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819150" y="5105400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009650" y="51816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范围分得清、预算算得回、阈值带动作；下一节把这些记录组织成可审查的结果。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执行与预算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28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2026-09-29T10:34:30Z</dcterms:created>
  <dcterms:modified xsi:type="dcterms:W3CDTF">2026-09-29T10:34:30Z</dcterms:modified>
</cp:coreProperties>
</file>