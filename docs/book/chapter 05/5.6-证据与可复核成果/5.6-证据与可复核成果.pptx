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24" Type="http://schemas.openxmlformats.org/officeDocument/2006/relationships/slide" Target="slides/slide24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2" Type="http://schemas.openxmlformats.org/officeDocument/2006/relationships/slide" Target="slides/slide2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7" Type="http://schemas.openxmlformats.org/officeDocument/2006/relationships/slide" Target="slides/slide7.xml" /><Relationship Id="rId19" Type="http://schemas.openxmlformats.org/officeDocument/2006/relationships/slide" Target="slides/slide19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5" Type="http://schemas.openxmlformats.org/officeDocument/2006/relationships/notesMaster" Target="notesMasters/notesMaster1.xml" /><Relationship Id="rId23" Type="http://schemas.openxmlformats.org/officeDocument/2006/relationships/slide" Target="slides/slide23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从一个最容易被跳过的环节讲起。我们评价一次仿真，最常写的一句话是「来访者找到了正确的窗口」。这句话读起来像结论，其实它把五个环节压成了一个短语：谁提出需求、需求怎样被补充、系统给出什么建议、人物实际去了哪里、最后由谁收到并确认。</a:t>
            </a:r>
          </a:p>
          <a:p>
            <a:r>
              <a:rPr lang="zh-CN" dirty="0"/>
              <a:t>这五个环节里任何一环没有来源，整句话就站不住。教师答案只能说明什么算正确，它不能证明角色真的收到过信息。所以这一节要把评分表逐项拿出来，一项一项接到来源上，看每一种写法究竟有多少依据。材料分层、主张追问、取材边界、报告落点，这四步是连着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这一节要看清四件事，它们是一条链上的四个动作，不是四份互不相干的清单。</a:t>
            </a:r>
          </a:p>
          <a:p>
            <a:r>
              <a:rPr lang="zh-CN" dirty="0"/>
              <a:t>第一件，把原始文件和分析工作分开。原始导出、解压副本、派生材料各有各的处理规则，混在一起放，字节就可能被重新打包或补写，后面任何核对都会失效。</a:t>
            </a:r>
          </a:p>
          <a:p>
            <a:r>
              <a:rPr lang="zh-CN" dirty="0"/>
              <a:t>第二件，让一句主张接受三次追问。主张要问判据，判据要问事实，事实要问定位。同时把取材边界冻结住，不能拿窗口之外的记录来补窗口之内的结论。</a:t>
            </a:r>
          </a:p>
          <a:p>
            <a:r>
              <a:rPr lang="zh-CN" dirty="0"/>
              <a:t>第三件，把叙述里的「完成」拆开验证。一条状态返回、一句人物发言，能说明的事情比字面少得多。</a:t>
            </a:r>
          </a:p>
          <a:p>
            <a:r>
              <a:rPr lang="zh-CN" dirty="0"/>
              <a:t>第四件，人工阅卷要留下别人能重复的判断，对外结论只写到证据能支持的位置。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先处理一件看起来琐碎、实际上决定成败的事：原始文件要和分析工作分开存放。</a:t>
            </a:r>
          </a:p>
          <a:p>
            <a:r>
              <a:rPr lang="zh-CN" dirty="0"/>
              <a:t>我见过不少交付材料，作者把下载的结果包解压出来，顺手把里面几个文件改了名字、删掉几个字段，再打包成一个「整理版」。这样做在当下很省事，可是等到要核对「这份材料是不是当时那一份」的时候，已经没有任何办法证明。</a:t>
            </a:r>
          </a:p>
          <a:p>
            <a:r>
              <a:rPr lang="zh-CN" dirty="0"/>
              <a:t>原始导出保留原名和字节内容，是最终依据；解压出来的副本只用来只读查阅；清洗、筛选、标注、判分这些派生材料必须以原始文件为参照，并写清它指向哪里。层次分清楚，字节还认得出来，后面所有核对才有立足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三种材料放在一起看，规则其实完全不同。</a:t>
            </a:r>
          </a:p>
          <a:p>
            <a:r>
              <a:rPr lang="zh-CN" dirty="0"/>
              <a:t>原始导出是最终依据，处理规则只有三个「不」：不重新打包、不改名覆盖、不补写字段。只要动过其中任何一项，这份文件就不再能证明自己等于下载时的那一份，后面用哈希核对也就失去意义。</a:t>
            </a:r>
          </a:p>
          <a:p>
            <a:r>
              <a:rPr lang="zh-CN" dirty="0"/>
              <a:t>解压副本是为了方便查看。它保留原始成员内容，可以只读地看，但不允许反向写回 Run 或者实验。原因很直接：写回之后，原始归档和眼前看到的材料就不是一回事了。</a:t>
            </a:r>
          </a:p>
          <a:p>
            <a:r>
              <a:rPr lang="zh-CN" dirty="0"/>
              <a:t>派生材料是清洗、筛选、标注、判分这些二次加工的结果。它必须写清指向哪一个原始文件和哪一条记录位置，否则读者看到的只是一份无法回溯的中间稿。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建议的目录分成五个部分，作用各不一样。</a:t>
            </a:r>
          </a:p>
          <a:p>
            <a:r>
              <a:rPr lang="zh-CN" dirty="0"/>
              <a:t>originals 放下载当时的原始文件，保留原名和字节内容，任何人都不重新打包。extracted 放解压出来的副本，只用来只读查阅。inventory 放清单：来源、身份、边界、大小和摘要，也就是「这份东西是什么、属于哪次运行」。judgments 放人工判分、争议与复核记录。reports 放图表、正文和对外说明，是最终交付出口。</a:t>
            </a:r>
          </a:p>
          <a:p>
            <a:r>
              <a:rPr lang="zh-CN" dirty="0"/>
              <a:t>我特别想强调 judgments。它是唯一由人的判断写成的目录，恰恰最容易被忽略。评分过程本身也要留下能重复的判断：谁、在什么时间、依据哪一条判据、给出了什么结论。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交接清单要按三组登记，一组对应一个不同的问题。</a:t>
            </a:r>
          </a:p>
          <a:p>
            <a:r>
              <a:rPr lang="zh-CN" dirty="0"/>
              <a:t>第一组是文件来源：原文件名、实际来源、取得时间、大小、SHA256。它回答「这份文件从哪来、还是不是原来那一份」。第二组是身份与边界：Experiment、Run、全部 Attempt、状态、最后提交 Step。它回答「这次运行到哪儿为止」。第三组是操作上下文：导出时页面选中的对象、原始归档路径。它回答「当时的人看的是哪一屏」。</a:t>
            </a:r>
          </a:p>
          <a:p>
            <a:r>
              <a:rPr lang="zh-CN" dirty="0"/>
              <a:t>三组缺一不可。只有文件来源，无法判断它属于哪次 Run；只有身份，无法核对字节有没有被改过。</a:t>
            </a:r>
          </a:p>
          <a:p>
            <a:r>
              <a:rPr lang="zh-CN" dirty="0"/>
              <a:t>登记不出来的字段写「未知」。留空会被读成没检查，随手猜一个值，则会把不确定伪装成事实。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拿到摘要以后，要先分清它能管什么、不能管什么。</a:t>
            </a:r>
          </a:p>
          <a:p>
            <a:r>
              <a:rPr lang="zh-CN" dirty="0"/>
              <a:t>摘要可以核对字节是否与原始文件相同，可以判断文件有没有被替换或重新打包，也可以确认手上这两份材料是不是同一份。这三件事它做得很可靠，而且是纯机器可重复的。</a:t>
            </a:r>
          </a:p>
          <a:p>
            <a:r>
              <a:rPr lang="zh-CN" dirty="0"/>
              <a:t>但它不能证明业务真实发生过，不能证明两组条件只差一个因素，更不能证明结论正确。哈希算得再准，也只说明文件没被改动。</a:t>
            </a:r>
          </a:p>
          <a:p>
            <a:r>
              <a:rPr lang="zh-CN" dirty="0"/>
              <a:t>还有一件事要顺手做掉：普通结果 ZIP、正式的 .gaexp 和 .garun 要分开标注。改后缀不能改变类型，底层拥有的能力也不代表页面上已经存在同名按钮，这两句要写进材料说明里。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接下来讲这一节最核心的动作：让一句主张接受三次追问。</a:t>
            </a:r>
          </a:p>
          <a:p>
            <a:r>
              <a:rPr lang="zh-CN" dirty="0"/>
              <a:t>报告的草稿里常常会出现「H3 完成咨询闭环」这样的句子。这句主张本身没有问题，问题在于它跳得太快。我们要把它按住，连续问三次。</a:t>
            </a:r>
          </a:p>
          <a:p>
            <a:r>
              <a:rPr lang="zh-CN" dirty="0"/>
              <a:t>第一次问：判据是什么？也就是什么情况算「闭环」。第二次问：事实在哪里？请求、响应、人物发言，究竟哪一条记录支持它。第三次问：怎样定位到那次记录？Run、Step、记录身份是什么。</a:t>
            </a:r>
          </a:p>
          <a:p>
            <a:r>
              <a:rPr lang="zh-CN" dirty="0"/>
              <a:t>如果某一个主张的判据是「建议正确」，那它就不成立。角色说「建议正确」不是独立判断，因为角色并不知道正确答案。判据必须来自冻结的作者材料。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把「H3 完成咨询闭环」这一路问下来，四步是这样走的。</a:t>
            </a:r>
          </a:p>
          <a:p>
            <a:r>
              <a:rPr lang="zh-CN" dirty="0"/>
              <a:t>先从主张出发，它现在的身份只是待核验的示例，不是结论。然后找判据：什么情况算闭环？冻结的作者材料给出的答案是「取得适配回复，并确认正确下一步」。接着找事实：请求、响应、人物发言，记录里实际发生了哪些。最后是定位：Run 是什么、Step 是第几步、记录身份是哪一条。</a:t>
            </a:r>
          </a:p>
          <a:p>
            <a:r>
              <a:rPr lang="zh-CN" dirty="0"/>
              <a:t>这一步不能省。没有定位，别人就无法回到那条记录去核对，你的判断就只剩下你的说法。</a:t>
            </a:r>
          </a:p>
          <a:p>
            <a:r>
              <a:rPr lang="zh-CN" dirty="0"/>
              <a:t>最后提醒一句：教师答案定义何为正确，真实事实说明是否发生。这是两件不同的事，不能拿前者去证明后者。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四条常见的主张，判据和来源各不相同，我逐条说。</a:t>
            </a:r>
          </a:p>
          <a:p>
            <a:r>
              <a:rPr lang="zh-CN" dirty="0"/>
              <a:t>「实施了澄清策略」的判据是：关键目的缺失时先问，收到补充之后才给建议。来源要找到请求、询问、真实补充和后续建议。「抵达正确窗口区域」要看提交坐标与地址是不是落在适配服务区，来源是 MOVE 事实和参与者状态。</a:t>
            </a:r>
          </a:p>
          <a:p>
            <a:r>
              <a:rPr lang="zh-CN" dirty="0"/>
              <a:t>「获得适配回复」的判据是窗口按真实目的说明正确下一步，来源包括作者任务、窗口请求与响应，以及接收事实。</a:t>
            </a:r>
          </a:p>
          <a:p>
            <a:r>
              <a:rPr lang="zh-CN" dirty="0"/>
              <a:t>「完成咨询闭环」最严格，它要求取得适配回复并且确认了正确下一步，来源在前面几项之外还要加人物发言或后续交互。</a:t>
            </a:r>
          </a:p>
          <a:p>
            <a:r>
              <a:rPr lang="zh-CN" dirty="0"/>
              <a:t>记住：主张编号只是分析索引，字段与身份必须按真实协议填写，不能自己编。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核对每一项评分的时候，要再查两个层次，它们很容易被合并成一个。</a:t>
            </a:r>
          </a:p>
          <a:p>
            <a:r>
              <a:rPr lang="zh-CN" dirty="0"/>
              <a:t>第一个层次是独立判据：冻结的作者材料说明什么算正确。它必须来自作者那一侧，不能来自被评价的角色。角色说「建议正确」不构成独立判断，因为它并不知道正确答案是什么。</a:t>
            </a:r>
          </a:p>
          <a:p>
            <a:r>
              <a:rPr lang="zh-CN" dirty="0"/>
              <a:t>第二个层次是实际发生：要定位真实的 Run、Agent 或对象、Step，以及事件、请求、会话或记忆的身份。教师答案不能证明角色已经收到过信息。</a:t>
            </a:r>
          </a:p>
          <a:p>
            <a:r>
              <a:rPr lang="zh-CN" dirty="0"/>
              <a:t>这两层都齐了，一项评分才算有依据。另外保留归档路径、成员文件和记录位置。截图可以辅助说明，但不能靠补造事件 ID 来建立来源链。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取材边界最容易出错的地方在最后一步。</a:t>
            </a:r>
          </a:p>
          <a:p>
            <a:r>
              <a:rPr lang="zh-CN" dirty="0"/>
              <a:t>这个 Run 一共 76 步，Step1 是 09:00，每步一分钟，所以 Step76 就是 10:15。如果目标对象恰好在末轮提交答复，那么人物的下一轮接收已经超出了这次窗口。</a:t>
            </a:r>
          </a:p>
          <a:p>
            <a:r>
              <a:rPr lang="zh-CN" dirty="0"/>
              <a:t>这种情况要同时记录两件事：一是「对象已响应」，这是窗口内真实发生的事实；二是「窗口内尚无人物接收或确认事实」，这是一个明确的缺口。不能把窗口外的确认补算成窗口内的闭环，那等于用后来的记录改写当时的结论。</a:t>
            </a:r>
          </a:p>
          <a:p>
            <a:r>
              <a:rPr lang="zh-CN" dirty="0"/>
              <a:t>另外，虚拟时间、模型耗时、含暂停的墙钟时间要分别标注。历史判断需要身份、哈希和帧连续性支持，播放顺畅只是一种观感。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边界一旦松动，结论就悄悄换了一个，所以有五种拼接方式要明确拒绝。</a:t>
            </a:r>
          </a:p>
          <a:p>
            <a:r>
              <a:rPr lang="zh-CN" dirty="0"/>
              <a:t>第一，Step 边界。同一 Run、同一已提交边界，不能拿第 50 步的位置配第 51 步的回复，却声称第 50 步已经闭环。第二，业务窗口。只取本案 76 步范围，不能拿更长实验的后续事实来补算。第三，对象响应。第 76 步提交答复，我们记录的是「对象已响应」，不能直接当成人物已在窗口内收到并确认。第四，历史知识。要用对应的提交事实与一致性取材，不能把后来追加的记忆当成角色早就知道。第五，恢复过程。要合并全部 Attempt，唯一事实只计一次，不能恢复前后重复计数，也不能只挑末次 Attempt。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到了这一步，我们要把叙述里那些听起来像「完成」的句子拆开。</a:t>
            </a:r>
          </a:p>
          <a:p>
            <a:r>
              <a:rPr lang="zh-CN" dirty="0"/>
              <a:t>「已收到建议」这四个字，在报告里读起来很圆满。可它究竟是一条已经发生的事实，还是人物在对话里的一句客气话？这两种情况的分量完全不同，而写在同一行字里，读者根本分不出来。</a:t>
            </a:r>
          </a:p>
          <a:p>
            <a:r>
              <a:rPr lang="zh-CN" dirty="0"/>
              <a:t>拆的办法只有一个：逐项追问它缺哪一环。缺来源，就写来源待补；缺适配性，就说明建议是否对得上具体任务；缺接收事实，就明确写接收未记录。</a:t>
            </a:r>
          </a:p>
          <a:p>
            <a:r>
              <a:rPr lang="zh-CN" dirty="0"/>
              <a:t>这中间有一层要特别注意。很多句子并不是假的，它们只是不够。承认「不够」比强行补完更专业，因为前者别人可以继续查，后者会误导下一轮判断。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五种表述我逐个说，因为它们看起来都很像结论。</a:t>
            </a:r>
          </a:p>
          <a:p>
            <a:r>
              <a:rPr lang="zh-CN" dirty="0"/>
              <a:t>world-act 返回 accepted，能说明的是该请求被接受了，还缺的是对象处理、响应提交和人物下一轮接收。余真说「周澈明白了」，能说明余真说过这句话，还缺周澈自己的真实双人 SPEAK 或后续交互。一张「准备前往 A 窗口」的便签，说明的是动作前的计划，还缺下一轮的坐标确认抵达和窗口的实际答复。</a:t>
            </a:r>
          </a:p>
          <a:p>
            <a:r>
              <a:rPr lang="zh-CN" dirty="0"/>
              <a:t>「已收到建议」说明有一条接收主张，还缺来源，以及建议是否适配具体任务。最后，「我已经办理好了」只是人物的总结。本案只做咨询，没有行政审批和实际维修机制，所以这句话不能用来认定审批或维修已经完成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要把「完成」这件事说准，得接受一个有点别扭的结论：两句话可以同时成立。</a:t>
            </a:r>
          </a:p>
          <a:p>
            <a:r>
              <a:rPr lang="zh-CN" dirty="0"/>
              <a:t>本案可以报告的业务成果是「获得适配说明并确认下一步」。请注意这个措辞的边界 —— 它不包括行政审批，也不包括实际维修，这个项目根本没有这两套机制。</a:t>
            </a:r>
          </a:p>
          <a:p>
            <a:r>
              <a:rPr lang="zh-CN" dirty="0"/>
              <a:t>第四章的人工题里，H2 已经有适配入口建议，也已经抵达 A 服务区。但它没有目标窗口的回复，也没有完成确认。所以「首次有效回应已发生」和「尚未闭环」两句话都是真的，同时写出来并不矛盾。</a:t>
            </a:r>
          </a:p>
          <a:p>
            <a:r>
              <a:rPr lang="zh-CN" dirty="0"/>
              <a:t>还有一条底线：人工材料没有真实事件 ID。我们不补造编号，也不用截图代替身份。缺口就留在那里，写明它是缺口。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有一次模型尝试失败了，没有提交世界动作，但它可能已经产生了费用。这就带出两本账。</a:t>
            </a:r>
          </a:p>
          <a:p>
            <a:r>
              <a:rPr lang="zh-CN" dirty="0"/>
              <a:t>事实账回答的是「实际提交了什么」，采用范围是完整的已提交边界。失败且未提交的调用不会变成世界动作，恢复之后同一个事实也不重复计数。</a:t>
            </a:r>
          </a:p>
          <a:p>
            <a:r>
              <a:rPr lang="zh-CN" dirty="0"/>
              <a:t>成本账回答的是「实际尝试了什么」，采用范围是全部相关 Attempt。失败未提交的调用仍然可能消耗调用次数，恢复之后各次的真实消耗要各自保留。</a:t>
            </a:r>
          </a:p>
          <a:p>
            <a:r>
              <a:rPr lang="zh-CN" dirty="0"/>
              <a:t>两本账的记录范围不同，它们都不是实测账单，只是记账口径。最后一条底线：费用不靠人数乘步数伪造，缺少用量时明确写「未记录／无法核验」。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成本账还有三条规则要守。</a:t>
            </a:r>
          </a:p>
          <a:p>
            <a:r>
              <a:rPr lang="zh-CN" dirty="0"/>
              <a:t>第一，区分四层计量：参与者轮次、逻辑调用、物理尝试、工具调用。一次对象轮次可能调用模型多次，一次动作也可能回复多个请求，它不等于现实中的接待人数。第二，保留全部消耗。人物、引导员、对象的消耗都要留下；重试不是第二项业务任务，不能只计最终成功的物理请求。第三，原记录缺少 Token、费用或完整调用信息时，写「未记录／无法核验」，不用人数乘步数伪造账单。</a:t>
            </a:r>
          </a:p>
          <a:p>
            <a:r>
              <a:rPr lang="zh-CN" dirty="0"/>
              <a:t>结果状态也要分开写：未完成就写明缺失环节，证据不足就保留待判断项，执行失败则另记执行状态与已提交范围。另外，要保留全部计划内 Run，不能靠反复重跑只挑成功样本。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最后一个动作，是把结论写到证据能支持的位置就停下来。</a:t>
            </a:r>
          </a:p>
          <a:p>
            <a:r>
              <a:rPr lang="zh-CN" dirty="0"/>
              <a:t>顺序本身有讲究：先写研究条件，再写全体样本与边界，然后才是观察。为什么把观察放在第三步？因为读者要先知道这批材料覆盖了哪次运行、哪个窗口，才知道后面的观察能管多远。</a:t>
            </a:r>
          </a:p>
          <a:p>
            <a:r>
              <a:rPr lang="zh-CN" dirty="0"/>
              <a:t>接着写代价。如果少走错窗口的代价是多花轮次和调用，这个取舍要完整写出来，不能只报好的一面。再写未完成，把缺失环节和待判断项摆明。</a:t>
            </a:r>
          </a:p>
          <a:p>
            <a:r>
              <a:rPr lang="zh-CN" dirty="0"/>
              <a:t>最后是解释限制。一个小规模教学案例，能说明的是它在给定条件下的表现，不能外推成「行政服务效率提高」。写到这一步就停。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人工阅卷要留下别人能重复的判断，具体是四步。</a:t>
            </a:r>
          </a:p>
          <a:p>
            <a:r>
              <a:rPr lang="zh-CN" dirty="0"/>
              <a:t>第一步，先读冻结的任务表和判据，再逐项核对 H1 到 H4。顺序不能反，先看结果容易被结果牵着走。</a:t>
            </a:r>
          </a:p>
          <a:p>
            <a:r>
              <a:rPr lang="zh-CN" dirty="0"/>
              <a:t>第二步，每一项都要写结论，分三档：证据支持、证据表明不成立、证据不足，并且附上来源和一句短理由。</a:t>
            </a:r>
          </a:p>
          <a:p>
            <a:r>
              <a:rPr lang="zh-CN" dirty="0"/>
              <a:t>第三步，按预定标准判断「确认」。只说「很满意」是不够的，应该确认正确窗口以及与自身需求有关的准备内容。这里有个陷阱：不能看完结果之后才临时要求逐字背诵。</a:t>
            </a:r>
          </a:p>
          <a:p>
            <a:r>
              <a:rPr lang="zh-CN" dirty="0"/>
              <a:t>第四步，两位评阅者可以独立核对关键样本，再区分分歧是来自标准不清、原文含糊，还是来源缺失。这三类分歧的处理方式完全不同。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报告按六步走，这个顺序不是排版偏好，而是阅读顺序上的必然。</a:t>
            </a:r>
          </a:p>
          <a:p>
            <a:r>
              <a:rPr lang="zh-CN" dirty="0"/>
              <a:t>先写研究条件：冻结的任务、判据和人物是什么。再写全体样本与边界：这次覆盖了哪些计划内 Run，窗口到哪里结束。然后才是观察：已提交事实支持什么结论。</a:t>
            </a:r>
          </a:p>
          <a:p>
            <a:r>
              <a:rPr lang="zh-CN" dirty="0"/>
              <a:t>第四步写代价。如果少走错窗口的代价是多花轮次与调用，这个取舍必须完整报告出来，只报好的一面就是选择性呈现。</a:t>
            </a:r>
          </a:p>
          <a:p>
            <a:r>
              <a:rPr lang="zh-CN" dirty="0"/>
              <a:t>第五步写未完成，缺哪一环、哪些还待判断，摆明在纸上。</a:t>
            </a:r>
          </a:p>
          <a:p>
            <a:r>
              <a:rPr lang="zh-CN" dirty="0"/>
              <a:t>最后是解释限制。这一步最容易被省略，也最容易被夸大。一个小规模教学案例，讲的是它在给定条件下的表现，不能外推成行政服务整体的效率提升。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对外发布之前，有三条措辞和口径上的约定，看起来很小，但直接影响别人怎么读你的报告。</a:t>
            </a:r>
          </a:p>
          <a:p>
            <a:r>
              <a:rPr lang="zh-CN" dirty="0"/>
              <a:t>第一是命名。组别统一叫「直接建议组」和「先澄清组」，地点统一叫「A 窗口」和「B 窗口」。不要一处叫「对照组」，另一处叫「基线组」，读者会以为是两组不同的东西。</a:t>
            </a:r>
          </a:p>
          <a:p>
            <a:r>
              <a:rPr lang="zh-CN" dirty="0"/>
              <a:t>第二是索引。所有图表都要指向同一个运行索引和同一份评分来源，不要出现图一来自这次 Run、图二来自另一次的情况。</a:t>
            </a:r>
          </a:p>
          <a:p>
            <a:r>
              <a:rPr lang="zh-CN" dirty="0"/>
              <a:t>第三是取舍。如果少走错窗口，代价却是多花轮次和调用，这个交换必须完整报告，不能只写好的那一面。</a:t>
            </a:r>
          </a:p>
          <a:p>
            <a:r>
              <a:rPr lang="zh-CN" dirty="0"/>
              <a:t>最后是交付名称。当前只有教学设计，交付名称应当是「待执行方案和判分方法」，不要写成已完成或已验证。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最后做一个小练习。有这么一句话：「本系统证明澄清能提高行政服务效率」，请指出它的三个问题。</a:t>
            </a:r>
          </a:p>
          <a:p>
            <a:r>
              <a:rPr lang="zh-CN" dirty="0"/>
              <a:t>第一个是业务范围。项目只做咨询，没有行政审批和实际维修机制，「行政服务效率」不在它的范围内。</a:t>
            </a:r>
          </a:p>
          <a:p>
            <a:r>
              <a:rPr lang="zh-CN" dirty="0"/>
              <a:t>第二个是样本证据。目前只有教学设计，没有运行记录，也没有真实结果包，任何「证明」都无从谈起。</a:t>
            </a:r>
          </a:p>
          <a:p>
            <a:r>
              <a:rPr lang="zh-CN" dirty="0"/>
              <a:t>第三个是外推问题。即便将来跑出结果，那也是给定条件下的小规模教学案例，不能直接推广成行政服务的整体效率。</a:t>
            </a:r>
          </a:p>
          <a:p>
            <a:r>
              <a:rPr lang="zh-CN" dirty="0"/>
              <a:t>相称的表述大意是：在给定条件下，待执行方案设计了两种咨询策略与判分方法，用于比较先澄清是否减少错误窗口请求。要讨论真实效果，还需要全部计划内 Run 的索引、每步的已提交事实，以及窗口内的接收与确认记录。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这一节要带走的是三句话。</a:t>
            </a:r>
          </a:p>
          <a:p>
            <a:r>
              <a:rPr lang="zh-CN" dirty="0"/>
              <a:t>第一句，材料分开存。原始导出、解压副本、派生材料各有各的处理规则，原始导出不重新打包、不改名覆盖、不补写字段。字节还认得出来，后面的核对才有立足点。</a:t>
            </a:r>
          </a:p>
          <a:p>
            <a:r>
              <a:rPr lang="zh-CN" dirty="0"/>
              <a:t>第二句，主张问三次。问判据、问事实、问定位，同时把取材边界冻结在同一个已提交窗口内，不拿窗口之外的记录来补窗口之内的结论。</a:t>
            </a:r>
          </a:p>
          <a:p>
            <a:r>
              <a:rPr lang="zh-CN" dirty="0"/>
              <a:t>第三句，结论写到位就停。报告写到证据能支持的位置为止，缺口就写在纸上。下一节讲交接与复现，看看这些材料怎样交到另一位接收者手里，以及重新执行的范围该怎样记录。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先从一个最容易被跳过的环节讲起。我们评价一次仿真，最常写的一句话是「来访者找到了正确的窗口」。这句话读起来像结论，其实它把五个环节压成了一个短语：谁提出需求、需求怎样被补充、系统给出什么建议、人物实际去了哪里、最后由谁收到并确认。&#10;&#10;这五个环节里任何一环没有来源，整句话就站不住。教师答案只能说明什么算正确，它不能证明角色真的收到过信息。所以这一节要把评分表逐项拿出来，一项一项接到来源上，看每一种写法究竟有多少依据。材料分层、主张追问、取材边界、报告落点，这四步是连着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6　证据与可复核成果&lt;/Text&gt;&#10;            &lt;Text style={{ fontSize: 34, fontWeight: 'bold', color: '#20344B' }}&gt;从原始事实到可复核成果&lt;/Text&gt;&#10;        &lt;/Box&gt;&#10;    &lt;/Box&gt;&#10;&#10;    &lt;Box style={{ height: 540, flexDirection: 'row', alignItems: 'center', gap: 32 }}&gt;&#10;&#10;        &lt;Box style={{ width: 520, flexDirection: 'column', gap: 14 }}&gt;&#10;            &lt;Text style={{ fontSize: 52, fontWeight: 'bold', color: '#20344B', lineHeight: 1.2 }}&gt;每个结论{'\n'}都能找到出处&lt;/Text&gt;&#10;            &lt;Box style={{ width: 72, height: 4, background: '#276FBF' }} /&gt;&#10;            &lt;Text style={{ fontSize: 17, color: '#546779', lineHeight: 1.7, width: 520 }}&gt;一句「来访者找到了正确窗口」，要能被拆回五段可复查的记录，逐段指得出它从哪里来。&lt;/Text&gt;&#10;            &lt;Box style={{ flexDirection: 'row', gap: 12, marginTop: 6 }}&gt;&#10;                &lt;Box style={{ width: 160, height: 42, background: '#EDF4FC', borderRadius: 8, justifyContent: 'center', alignItems: 'center' }}&gt;&#10;                    &lt;Text style={{ fontSize: 15, color: '#276FBF' }}&gt;H1—H4 判据&lt;/Text&gt;&#10;                &lt;/Box&gt;&#10;                &lt;Box style={{ width: 160, height: 42, background: '#EDF4FC', borderRadius: 8, justifyContent: 'center', alignItems: 'center' }}&gt;&#10;                    &lt;Text style={{ fontSize: 15, color: '#276FBF' }}&gt;2026-10-18&lt;/Text&gt;&#10;                &lt;/Box&gt;&#10;                &lt;Box style={{ width: 160, height: 42, background: '#ECF7F2', borderRadius: 8, justifyContent: 'center', alignItems: 'center' }}&gt;&#10;                    &lt;Text style={{ fontSize: 15, color: '#26816B' }}&gt;76 步窗口&lt;/Text&gt;&#10;                &lt;/Box&gt;&#10;            &lt;/Box&gt;&#10;        &lt;/Box&gt;&#10;&#10;        &lt;Box style={{ width: 600, flexDirection: 'column', justifyContent: 'center' }}&gt;&#10;            &lt;Box style={{ width: 600, height: 62, background: '#F7F3E8', borderRadius: 8, padding: '0 20px', flexDirection: 'row', alignItems: 'center', gap: 14 }}&gt;&#10;                &lt;Box style={{ width: 4, height: 34, background: '#CB6B28' }} /&gt;&#10;                &lt;Text style={{ fontSize: 18, fontWeight: 'bold', color: '#20344B', width: 150 }}&gt;谁提出需求&lt;/Text&gt;&#10;                &lt;Text style={{ fontSize: 14, color: '#546779', width: 366 }}&gt;冻结的作者任务与人物设定&lt;/Text&gt;&#10;            &lt;/Box&gt;&#10;            &lt;Box style={{ width: 600, height: 26, justifyContent: 'center', alignItems: 'center' }}&gt;&#10;                &lt;Text style={{ fontSize: 16, color: '#276FBF' }}&gt;↓&lt;/Text&gt;&#10;            &lt;/Box&gt;&#10;            &lt;Box style={{ width: 600, height: 62, background: '#EDF4FC', borderRadius: 8, padding: '0 20px', flexDirection: 'row', alignItems: 'center', gap: 14 }}&gt;&#10;                &lt;Box style={{ width: 4, height: 34, background: '#276FBF' }} /&gt;&#10;                &lt;Text style={{ fontSize: 18, fontWeight: 'bold', color: '#276FBF', width: 150 }}&gt;怎样补充&lt;/Text&gt;&#10;                &lt;Text style={{ fontSize: 14, color: '#546779', width: 366 }}&gt;澄清提问与人物真实补充&lt;/Text&gt;&#10;            &lt;/Box&gt;&#10;            &lt;Box style={{ width: 600, height: 26, justifyContent: 'center', alignItems: 'center' }}&gt;&#10;                &lt;Text style={{ fontSize: 16, color: '#276FBF' }}&gt;↓&lt;/Text&gt;&#10;            &lt;/Box&gt;&#10;            &lt;Box style={{ width: 600, height: 62, background: '#EDF4FC', borderRadius: 8, padding: '0 20px', flexDirection: 'row', alignItems: 'center', gap: 14 }}&gt;&#10;                &lt;Box style={{ width: 4, height: 34, background: '#276FBF' }} /&gt;&#10;                &lt;Text style={{ fontSize: 18, fontWeight: 'bold', color: '#276FBF', width: 150 }}&gt;得到什么建议&lt;/Text&gt;&#10;                &lt;Text style={{ fontSize: 14, color: '#546779', width: 366 }}&gt;窗口请求、响应与适配说明&lt;/Text&gt;&#10;            &lt;/Box&gt;&#10;            &lt;Box style={{ width: 600, height: 26, justifyContent: 'center', alignItems: 'center' }}&gt;&#10;                &lt;Text style={{ fontSize: 16, color: '#26816B' }}&gt;↓&lt;/Text&gt;&#10;            &lt;/Box&gt;&#10;            &lt;Box style={{ width: 600, height: 62, background: '#ECF7F2', borderRadius: 8, padding: '0 20px', flexDirection: 'row', alignItems: 'center', gap: 14 }}&gt;&#10;                &lt;Box style={{ width: 4, height: 34, background: '#26816B' }} /&gt;&#10;                &lt;Text style={{ fontSize: 18, fontWeight: 'bold', color: '#26816B', width: 150 }}&gt;实际去了哪里&lt;/Text&gt;&#10;                &lt;Text style={{ fontSize: 14, color: '#546779', width: 366 }}&gt;MOVE 事实与参与者状态&lt;/Text&gt;&#10;            &lt;/Box&gt;&#10;            &lt;Box style={{ width: 600, height: 26, justifyContent: 'center', alignItems: 'center' }}&gt;&#10;                &lt;Text style={{ fontSize: 16, color: '#26816B' }}&gt;↓&lt;/Text&gt;&#10;            &lt;/Box&gt;&#10;            &lt;Box style={{ width: 600, height: 62, background: '#ECF7F2', borderRadius: 8, padding: '0 20px', flexDirection: 'row', alignItems: 'center', gap: 14 }}&gt;&#10;                &lt;Box style={{ width: 4, height: 34, background: '#26816B' }} /&gt;&#10;                &lt;Text style={{ fontSize: 18, fontWeight: 'bold', color: '#26816B', width: 150 }}&gt;收到并确认什么&lt;/Text&gt;&#10;                &lt;Text style={{ fontSize: 14, color: '#546779', width: 366 }}&gt;人物发言或后续交互记录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证据与可复核成果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从原始事实到可复核成果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每个结论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都能找到出处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814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952875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一句「来访者找到了正确窗口」，要能被拆回五段可复查的记录，逐段指得出它从哪里来。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810125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H1—H4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47900" y="4810125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609850" y="4924425"/>
            <a:ext cx="80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2026-10-18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86200" y="4810125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324350" y="4924425"/>
            <a:ext cx="64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76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步窗口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67400" y="1743075"/>
            <a:ext cx="5715000" cy="590550"/>
          </a:xfrm>
          <a:prstGeom prst="roundRect">
            <a:avLst>
              <a:gd name="adj" fmla="val 1290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6057900" y="1876425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229350" y="19335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谁提出需求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791450" y="196215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冻结的作者任务与人物设定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686800" y="23622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867400" y="2581275"/>
            <a:ext cx="571500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6057900" y="27146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229350" y="27717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怎样补充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791450" y="280035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澄清提问与人物真实补充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686800" y="32004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867400" y="3419475"/>
            <a:ext cx="571500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6057900" y="35528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229350" y="36099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得到什么建议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791450" y="363855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窗口请求、响应与适配说明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686800" y="40386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867400" y="4257675"/>
            <a:ext cx="57150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57900" y="4391025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229350" y="44481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实际去了哪里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791450" y="447675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MOVE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事实与参与者状态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686800" y="48768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867400" y="5095875"/>
            <a:ext cx="57150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057900" y="5229225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229350" y="52863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收到并确认什么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791450" y="531495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人物发言或后续交互记录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83" name="" descr="&lt;Slide notes={`这一节要看清四件事，它们是一条链上的四个动作，不是四份互不相干的清单。&#10;&#10;第一件，把原始文件和分析工作分开。原始导出、解压副本、派生材料各有各的处理规则，混在一起放，字节就可能被重新打包或补写，后面任何核对都会失效。&#10;&#10;第二件，让一句主张接受三次追问。主张要问判据，判据要问事实，事实要问定位。同时把取材边界冻结住，不能拿窗口之外的记录来补窗口之内的结论。&#10;&#10;第三件，把叙述里的「完成」拆开验证。一条状态返回、一句人物发言，能说明的事情比字面少得多。&#10;&#10;第四件，人工阅卷要留下别人能重复的判断，对外结论只写到证据能支持的位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　本节地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60, flexDirection: 'column', justifyContent: 'center', gap: 18 }}&gt;&#10;            &lt;Text style={{ fontSize: 16, color: '#546779', lineHeight: 1.75 }}&gt;结论不是写出来的，是沿着一条能查回来的链子走出来的。四个动作依次把一句判断变成可复核的成果。&lt;/Text&gt;&#10;            &lt;Box style={{ width: 360, height: 52, background: '#F7F3E8', borderRadius: 8, justifyContent: 'center', alignItems: 'center' }}&gt;&#10;                &lt;Text style={{ fontSize: 17, color: '#20344B' }}&gt;一句判断&lt;/Text&gt;&#10;            &lt;/Box&gt;&#10;            &lt;Box style={{ width: 360, height: 32, justifyContent: 'center', alignItems: 'center' }}&gt;&#10;                &lt;Text style={{ fontSize: 20, color: '#276FBF' }}&gt;↓&lt;/Text&gt;&#10;            &lt;/Box&gt;&#10;            &lt;Box style={{ width: 360, height: 52, background: '#EDF4FC', borderRadius: 8, justifyContent: 'center', alignItems: 'center' }}&gt;&#10;                &lt;Text style={{ fontSize: 17, color: '#276FBF' }}&gt;一条能查回来的链&lt;/Text&gt;&#10;            &lt;/Box&gt;&#10;            &lt;Box style={{ width: 360, height: 32, justifyContent: 'center', alignItems: 'center' }}&gt;&#10;                &lt;Text style={{ fontSize: 20, color: '#26816B' }}&gt;↓&lt;/Text&gt;&#10;            &lt;/Box&gt;&#10;            &lt;Box style={{ width: 360, height: 52, background: '#ECF7F2', borderRadius: 8, justifyContent: 'center', alignItems: 'center' }}&gt;&#10;                &lt;Text style={{ fontSize: 17, color: '#26816B' }}&gt;一份可复核的成果&lt;/Text&gt;&#10;            &lt;/Box&gt;&#10;        &lt;/Box&gt;&#10;&#10;        &lt;Box style={{ width: 760, flexDirection: 'column', justifyContent: 'center', gap: 14 }}&gt;&#10;&#10;            &lt;Box style={{ width: 760, height: 106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①&lt;/Text&gt;&#10;                &lt;/Box&gt;&#10;                &lt;Box style={{ flexDirection: 'column', gap: 4, width: 650 }}&gt;&#10;                    &lt;Text style={{ fontSize: 20, fontWeight: 'bold', color: '#20344B' }}&gt;先把原始文件和分析工作分开&lt;/Text&gt;&#10;                    &lt;Text style={{ fontSize: 15, color: '#546779', lineHeight: 1.45 }}&gt;原始导出、解压副本、派生材料各有各的处理规则，字节要能回头核对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②&lt;/Text&gt;&#10;                &lt;/Box&gt;&#10;                &lt;Box style={{ flexDirection: 'column', gap: 4, width: 650 }}&gt;&#10;                    &lt;Text style={{ fontSize: 20, fontWeight: 'bold', color: '#20344B' }}&gt;让一句主张接受三次追问&lt;/Text&gt;&#10;                    &lt;Text style={{ fontSize: 15, color: '#546779', lineHeight: 1.45 }}&gt;问判据、问事实、问定位，并把取材范围冻结在同一个已提交边界内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CB6B28', justifyContent: 'center', alignItems: 'center' }}&gt;&#10;                    &lt;Text style={{ fontSize: 22, fontWeight: 'bold', color: '#FFFFFF' }}&gt;③&lt;/Text&gt;&#10;                &lt;/Box&gt;&#10;                &lt;Box style={{ flexDirection: 'column', gap: 4, width: 650 }}&gt;&#10;                    &lt;Text style={{ fontSize: 20, fontWeight: 'bold', color: '#20344B' }}&gt;把叙述中的「完成」拆开验证&lt;/Text&gt;&#10;                    &lt;Text style={{ fontSize: 15, color: '#546779', lineHeight: 1.45 }}&gt;文字与状态能说明什么、还缺什么；失败的成本也不随未提交事实一起消失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④&lt;/Text&gt;&#10;                &lt;/Box&gt;&#10;                &lt;Box style={{ flexDirection: 'column', gap: 4, width: 650 }}&gt;&#10;                    &lt;Text style={{ fontSize: 20, fontWeight: 'bold', color: '#20344B' }}&gt;对外结论写到证据能够支持的位置&lt;/Text&gt;&#10;                    &lt;Text style={{ fontSize: 15, color: '#546779', lineHeight: 1.45 }}&gt;人工阅卷留下别人能重复的判断，报告按固定顺序写，措辞与证据相称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34290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结论不是写出来的，是沿着一条能查回来的链子走出来的。四个动作依次把一句判断变成可复核的成果。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09600" y="28956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2000250" y="3048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一句判断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2276475" y="36004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40386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676400" y="41910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一条能查回来的链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2276475" y="47434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09600" y="51816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676400" y="53340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一份可复核的成果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343400" y="1495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4533900" y="1771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657725" y="1876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162550" y="1743075"/>
            <a:ext cx="619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先把原始文件和分析工作分开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162550" y="2009775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原始导出、解压副本、派生材料各有各的处理规则，字节要能回头核对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4343400" y="2638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4533900" y="2914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4657725" y="3019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162550" y="2886075"/>
            <a:ext cx="619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让一句主张接受三次追问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5162550" y="3152775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问判据、问事实、问定位，并把取材范围冻结在同一个已提交边界内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4343400" y="3781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8" name=""/>
          <p:cNvSpPr/>
          <p:nvPr/>
        </p:nvSpPr>
        <p:spPr>
          <a:xfrm rot="0" flipH="0" flipV="0">
            <a:off x="4533900" y="4057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4657725" y="4162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162550" y="4029075"/>
            <a:ext cx="619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把叙述中的「完成」拆开验证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162550" y="4295775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文字与状态能说明什么、还缺什么；失败的成本也不随未提交事实一起消失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4343400" y="4924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4533900" y="5200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4657725" y="5305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5162550" y="5172075"/>
            <a:ext cx="619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对外结论写到证据能够支持的位置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162550" y="5438775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人工阅卷留下别人能重复的判断，报告按固定顺序写，措辞与证据相称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73" name="" descr="&lt;Slide notes={`先处理一件看起来琐碎、实际上决定成败的事：原始文件要和分析工作分开存放。&#10;&#10;我见过不少交付材料，作者把下载的结果包解压出来，顺手把里面几个文件改了名字、删掉几个字段，再打包成一个「整理版」。这样做在当下很省事，可是等到要核对「这份材料是不是当时那一份」的时候，已经没有任何办法证明。&#10;&#10;原始导出保留原名和字节内容，是最终依据；解压出来的副本只用来只读查阅；清洗、筛选、标注、判分这些派生材料必须以原始文件为参照，并写清它指向哪里。层次分清楚，字节还认得出来，后面所有核对才有立足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6　证据与可复核成果&lt;/Text&gt;&#10;            &lt;Text style={{ fontSize: 34, fontWeight: 'bold', color: '#20344B' }}&gt;知识块 ①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①&lt;/Text&gt;&#10;&#10;        &lt;Text style={{ fontSize: 56, fontWeight: 'bold', color: '#20344B', lineHeight: 1.15 }}&gt;先把原始文件和分析工作分开&lt;/Text&gt;&#10;&#10;        &lt;Box style={{ width: 72, height: 4, background: '#276FBF' }} /&gt;&#10;&#10;        &lt;Text style={{ fontSize: 18, color: '#546779', lineHeight: 1.7, width: 900 }}&gt;材料分层不是整理癖。原始导出一旦被重新打包或补写字段，它就不再能证明自己是当时那一份。&lt;/Text&gt;&#10;&#10;        &lt;Box style={{ flexDirection: 'row', alignItems: 'center', marginTop: 10 }}&gt;&#10;            &lt;Box style={{ width: 340, height: 96, background: '#F7F3E8', borderRadius: 8, flexDirection: 'column', justifyContent: 'center', alignItems: 'center', gap: 6 }}&gt;&#10;                &lt;Text style={{ fontSize: 20, fontWeight: 'bold', color: '#20344B' }}&gt;原始导出&lt;/Text&gt;&#10;                &lt;Text style={{ fontSize: 14, color: '#546779' }}&gt;原名与字节内容，只读留档&lt;/Text&gt;&#10;            &lt;/Box&gt;&#10;            &lt;Box style={{ width: 44, height: 96, justifyContent: 'center', alignItems: 'center' }}&gt;&#10;                &lt;Text style={{ fontSize: 26, color: '#276FBF' }}&gt;›&lt;/Text&gt;&#10;            &lt;/Box&gt;&#10;            &lt;Box style={{ width: 340, height: 96, background: '#EDF4FC', borderRadius: 8, flexDirection: 'column', justifyContent: 'center', alignItems: 'center', gap: 6 }}&gt;&#10;                &lt;Text style={{ fontSize: 20, fontWeight: 'bold', color: '#276FBF' }}&gt;解压副本&lt;/Text&gt;&#10;                &lt;Text style={{ fontSize: 14, color: '#546779' }}&gt;只读查阅，不反向写回&lt;/Text&gt;&#10;            &lt;/Box&gt;&#10;            &lt;Box style={{ width: 44, height: 96, justifyContent: 'center', alignItems: 'center' }}&gt;&#10;                &lt;Text style={{ fontSize: 26, color: '#26816B' }}&gt;›&lt;/Text&gt;&#10;            &lt;/Box&gt;&#10;            &lt;Box style={{ width: 340, height: 96, background: '#ECF7F2', borderRadius: 8, flexDirection: 'column', justifyContent: 'center', alignItems: 'center', gap: 6 }}&gt;&#10;                &lt;Text style={{ fontSize: 20, fontWeight: 'bold', color: '#26816B' }}&gt;派生材料&lt;/Text&gt;&#10;                &lt;Text style={{ fontSize: 14, color: '#546779' }}&gt;清洗与判分，指回原始位置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证据与可复核成果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24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先把原始文件和分析工作分开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09600" y="39433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09600" y="41529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材料分层不是整理癖。原始导出一旦被重新打包或补写字段，它就不再能证明自己是当时那一份。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09600" y="4772025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847850" y="50101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原始导出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428750" y="52959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原名与字节内容，只读留档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019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4267200" y="4772025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5505450" y="50101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解压副本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5219700" y="52959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只读查阅，不反向写回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677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7924800" y="4772025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163050" y="50101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派生材料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743950" y="52959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清洗与判分，指回原始位置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95" name="" descr="&lt;Slide notes={`三种材料放在一起看，规则其实完全不同。&#10;&#10;原始导出是最终依据，处理规则只有三个「不」：不重新打包、不改名覆盖、不补写字段。只要动过其中任何一项，这份文件就不再能证明自己等于下载时的那一份，后面用哈希核对也就失去意义。&#10;&#10;解压副本是为了方便查看。它保留原始成员内容，可以只读地看，但不允许反向写回 Run 或者实验。原因很直接：写回之后，原始归档和眼前看到的材料就不是一回事了。&#10;&#10;派生材料是清洗、筛选、标注、判分这些二次加工的结果。它必须写清指向哪一个原始文件和哪一条记录位置，否则读者看到的只是一份无法回溯的中间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1　先把原始文件和分析工作分开&lt;/Text&gt;&#10;            &lt;Text style={{ fontSize: 34, fontWeight: 'bold', color: '#20344B' }}&gt;三层材料，三种处理规则&lt;/Text&gt;&#10;        &lt;/Box&gt;&#10;    &lt;/Box&gt;&#10;&#10;    &lt;Box style={{ height: 540, flexDirection: 'row', alignItems: 'center', gap: 24 }}&gt;&#10;&#10;        &lt;Box style={{ width: 440, flexDirection: 'column', gap: 12 }}&gt;&#10;            &lt;Text style={{ fontSize: 20, fontWeight: 'bold', color: '#20344B' }}&gt;分层是为了保住可核对性&lt;/Text&gt;&#10;            &lt;Text style={{ fontSize: 16, color: '#546779', lineHeight: 1.7, width: 440 }}&gt;材料混在一起放，最直接的后果是：分不清眼前这一份究竟是下载来的原件，还是被整理过的中间稿。&lt;/Text&gt;&#10;            &lt;Box style={{ width: 440, height: 104, background: '#EDF4FC', borderRadius: 10, padding: '14px 16px', flexDirection: 'column', gap: 6, justifyContent: 'center' }}&gt;&#10;                &lt;Text style={{ fontSize: 16, fontWeight: 'bold', color: '#276FBF' }}&gt;原始导出是最终依据&lt;/Text&gt;&#10;                &lt;Text style={{ fontSize: 14, color: '#546779', lineHeight: 1.5 }}&gt;字节和原名一旦被改写，哈希就对不上，来源核验随之失效。&lt;/Text&gt;&#10;            &lt;/Box&gt;&#10;            &lt;Box style={{ width: 440, height: 104, background: '#F7F3E8', borderRadius: 10, padding: '14px 16px', flexDirection: 'column', gap: 6, justifyContent: 'center' }}&gt;&#10;                &lt;Text style={{ fontSize: 16, fontWeight: 'bold', color: '#20344B' }}&gt;解压副本只用于查阅&lt;/Text&gt;&#10;                &lt;Text style={{ fontSize: 14, color: '#546779', lineHeight: 1.5 }}&gt;可以解压、可以打开，但不能把查看结果写回原始归档。&lt;/Text&gt;&#10;            &lt;/Box&gt;&#10;        &lt;/Box&gt;&#10;&#10;        &lt;Box style={{ width: 688, flexDirection: 'column', justifyContent: 'center', gap: 14 }}&gt;&#10;&#10;            &lt;Box style={{ width: 688, height: 148, background: '#F4F7FA', borderRadius: 10, padding: '16px 18px', flexDirection: 'row', alignItems: 'center', gap: 14 }}&gt;&#10;                &lt;Box style={{ width: 4, height: 116, background: '#276FBF' }} /&gt;&#10;                &lt;Box style={{ width: 630, flexDirection: 'column', gap: 8, justifyContent: 'center' }}&gt;&#10;                    &lt;Text style={{ fontSize: 20, fontWeight: 'bold', color: '#20344B' }}&gt;原始导出&lt;/Text&gt;&#10;                    &lt;Text style={{ fontSize: 15, color: '#546779' }}&gt;保存什么：原名与字节内容&lt;/Text&gt;&#10;                    &lt;Text style={{ fontSize: 15, color: '#CB6B28' }}&gt;处理规则：不重新打包、不改名覆盖、不补写字段&lt;/Text&gt;&#10;                &lt;/Box&gt;&#10;            &lt;/Box&gt;&#10;&#10;            &lt;Box style={{ width: 688, height: 148, background: '#F4F7FA', borderRadius: 10, padding: '16px 18px', flexDirection: 'row', alignItems: 'center', gap: 14 }}&gt;&#10;                &lt;Box style={{ width: 4, height: 116, background: '#276FBF' }} /&gt;&#10;                &lt;Box style={{ width: 630, flexDirection: 'column', gap: 8, justifyContent: 'center' }}&gt;&#10;                    &lt;Text style={{ fontSize: 20, fontWeight: 'bold', color: '#20344B' }}&gt;解压副本&lt;/Text&gt;&#10;                    &lt;Text style={{ fontSize: 15, color: '#546779' }}&gt;保存什么：原始成员内容&lt;/Text&gt;&#10;                    &lt;Text style={{ fontSize: 15, color: '#546779' }}&gt;处理规则：只读查阅，不反向写回 Run 或实验&lt;/Text&gt;&#10;                &lt;/Box&gt;&#10;            &lt;/Box&gt;&#10;&#10;            &lt;Box style={{ width: 688, height: 148, background: '#F4F7FA', borderRadius: 10, padding: '16px 18px', flexDirection: 'row', alignItems: 'center', gap: 14 }}&gt;&#10;                &lt;Box style={{ width: 4, height: 116, background: '#26816B' }} /&gt;&#10;                &lt;Box style={{ width: 630, flexDirection: 'column', gap: 8, justifyContent: 'center' }}&gt;&#10;                    &lt;Text style={{ fontSize: 20, fontWeight: 'bold', color: '#20344B' }}&gt;派生材料&lt;/Text&gt;&#10;                    &lt;Text style={{ fontSize: 15, color: '#546779' }}&gt;保存什么：清洗、筛选、标注、判分&lt;/Text&gt;&#10;                    &lt;Text style={{ fontSize: 15, color: '#546779' }}&gt;处理规则：逐项指向原始文件与记录位置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先把原始文件和分析工作分开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三层材料，三种处理规则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分层是为了保住可核对性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2466975"/>
            <a:ext cx="4191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材料混在一起放，最直接的后果是：分不清眼前这一份究竟是下载来的原件，还是被整理过的中间稿。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09600" y="3209925"/>
            <a:ext cx="41910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62000" y="34575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原始导出是最终依据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62000" y="3705225"/>
            <a:ext cx="3886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字节和原名一旦被改写，哈希就对不上，来源核验随之失效。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4314825"/>
            <a:ext cx="4191000" cy="990600"/>
          </a:xfrm>
          <a:prstGeom prst="roundRect">
            <a:avLst>
              <a:gd name="adj" fmla="val 961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762000" y="45624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解压副本只用于查阅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62000" y="4810125"/>
            <a:ext cx="3886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可以解压、可以打开，但不能把查看结果写回原始归档。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5029200" y="1466850"/>
            <a:ext cx="65532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9" name=""/>
          <p:cNvSpPr/>
          <p:nvPr/>
        </p:nvSpPr>
        <p:spPr>
          <a:xfrm rot="0" flipH="0" flipV="0">
            <a:off x="5200650" y="1619250"/>
            <a:ext cx="38100" cy="1104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5372100" y="1809750"/>
            <a:ext cx="600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原始导出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5372100" y="2114550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保存什么：原名与字节内容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5372100" y="2362200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处理规则：不重新打包、不改名覆盖、不补写字段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5029200" y="3009900"/>
            <a:ext cx="65532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4" name=""/>
          <p:cNvSpPr/>
          <p:nvPr/>
        </p:nvSpPr>
        <p:spPr>
          <a:xfrm rot="0" flipH="0" flipV="0">
            <a:off x="5200650" y="3162300"/>
            <a:ext cx="38100" cy="1104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5372100" y="3352800"/>
            <a:ext cx="600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解压副本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372100" y="3657600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保存什么：原始成员内容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5372100" y="3905250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处理规则：只读查阅，不反向写回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或实验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5029200" y="4552950"/>
            <a:ext cx="65532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5200650" y="4705350"/>
            <a:ext cx="38100" cy="1104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5372100" y="4895850"/>
            <a:ext cx="600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派生材料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372100" y="5200650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保存什么：清洗、筛选、标注、判分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372100" y="5448300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处理规则：逐项指向原始文件与记录位置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25" name="" descr="&lt;Slide notes={`建议的目录分成五个部分，作用各不一样。&#10;&#10;originals 放下载当时的原始文件，保留原名和字节内容，任何人都不重新打包。extracted 放解压出来的副本，只用来只读查阅。inventory 放清单：来源、身份、边界、大小和摘要，也就是「这份东西是什么、属于哪次运行」。judgments 放人工判分、争议与复核记录。reports 放图表、正文和对外说明，是最终交付出口。&#10;&#10;我特别想强调 judgments。它是唯一由人的判断写成的目录，恰恰最容易被忽略。评分过程本身也要留下能重复的判断：谁、在什么时间、依据哪一条判据、给出了什么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1　先把原始文件和分析工作分开&lt;/Text&gt;&#10;            &lt;Text style={{ fontSize: 34, fontWeight: 'bold', color: '#20344B' }}&gt;证据放在哪个文件夹&lt;/Text&gt;&#10;        &lt;/Box&gt;&#10;    &lt;/Box&gt;&#10;&#10;    &lt;Box style={{ height: 540, flexDirection: 'column', justifyContent: 'center', gap: 16 }}&gt;&#10;&#10;        &lt;Box style={{ width: 1152, height: 380, background: '#F4F7FA', borderRadius: 12, padding: '20px 20px', flexDirection: 'column', gap: 12 }}&gt;&#10;            &lt;Text style={{ fontSize: 16, fontWeight: 'bold', color: '#20344B' }}&gt;建议目录　evidence/　—— 五类材料分开放，各自职责单一&lt;/Text&gt;&#10;            &lt;Box style={{ flexDirection: 'row', gap: 16 }}&gt;&#10;&#10;                &lt;Box style={{ width: 209, height: 260, background: '#F7F3E8', borderRadius: 8, padding: '18px 14px', flexDirection: 'column', justifyContent: 'center', gap: 10 }}&gt;&#10;                    &lt;Box style={{ width: 44, height: 44, borderRadius: 8, background: '#546779', justifyContent: 'center', alignItems: 'center' }}&gt;&#10;                        &lt;Text style={{ fontSize: 22, fontWeight: 'bold', color: '#FFFFFF' }}&gt;原&lt;/Text&gt;&#10;                    &lt;/Box&gt;&#10;                    &lt;Text style={{ fontSize: 17, fontWeight: 'bold', color: '#20344B' }}&gt;originals/&lt;/Text&gt;&#10;                    &lt;Text style={{ fontSize: 13, color: '#546779', lineHeight: 1.5, width: 181 }}&gt;下载时的原始文件，保留原名与字节内容。&lt;/Text&gt;&#10;                    &lt;Box style={{ width: 181, height: 2, background: '#B5C7D8' }} /&gt;&#10;                    &lt;Text style={{ fontSize: 13, color: '#20344B', lineHeight: 1.5, width: 181 }}&gt;只进不出，任何人都不重新打包。&lt;/Text&gt;&#10;                &lt;/Box&gt;&#10;&#10;                &lt;Box style={{ width: 209, height: 260, background: '#EDF4FC', borderRadius: 8, padding: '18px 14px', flexDirection: 'column', justifyContent: 'center', gap: 10 }}&gt;&#10;                    &lt;Box style={{ width: 44, height: 44, borderRadius: 8, background: '#546779', justifyContent: 'center', alignItems: 'center' }}&gt;&#10;                        &lt;Text style={{ fontSize: 22, fontWeight: 'bold', color: '#FFFFFF' }}&gt;解&lt;/Text&gt;&#10;                    &lt;/Box&gt;&#10;                    &lt;Text style={{ fontSize: 17, fontWeight: 'bold', color: '#276FBF' }}&gt;extracted/&lt;/Text&gt;&#10;                    &lt;Text style={{ fontSize: 13, color: '#546779', lineHeight: 1.5, width: 181 }}&gt;用于只读查阅的解压副本，内容保持原样。&lt;/Text&gt;&#10;                    &lt;Box style={{ width: 181, height: 2, background: '#B5C7D8' }} /&gt;&#10;                    &lt;Text style={{ fontSize: 13, color: '#20344B', lineHeight: 1.5, width: 181 }}&gt;可以看，不可以写回 Run 或实验。&lt;/Text&gt;&#10;                &lt;/Box&gt;&#10;&#10;                &lt;Box style={{ width: 209, height: 260, background: '#EDF4FC', borderRadius: 8, padding: '18px 14px', flexDirection: 'column', justifyContent: 'center', gap: 10 }}&gt;&#10;                    &lt;Box style={{ width: 44, height: 44, borderRadius: 8, background: '#276FBF', justifyContent: 'center', alignItems: 'center' }}&gt;&#10;                        &lt;Text style={{ fontSize: 22, fontWeight: 'bold', color: '#FFFFFF' }}&gt;清&lt;/Text&gt;&#10;                    &lt;/Box&gt;&#10;                    &lt;Text style={{ fontSize: 17, fontWeight: 'bold', color: '#276FBF' }}&gt;inventory/&lt;/Text&gt;&#10;                    &lt;Text style={{ fontSize: 13, color: '#546779', lineHeight: 1.5, width: 181 }}&gt;来源、身份、边界、大小和摘要清单。&lt;/Text&gt;&#10;                    &lt;Box style={{ width: 181, height: 2, background: '#B5C7D8' }} /&gt;&#10;                    &lt;Text style={{ fontSize: 13, color: '#20344B', lineHeight: 1.5, width: 181 }}&gt;回答「这是什么、属于哪次运行」。&lt;/Text&gt;&#10;                &lt;/Box&gt;&#10;&#10;                &lt;Box style={{ width: 209, height: 260, background: '#FFF4E6', borderRadius: 8, padding: '18px 14px', flexDirection: 'column', justifyContent: 'center', gap: 10 }}&gt;&#10;                    &lt;Box style={{ width: 44, height: 44, borderRadius: 8, background: '#CB6B28', justifyContent: 'center', alignItems: 'center' }}&gt;&#10;                        &lt;Text style={{ fontSize: 22, fontWeight: 'bold', color: '#FFFFFF' }}&gt;判&lt;/Text&gt;&#10;                    &lt;/Box&gt;&#10;                    &lt;Text style={{ fontSize: 17, fontWeight: 'bold', color: '#CB6B28' }}&gt;judgments/&lt;/Text&gt;&#10;                    &lt;Text style={{ fontSize: 13, color: '#546779', lineHeight: 1.5, width: 181 }}&gt;人工判分、争议与复核记录。&lt;/Text&gt;&#10;                    &lt;Box style={{ width: 181, height: 2, background: '#B5C7D8' }} /&gt;&#10;                    &lt;Text style={{ fontSize: 13, color: '#20344B', lineHeight: 1.5, width: 181 }}&gt;谁、何时、依据哪条判据。&lt;/Text&gt;&#10;                &lt;/Box&gt;&#10;&#10;                &lt;Box style={{ width: 209, height: 260, background: '#ECF7F2', borderRadius: 8, padding: '18px 14px', flexDirection: 'column', justifyContent: 'center', gap: 10 }}&gt;&#10;                    &lt;Box style={{ width: 44, height: 44, borderRadius: 8, background: '#26816B', justifyContent: 'center', alignItems: 'center' }}&gt;&#10;                        &lt;Text style={{ fontSize: 22, fontWeight: 'bold', color: '#FFFFFF' }}&gt;报&lt;/Text&gt;&#10;                    &lt;/Box&gt;&#10;                    &lt;Text style={{ fontSize: 17, fontWeight: 'bold', color: '#26816B' }}&gt;reports/&lt;/Text&gt;&#10;                    &lt;Text style={{ fontSize: 13, color: '#546779', lineHeight: 1.5, width: 181 }}&gt;图表、正文和对外说明。&lt;/Text&gt;&#10;                    &lt;Box style={{ width: 181, height: 2, background: '#B5C7D8' }} /&gt;&#10;                    &lt;Text style={{ fontSize: 13, color: '#20344B', lineHeight: 1.5, width: 181 }}&gt;唯一对外出口，须指回前四类。&lt;/Text&gt;&#10;                &lt;/Box&gt;&#10;&#10;            &lt;/Box&gt;&#10;        &lt;/Box&gt;&#10;&#10;        &lt;Box style={{ width: 1152, height: 124, background: '#FFF4E6', borderRadius: 10, padding: '16px 20px', flexDirection: 'column', gap: 6, justifyContent: 'center' }}&gt;&#10;            &lt;Text style={{ fontSize: 17, fontWeight: 'bold', color: '#CB6B28' }}&gt;judgments/ 是唯一由人的判断写成的目录&lt;/Text&gt;&#10;            &lt;Text style={{ fontSize: 15, color: '#546779', lineHeight: 1.5, width: 1112 }}&gt;评分过程本身也要留下别人能重复的判断：谁在什么时间、依据哪一条判据、给出了证据支持、证据表明不成立还是证据不足。&lt;/Text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先把原始文件和分析工作分开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证据放在哪个文件夹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609600" y="1238250"/>
            <a:ext cx="10972800" cy="361950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00100" y="1428750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建议目录　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evidence/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　——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五类材料分开放，各自职责单一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800100" y="1733550"/>
            <a:ext cx="1990725" cy="2476500"/>
          </a:xfrm>
          <a:prstGeom prst="roundRect">
            <a:avLst>
              <a:gd name="adj" fmla="val 3828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3" name=""/>
          <p:cNvSpPr/>
          <p:nvPr/>
        </p:nvSpPr>
        <p:spPr>
          <a:xfrm rot="0" flipH="0" flipV="0">
            <a:off x="933450" y="2019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038225" y="2105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原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33450" y="2533650"/>
            <a:ext cx="1724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originals/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933450" y="2828925"/>
            <a:ext cx="17240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下载时的原始文件，保留原名与字节内容。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933450" y="3371850"/>
            <a:ext cx="1724025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933450" y="3486150"/>
            <a:ext cx="17240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只进不出，任何人都不重新打包。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2943225" y="1733550"/>
            <a:ext cx="1990725" cy="2476500"/>
          </a:xfrm>
          <a:prstGeom prst="roundRect">
            <a:avLst>
              <a:gd name="adj" fmla="val 38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3076575" y="2019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181350" y="2105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解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3076575" y="2533650"/>
            <a:ext cx="1724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extracted/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3076575" y="2828925"/>
            <a:ext cx="17240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用于只读查阅的解压副本，内容保持原样。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3076575" y="3371850"/>
            <a:ext cx="1724025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3076575" y="3486150"/>
            <a:ext cx="17240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可以看，不可以写回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或实验。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5086350" y="1733550"/>
            <a:ext cx="1990725" cy="2476500"/>
          </a:xfrm>
          <a:prstGeom prst="roundRect">
            <a:avLst>
              <a:gd name="adj" fmla="val 382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7" name=""/>
          <p:cNvSpPr/>
          <p:nvPr/>
        </p:nvSpPr>
        <p:spPr>
          <a:xfrm rot="0" flipH="0" flipV="0">
            <a:off x="5219700" y="2019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5324475" y="2105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清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5219700" y="2533650"/>
            <a:ext cx="1724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inventory/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5219700" y="2828925"/>
            <a:ext cx="17240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来源、身份、边界、大小和摘要清单。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5219700" y="3371850"/>
            <a:ext cx="1724025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5219700" y="3486150"/>
            <a:ext cx="17240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回答「这是什么、属于哪次运行」。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7229475" y="1733550"/>
            <a:ext cx="1990725" cy="2476500"/>
          </a:xfrm>
          <a:prstGeom prst="roundRect">
            <a:avLst>
              <a:gd name="adj" fmla="val 38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7362825" y="22383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7467600" y="2324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判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7362825" y="2752725"/>
            <a:ext cx="1724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judgments/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7362825" y="3048000"/>
            <a:ext cx="17240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人工判分、争议与复核记录。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7362825" y="3371850"/>
            <a:ext cx="1724025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7362825" y="3486150"/>
            <a:ext cx="17240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谁、何时、依据哪条判据。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9372600" y="1733550"/>
            <a:ext cx="1990725" cy="2476500"/>
          </a:xfrm>
          <a:prstGeom prst="roundRect">
            <a:avLst>
              <a:gd name="adj" fmla="val 382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1" name=""/>
          <p:cNvSpPr/>
          <p:nvPr/>
        </p:nvSpPr>
        <p:spPr>
          <a:xfrm rot="0" flipH="0" flipV="0">
            <a:off x="9505950" y="21240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9610725" y="22098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报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9505950" y="2638425"/>
            <a:ext cx="1724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reports/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505950" y="2933700"/>
            <a:ext cx="17240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图表、正文和对外说明。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9505950" y="3257550"/>
            <a:ext cx="1724025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9505950" y="3371850"/>
            <a:ext cx="17240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唯一对外出口，须指回前四类。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09600" y="5010150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00100" y="5343525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judgments/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是唯一由人的判断写成的目录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00100" y="5600700"/>
            <a:ext cx="10591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评分过程本身也要留下别人能重复的判断：谁在什么时间、依据哪一条判据、给出了证据支持、证据表明不成立还是证据不足。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72" name="" descr="&lt;Slide notes={`交接清单要按三组登记，一组对应一个不同的问题。&#10;&#10;第一组是文件来源：原文件名、实际来源、取得时间、大小、SHA256。它回答「这份文件从哪来、还是不是原来那一份」。第二组是身份与边界：Experiment、Run、全部 Attempt、状态、最后提交 Step。它回答「这次运行到哪儿为止」。第三组是操作上下文：导出时页面选中的对象、原始归档路径。它回答「当时的人看的是哪一屏」。&#10;&#10;三组缺一不可。只有文件来源，无法判断它属于哪次 Run；只有身份，无法核对字节有没有被改过。&#10;&#10;登记不出来的字段写「未知」。留空会被读成没检查，随手猜一个值，则会把不确定伪装成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1　先把原始文件和分析工作分开&lt;/Text&gt;&#10;            &lt;Text style={{ fontSize: 34, fontWeight: 'bold', color: '#20344B' }}&gt;交接清单要登记哪三组字段&lt;/Text&gt;&#10;        &lt;/Box&gt;&#10;    &lt;/Box&gt;&#10;&#10;    &lt;Box style={{ height: 540, flexDirection: 'row', alignItems: 'center', gap: 24 }}&gt;&#10;&#10;        &lt;Box style={{ width: 620, flexDirection: 'column', justifyContent: 'center', gap: 14 }}&gt;&#10;&#10;            &lt;Box style={{ width: 620, height: 150, background: '#F4F7FA', borderRadius: 10, padding: '16px 18px', flexDirection: 'row', alignItems: 'center', gap: 14 }}&gt;&#10;                &lt;Box style={{ width: 4, height: 118, background: '#276FBF' }} /&gt;&#10;                &lt;Box style={{ width: 566, flexDirection: 'column', gap: 8, justifyContent: 'center' }}&gt;&#10;                    &lt;Text style={{ fontSize: 20, fontWeight: 'bold', color: '#20344B' }}&gt;文件来源&lt;/Text&gt;&#10;                    &lt;Text style={{ fontSize: 15, color: '#546779' }}&gt;原文件名 · 实际来源 · 取得时间 · 大小 · SHA256&lt;/Text&gt;&#10;                    &lt;Text style={{ fontSize: 14, color: '#546779' }}&gt;回答：这份文件从哪来，还是不是原来那一份&lt;/Text&gt;&#10;                &lt;/Box&gt;&#10;            &lt;/Box&gt;&#10;&#10;            &lt;Box style={{ width: 620, height: 150, background: '#F4F7FA', borderRadius: 10, padding: '16px 18px', flexDirection: 'row', alignItems: 'center', gap: 14 }}&gt;&#10;                &lt;Box style={{ width: 4, height: 118, background: '#26816B' }} /&gt;&#10;                &lt;Box style={{ width: 566, flexDirection: 'column', gap: 8, justifyContent: 'center' }}&gt;&#10;                    &lt;Text style={{ fontSize: 20, fontWeight: 'bold', color: '#20344B' }}&gt;身份与边界&lt;/Text&gt;&#10;                    &lt;Text style={{ fontSize: 15, color: '#546779' }}&gt;Experiment · Run · 全部 Attempt · 状态 · 最后提交 Step&lt;/Text&gt;&#10;                    &lt;Text style={{ fontSize: 14, color: '#546779' }}&gt;回答：这次运行到哪一步为止，共发生过几次尝试&lt;/Text&gt;&#10;                &lt;/Box&gt;&#10;            &lt;/Box&gt;&#10;&#10;            &lt;Box style={{ width: 620, height: 150, background: '#F4F7FA', borderRadius: 10, padding: '16px 18px', flexDirection: 'row', alignItems: 'center', gap: 14 }}&gt;&#10;                &lt;Box style={{ width: 4, height: 118, background: '#26816B' }} /&gt;&#10;                &lt;Box style={{ width: 566, flexDirection: 'column', gap: 8, justifyContent: 'center' }}&gt;&#10;                    &lt;Text style={{ fontSize: 20, fontWeight: 'bold', color: '#20344B' }}&gt;操作上下文&lt;/Text&gt;&#10;                    &lt;Text style={{ fontSize: 15, color: '#546779' }}&gt;导出时页面选中的对象 · 原始归档路径&lt;/Text&gt;&#10;                    &lt;Text style={{ fontSize: 14, color: '#546779' }}&gt;回答：当时的人看的究竟是哪一屏、哪一份归档&lt;/Text&gt;&#10;                &lt;/Box&gt;&#10;            &lt;/Box&gt;&#10;&#10;        &lt;/Box&gt;&#10;&#10;        &lt;Box style={{ width: 508, flexDirection: 'column', justifyContent: 'center', gap: 12 }}&gt;&#10;            &lt;Text style={{ fontSize: 20, fontWeight: 'bold', color: '#20344B' }}&gt;三组缺一不可&lt;/Text&gt;&#10;            &lt;Text style={{ fontSize: 16, color: '#546779', lineHeight: 1.7, width: 508 }}&gt;只有文件来源，无法判断它属于哪次 Run；只有身份，无法核对字节有没有被改过。&lt;/Text&gt;&#10;            &lt;Box style={{ width: 508, height: 104, background: '#EDF4FC', borderRadius: 10, padding: '14px 16px', flexDirection: 'column', gap: 6, justifyContent: 'center' }}&gt;&#10;                &lt;Text style={{ fontSize: 16, fontWeight: 'bold', color: '#276FBF' }}&gt;Attempt 必须写全&lt;/Text&gt;&#10;                &lt;Text style={{ fontSize: 14, color: '#546779', lineHeight: 1.5 }}&gt;只写末次 Attempt，会让失败与恢复过程从清单里消失。&lt;/Text&gt;&#10;            &lt;/Box&gt;&#10;            &lt;Box style={{ width: 508, height: 112, background: '#FFF4E6', borderRadius: 10, padding: '14px 16px', flexDirection: 'column', gap: 6, justifyContent: 'center' }}&gt;&#10;                &lt;Text style={{ fontSize: 16, fontWeight: 'bold', color: '#CB6B28' }}&gt;无法核实的字段写「未知」&lt;/Text&gt;&#10;                &lt;Text style={{ fontSize: 14, color: '#546779', lineHeight: 1.5 }}&gt;留空会被读成没有检查；随手猜一个值，是把不确定伪装成事实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先把原始文件和分析工作分开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交接清单要登记哪三组字段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609600" y="1438275"/>
            <a:ext cx="59055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8" name=""/>
          <p:cNvSpPr/>
          <p:nvPr/>
        </p:nvSpPr>
        <p:spPr>
          <a:xfrm rot="0" flipH="0" flipV="0">
            <a:off x="781050" y="1590675"/>
            <a:ext cx="38100" cy="1123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952500" y="1800225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文件来源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952500" y="2105025"/>
            <a:ext cx="539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原文件名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实际来源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取得时间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大小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SHA256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952500" y="235267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回答：这份文件从哪来，还是不是原来那一份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09600" y="3000375"/>
            <a:ext cx="59055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3" name=""/>
          <p:cNvSpPr/>
          <p:nvPr/>
        </p:nvSpPr>
        <p:spPr>
          <a:xfrm rot="0" flipH="0" flipV="0">
            <a:off x="781050" y="3152775"/>
            <a:ext cx="38100" cy="11239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952500" y="3362325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身份与边界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952500" y="3667125"/>
            <a:ext cx="539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Experiment · Run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状态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最后提交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952500" y="391477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回答：这次运行到哪一步为止，共发生过几次尝试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09600" y="4562475"/>
            <a:ext cx="59055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781050" y="4714875"/>
            <a:ext cx="38100" cy="11239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952500" y="4924425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操作上下文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952500" y="5229225"/>
            <a:ext cx="539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导出时页面选中的对象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原始归档路径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952500" y="547687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回答：当时的人看的究竟是哪一屏、哪一份归档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6743700" y="2085975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三组缺一不可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743700" y="2428875"/>
            <a:ext cx="4838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只有文件来源，无法判断它属于哪次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；只有身份，无法核对字节有没有被改过。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743700" y="3171825"/>
            <a:ext cx="48387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896100" y="34194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必须写全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896100" y="3667125"/>
            <a:ext cx="4533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只写末次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，会让失败与恢复过程从清单里消失。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6743700" y="4276725"/>
            <a:ext cx="48387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896100" y="45624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无法核实的字段写「未知」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896100" y="4810125"/>
            <a:ext cx="4533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留空会被读成没有检查；随手猜一个值，是把不确定伪装成事实。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02" name="" descr="&lt;Slide notes={`拿到摘要以后，要先分清它能管什么、不能管什么。&#10;&#10;摘要可以核对字节是否与原始文件相同，可以判断文件有没有被替换或重新打包，也可以确认手上这两份材料是不是同一份。这三件事它做得很可靠，而且是纯机器可重复的。&#10;&#10;但它不能证明业务真实发生过，不能证明两组条件只差一个因素，更不能证明结论正确。哈希算得再准，也只说明文件没被改动。&#10;&#10;还有一件事要顺手做掉：普通结果 ZIP、正式的 .gaexp 和 .garun 要分开标注。改后缀不能改变类型，底层拥有的能力也不代表页面上已经存在同名按钮，这两句要写进材料说明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1　先把原始文件和分析工作分开&lt;/Text&gt;&#10;            &lt;Text style={{ fontSize: 34, fontWeight: 'bold', color: '#20344B' }}&gt;摘要能核对什么，不能证明什么&lt;/Text&gt;&#10;        &lt;/Box&gt;&#10;    &lt;/Box&gt;&#10;&#10;    &lt;Box style={{ height: 540, flexDirection: 'row', alignItems: 'center', gap: 24 }}&gt;&#10;&#10;        &lt;Box style={{ width: 700, flexDirection: 'column', justifyContent: 'center', gap: 14 }}&gt;&#10;&#10;            &lt;Box style={{ width: 700, height: 140, background: '#ECF7F2', borderRadius: 10, padding: '14px 18px', flexDirection: 'column', gap: 6, justifyContent: 'center' }}&gt;&#10;                &lt;Text style={{ fontSize: 17, fontWeight: 'bold', color: '#26816B' }}&gt;摘要能核对&lt;/Text&gt;&#10;                &lt;Text style={{ fontSize: 15, color: '#20344B', lineHeight: 1.55, width: 664 }}&gt;字节是否与原始文件相同 · 文件有没有被替换或重新打包 · 手上两份材料是不是同一份&lt;/Text&gt;&#10;            &lt;/Box&gt;&#10;&#10;            &lt;Box style={{ width: 700, height: 140, background: '#FFF4E6', borderRadius: 10, padding: '14px 18px', flexDirection: 'column', gap: 6, justifyContent: 'center' }}&gt;&#10;                &lt;Text style={{ fontSize: 17, fontWeight: 'bold', color: '#CB6B28' }}&gt;摘要不能证明&lt;/Text&gt;&#10;                &lt;Text style={{ fontSize: 15, color: '#20344B', lineHeight: 1.55, width: 664 }}&gt;业务是否真实发生过 · 两组条件是否只差一个因素 · 结论是否正确&lt;/Text&gt;&#10;            &lt;/Box&gt;&#10;&#10;            &lt;Box style={{ width: 700, height: 148, background: '#F7F3E8', borderRadius: 10, padding: '14px 18px', flexDirection: 'column', gap: 6, justifyContent: 'center' }}&gt;&#10;                &lt;Text style={{ fontSize: 17, fontWeight: 'bold', color: '#20344B' }}&gt;三类包分开标注&lt;/Text&gt;&#10;                &lt;Text style={{ fontSize: 15, color: '#546779', lineHeight: 1.55, width: 664 }}&gt;普通结果 ZIP · 正式 .gaexp · .garun&lt;/Text&gt;&#10;                &lt;Text style={{ fontSize: 14, color: '#CB6B28', lineHeight: 1.5, width: 664 }}&gt;改后缀不能改变类型，底层能力也不代表页面已有同名按钮。&lt;/Text&gt;&#10;            &lt;/Box&gt;&#10;&#10;        &lt;/Box&gt;&#10;&#10;        &lt;Box style={{ width: 428, flexDirection: 'column', justifyContent: 'center', gap: 12 }}&gt;&#10;            &lt;Text style={{ fontSize: 20, fontWeight: 'bold', color: '#20344B' }}&gt;哈希算得准，也只说明文件没被改&lt;/Text&gt;&#10;            &lt;Text style={{ fontSize: 16, color: '#546779', lineHeight: 1.7, width: 428 }}&gt;来源核验与业务核验是两件事。前者靠字节，后者要靠已提交事实和记录身份，不能互相代替。&lt;/Text&gt;&#10;            &lt;Box style={{ width: 428, height: 120, background: '#FFF4E6', borderRadius: 10, padding: '14px 16px', flexDirection: 'column', gap: 6, justifyContent: 'center' }}&gt;&#10;                &lt;Text style={{ fontSize: 16, fontWeight: 'bold', color: '#CB6B28' }}&gt;最容易越界的一步&lt;/Text&gt;&#10;                &lt;Text style={{ fontSize: 14, color: '#546779', lineHeight: 1.5 }}&gt;把「文件完整」直接读成「实验成立」，中间跳过的正是事实核查。&lt;/Text&gt;&#10;            &lt;/Box&gt;&#10;            &lt;Box style={{ width: 428, height: 104, background: '#EDF4FC', borderRadius: 10, padding: '14px 16px', flexDirection: 'column', gap: 6, justifyContent: 'center' }}&gt;&#10;                &lt;Text style={{ fontSize: 16, fontWeight: 'bold', color: '#276FBF' }}&gt;包与复现边界&lt;/Text&gt;&#10;                &lt;Text style={{ fontSize: 14, color: '#546779', lineHeight: 1.5 }}&gt;归档包的拆解与重新执行条件，第三章已逐项说明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先把原始文件和分析工作分开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摘要能核对什么，不能证明什么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609600" y="1543050"/>
            <a:ext cx="66675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781050" y="1952625"/>
            <a:ext cx="632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摘要能核对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81050" y="2209800"/>
            <a:ext cx="6324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字节是否与原始文件相同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文件有没有被替换或重新打包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手上两份材料是不是同一份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09600" y="3009900"/>
            <a:ext cx="66675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781050" y="3419475"/>
            <a:ext cx="632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摘要不能证明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781050" y="3676650"/>
            <a:ext cx="6324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业务是否真实发生过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两组条件是否只差一个因素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结论是否正确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609600" y="4476750"/>
            <a:ext cx="6667500" cy="1409700"/>
          </a:xfrm>
          <a:prstGeom prst="roundRect">
            <a:avLst>
              <a:gd name="adj" fmla="val 675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632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三类包分开标注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81050" y="5029200"/>
            <a:ext cx="6324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普通结果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.gaexp · .garun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781050" y="5353050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改后缀不能改变类型，底层能力也不代表页面已有同名按钮。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7505700" y="2047875"/>
            <a:ext cx="4076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哈希算得准，也只说明文件没被改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505700" y="2390775"/>
            <a:ext cx="4076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来源核验与业务核验是两件事。前者靠字节，后者要靠已提交事实和记录身份，不能互相代替。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7505700" y="3133725"/>
            <a:ext cx="40767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7658100" y="33432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最容易越界的一步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7658100" y="3590925"/>
            <a:ext cx="3771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把「文件完整」直接读成「实验成立」，中间跳过的正是事实核查。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7505700" y="4391025"/>
            <a:ext cx="40767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658100" y="46386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包与复现边界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7658100" y="4886325"/>
            <a:ext cx="3771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归档包的拆解与重新执行条件，第三章已逐项说明。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27" name="" descr="&lt;Slide notes={`接下来讲这一节最核心的动作：让一句主张接受三次追问。&#10;&#10;报告的草稿里常常会出现「H3 完成咨询闭环」这样的句子。这句主张本身没有问题，问题在于它跳得太快。我们要把它按住，连续问三次。&#10;&#10;第一次问：判据是什么？也就是什么情况算「闭环」。第二次问：事实在哪里？请求、响应、人物发言，究竟哪一条记录支持它。第三次问：怎样定位到那次记录？Run、Step、记录身份是什么。&#10;&#10;如果某一个主张的判据是「建议正确」，那它就不成立。角色说「建议正确」不是独立判断，因为角色并不知道正确答案。判据必须来自冻结的作者材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6　证据与可复核成果&lt;/Text&gt;&#10;            &lt;Text style={{ fontSize: 34, fontWeight: 'bold', color: '#20344B' }}&gt;知识块 ②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②&lt;/Text&gt;&#10;&#10;        &lt;Text style={{ fontSize: 56, fontWeight: 'bold', color: '#20344B', lineHeight: 1.15 }}&gt;让一句主张接受三次追问&lt;/Text&gt;&#10;&#10;        &lt;Box style={{ width: 72, height: 4, background: '#276FBF' }} /&gt;&#10;&#10;        &lt;Text style={{ fontSize: 18, color: '#546779', lineHeight: 1.7, width: 980 }}&gt;主张要问判据，判据要问事实，事实要问定位。三次追问之后仍然站得住的，才可以写进报告。&lt;/Text&gt;&#10;&#10;        &lt;Box style={{ flexDirection: 'row', alignItems: 'center', marginTop: 10 }}&gt;&#10;            &lt;Box style={{ width: 244, height: 92, background: '#FFF4E6', borderRadius: 8, flexDirection: 'column', justifyContent: 'center', alignItems: 'center', gap: 6 }}&gt;&#10;                &lt;Text style={{ fontSize: 20, fontWeight: 'bold', color: '#CB6B28' }}&gt;主张&lt;/Text&gt;&#10;                &lt;Text style={{ fontSize: 14, color: '#546779' }}&gt;待核验的句子&lt;/Text&gt;&#10;            &lt;/Box&gt;&#10;            &lt;Box style={{ width: 44, height: 92, justifyContent: 'center', alignItems: 'center' }}&gt;&#10;                &lt;Text style={{ fontSize: 26, color: '#276FBF' }}&gt;›&lt;/Text&gt;&#10;            &lt;/Box&gt;&#10;            &lt;Box style={{ width: 244, height: 92, background: '#EDF4FC', borderRadius: 8, flexDirection: 'column', justifyContent: 'center', alignItems: 'center', gap: 6 }}&gt;&#10;                &lt;Text style={{ fontSize: 20, fontWeight: 'bold', color: '#276FBF' }}&gt;判据&lt;/Text&gt;&#10;                &lt;Text style={{ fontSize: 14, color: '#546779' }}&gt;什么才算正确&lt;/Text&gt;&#10;            &lt;/Box&gt;&#10;            &lt;Box style={{ width: 44, height: 92, justifyContent: 'center', alignItems: 'center' }}&gt;&#10;                &lt;Text style={{ fontSize: 26, color: '#276FBF' }}&gt;›&lt;/Text&gt;&#10;            &lt;/Box&gt;&#10;            &lt;Box style={{ width: 244, height: 92, background: '#EDF4FC', borderRadius: 8, flexDirection: 'column', justifyContent: 'center', alignItems: 'center', gap: 6 }}&gt;&#10;                &lt;Text style={{ fontSize: 20, fontWeight: 'bold', color: '#276FBF' }}&gt;事实&lt;/Text&gt;&#10;                &lt;Text style={{ fontSize: 14, color: '#546779' }}&gt;实际发生了什么&lt;/Text&gt;&#10;            &lt;/Box&gt;&#10;            &lt;Box style={{ width: 44, height: 92, justifyContent: 'center', alignItems: 'center' }}&gt;&#10;                &lt;Text style={{ fontSize: 26, color: '#26816B' }}&gt;›&lt;/Text&gt;&#10;            &lt;/Box&gt;&#10;            &lt;Box style={{ width: 244, height: 92, background: '#ECF7F2', borderRadius: 8, flexDirection: 'column', justifyContent: 'center', alignItems: 'center', gap: 6 }}&gt;&#10;                &lt;Text style={{ fontSize: 20, fontWeight: 'bold', color: '#26816B' }}&gt;定位&lt;/Text&gt;&#10;                &lt;Text style={{ fontSize: 14, color: '#546779' }}&gt;回到那一次记录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证据与可复核成果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24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09600" y="30480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让一句主张接受三次追问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09600" y="39624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609600" y="4171950"/>
            <a:ext cx="9334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主张要问判据，判据要问事实，事实要问定位。三次追问之后仍然站得住的，才可以写进报告。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609600" y="4791075"/>
            <a:ext cx="23241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1581150" y="50101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主张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371600" y="52959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待核验的句子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310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3352800" y="4791075"/>
            <a:ext cx="23241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4324350" y="50101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4114800" y="52959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什么才算正确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58483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44" name=""/>
          <p:cNvSpPr/>
          <p:nvPr/>
        </p:nvSpPr>
        <p:spPr>
          <a:xfrm rot="0" flipH="0" flipV="0">
            <a:off x="6096000" y="4791075"/>
            <a:ext cx="23241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067550" y="50101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事实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6791325" y="52959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实际发生了什么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8591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8839200" y="4791075"/>
            <a:ext cx="23241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9810750" y="50101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9534525" y="52959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回到那一次记录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53" name="" descr="&lt;Slide notes={`把「H3 完成咨询闭环」这一路问下来，四步是这样走的。&#10;&#10;先从主张出发，它现在的身份只是待核验的示例，不是结论。然后找判据：什么情况算闭环？冻结的作者材料给出的答案是「取得适配回复，并确认正确下一步」。接着找事实：请求、响应、人物发言，记录里实际发生了哪些。最后是定位：Run 是什么、Step 是第几步、记录身份是哪一条。&#10;&#10;这一步不能省。没有定位，别人就无法回到那条记录去核对，你的判断就只剩下你的说法。&#10;&#10;最后提醒一句：教师答案定义何为正确，真实事实说明是否发生。这是两件不同的事，不能拿前者去证明后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2　让一句主张接受三次追问&lt;/Text&gt;&#10;            &lt;Text style={{ fontSize: 34, fontWeight: 'bold', color: '#20344B' }}&gt;主张 › 判据 › 事实 › 定位&lt;/Text&gt;&#10;        &lt;/Box&gt;&#10;    &lt;/Box&gt;&#10;&#10;    &lt;Box style={{ height: 540, flexDirection: 'column', justifyContent: 'center', gap: 16 }}&gt;&#10;&#10;        &lt;Box style={{ width: 1152, height: 340, background: '#F4F7FA', borderRadius: 12, padding: '20px 20px', flexDirection: 'column', gap: 12 }}&gt;&#10;            &lt;Text style={{ fontSize: 16, fontWeight: 'bold', color: '#20344B' }}&gt;一句「H3 完成咨询闭环」要接受三次追问，才允许写进报告&lt;/Text&gt;&#10;            &lt;Box style={{ flexDirection: 'row' }}&gt;&#10;&#10;                &lt;Box style={{ width: 245, height: 240, background: '#FFF4E6', borderRadius: 8, padding: '14px', flexDirection: 'column', justifyContent: 'center', gap: 8 }}&gt;&#10;                    &lt;Text style={{ fontSize: 14, color: '#546779' }}&gt;第 1 问 · 起点&lt;/Text&gt;&#10;                    &lt;Text style={{ fontSize: 22, fontWeight: 'bold', color: '#CB6B28' }}&gt;主张&lt;/Text&gt;&#10;                    &lt;Text style={{ fontSize: 14, color: '#20344B', lineHeight: 1.5, width: 217 }}&gt;「H3 完成咨询闭环」&lt;/Text&gt;&#10;                    &lt;Text style={{ fontSize: 13, color: '#546779', lineHeight: 1.45, width: 217 }}&gt;这是待核验的示例主张，还不能当成结论。&lt;/Text&gt;&#10;                &lt;/Box&gt;&#10;&#10;                &lt;Box style={{ width: 44, height: 240, justifyContent: 'center', alignItems: 'center' }}&gt;&#10;                    &lt;Text style={{ fontSize: 26, color: '#276FBF' }}&gt;›&lt;/Text&gt;&#10;                &lt;/Box&gt;&#10;&#10;                &lt;Box style={{ width: 245, height: 240, background: '#EDF4FC', borderRadius: 8, padding: '14px', flexDirection: 'column', justifyContent: 'center', gap: 8 }}&gt;&#10;                    &lt;Text style={{ fontSize: 14, color: '#546779' }}&gt;第 2 问 · 什么算正确&lt;/Text&gt;&#10;                    &lt;Text style={{ fontSize: 22, fontWeight: 'bold', color: '#276FBF' }}&gt;判据&lt;/Text&gt;&#10;                    &lt;Text style={{ fontSize: 14, color: '#20344B', lineHeight: 1.5, width: 217 }}&gt;适配回复 ＋ 确认&lt;/Text&gt;&#10;                    &lt;Text style={{ fontSize: 13, color: '#546779', lineHeight: 1.45, width: 217 }}&gt;来自冻结的作者材料，说明什么情况算闭环。&lt;/Text&gt;&#10;                &lt;/Box&gt;&#10;&#10;                &lt;Box style={{ width: 44, height: 240, justifyContent: 'center', alignItems: 'center' }}&gt;&#10;                    &lt;Text style={{ fontSize: 26, color: '#276FBF' }}&gt;›&lt;/Text&gt;&#10;                &lt;/Box&gt;&#10;&#10;                &lt;Box style={{ width: 245, height: 240, background: '#EDF4FC', borderRadius: 8, padding: '14px', flexDirection: 'column', justifyContent: 'center', gap: 8 }}&gt;&#10;                    &lt;Text style={{ fontSize: 14, color: '#546779' }}&gt;第 3 问 · 发生了什么&lt;/Text&gt;&#10;                    &lt;Text style={{ fontSize: 22, fontWeight: 'bold', color: '#276FBF' }}&gt;事实&lt;/Text&gt;&#10;                    &lt;Text style={{ fontSize: 14, color: '#20344B', lineHeight: 1.5, width: 217 }}&gt;请求 ／ 响应 ／ 人物发言&lt;/Text&gt;&#10;                    &lt;Text style={{ fontSize: 13, color: '#546779', lineHeight: 1.45, width: 217 }}&gt;记录里实际提交了什么，而不是计划了什么。&lt;/Text&gt;&#10;                &lt;/Box&gt;&#10;&#10;                &lt;Box style={{ width: 44, height: 240, justifyContent: 'center', alignItems: 'center' }}&gt;&#10;                    &lt;Text style={{ fontSize: 26, color: '#26816B' }}&gt;›&lt;/Text&gt;&#10;                &lt;/Box&gt;&#10;&#10;                &lt;Box style={{ width: 245, height: 240, background: '#ECF7F2', borderRadius: 8, padding: '14px', flexDirection: 'column', justifyContent: 'center', gap: 8 }}&gt;&#10;                    &lt;Text style={{ fontSize: 14, color: '#546779' }}&gt;第 4 问 · 在哪一条&lt;/Text&gt;&#10;                    &lt;Text style={{ fontSize: 22, fontWeight: 'bold', color: '#26816B' }}&gt;定位&lt;/Text&gt;&#10;                    &lt;Text style={{ fontSize: 14, color: '#20344B', lineHeight: 1.5, width: 217 }}&gt;Run · Step · 记录身份&lt;/Text&gt;&#10;                    &lt;Text style={{ fontSize: 13, color: '#546779', lineHeight: 1.45, width: 217 }}&gt;让别人能回到那一次具体记录去复核。&lt;/Text&gt;&#10;                &lt;/Box&gt;&#10;&#10;            &lt;/Box&gt;&#10;        &lt;/Box&gt;&#10;&#10;        &lt;Box style={{ flexDirection: 'row', gap: 16 }}&gt;&#10;            &lt;Box style={{ width: 568, height: 96, background: '#EDF4FC', borderRadius: 10, padding: '14px 20px', flexDirection: 'column', gap: 4, justifyContent: 'center' }}&gt;&#10;                &lt;Text style={{ fontSize: 16, fontWeight: 'bold', color: '#276FBF' }}&gt;教师答案&lt;/Text&gt;&#10;                &lt;Text style={{ fontSize: 14, color: '#546779', lineHeight: 1.5, width: 528 }}&gt;定义何为正确，是判据的来源。&lt;/Text&gt;&#10;            &lt;/Box&gt;&#10;            &lt;Box style={{ width: 568, height: 96, background: '#ECF7F2', borderRadius: 10, padding: '14px 20px', flexDirection: 'column', gap: 4, justifyContent: 'center' }}&gt;&#10;                &lt;Text style={{ fontSize: 16, fontWeight: 'bold', color: '#26816B' }}&gt;真实事实&lt;/Text&gt;&#10;                &lt;Text style={{ fontSize: 14, color: '#546779', lineHeight: 1.5, width: 528 }}&gt;说明是否发生，只能来自已提交记录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33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让一句主张接受三次追问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33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主张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判据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事实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609600" y="1562100"/>
            <a:ext cx="10972800" cy="323850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800100" y="1752600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一句「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H3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完成咨询闭环」要接受三次追问，才允许写进报告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800100" y="2057400"/>
            <a:ext cx="2333625" cy="2286000"/>
          </a:xfrm>
          <a:prstGeom prst="roundRect">
            <a:avLst>
              <a:gd name="adj" fmla="val 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933450" y="2533650"/>
            <a:ext cx="2066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933450" y="2771775"/>
            <a:ext cx="2066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主张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933450" y="3105150"/>
            <a:ext cx="20669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「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H3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完成咨询闭环」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933450" y="3429000"/>
            <a:ext cx="20669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这是待核验的示例主张，还不能当成结论。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3305175" y="3048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3552825" y="2057400"/>
            <a:ext cx="2333625" cy="22860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3686175" y="2533650"/>
            <a:ext cx="2066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什么算正确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3686175" y="2771775"/>
            <a:ext cx="2066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3686175" y="3105150"/>
            <a:ext cx="20669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适配回复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确认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3686175" y="3429000"/>
            <a:ext cx="20669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来自冻结的作者材料，说明什么情况算闭环。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6057900" y="3048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6305550" y="2057400"/>
            <a:ext cx="2333625" cy="22860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438900" y="2533650"/>
            <a:ext cx="2066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发生了什么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6438900" y="2771775"/>
            <a:ext cx="2066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事实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6438900" y="3105150"/>
            <a:ext cx="20669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请求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响应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人物发言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6438900" y="3429000"/>
            <a:ext cx="20669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记录里实际提交了什么，而不是计划了什么。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8810625" y="3048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9058275" y="2057400"/>
            <a:ext cx="2333625" cy="2286000"/>
          </a:xfrm>
          <a:prstGeom prst="roundRect">
            <a:avLst>
              <a:gd name="adj" fmla="val 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9191625" y="2533650"/>
            <a:ext cx="2066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在哪一条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9191625" y="2771775"/>
            <a:ext cx="2066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9191625" y="3105150"/>
            <a:ext cx="20669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· Step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记录身份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9191625" y="3429000"/>
            <a:ext cx="20669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让别人能回到那一次具体记录去复核。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609600" y="4953000"/>
            <a:ext cx="54102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800100" y="517207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教师答案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800100" y="540067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定义何为正确，是判据的来源。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6172200" y="4953000"/>
            <a:ext cx="54102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362700" y="517207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真实事实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6362700" y="540067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说明是否发生，只能来自已提交记录。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1" name="" descr="&lt;Slide notes={`四条常见的主张，判据和来源各不相同，我逐条说。&#10;&#10;「实施了澄清策略」的判据是：关键目的缺失时先问，收到补充之后才给建议。来源要找到请求、询问、真实补充和后续建议。「抵达正确窗口区域」要看提交坐标与地址是不是落在适配服务区，来源是 MOVE 事实和参与者状态。&#10;&#10;「获得适配回复」的判据是窗口按真实目的说明正确下一步，来源包括作者任务、窗口请求与响应，以及接收事实。&#10;&#10;「完成咨询闭环」最严格，它要求取得适配回复并且确认了正确下一步，来源在前面几项之外还要加人物发言或后续交互。&#10;&#10;记住：主张编号只是分析索引，字段与身份必须按真实协议填写，不能自己编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2　让一句主张接受三次追问&lt;/Text&gt;&#10;            &lt;Text style={{ fontSize: 34, fontWeight: 'bold', color: '#20344B' }}&gt;四类主张，各自要找到什么&lt;/Text&gt;&#10;        &lt;/Box&gt;&#10;    &lt;/Box&gt;&#10;&#10;    &lt;Box style={{ height: 540, flexDirection: 'row', alignItems: 'center', gap: 24 }}&gt;&#10;&#10;        &lt;Box style={{ width: 700, flexDirection: 'column', justifyContent: 'center', gap: 12 }}&gt;&#10;&#10;            &lt;Box style={{ width: 700, height: 116, background: '#F4F7FA', borderRadius: 10, padding: '12px 16px', flexDirection: 'row', alignItems: 'center', gap: 14 }}&gt;&#10;                &lt;Box style={{ width: 4, height: 92, background: '#276FBF' }} /&gt;&#10;                &lt;Box style={{ width: 650, flexDirection: 'column', gap: 5, justifyContent: 'center' }}&gt;&#10;                    &lt;Text style={{ fontSize: 17, fontWeight: 'bold', color: '#20344B' }}&gt;实施了澄清策略&lt;/Text&gt;&#10;                    &lt;Text style={{ fontSize: 14, color: '#546779' }}&gt;判据：关键目的缺失时先问，收到补充后再建议&lt;/Text&gt;&#10;                    &lt;Text style={{ fontSize: 14, color: '#26816B' }}&gt;来源：请求 · 询问 · 真实补充 · 后续建议&lt;/Text&gt;&#10;                &lt;/Box&gt;&#10;            &lt;/Box&gt;&#10;&#10;            &lt;Box style={{ width: 700, height: 116, background: '#F4F7FA', borderRadius: 10, padding: '12px 16px', flexDirection: 'row', alignItems: 'center', gap: 14 }}&gt;&#10;                &lt;Box style={{ width: 4, height: 92, background: '#276FBF' }} /&gt;&#10;                &lt;Box style={{ width: 650, flexDirection: 'column', gap: 5, justifyContent: 'center' }}&gt;&#10;                    &lt;Text style={{ fontSize: 17, fontWeight: 'bold', color: '#20344B' }}&gt;抵达正确窗口区域&lt;/Text&gt;&#10;                    &lt;Text style={{ fontSize: 14, color: '#546779' }}&gt;判据：提交坐标与地址落在适配服务区&lt;/Text&gt;&#10;                    &lt;Text style={{ fontSize: 14, color: '#26816B' }}&gt;来源：MOVE 事实 · 参与者状态&lt;/Text&gt;&#10;                &lt;/Box&gt;&#10;            &lt;/Box&gt;&#10;&#10;            &lt;Box style={{ width: 700, height: 116, background: '#F4F7FA', borderRadius: 10, padding: '12px 16px', flexDirection: 'row', alignItems: 'center', gap: 14 }}&gt;&#10;                &lt;Box style={{ width: 4, height: 92, background: '#276FBF' }} /&gt;&#10;                &lt;Box style={{ width: 650, flexDirection: 'column', gap: 5, justifyContent: 'center' }}&gt;&#10;                    &lt;Text style={{ fontSize: 17, fontWeight: 'bold', color: '#20344B' }}&gt;获得适配回复&lt;/Text&gt;&#10;                    &lt;Text style={{ fontSize: 14, color: '#546779' }}&gt;判据：窗口按真实目的说明正确下一步&lt;/Text&gt;&#10;                    &lt;Text style={{ fontSize: 14, color: '#26816B' }}&gt;来源：作者任务 · 窗口请求与响应 · 接收事实&lt;/Text&gt;&#10;                &lt;/Box&gt;&#10;            &lt;/Box&gt;&#10;&#10;            &lt;Box style={{ width: 700, height: 116, background: '#FFF4E6', borderRadius: 10, padding: '12px 16px', flexDirection: 'row', alignItems: 'center', gap: 14 }}&gt;&#10;                &lt;Box style={{ width: 4, height: 92, background: '#CB6B28' }} /&gt;&#10;                &lt;Box style={{ width: 650, flexDirection: 'column', gap: 5, justifyContent: 'center' }}&gt;&#10;                    &lt;Text style={{ fontSize: 17, fontWeight: 'bold', color: '#CB6B28' }}&gt;完成咨询闭环&lt;/Text&gt;&#10;                    &lt;Text style={{ fontSize: 14, color: '#546779' }}&gt;判据：取得适配回复，并确认正确下一步&lt;/Text&gt;&#10;                    &lt;Text style={{ fontSize: 14, color: '#546779' }}&gt;来源：上述链条，加人物发言或后续交互&lt;/Text&gt;&#10;                &lt;/Box&gt;&#10;            &lt;/Box&gt;&#10;&#10;        &lt;/Box&gt;&#10;&#10;        &lt;Box style={{ width: 428, flexDirection: 'column', justifyContent: 'center', gap: 12 }}&gt;&#10;            &lt;Text style={{ fontSize: 20, fontWeight: 'bold', color: '#20344B' }}&gt;判据先于事实&lt;/Text&gt;&#10;            &lt;Text style={{ fontSize: 16, color: '#546779', lineHeight: 1.7, width: 428 }}&gt;先确定什么算正确，再去看记录里有没有发生。顺序颠倒，就很容易照着结果去找理由。&lt;/Text&gt;&#10;            &lt;Box style={{ width: 428, height: 120, background: '#FFF4E6', borderRadius: 10, padding: '14px 16px', flexDirection: 'column', gap: 6, justifyContent: 'center' }}&gt;&#10;                &lt;Text style={{ fontSize: 16, fontWeight: 'bold', color: '#CB6B28' }}&gt;角色说「建议正确」不算判据&lt;/Text&gt;&#10;                &lt;Text style={{ fontSize: 14, color: '#546779', lineHeight: 1.5 }}&gt;角色并不知道正确答案，这句话只构成一条主张，不构成独立判断。&lt;/Text&gt;&#10;            &lt;/Box&gt;&#10;            &lt;Box style={{ width: 428, height: 120, background: '#EDF4FC', borderRadius: 10, padding: '14px 16px', flexDirection: 'column', gap: 6, justifyContent: 'center' }}&gt;&#10;                &lt;Text style={{ fontSize: 16, fontWeight: 'bold', color: '#276FBF' }}&gt;编号只是分析索引&lt;/Text&gt;&#10;                &lt;Text style={{ fontSize: 14, color: '#546779', lineHeight: 1.5 }}&gt;字段与身份按真实协议填写，不补造编号，不靠截图搭来源链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让一句主张接受三次追问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四类主张，各自要找到什么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1333500"/>
            <a:ext cx="6667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762000" y="1447800"/>
            <a:ext cx="38100" cy="876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33450" y="1581150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实施了澄清策略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33450" y="182880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判据：关键目的缺失时先问，收到补充后再建议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33450" y="203835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来源：请求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询问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真实补充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后续建议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2552700"/>
            <a:ext cx="6667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762000" y="2667000"/>
            <a:ext cx="38100" cy="876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33450" y="2800350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抵达正确窗口区域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33450" y="304800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判据：提交坐标与地址落在适配服务区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33450" y="325755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来源：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MOVE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事实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参与者状态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3771900"/>
            <a:ext cx="6667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762000" y="3886200"/>
            <a:ext cx="38100" cy="876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33450" y="4019550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获得适配回复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33450" y="426720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判据：窗口按真实目的说明正确下一步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33450" y="447675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来源：作者任务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窗口请求与响应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接收事实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09600" y="4991100"/>
            <a:ext cx="66675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762000" y="5105400"/>
            <a:ext cx="38100" cy="876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33450" y="5238750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完成咨询闭环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33450" y="548640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判据：取得适配回复，并确认正确下一步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33450" y="569595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来源：上述链条，加人物发言或后续交互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505700" y="1971675"/>
            <a:ext cx="4076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判据先于事实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505700" y="2314575"/>
            <a:ext cx="4076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先确定什么算正确，再去看记录里有没有发生。顺序颠倒，就很容易照着结果去找理由。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7505700" y="3057525"/>
            <a:ext cx="40767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658100" y="32670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角色说「建议正确」不算判据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58100" y="3514725"/>
            <a:ext cx="3771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角色并不知道正确答案，这句话只构成一条主张，不构成独立判断。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505700" y="4314825"/>
            <a:ext cx="40767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658100" y="46386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编号只是分析索引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658100" y="4886325"/>
            <a:ext cx="3771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字段与身份按真实协议填写，不补造编号，不靠截图搭来源链。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6" name="" descr="&lt;Slide notes={`核对每一项评分的时候，要再查两个层次，它们很容易被合并成一个。&#10;&#10;第一个层次是独立判据：冻结的作者材料说明什么算正确。它必须来自作者那一侧，不能来自被评价的角色。角色说「建议正确」不构成独立判断，因为它并不知道正确答案是什么。&#10;&#10;第二个层次是实际发生：要定位真实的 Run、Agent 或对象、Step，以及事件、请求、会话或记忆的身份。教师答案不能证明角色已经收到过信息。&#10;&#10;这两层都齐了，一项评分才算有依据。另外保留归档路径、成员文件和记录位置。截图可以辅助说明，但不能靠补造事件 ID 来建立来源链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2　让一句主张接受三次追问&lt;/Text&gt;&#10;            &lt;Text style={{ fontSize: 34, fontWeight: 'bold', color: '#20344B' }}&gt;核对评分时的两个层次&lt;/Text&gt;&#10;        &lt;/Box&gt;&#10;    &lt;/Box&gt;&#10;&#10;    &lt;Box style={{ height: 540, flexDirection: 'row', alignItems: 'center', gap: 24 }}&gt;&#10;&#10;        &lt;Box style={{ width: 520, flexDirection: 'column', justifyContent: 'center', gap: 12 }}&gt;&#10;            &lt;Text style={{ fontSize: 20, fontWeight: 'bold', color: '#20344B' }}&gt;两个层次要分开查&lt;/Text&gt;&#10;            &lt;Box style={{ width: 520, height: 176, background: '#EDF4FC', borderRadius: 10, padding: '16px 18px', flexDirection: 'column', gap: 8, justifyContent: 'center' }}&gt;&#10;                &lt;Text style={{ fontSize: 18, fontWeight: 'bold', color: '#276FBF' }}&gt;独立判据&lt;/Text&gt;&#10;                &lt;Text style={{ fontSize: 15, color: '#20344B', lineHeight: 1.55, width: 484 }}&gt;冻结的作者材料说明什么算正确。&lt;/Text&gt;&#10;                &lt;Text style={{ fontSize: 14, color: '#546779', lineHeight: 1.5, width: 484 }}&gt;角色说「建议正确」不构成独立判断，因为它并不知道正确答案。&lt;/Text&gt;&#10;            &lt;/Box&gt;&#10;            &lt;Box style={{ width: 520, height: 176, background: '#ECF7F2', borderRadius: 10, padding: '16px 18px', flexDirection: 'column', gap: 8, justifyContent: 'center' }}&gt;&#10;                &lt;Text style={{ fontSize: 18, fontWeight: 'bold', color: '#26816B' }}&gt;实际发生&lt;/Text&gt;&#10;                &lt;Text style={{ fontSize: 15, color: '#20344B', lineHeight: 1.55, width: 484 }}&gt;定位真实 Run、Agent 或对象、Step。&lt;/Text&gt;&#10;                &lt;Text style={{ fontSize: 14, color: '#546779', lineHeight: 1.5, width: 484 }}&gt;以及事件、请求、会话或记忆身份；教师答案不能证明角色已收到信息。&lt;/Text&gt;&#10;            &lt;/Box&gt;&#10;        &lt;/Box&gt;&#10;&#10;        &lt;Box style={{ width: 608, flexDirection: 'column', justifyContent: 'center', gap: 12 }}&gt;&#10;            &lt;Text style={{ fontSize: 20, fontWeight: 'bold', color: '#20344B' }}&gt;每次核对都要留下位置&lt;/Text&gt;&#10;            &lt;Box style={{ width: 608, height: 140, background: '#FFF4E6', borderRadius: 10, padding: '14px 18px', flexDirection: 'column', gap: 6, justifyContent: 'center' }}&gt;&#10;                &lt;Text style={{ fontSize: 17, fontWeight: 'bold', color: '#CB6B28' }}&gt;截图可以辅助，不能替代来源链&lt;/Text&gt;&#10;                &lt;Text style={{ fontSize: 15, color: '#546779', lineHeight: 1.5, width: 572 }}&gt;截图能说明界面长什么样，但它不带事件身份。补造事件 ID 去凑一条链，等于把材料变成杜撰。&lt;/Text&gt;&#10;            &lt;/Box&gt;&#10;            &lt;Box style={{ width: 608, height: 130, background: '#EDF4FC', borderRadius: 10, padding: '14px 18px', flexDirection: 'column', gap: 6, justifyContent: 'center' }}&gt;&#10;                &lt;Text style={{ fontSize: 17, fontWeight: 'bold', color: '#276FBF' }}&gt;定位要同时给出四件事&lt;/Text&gt;&#10;                &lt;Text style={{ fontSize: 15, color: '#546779', lineHeight: 1.5, width: 572 }}&gt;Run 编号 · 参与对象 · 具体 Step · 记录身份。少一样，别人就回不到那条记录。&lt;/Text&gt;&#10;            &lt;/Box&gt;&#10;            &lt;Box style={{ width: 608, height: 110, background: '#F7F3E8', borderRadius: 10, padding: '14px 18px', flexDirection: 'column', gap: 6, justifyContent: 'center' }}&gt;&#10;                &lt;Text style={{ fontSize: 17, fontWeight: 'bold', color: '#20344B' }}&gt;保留三类位置信息&lt;/Text&gt;&#10;                &lt;Text style={{ fontSize: 15, color: '#546779', lineHeight: 1.5, width: 572 }}&gt;归档路径 · 成员文件 · 记录位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让一句主张接受三次追问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核对评分时的两个层次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两个层次要分开查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09600" y="2152650"/>
            <a:ext cx="4953000" cy="1676400"/>
          </a:xfrm>
          <a:prstGeom prst="roundRect">
            <a:avLst>
              <a:gd name="adj" fmla="val 56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81050" y="2552700"/>
            <a:ext cx="461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独立判据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81050" y="2838450"/>
            <a:ext cx="4610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冻结的作者材料说明什么算正确。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1050" y="3181350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角色说「建议正确」不构成独立判断，因为它并不知道正确答案。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3943350"/>
            <a:ext cx="4953000" cy="1676400"/>
          </a:xfrm>
          <a:prstGeom prst="roundRect">
            <a:avLst>
              <a:gd name="adj" fmla="val 56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81050" y="4343400"/>
            <a:ext cx="461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实际发生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81050" y="4629150"/>
            <a:ext cx="4610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定位真实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或对象、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Step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81050" y="4972050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以及事件、请求、会话或记忆身份；教师答案不能证明角色已收到信息。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791200" y="16192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每次核对都要留下位置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5791200" y="1962150"/>
            <a:ext cx="57912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962650" y="2247900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截图可以辅助，不能替代来源链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962650" y="2505075"/>
            <a:ext cx="5448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截图能说明界面长什么样，但它不带事件身份。补造事件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去凑一条链，等于把材料变成杜撰。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5791200" y="3409950"/>
            <a:ext cx="57912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962650" y="3771900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定位要同时给出四件事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962650" y="4029075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编号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参与对象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具体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记录身份。少一样，别人就回不到那条记录。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791200" y="4762500"/>
            <a:ext cx="5791200" cy="104775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962650" y="5029200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保留三类位置信息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962650" y="5286375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归档路径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成员文件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记录位置。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2" name="" descr="&lt;Slide notes={`取材边界最容易出错的地方在最后一步。&#10;&#10;这个 Run 一共 76 步，Step1 是 09:00，每步一分钟，所以 Step76 就是 10:15。如果目标对象恰好在末轮提交答复，那么人物的下一轮接收已经超出了这次窗口。&#10;&#10;这种情况要同时记录两件事：一是「对象已响应」，这是窗口内真实发生的事实；二是「窗口内尚无人物接收或确认事实」，这是一个明确的缺口。不能把窗口外的确认补算成窗口内的闭环，那等于用后来的记录改写当时的结论。&#10;&#10;另外，虚拟时间、模型耗时、含暂停的墙钟时间要分别标注。历史判断需要身份、哈希和帧连续性支持，播放顺畅只是一种观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3　保持相同的取材边界&lt;/Text&gt;&#10;            &lt;Text style={{ fontSize: 34, fontWeight: 'bold', color: '#20344B' }}&gt;窗口在 Step76 结束&lt;/Text&gt;&#10;        &lt;/Box&gt;&#10;    &lt;/Box&gt;&#10;&#10;    &lt;Box style={{ height: 540, flexDirection: 'column', justifyContent: 'center', gap: 8 }}&gt;&#10;&#10;        &lt;Box style={{ flexDirection: 'row' }}&gt;&#10;            &lt;Box style={{ width: 340, height: 220, background: '#F7F3E8', borderRadius: 10, padding: '16px', flexDirection: 'column', justifyContent: 'center', gap: 10 }}&gt;&#10;                &lt;Text style={{ fontSize: 14, color: '#546779' }}&gt;起点&lt;/Text&gt;&#10;                &lt;Text style={{ fontSize: 22, fontWeight: 'bold', color: '#20344B' }}&gt;Step1 · 09:00&lt;/Text&gt;&#10;                &lt;Text style={{ fontSize: 14, color: '#546779', lineHeight: 1.5, width: 308 }}&gt;每步一分钟，本 Run 共 76 步。&lt;/Text&gt;&#10;            &lt;/Box&gt;&#10;            &lt;Box style={{ width: 44, height: 220, justifyContent: 'center', alignItems: 'center' }}&gt;&#10;                &lt;Text style={{ fontSize: 26, color: '#276FBF' }}&gt;›&lt;/Text&gt;&#10;            &lt;/Box&gt;&#10;            &lt;Box style={{ width: 340, height: 220, background: '#EDF4FC', borderRadius: 10, padding: '16px', flexDirection: 'column', justifyContent: 'center', gap: 10 }}&gt;&#10;                &lt;Text style={{ fontSize: 14, color: '#546779' }}&gt;此前&lt;/Text&gt;&#10;                &lt;Text style={{ fontSize: 22, fontWeight: 'bold', color: '#276FBF' }}&gt;Step75&lt;/Text&gt;&#10;                &lt;Text style={{ fontSize: 14, color: '#546779', lineHeight: 1.5, width: 308 }}&gt;此前的已提交事实。&lt;/Text&gt;&#10;            &lt;/Box&gt;&#10;            &lt;Box style={{ width: 44, height: 220, justifyContent: 'center', alignItems: 'center' }}&gt;&#10;                &lt;Text style={{ fontSize: 26, color: '#CB6B28' }}&gt;›&lt;/Text&gt;&#10;            &lt;/Box&gt;&#10;            &lt;Box style={{ width: 340, height: 220, background: '#FFF4E6', borderRadius: 10, padding: '16px', flexDirection: 'column', justifyContent: 'center', gap: 10 }}&gt;&#10;                &lt;Text style={{ fontSize: 14, color: '#CB6B28' }}&gt;末轮&lt;/Text&gt;&#10;                &lt;Text style={{ fontSize: 22, fontWeight: 'bold', color: '#CB6B28' }}&gt;Step76 · 10:15&lt;/Text&gt;&#10;                &lt;Text style={{ fontSize: 14, color: '#546779', lineHeight: 1.5, width: 308 }}&gt;末轮对象提交答复；本 Run 预定窗口到此结束。&lt;/Text&gt;&#10;            &lt;/Box&gt;&#10;        &lt;/Box&gt;&#10;&#10;        &lt;Box style={{ flexDirection: 'row', gap: 24 }}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    &lt;Box style={{ width: 60, height: 4, background: '#CB6B28' }} /&gt;&#10;        &lt;/Box&gt;&#10;&#10;        &lt;Box style={{ width: 1152, height: 130, background: '#FFF4E6', borderRadius: 10, padding: '16px 20px', flexDirection: 'column', gap: 6, justifyContent: 'center' }}&gt;&#10;            &lt;Text style={{ fontSize: 17, fontWeight: 'bold', color: '#CB6B28' }}&gt;虚线之外：目标人物下一轮 —— 不在预定窗口内&lt;/Text&gt;&#10;            &lt;Text style={{ fontSize: 15, color: '#546779', lineHeight: 1.5, width: 1112 }}&gt;对象在末轮答复，人物的下一轮已在窗口之外。要同时记录「对象已响应」和「窗口内尚无人物接收／确认事实」，不能把窗口外的确认补算成窗口内闭环。&lt;/Text&gt;&#10;        &lt;/Box&gt;&#10;&#10;        &lt;Box style={{ width: 1152, height: 110, background: '#EDF4FC', borderRadius: 10, padding: '14px 20px', flexDirection: 'column', gap: 6, justifyContent: 'center' }}&gt;&#10;            &lt;Text style={{ fontSize: 16, fontWeight: 'bold', color: '#276FBF' }}&gt;三种时间要分别标注&lt;/Text&gt;&#10;            &lt;Text style={{ fontSize: 15, color: '#546779', lineHeight: 1.5, width: 1112 }}&gt;虚拟时间 · 模型耗时 · 含暂停的墙钟时间。内存与最新状态会变化，播放顺畅不能替代核查。&lt;/Text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43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保持相同的取材边界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43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窗口在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Step76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结束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1390650"/>
            <a:ext cx="3238500" cy="2095500"/>
          </a:xfrm>
          <a:prstGeom prst="roundRect">
            <a:avLst>
              <a:gd name="adj" fmla="val 454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62000" y="200977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62000" y="22669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Step1 · 09:00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62000" y="2619375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每步一分钟，本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019550" y="2286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4267200" y="1390650"/>
            <a:ext cx="3238500" cy="2095500"/>
          </a:xfrm>
          <a:prstGeom prst="roundRect">
            <a:avLst>
              <a:gd name="adj" fmla="val 45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419600" y="200977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此前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419600" y="22669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Step75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419600" y="2619375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此前的已提交事实。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677150" y="2286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924800" y="1390650"/>
            <a:ext cx="3238500" cy="2095500"/>
          </a:xfrm>
          <a:prstGeom prst="roundRect">
            <a:avLst>
              <a:gd name="adj" fmla="val 45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077200" y="200977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末轮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077200" y="22669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B6B28"/>
                </a:solidFill>
                <a:latin typeface="Microsoft YaHei"/>
                <a:ea typeface="Microsoft YaHei"/>
              </a:rPr>
              <a:t>Step76 · 10:15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077200" y="2619375"/>
            <a:ext cx="2933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末轮对象提交答复；本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预定窗口到此结束。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14097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22098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30099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38100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6101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54102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2103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70104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78105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86106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94107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102108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11010900" y="3562350"/>
            <a:ext cx="5715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09600" y="3676650"/>
            <a:ext cx="109728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0100" y="4038600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虚线之外：目标人物下一轮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不在预定窗口内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0100" y="4295775"/>
            <a:ext cx="10591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对象在末轮答复，人物的下一轮已在窗口之外。要同时记录「对象已响应」和「窗口内尚无人物接收／确认事实」，不能把窗口外的确认补算成窗口内闭环。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09600" y="49911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00100" y="526732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三种时间要分别标注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00100" y="5514975"/>
            <a:ext cx="10591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虚拟时间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模型耗时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含暂停的墙钟时间。内存与最新状态会变化，播放顺畅不能替代核查。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notes={`边界一旦松动，结论就悄悄换了一个，所以有五种拼接方式要明确拒绝。&#10;&#10;第一，Step 边界。同一 Run、同一已提交边界，不能拿第 50 步的位置配第 51 步的回复，却声称第 50 步已经闭环。第二，业务窗口。只取本案 76 步范围，不能拿更长实验的后续事实来补算。第三，对象响应。第 76 步提交答复，我们记录的是「对象已响应」，不能直接当成人物已在窗口内收到并确认。第四，历史知识。要用对应的提交事实与一致性取材，不能把后来追加的记忆当成角色早就知道。第五，恢复过程。要合并全部 Attempt，唯一事实只计一次，不能恢复前后重复计数，也不能只挑末次 Attempt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3　保持相同的取材边界&lt;/Text&gt;&#10;            &lt;Text style={{ fontSize: 34, fontWeight: 'bold', color: '#20344B' }}&gt;五种拼接方式不能接受&lt;/Text&gt;&#10;        &lt;/Box&gt;&#10;    &lt;/Box&gt;&#10;&#10;    &lt;Box style={{ height: 540, flexDirection: 'row', alignItems: 'center', gap: 24 }}&gt;&#10;&#10;        &lt;Box style={{ width: 440, flexDirection: 'column', justifyContent: 'center', gap: 12 }}&gt;&#10;            &lt;Text style={{ fontSize: 20, fontWeight: 'bold', color: '#20344B' }}&gt;边界一松，结论就换了&lt;/Text&gt;&#10;            &lt;Text style={{ fontSize: 16, color: '#546779', lineHeight: 1.7, width: 440 }}&gt;每一种拼接单看都不显眼，合起来却会把「窗口内没发生」写成「窗口内已经完成」。&lt;/Text&gt;&#10;            &lt;Box style={{ width: 440, height: 140, background: '#FFF4E6', borderRadius: 10, padding: '14px 16px', flexDirection: 'column', gap: 6, justifyContent: 'center' }}&gt;&#10;                &lt;Text style={{ fontSize: 16, fontWeight: 'bold', color: '#CB6B28' }}&gt;同时写两句话&lt;/Text&gt;&#10;                &lt;Text style={{ fontSize: 14, color: '#546779', lineHeight: 1.5 }}&gt;「对象已响应」与「窗口内尚无人物接收／确认事实」，缺一句都会读偏。&lt;/Text&gt;&#10;            &lt;/Box&gt;&#10;            &lt;Box style={{ width: 440, height: 120, background: '#ECF7F2', borderRadius: 10, padding: '14px 16px', flexDirection: 'column', gap: 6, justifyContent: 'center' }}&gt;&#10;                &lt;Text style={{ fontSize: 16, fontWeight: 'bold', color: '#26816B' }}&gt;唯一事实只计一次&lt;/Text&gt;&#10;                &lt;Text style={{ fontSize: 14, color: '#546779', lineHeight: 1.5 }}&gt;恢复过程要合并全部 Attempt，不能只取末次成功的那一次。&lt;/Text&gt;&#10;            &lt;/Box&gt;&#10;        &lt;/Box&gt;&#10;&#10;        &lt;Box style={{ width: 688, flexDirection: 'column', justifyContent: 'center', gap: 8 }}&gt;&#10;&#10;            &lt;Box style={{ width: 688, height: 94, background: '#F4F7FA', borderRadius: 10, padding: '10px 16px', flexDirection: 'row', alignItems: 'center', gap: 12 }}&gt;&#10;                &lt;Box style={{ width: 4, height: 72, background: '#276FBF' }} /&gt;&#10;                &lt;Box style={{ width: 640, flexDirection: 'column', gap: 4, justifyContent: 'center' }}&gt;&#10;                    &lt;Text style={{ fontSize: 16, fontWeight: 'bold', color: '#20344B' }}&gt;Step 边界&lt;/Text&gt;&#10;                    &lt;Text style={{ fontSize: 14, color: '#546779' }}&gt;正确做法：同一 Run、同一已提交边界&lt;/Text&gt;&#10;                    &lt;Text style={{ fontSize: 14, color: '#CB6B28' }}&gt;不能：第 50 步位置配第 51 步回复，声称第 50 步闭环&lt;/Text&gt;&#10;                &lt;/Box&gt;&#10;            &lt;/Box&gt;&#10;&#10;            &lt;Box style={{ width: 688, height: 94, background: '#F4F7FA', borderRadius: 10, padding: '10px 16px', flexDirection: 'row', alignItems: 'center', gap: 12 }}&gt;&#10;                &lt;Box style={{ width: 4, height: 72, background: '#276FBF' }} /&gt;&#10;                &lt;Box style={{ width: 640, flexDirection: 'column', gap: 4, justifyContent: 'center' }}&gt;&#10;                    &lt;Text style={{ fontSize: 16, fontWeight: 'bold', color: '#20344B' }}&gt;业务窗口&lt;/Text&gt;&#10;                    &lt;Text style={{ fontSize: 14, color: '#546779' }}&gt;正确做法：只取本案 76 步范围&lt;/Text&gt;&#10;                    &lt;Text style={{ fontSize: 14, color: '#CB6B28' }}&gt;不能：用更长实验的后续事实补算&lt;/Text&gt;&#10;                &lt;/Box&gt;&#10;            &lt;/Box&gt;&#10;&#10;            &lt;Box style={{ width: 688, height: 94, background: '#F4F7FA', borderRadius: 10, padding: '10px 16px', flexDirection: 'row', alignItems: 'center', gap: 12 }}&gt;&#10;                &lt;Box style={{ width: 4, height: 72, background: '#276FBF' }} /&gt;&#10;                &lt;Box style={{ width: 640, flexDirection: 'column', gap: 4, justifyContent: 'center' }}&gt;&#10;                    &lt;Text style={{ fontSize: 16, fontWeight: 'bold', color: '#20344B' }}&gt;对象响应&lt;/Text&gt;&#10;                    &lt;Text style={{ fontSize: 14, color: '#546779' }}&gt;正确做法：记录「第 76 步提交答复，对象已响应」&lt;/Text&gt;&#10;                    &lt;Text style={{ fontSize: 14, color: '#CB6B28' }}&gt;不能：当作人物已在窗口内收到并确认&lt;/Text&gt;&#10;                &lt;/Box&gt;&#10;            &lt;/Box&gt;&#10;&#10;            &lt;Box style={{ width: 688, height: 94, background: '#F4F7FA', borderRadius: 10, padding: '10px 16px', flexDirection: 'row', alignItems: 'center', gap: 12 }}&gt;&#10;                &lt;Box style={{ width: 4, height: 72, background: '#276FBF' }} /&gt;&#10;                &lt;Box style={{ width: 640, flexDirection: 'column', gap: 4, justifyContent: 'center' }}&gt;&#10;                    &lt;Text style={{ fontSize: 16, fontWeight: 'bold', color: '#20344B' }}&gt;历史知识&lt;/Text&gt;&#10;                    &lt;Text style={{ fontSize: 14, color: '#546779' }}&gt;正确做法：使用对应提交事实与一致性取材&lt;/Text&gt;&#10;                    &lt;Text style={{ fontSize: 14, color: '#CB6B28' }}&gt;不能：把后来追加的记忆当成早已知道&lt;/Text&gt;&#10;                &lt;/Box&gt;&#10;            &lt;/Box&gt;&#10;&#10;            &lt;Box style={{ width: 688, height: 94, background: '#F4F7FA', borderRadius: 10, padding: '10px 16px', flexDirection: 'row', alignItems: 'center', gap: 12 }}&gt;&#10;                &lt;Box style={{ width: 4, height: 72, background: '#276FBF' }} /&gt;&#10;                &lt;Box style={{ width: 640, flexDirection: 'column', gap: 4, justifyContent: 'center' }}&gt;&#10;                    &lt;Text style={{ fontSize: 16, fontWeight: 'bold', color: '#20344B' }}&gt;恢复过程&lt;/Text&gt;&#10;                    &lt;Text style={{ fontSize: 14, color: '#546779' }}&gt;正确做法：合并全部 Attempt，唯一事实计一次&lt;/Text&gt;&#10;                    &lt;Text style={{ fontSize: 14, color: '#CB6B28' }}&gt;不能：恢复前后重复计数，或只选末次 Attempt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保持相同的取材边界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五种拼接方式不能接受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边界一松，结论就换了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4191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每一种拼接单看都不显眼，合起来却会把「窗口内没发生」写成「窗口内已经完成」。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" y="2962275"/>
            <a:ext cx="41910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62000" y="32670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同时写两句话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62000" y="3514725"/>
            <a:ext cx="3886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「对象已响应」与「窗口内尚无人物接收／确认事实」，缺一句都会读偏。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4410075"/>
            <a:ext cx="41910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62000" y="473392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唯一事实只计一次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62000" y="4981575"/>
            <a:ext cx="3886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恢复过程要合并全部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，不能只取末次成功的那一次。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029200" y="1323975"/>
            <a:ext cx="65532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5181600" y="14287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334000" y="1476375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334000" y="170497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正确做法：同一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、同一已提交边界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334000" y="190500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不能：第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步位置配第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51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步回复，声称第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步闭环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029200" y="2295525"/>
            <a:ext cx="65532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5181600" y="240030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334000" y="2447925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业务窗口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334000" y="267652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正确做法：只取本案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步范围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334000" y="287655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不能：用更长实验的后续事实补算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5029200" y="3267075"/>
            <a:ext cx="65532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5181600" y="33718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334000" y="3419475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对象响应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334000" y="364807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正确做法：记录「第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步提交答复，对象已响应」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334000" y="384810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不能：当作人物已在窗口内收到并确认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029200" y="4238625"/>
            <a:ext cx="65532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5181600" y="434340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334000" y="4391025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历史知识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334000" y="461962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正确做法：使用对应提交事实与一致性取材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334000" y="481965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不能：把后来追加的记忆当成早已知道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029200" y="5210175"/>
            <a:ext cx="655320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5181600" y="53149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334000" y="5362575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恢复过程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334000" y="559117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正确做法：合并全部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，唯一事实计一次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334000" y="579120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不能：恢复前后重复计数，或只选末次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83" name="" descr="&lt;Slide notes={`到了这一步，我们要把叙述里那些听起来像「完成」的句子拆开。&#10;&#10;「已收到建议」这四个字，在报告里读起来很圆满。可它究竟是一条已经发生的事实，还是人物在对话里的一句客气话？这两种情况的分量完全不同，而写在同一行字里，读者根本分不出来。&#10;&#10;拆的办法只有一个：逐项追问它缺哪一环。缺来源，就写来源待补；缺适配性，就说明建议是否对得上具体任务；缺接收事实，就明确写接收未记录。&#10;&#10;这中间有一层要特别注意。很多句子并不是假的，它们只是不够。承认「不够」比强行补完更专业，因为前者别人可以继续查，后者会误导下一轮判断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6　证据与可复核成果&lt;/Text&gt;&#10;            &lt;Text style={{ fontSize: 34, fontWeight: 'bold', color: '#20344B' }}&gt;知识块 ③&lt;/Text&gt;&#10;        &lt;/Box&gt;&#10;    &lt;/Box&gt;&#10;&#10;    &lt;Box style={{ height: 540, flexDirection: 'column', justifyContent: 'center', gap: 14 }}&gt;&#10;&#10;        &lt;Text style={{ fontSize: 96, fontWeight: 'bold', color: '#276FBF', lineHeight: 1.0 }}&gt;③&lt;/Text&gt;&#10;&#10;        &lt;Text style={{ fontSize: 56, fontWeight: 'bold', color: '#20344B', lineHeight: 1.15 }}&gt;把叙述中的「完成」拆开验证&lt;/Text&gt;&#10;&#10;        &lt;Box style={{ width: 72, height: 4, background: '#276FBF' }} /&gt;&#10;&#10;        &lt;Text style={{ fontSize: 18, color: '#546779', lineHeight: 1.7, width: 980 }}&gt;「已收到」「办理好了」都是文字，不是事实。文字能说明什么、还缺哪一环，要逐句分开看。&lt;/Text&gt;&#10;&#10;        &lt;Box style={{ width: 1152, height: 72, background: '#EDF4FC', borderRadius: 10, padding: '0 22px', flexDirection: 'row', alignItems: 'center', gap: 18 }}&gt;&#10;            &lt;Text style={{ fontSize: 20, fontWeight: 'bold', color: '#276FBF', width: 150 }}&gt;文字声称&lt;/Text&gt;&#10;            &lt;Text style={{ fontSize: 16, color: '#20344B', width: 950 }}&gt;「已收到建议」「我已经办理好了」—— 读起来很圆满，但它只是一句话。&lt;/Text&gt;&#10;        &lt;/Box&gt;&#10;&#10;        &lt;Box style={{ width: 1152, height: 40, justifyContent: 'center', alignItems: 'center' }}&gt;&#10;            &lt;Text style={{ fontSize: 22, color: '#CB6B28' }}&gt;↓&lt;/Text&gt;&#10;        &lt;/Box&gt;&#10;&#10;        &lt;Box style={{ width: 1152, height: 96, background: '#FFF4E6', borderRadius: 10, padding: '0 22px', flexDirection: 'row', alignItems: 'center', gap: 18 }}&gt;&#10;            &lt;Text style={{ fontSize: 20, fontWeight: 'bold', color: '#CB6B28', width: 150 }}&gt;逐项追问&lt;/Text&gt;&#10;            &lt;Text style={{ fontSize: 16, color: '#546779', width: 950 }}&gt;来源在哪一条记录、建议是否对得上真实需求、有没有人真正接收并确认。&lt;/Text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证据与可复核成果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24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120967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24479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把叙述中的「完成」拆开验证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33242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3495675"/>
            <a:ext cx="9334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「已收到」「办理好了」都是文字，不是事实。文字能说明什么、还缺哪一环，要逐句分开看。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39814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19150" y="4210050"/>
            <a:ext cx="141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文字声称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2409825" y="4229100"/>
            <a:ext cx="896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「已收到建议」「我已经办理好了」——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读起来很圆满，但它只是一句话。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48375" y="48672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53149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19150" y="5657850"/>
            <a:ext cx="141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逐项追问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2409825" y="5676900"/>
            <a:ext cx="896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来源在哪一条记录、建议是否对得上真实需求、有没有人真正接收并确认。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01" name="" descr="&lt;Slide notes={`五种表述我逐个说，因为它们看起来都很像结论。&#10;&#10;world-act 返回 accepted，能说明的是该请求被接受了，还缺的是对象处理、响应提交和人物下一轮接收。余真说「周澈明白了」，能说明余真说过这句话，还缺周澈自己的真实双人 SPEAK 或后续交互。一张「准备前往 A 窗口」的便签，说明的是动作前的计划，还缺下一轮的坐标确认抵达和窗口的实际答复。&#10;&#10;「已收到建议」说明有一条接收主张，还缺来源，以及建议是否适配具体任务。最后，「我已经办理好了」只是人物的总结。本案只做咨询，没有行政审批和实际维修机制，所以这句话不能用来认定审批或维修已经完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4　把叙述中的「完成」拆开验证&lt;/Text&gt;&#10;            &lt;Text style={{ fontSize: 34, fontWeight: 'bold', color: '#20344B' }}&gt;五句话，各自还缺什么&lt;/Text&gt;&#10;        &lt;/Box&gt;&#10;    &lt;/Box&gt;&#10;&#10;    &lt;Box style={{ height: 540, flexDirection: 'column', justifyContent: 'center', gap: 12 }}&gt;&#10;&#10;        &lt;Text style={{ fontSize: 16, fontWeight: 'bold', color: '#20344B' }}&gt;五种常见表述，逐条拆开看它到底证明了什么&lt;/Text&gt;&#10;&#10;        &lt;Box style={{ flexDirection: 'row', gap: 24 }}&gt;&#10;&#10;            &lt;Box style={{ width: 520, flexDirection: 'column', gap: 8 }}&gt;&#10;&#10;                &lt;Box style={{ width: 520, height: 84, background: '#F4F7FA', borderRadius: 10, padding: '10px 14px', flexDirection: 'row', alignItems: 'center', gap: 12 }}&gt;&#10;                    &lt;Box style={{ width: 4, height: 60, background: '#546779' }} /&gt;&#10;                    &lt;Box style={{ width: 476, flexDirection: 'column', gap: 4, justifyContent: 'center' }}&gt;&#10;                        &lt;Text style={{ fontSize: 13, color: '#546779' }}&gt;世界动作返回&lt;/Text&gt;&#10;                        &lt;Text style={{ fontSize: 15, fontWeight: 'bold', color: '#20344B' }}&gt;world-act 返回 accepted&lt;/Text&gt;&#10;                    &lt;/Box&gt;&#10;                &lt;/Box&gt;&#10;&#10;                &lt;Box style={{ width: 520, height: 84, background: '#F4F7FA', borderRadius: 10, padding: '10px 14px', flexDirection: 'row', alignItems: 'center', gap: 12 }}&gt;&#10;                    &lt;Box style={{ width: 4, height: 60, background: '#546779' }} /&gt;&#10;                    &lt;Box style={{ width: 476, flexDirection: 'column', gap: 4, justifyContent: 'center' }}&gt;&#10;                        &lt;Text style={{ fontSize: 13, color: '#546779' }}&gt;人物发言&lt;/Text&gt;&#10;                        &lt;Text style={{ fontSize: 15, fontWeight: 'bold', color: '#20344B' }}&gt;余真说「周澈明白了」&lt;/Text&gt;&#10;                    &lt;/Box&gt;&#10;                &lt;/Box&gt;&#10;&#10;                &lt;Box style={{ width: 520, height: 84, background: '#F4F7FA', borderRadius: 10, padding: '10px 14px', flexDirection: 'row', alignItems: 'center', gap: 12 }}&gt;&#10;                    &lt;Box style={{ width: 4, height: 60, background: '#546779' }} /&gt;&#10;                    &lt;Box style={{ width: 476, flexDirection: 'column', gap: 4, justifyContent: 'center' }}&gt;&#10;                        &lt;Text style={{ fontSize: 13, color: '#546779' }}&gt;动作前的便签&lt;/Text&gt;&#10;                        &lt;Text style={{ fontSize: 15, fontWeight: 'bold', color: '#20344B' }}&gt;「准备前往 A 窗口」&lt;/Text&gt;&#10;                    &lt;/Box&gt;&#10;                &lt;/Box&gt;&#10;&#10;                &lt;Box style={{ width: 520, height: 84, background: '#F4F7FA', borderRadius: 10, padding: '10px 14px', flexDirection: 'row', alignItems: 'center', gap: 12 }}&gt;&#10;                    &lt;Box style={{ width: 4, height: 60, background: '#546779' }} /&gt;&#10;                    &lt;Box style={{ width: 476, flexDirection: 'column', gap: 4, justifyContent: 'center' }}&gt;&#10;                        &lt;Text style={{ fontSize: 13, color: '#546779' }}&gt;接收主张&lt;/Text&gt;&#10;                        &lt;Text style={{ fontSize: 15, fontWeight: 'bold', color: '#20344B' }}&gt;「已收到建议」&lt;/Text&gt;&#10;                    &lt;/Box&gt;&#10;                &lt;/Box&gt;&#10;&#10;                &lt;Box style={{ width: 520, height: 84, background: '#F4F7FA', borderRadius: 10, padding: '10px 14px', flexDirection: 'row', alignItems: 'center', gap: 12 }}&gt;&#10;                    &lt;Box style={{ width: 4, height: 60, background: '#546779' }} /&gt;&#10;                    &lt;Box style={{ width: 476, flexDirection: 'column', gap: 4, justifyContent: 'center' }}&gt;&#10;                        &lt;Text style={{ fontSize: 13, color: '#546779' }}&gt;人物总结&lt;/Text&gt;&#10;                        &lt;Text style={{ fontSize: 15, fontWeight: 'bold', color: '#20344B' }}&gt;「我已经办理好了」&lt;/Text&gt;&#10;                    &lt;/Box&gt;&#10;                &lt;/Box&gt;&#10;&#10;            &lt;/Box&gt;&#10;&#10;            &lt;Box style={{ width: 608, flexDirection: 'column', gap: 8 }}&gt;&#10;&#10;                &lt;Box style={{ width: 608, height: 84, background: '#FFFFFF', borderRadius: 10, padding: '10px 14px', flexDirection: 'row', alignItems: 'center', gap: 12 }}&gt;&#10;                    &lt;Box style={{ width: 4, height: 60, background: '#276FBF' }} /&gt;&#10;                    &lt;Box style={{ width: 564, flexDirection: 'column', gap: 4, justifyContent: 'center' }}&gt;&#10;                        &lt;Text style={{ fontSize: 14, color: '#546779' }}&gt;能说明：该请求被接受&lt;/Text&gt;&#10;                        &lt;Text style={{ fontSize: 14, color: '#CB6B28' }}&gt;还缺：对象处理 · 响应提交 · 人物下一轮接收&lt;/Text&gt;&#10;                    &lt;/Box&gt;&#10;                &lt;/Box&gt;&#10;&#10;                &lt;Box style={{ width: 608, height: 84, background: '#FFFFFF', borderRadius: 10, padding: '10px 14px', flexDirection: 'row', alignItems: 'center', gap: 12 }}&gt;&#10;                    &lt;Box style={{ width: 4, height: 60, background: '#276FBF' }} /&gt;&#10;                    &lt;Box style={{ width: 564, flexDirection: 'column', gap: 4, justifyContent: 'center' }}&gt;&#10;                        &lt;Text style={{ fontSize: 14, color: '#546779' }}&gt;能说明：余真说了这句话&lt;/Text&gt;&#10;                        &lt;Text style={{ fontSize: 14, color: '#CB6B28' }}&gt;还缺：周澈自己的真实双人 SPEAK 或后续交互&lt;/Text&gt;&#10;                    &lt;/Box&gt;&#10;                &lt;/Box&gt;&#10;&#10;                &lt;Box style={{ width: 608, height: 84, background: '#FFFFFF', borderRadius: 10, padding: '10px 14px', flexDirection: 'row', alignItems: 'center', gap: 12 }}&gt;&#10;                    &lt;Box style={{ width: 4, height: 60, background: '#276FBF' }} /&gt;&#10;                    &lt;Box style={{ width: 564, flexDirection: 'column', gap: 4, justifyContent: 'center' }}&gt;&#10;                        &lt;Text style={{ fontSize: 14, color: '#546779' }}&gt;能说明：动作前的计划&lt;/Text&gt;&#10;                        &lt;Text style={{ fontSize: 14, color: '#CB6B28' }}&gt;还缺：下轮坐标确认抵达 · 窗口实际答复&lt;/Text&gt;&#10;                    &lt;/Box&gt;&#10;                &lt;/Box&gt;&#10;&#10;                &lt;Box style={{ width: 608, height: 84, background: '#FFFFFF', borderRadius: 10, padding: '10px 14px', flexDirection: 'row', alignItems: 'center', gap: 12 }}&gt;&#10;                    &lt;Box style={{ width: 4, height: 60, background: '#276FBF' }} /&gt;&#10;                    &lt;Box style={{ width: 564, flexDirection: 'column', gap: 4, justifyContent: 'center' }}&gt;&#10;                        &lt;Text style={{ fontSize: 14, color: '#546779' }}&gt;能说明：有一条接收主张&lt;/Text&gt;&#10;                        &lt;Text style={{ fontSize: 14, color: '#CB6B28' }}&gt;还缺：来源 · 建议是否适配具体任务&lt;/Text&gt;&#10;                    &lt;/Box&gt;&#10;                &lt;/Box&gt;&#10;&#10;                &lt;Box style={{ width: 608, height: 84, background: '#FFFFFF', borderRadius: 10, padding: '10px 14px', flexDirection: 'row', alignItems: 'center', gap: 12 }}&gt;&#10;                    &lt;Box style={{ width: 4, height: 60, background: '#CB6B28' }} /&gt;&#10;                    &lt;Box style={{ width: 564, flexDirection: 'column', gap: 4, justifyContent: 'center' }}&gt;&#10;                        &lt;Text style={{ fontSize: 14, color: '#546779' }}&gt;能说明：人物的总结&lt;/Text&gt;&#10;                        &lt;Text style={{ fontSize: 14, color: '#CB6B28' }}&gt;还缺：本案只咨询，不能据此认定审批或维修完成&lt;/Text&gt;&#10;                    &lt;/Box&gt;&#10;                &lt;/Box&gt;&#10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把叙述中的「完成」拆开验证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五句话，各自还缺什么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五种常见表述，逐条拆开看它到底证明了什么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1714500"/>
            <a:ext cx="4953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742950" y="1828800"/>
            <a:ext cx="38100" cy="5715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95350" y="193357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世界动作返回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95350" y="212407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world-act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返回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accepted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2590800"/>
            <a:ext cx="4953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742950" y="2705100"/>
            <a:ext cx="38100" cy="5715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95350" y="280987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人物发言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95350" y="300037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余真说「周澈明白了」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3467100"/>
            <a:ext cx="4953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742950" y="3581400"/>
            <a:ext cx="38100" cy="5715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95350" y="368617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动作前的便签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95350" y="387667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「准备前往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窗口」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4343400"/>
            <a:ext cx="4953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742950" y="4457700"/>
            <a:ext cx="38100" cy="5715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95350" y="456247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接收主张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95350" y="475297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「已收到建议」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5219700"/>
            <a:ext cx="4953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742950" y="5334000"/>
            <a:ext cx="38100" cy="5715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95350" y="543877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人物总结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95350" y="562927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「我已经办理好了」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791200" y="1714500"/>
            <a:ext cx="57912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5924550" y="18288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76950" y="19335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能说明：该请求被接受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076950" y="213360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还缺：对象处理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响应提交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人物下一轮接收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791200" y="2590800"/>
            <a:ext cx="57912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5924550" y="27051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76950" y="28098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能说明：余真说了这句话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76950" y="300990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还缺：周澈自己的真实双人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或后续交互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791200" y="3467100"/>
            <a:ext cx="57912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5924550" y="35814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76950" y="36861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能说明：动作前的计划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76950" y="388620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还缺：下轮坐标确认抵达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窗口实际答复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5791200" y="4343400"/>
            <a:ext cx="57912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5924550" y="44577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76950" y="45624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能说明：有一条接收主张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76950" y="476250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还缺：来源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建议是否适配具体任务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5791200" y="5219700"/>
            <a:ext cx="57912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5924550" y="53340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76950" y="5438775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能说明：人物的总结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076950" y="563880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还缺：本案只咨询，不能据此认定审批或维修完成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49" name="" descr="&lt;Slide notes={`要把「完成」这件事说准，得接受一个有点别扭的结论：两句话可以同时成立。&#10;&#10;本案可以报告的业务成果是「获得适配说明并确认下一步」。请注意这个措辞的边界 —— 它不包括行政审批，也不包括实际维修，这个项目根本没有这两套机制。&#10;&#10;第四章的人工题里，H2 已经有适配入口建议，也已经抵达 A 服务区。但它没有目标窗口的回复，也没有完成确认。所以「首次有效回应已发生」和「尚未闭环」两句话都是真的，同时写出来并不矛盾。&#10;&#10;还有一条底线：人工材料没有真实事件 ID。我们不补造编号，也不用截图代替身份。缺口就留在那里，写明它是缺口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4　把叙述中的「完成」拆开验证&lt;/Text&gt;&#10;            &lt;Text style={{ fontSize: 34, fontWeight: 'bold', color: '#20344B' }}&gt;一个成果，两种状态同时成立&lt;/Text&gt;&#10;        &lt;/Box&gt;&#10;    &lt;/Box&gt;&#10;&#10;    &lt;Box style={{ height: 540, flexDirection: 'row', alignItems: 'center', gap: 32 }}&gt;&#10;&#10;        &lt;Box style={{ width: 460, flexDirection: 'column', gap: 12 }}&gt;&#10;            &lt;Text style={{ fontSize: 22, fontWeight: 'bold', color: '#20344B' }}&gt;把成果的边界写清楚&lt;/Text&gt;&#10;            &lt;Text style={{ fontSize: 16, color: '#546779', lineHeight: 1.7, width: 460 }}&gt;报告里最容易走偏的一步，是把「获得了说明」读成「问题已经解决」。&lt;/Text&gt;&#10;            &lt;Box style={{ width: 460, height: 156, background: '#ECF7F2', borderRadius: 10, padding: '16px 18px', flexDirection: 'column', gap: 8, justifyContent: 'center' }}&gt;&#10;                &lt;Text style={{ fontSize: 17, fontWeight: 'bold', color: '#26816B' }}&gt;本案可报告的业务成果&lt;/Text&gt;&#10;                &lt;Text style={{ fontSize: 16, color: '#20344B', lineHeight: 1.5, width: 424 }}&gt;获得适配说明并确认下一步。&lt;/Text&gt;&#10;                &lt;Text style={{ fontSize: 14, color: '#546779', lineHeight: 1.5, width: 424 }}&gt;这是它成立的全部内容，多一点都没有。&lt;/Text&gt;&#10;            &lt;/Box&gt;&#10;            &lt;Box style={{ width: 460, height: 136, background: '#FFF4E6', borderRadius: 10, padding: '16px 18px', flexDirection: 'column', gap: 8, justifyContent: 'center' }}&gt;&#10;                &lt;Text style={{ fontSize: 17, fontWeight: 'bold', color: '#CB6B28' }}&gt;它不包括什么&lt;/Text&gt;&#10;                &lt;Text style={{ fontSize: 15, color: '#546779', lineHeight: 1.5, width: 424 }}&gt;本项目没有行政审批和实际维修机制，不能据此认定审批或维修已完成。&lt;/Text&gt;&#10;            &lt;/Box&gt;&#10;        &lt;/Box&gt;&#10;&#10;        &lt;Box style={{ width: 660, flexDirection: 'column', justifyContent: 'center', gap: 12 }}&gt;&#10;&#10;            &lt;Box style={{ width: 660, height: 120, background: '#EDF4FC', borderRadius: 10, padding: '14px 18px', flexDirection: 'column', gap: 6, justifyContent: 'center' }}&gt;&#10;                &lt;Text style={{ fontSize: 17, fontWeight: 'bold', color: '#276FBF' }}&gt;H2 已经做到的&lt;/Text&gt;&#10;                &lt;Text style={{ fontSize: 15, color: '#546779', lineHeight: 1.5, width: 624 }}&gt;适配入口建议 · 已抵达 A 服务区&lt;/Text&gt;&#10;            &lt;/Box&gt;&#10;&#10;            &lt;Box style={{ width: 660, height: 120, background: '#FFF4E6', borderRadius: 10, padding: '14px 18px', flexDirection: 'column', gap: 6, justifyContent: 'center' }}&gt;&#10;                &lt;Text style={{ fontSize: 17, fontWeight: 'bold', color: '#CB6B28' }}&gt;H2 还缺的&lt;/Text&gt;&#10;                &lt;Text style={{ fontSize: 15, color: '#546779', lineHeight: 1.5, width: 624 }}&gt;目标窗口回复 · 完成确认&lt;/Text&gt;&#10;            &lt;/Box&gt;&#10;&#10;            &lt;Box style={{ width: 660, height: 120, background: '#F7F3E8', borderRadius: 10, padding: '14px 18px', flexDirection: 'column', gap: 6, justifyContent: 'center' }}&gt;&#10;                &lt;Text style={{ fontSize: 17, fontWeight: 'bold', color: '#20344B' }}&gt;所以两句话同时成立&lt;/Text&gt;&#10;                &lt;Text style={{ fontSize: 15, color: '#546779', lineHeight: 1.5, width: 624 }}&gt;「首次有效回应已发生」＋「尚未闭环」&lt;/Text&gt;&#10;            &lt;/Box&gt;&#10;&#10;            &lt;Box style={{ width: 660, height: 104, background: '#ECF7F2', borderRadius: 10, padding: '14px 18px', flexDirection: 'column', gap: 6, justifyContent: 'center' }}&gt;&#10;                &lt;Text style={{ fontSize: 17, fontWeight: 'bold', color: '#26816B' }}&gt;不补造身份&lt;/Text&gt;&#10;                &lt;Text style={{ fontSize: 15, color: '#546779', lineHeight: 1.5, width: 624 }}&gt;人工材料没有真实事件 ID，不补造编号，也不用截图代替身份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把叙述中的「完成」拆开验证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一个成果，两种状态同时成立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把成果的边界写清楚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4381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报告里最容易走偏的一步，是把「获得了说明」读成「问题已经解决」。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2828925"/>
            <a:ext cx="4381500" cy="1485900"/>
          </a:xfrm>
          <a:prstGeom prst="roundRect">
            <a:avLst>
              <a:gd name="adj" fmla="val 641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81050" y="31337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本案可报告的业务成果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81050" y="3409950"/>
            <a:ext cx="4038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获得适配说明并确认下一步。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81050" y="3762375"/>
            <a:ext cx="4038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这是它成立的全部内容，多一点都没有。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4429125"/>
            <a:ext cx="4381500" cy="1295400"/>
          </a:xfrm>
          <a:prstGeom prst="roundRect">
            <a:avLst>
              <a:gd name="adj" fmla="val 735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81050" y="4686300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它不包括什么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81050" y="4962525"/>
            <a:ext cx="4038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本项目没有行政审批和实际维修机制，不能据此认定审批或维修已完成。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295900" y="1333500"/>
            <a:ext cx="62865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467350" y="1647825"/>
            <a:ext cx="594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已经做到的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467350" y="1905000"/>
            <a:ext cx="594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适配入口建议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已抵达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5295900" y="2590800"/>
            <a:ext cx="62865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467350" y="2905125"/>
            <a:ext cx="594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还缺的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467350" y="3162300"/>
            <a:ext cx="594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目标窗口回复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完成确认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295900" y="3848100"/>
            <a:ext cx="6286500" cy="11430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467350" y="4162425"/>
            <a:ext cx="594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所以两句话同时成立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467350" y="4419600"/>
            <a:ext cx="594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「首次有效回应已发生」＋「尚未闭环」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5295900" y="5105400"/>
            <a:ext cx="62865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467350" y="5343525"/>
            <a:ext cx="594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不补造身份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467350" y="5600700"/>
            <a:ext cx="594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人工材料没有真实事件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，不补造编号，也不用截图代替身份。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77" name="" descr="&lt;Slide notes={`有一次模型尝试失败了，没有提交世界动作，但它可能已经产生了费用。这就带出两本账。&#10;&#10;事实账回答的是「实际提交了什么」，采用范围是完整的已提交边界。失败且未提交的调用不会变成世界动作，恢复之后同一个事实也不重复计数。&#10;&#10;成本账回答的是「实际尝试了什么」，采用范围是全部相关 Attempt。失败未提交的调用仍然可能消耗调用次数，恢复之后各次的真实消耗要各自保留。&#10;&#10;两本账的记录范围不同，它们都不是实测账单，只是记账口径。最后一条底线：费用不靠人数乘步数伪造，缺少用量时明确写「未记录／无法核验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5　失败的成本不能随未提交事实一起消失&lt;/Text&gt;&#10;            &lt;Text style={{ fontSize: 34, fontWeight: 'bold', color: '#20344B' }}&gt;事实账与成本账&lt;/Text&gt;&#10;        &lt;/Box&gt;&#10;    &lt;/Box&gt;&#10;&#10;    &lt;Box style={{ height: 540, flexDirection: 'column', justifyContent: 'center', gap: 14 }}&gt;&#10;&#10;        &lt;Text style={{ fontSize: 16, fontWeight: 'bold', color: '#20344B' }}&gt;同一次失败，两本账的回答不同 —— 横向比较，不表示前后顺序&lt;/Text&gt;&#10;&#10;        &lt;Box style={{ flexDirection: 'row', gap: 24 }}&gt;&#10;&#10;            &lt;Box style={{ width: 564, flexDirection: 'column', gap: 8 }}&gt;&#10;                &lt;Text style={{ fontSize: 20, fontWeight: 'bold', color: '#276FBF' }}&gt;事实账&lt;/Text&gt;&#10;&#10;                &lt;Box style={{ width: 564, height: 74, background: '#EDF4FC', borderRadius: 10, padding: '8px 14px', flexDirection: 'row', alignItems: 'center', gap: 12 }}&gt;&#10;                    &lt;Box style={{ width: 4, height: 50, background: '#276FBF' }} /&gt;&#10;                    &lt;Box style={{ width: 520, flexDirection: 'column', gap: 3, justifyContent: 'center' }}&gt;&#10;                        &lt;Text style={{ fontSize: 16, fontWeight: 'bold', color: '#20344B' }}&gt;回答问题&lt;/Text&gt;&#10;                        &lt;Text style={{ fontSize: 14, color: '#546779' }}&gt;实际提交了什么&lt;/Text&gt;&#10;                    &lt;/Box&gt;&#10;                &lt;/Box&gt;&#10;&#10;                &lt;Box style={{ width: 564, height: 74, background: '#EDF4FC', borderRadius: 10, padding: '8px 14px', flexDirection: 'row', alignItems: 'center', gap: 12 }}&gt;&#10;                    &lt;Box style={{ width: 4, height: 50, background: '#276FBF' }} /&gt;&#10;                    &lt;Box style={{ width: 520, flexDirection: 'column', gap: 3, justifyContent: 'center' }}&gt;&#10;                        &lt;Text style={{ fontSize: 16, fontWeight: 'bold', color: '#20344B' }}&gt;采用范围&lt;/Text&gt;&#10;                        &lt;Text style={{ fontSize: 14, color: '#546779' }}&gt;完整已提交边界&lt;/Text&gt;&#10;                    &lt;/Box&gt;&#10;                &lt;/Box&gt;&#10;&#10;                &lt;Box style={{ width: 564, height: 74, background: '#EDF4FC', borderRadius: 10, padding: '8px 14px', flexDirection: 'row', alignItems: 'center', gap: 12 }}&gt;&#10;                    &lt;Box style={{ width: 4, height: 50, background: '#276FBF' }} /&gt;&#10;                    &lt;Box style={{ width: 520, flexDirection: 'column', gap: 3, justifyContent: 'center' }}&gt;&#10;                        &lt;Text style={{ fontSize: 16, fontWeight: 'bold', color: '#20344B' }}&gt;失败未提交&lt;/Text&gt;&#10;                        &lt;Text style={{ fontSize: 14, color: '#546779' }}&gt;不变成世界动作&lt;/Text&gt;&#10;                    &lt;/Box&gt;&#10;                &lt;/Box&gt;&#10;&#10;                &lt;Box style={{ width: 564, height: 74, background: '#EDF4FC', borderRadius: 10, padding: '8px 14px', flexDirection: 'row', alignItems: 'center', gap: 12 }}&gt;&#10;                    &lt;Box style={{ width: 4, height: 50, background: '#276FBF' }} /&gt;&#10;                    &lt;Box style={{ width: 520, flexDirection: 'column', gap: 3, justifyContent: 'center' }}&gt;&#10;                        &lt;Text style={{ fontSize: 16, fontWeight: 'bold', color: '#20344B' }}&gt;恢复后&lt;/Text&gt;&#10;                        &lt;Text style={{ fontSize: 14, color: '#546779' }}&gt;同事实不重复计数&lt;/Text&gt;&#10;                    &lt;/Box&gt;&#10;                &lt;/Box&gt;&#10;            &lt;/Box&gt;&#10;&#10;            &lt;Box style={{ width: 564, flexDirection: 'column', gap: 8 }}&gt;&#10;                &lt;Text style={{ fontSize: 20, fontWeight: 'bold', color: '#CB6B28' }}&gt;成本账&lt;/Text&gt;&#10;&#10;                &lt;Box style={{ width: 564, height: 74, background: '#FFF4E6', borderRadius: 10, padding: '8px 14px', flexDirection: 'row', alignItems: 'center', gap: 12 }}&gt;&#10;                    &lt;Box style={{ width: 4, height: 50, background: '#CB6B28' }} /&gt;&#10;                    &lt;Box style={{ width: 520, flexDirection: 'column', gap: 3, justifyContent: 'center' }}&gt;&#10;                        &lt;Text style={{ fontSize: 16, fontWeight: 'bold', color: '#20344B' }}&gt;回答问题&lt;/Text&gt;&#10;                        &lt;Text style={{ fontSize: 14, color: '#546779' }}&gt;实际尝试了什么&lt;/Text&gt;&#10;                    &lt;/Box&gt;&#10;                &lt;/Box&gt;&#10;&#10;                &lt;Box style={{ width: 564, height: 74, background: '#FFF4E6', borderRadius: 10, padding: '8px 14px', flexDirection: 'row', alignItems: 'center', gap: 12 }}&gt;&#10;                    &lt;Box style={{ width: 4, height: 50, background: '#CB6B28' }} /&gt;&#10;                    &lt;Box style={{ width: 520, flexDirection: 'column', gap: 3, justifyContent: 'center' }}&gt;&#10;                        &lt;Text style={{ fontSize: 16, fontWeight: 'bold', color: '#20344B' }}&gt;采用范围&lt;/Text&gt;&#10;                        &lt;Text style={{ fontSize: 14, color: '#546779' }}&gt;全部相关 Attempt&lt;/Text&gt;&#10;                    &lt;/Box&gt;&#10;                &lt;/Box&gt;&#10;&#10;                &lt;Box style={{ width: 564, height: 74, background: '#FFF4E6', borderRadius: 10, padding: '8px 14px', flexDirection: 'row', alignItems: 'center', gap: 12 }}&gt;&#10;                    &lt;Box style={{ width: 4, height: 50, background: '#CB6B28' }} /&gt;&#10;                    &lt;Box style={{ width: 520, flexDirection: 'column', gap: 3, justifyContent: 'center' }}&gt;&#10;                        &lt;Text style={{ fontSize: 16, fontWeight: 'bold', color: '#20344B' }}&gt;失败未提交&lt;/Text&gt;&#10;                        &lt;Text style={{ fontSize: 14, color: '#546779' }}&gt;仍可能消耗调用&lt;/Text&gt;&#10;                    &lt;/Box&gt;&#10;                &lt;/Box&gt;&#10;&#10;                &lt;Box style={{ width: 564, height: 74, background: '#FFF4E6', borderRadius: 10, padding: '8px 14px', flexDirection: 'row', alignItems: 'center', gap: 12 }}&gt;&#10;                    &lt;Box style={{ width: 4, height: 50, background: '#CB6B28' }} /&gt;&#10;                    &lt;Box style={{ width: 520, flexDirection: 'column', gap: 3, justifyContent: 'center' }}&gt;&#10;                        &lt;Text style={{ fontSize: 16, fontWeight: 'bold', color: '#20344B' }}&gt;恢复后&lt;/Text&gt;&#10;                        &lt;Text style={{ fontSize: 14, color: '#546779' }}&gt;各次真实消耗保留&lt;/Text&gt;&#10;                    &lt;/Box&gt;&#10;                &lt;/Box&gt;&#10;            &lt;/Box&gt;&#10;&#10;        &lt;/Box&gt;&#10;&#10;        &lt;Box style={{ width: 1152, height: 100, background: '#FFF4E6', borderRadius: 10, padding: '14px 20px', flexDirection: 'column', gap: 6, justifyContent: 'center' }}&gt;&#10;            &lt;Text style={{ fontSize: 17, fontWeight: 'bold', color: '#CB6B28' }}&gt;两者记录范围不同，都不是实测账单&lt;/Text&gt;&#10;            &lt;Text style={{ fontSize: 15, color: '#546779', lineHeight: 1.5, width: 1112 }}&gt;费用不靠人数乘步数伪造；缺少用量时明确记录「未记录／无法核验」。&lt;/Text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失败的成本不能随未提交事实一起消失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05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事实账与成本账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同一次失败，两本账的回答不同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横向比较，不表示前后顺序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事实账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1962150"/>
            <a:ext cx="53721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742950" y="2076450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95350" y="21240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回答问题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95350" y="23431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实际提交了什么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09600" y="2743200"/>
            <a:ext cx="53721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742950" y="2857500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95350" y="29051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采用范围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95350" y="312420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完整已提交边界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3524250"/>
            <a:ext cx="53721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742950" y="3638550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95350" y="36861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失败未提交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95350" y="39052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不变成世界动作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9600" y="4305300"/>
            <a:ext cx="537210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742950" y="4419600"/>
            <a:ext cx="38100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95350" y="44672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恢复后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95350" y="468630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同事实不重复计数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210300" y="16573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成本账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210300" y="1962150"/>
            <a:ext cx="53721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6343650" y="2076450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496050" y="21240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回答问题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496050" y="23431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实际尝试了什么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210300" y="2743200"/>
            <a:ext cx="53721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6343650" y="2857500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496050" y="29051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采用范围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496050" y="312420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全部相关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210300" y="3524250"/>
            <a:ext cx="53721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6343650" y="3638550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496050" y="36861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失败未提交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496050" y="39052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仍可能消耗调用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210300" y="4305300"/>
            <a:ext cx="53721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6343650" y="4419600"/>
            <a:ext cx="38100" cy="476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496050" y="44672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恢复后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496050" y="468630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各次真实消耗保留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09600" y="51435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00100" y="5362575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两者记录范围不同，都不是实测账单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00100" y="5619750"/>
            <a:ext cx="10591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费用不靠人数乘步数伪造；缺少用量时明确记录「未记录／无法核验」。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22" name="" descr="&lt;Slide notes={`成本账还有三条规则要守。&#10;&#10;第一，区分四层计量：参与者轮次、逻辑调用、物理尝试、工具调用。一次对象轮次可能调用模型多次，一次动作也可能回复多个请求，它不等于现实中的接待人数。第二，保留全部消耗。人物、引导员、对象的消耗都要留下；重试不是第二项业务任务，不能只计最终成功的物理请求。第三，原记录缺少 Token、费用或完整调用信息时，写「未记录／无法核验」，不用人数乘步数伪造账单。&#10;&#10;结果状态也要分开写：未完成就写明缺失环节，证据不足就保留待判断项，执行失败则另记执行状态与已提交范围。另外，要保留全部计划内 Run，不能靠反复重跑只挑成功样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5　失败的成本不能随未提交事实一起消失&lt;/Text&gt;&#10;            &lt;Text style={{ fontSize: 34, fontWeight: 'bold', color: '#20344B' }}&gt;成本账的三条规则&lt;/Text&gt;&#10;        &lt;/Box&gt;&#10;    &lt;/Box&gt;&#10;&#10;    &lt;Box style={{ height: 540, flexDirection: 'row', alignItems: 'center', gap: 24 }}&gt;&#10;&#10;        &lt;Box style={{ width: 440, flexDirection: 'column', justifyContent: 'center', gap: 12 }}&gt;&#10;            &lt;Text style={{ fontSize: 20, fontWeight: 'bold', color: '#20344B' }}&gt;成本账还须遵守三条规则&lt;/Text&gt;&#10;            &lt;Box style={{ width: 440, height: 116, background: '#EDF4FC', borderRadius: 10, padding: '14px 16px', flexDirection: 'column', gap: 6, justifyContent: 'center' }}&gt;&#10;                &lt;Text style={{ fontSize: 16, fontWeight: 'bold', color: '#276FBF' }}&gt;一 · 区分四层计量&lt;/Text&gt;&#10;                &lt;Text style={{ fontSize: 14, color: '#546779', lineHeight: 1.5, width: 408 }}&gt;参与者轮次 · 逻辑调用 · 物理尝试 · 工具调用。一次轮次可能调用模型多次。&lt;/Text&gt;&#10;            &lt;/Box&gt;&#10;            &lt;Box style={{ width: 440, height: 116, background: '#EDF4FC', borderRadius: 10, padding: '14px 16px', flexDirection: 'column', gap: 6, justifyContent: 'center' }}&gt;&#10;                &lt;Text style={{ fontSize: 16, fontWeight: 'bold', color: '#276FBF' }}&gt;二 · 保留全部消耗&lt;/Text&gt;&#10;                &lt;Text style={{ fontSize: 14, color: '#546779', lineHeight: 1.5, width: 408 }}&gt;人物、引导员与对象的消耗都保留；重试不是第二项业务任务。&lt;/Text&gt;&#10;            &lt;/Box&gt;&#10;            &lt;Box style={{ width: 440, height: 140, background: '#FFF4E6', borderRadius: 10, padding: '14px 16px', flexDirection: 'column', gap: 6, justifyContent: 'center' }}&gt;&#10;                &lt;Text style={{ fontSize: 16, fontWeight: 'bold', color: '#CB6B28' }}&gt;三 · 缺用量就写未记录&lt;/Text&gt;&#10;                &lt;Text style={{ fontSize: 14, color: '#546779', lineHeight: 1.5, width: 408 }}&gt;原记录缺 Token、费用或完整调用信息时写「未记录／无法核验」，不用人数乘步数伪造账单。&lt;/Text&gt;&#10;            &lt;/Box&gt;&#10;        &lt;/Box&gt;&#10;&#10;        &lt;Box style={{ width: 688, flexDirection: 'column', justifyContent: 'center', gap: 12 }}&gt;&#10;            &lt;Text style={{ fontSize: 20, fontWeight: 'bold', color: '#20344B' }}&gt;结果状态也要分开写&lt;/Text&gt;&#10;&#10;            &lt;Box style={{ width: 688, height: 140, background: '#F4F7FA', borderRadius: 10, padding: '14px 18px', flexDirection: 'row', alignItems: 'center', gap: 12 }}&gt;&#10;                &lt;Box style={{ width: 4, height: 112, background: '#CB6B28' }} /&gt;&#10;                &lt;Box style={{ width: 636, flexDirection: 'column', gap: 6, justifyContent: 'center' }}&gt;&#10;                    &lt;Text style={{ fontSize: 18, fontWeight: 'bold', color: '#CB6B28' }}&gt;未完成&lt;/Text&gt;&#10;                    &lt;Text style={{ fontSize: 14, color: '#546779' }}&gt;判断依据：有证据表明未形成闭环&lt;/Text&gt;&#10;                    &lt;Text style={{ fontSize: 14, color: '#546779' }}&gt;报告方式：写明缺失环节&lt;/Text&gt;&#10;                &lt;/Box&gt;&#10;            &lt;/Box&gt;&#10;&#10;            &lt;Box style={{ width: 688, height: 140, background: '#F4F7FA', borderRadius: 10, padding: '14px 18px', flexDirection: 'row', alignItems: 'center', gap: 12 }}&gt;&#10;                &lt;Box style={{ width: 4, height: 112, background: '#546779' }} /&gt;&#10;                &lt;Box style={{ width: 636, flexDirection: 'column', gap: 6, justifyContent: 'center' }}&gt;&#10;                    &lt;Text style={{ fontSize: 18, fontWeight: 'bold', color: '#20344B' }}&gt;证据不足&lt;/Text&gt;&#10;                    &lt;Text style={{ fontSize: 14, color: '#546779' }}&gt;判断依据：归档不足，无法判断&lt;/Text&gt;&#10;                    &lt;Text style={{ fontSize: 14, color: '#546779' }}&gt;报告方式：保留待判断项&lt;/Text&gt;&#10;                &lt;/Box&gt;&#10;            &lt;/Box&gt;&#10;&#10;            &lt;Box style={{ width: 688, height: 140, background: '#F4F7FA', borderRadius: 10, padding: '14px 18px', flexDirection: 'row', alignItems: 'center', gap: 12 }}&gt;&#10;                &lt;Box style={{ width: 4, height: 112, background: '#546779' }} /&gt;&#10;                &lt;Box style={{ width: 636, flexDirection: 'column', gap: 6, justifyContent: 'center' }}&gt;&#10;                    &lt;Text style={{ fontSize: 18, fontWeight: 'bold', color: '#20344B' }}&gt;执行失败&lt;/Text&gt;&#10;                    &lt;Text style={{ fontSize: 14, color: '#546779' }}&gt;判断依据：系统错误终止&lt;/Text&gt;&#10;                    &lt;Text style={{ fontSize: 14, color: '#546779' }}&gt;报告方式：另记执行状态与已提交范围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失败的成本不能随未提交事实一起消失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05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成本账的三条规则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成本账还须遵守三条规则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2000250"/>
            <a:ext cx="41910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62000" y="219075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区分四层计量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62000" y="2438400"/>
            <a:ext cx="3886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参与者轮次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逻辑调用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物理尝试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工具调用。一次轮次可能调用模型多次。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3219450"/>
            <a:ext cx="41910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62000" y="352425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二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保留全部消耗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62000" y="3771900"/>
            <a:ext cx="3886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人物、引导员与对象的消耗都保留；重试不是第二项业务任务。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4438650"/>
            <a:ext cx="41910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62000" y="474345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三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缺用量就写未记录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62000" y="4991100"/>
            <a:ext cx="3886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原记录缺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、费用或完整调用信息时写「未记录／无法核验」，不用人数乘步数伪造账单。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029200" y="1428750"/>
            <a:ext cx="655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结果状态也要分开写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5029200" y="1771650"/>
            <a:ext cx="65532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5200650" y="1905000"/>
            <a:ext cx="38100" cy="1066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353050" y="2114550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未完成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353050" y="2381250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判断依据：有证据表明未形成闭环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353050" y="2600325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报告方式：写明缺失环节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5029200" y="3219450"/>
            <a:ext cx="65532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5200650" y="3352800"/>
            <a:ext cx="38100" cy="10668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353050" y="3562350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证据不足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353050" y="3829050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判断依据：归档不足，无法判断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353050" y="4048125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报告方式：保留待判断项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5029200" y="4667250"/>
            <a:ext cx="65532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5200650" y="4800600"/>
            <a:ext cx="38100" cy="10668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353050" y="5010150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执行失败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353050" y="5276850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判断依据：系统错误终止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353050" y="5495925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报告方式：另记执行状态与已提交范围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55" name="" descr="&lt;Slide notes={`最后一个动作，是把结论写到证据能支持的位置就停下来。&#10;&#10;顺序本身有讲究：先写研究条件，再写全体样本与边界，然后才是观察。为什么把观察放在第三步？因为读者要先知道这批材料覆盖了哪次运行、哪个窗口，才知道后面的观察能管多远。&#10;&#10;接着写代价。如果少走错窗口的代价是多花轮次和调用，这个取舍要完整写出来，不能只报好的一面。再写未完成，把缺失环节和待判断项摆明。&#10;&#10;最后是解释限制。一个小规模教学案例，能说明的是它在给定条件下的表现，不能外推成「行政服务效率提高」。写到这一步就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6　证据与可复核成果&lt;/Text&gt;&#10;            &lt;Text style={{ fontSize: 34, fontWeight: 'bold', color: '#20344B' }}&gt;知识块 ④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④&lt;/Text&gt;&#10;&#10;        &lt;Text style={{ fontSize: 56, fontWeight: 'bold', color: '#20344B', lineHeight: 1.15 }}&gt;对外结论写到证据能够支持的位置&lt;/Text&gt;&#10;&#10;        &lt;Box style={{ width: 72, height: 4, background: '#276FBF' }} /&gt;&#10;&#10;        &lt;Text style={{ fontSize: 18, color: '#546779', lineHeight: 1.7, width: 980 }}&gt;报告写到证据能支持的位置就停，不往前多走一步。缺口留在纸上，比补一个好看的结论更有价值。&lt;/Text&gt;&#10;&#10;        &lt;Box style={{ flexDirection: 'row', alignItems: 'center', marginTop: 10 }}&gt;&#10;            &lt;Box style={{ width: 155, height: 76, background: '#EDF4FC', borderRadius: 8, justifyContent: 'center', alignItems: 'center' }}&gt;&#10;                &lt;Text style={{ fontSize: 14, color: '#276FBF' }}&gt;研究条件&lt;/Text&gt;&#10;            &lt;/Box&gt;&#10;            &lt;Box style={{ width: 44, height: 76, justifyContent: 'center', alignItems: 'center' }}&gt;&#10;                &lt;Text style={{ fontSize: 22, color: '#276FBF' }}&gt;›&lt;/Text&gt;&#10;            &lt;/Box&gt;&#10;            &lt;Box style={{ width: 155, height: 76, background: '#EDF4FC', borderRadius: 8, justifyContent: 'center', alignItems: 'center' }}&gt;&#10;                &lt;Text style={{ fontSize: 14, color: '#276FBF' }}&gt;样本与边界&lt;/Text&gt;&#10;            &lt;/Box&gt;&#10;            &lt;Box style={{ width: 44, height: 76, justifyContent: 'center', alignItems: 'center' }}&gt;&#10;                &lt;Text style={{ fontSize: 22, color: '#276FBF' }}&gt;›&lt;/Text&gt;&#10;            &lt;/Box&gt;&#10;            &lt;Box style={{ width: 155, height: 76, background: '#EDF4FC', borderRadius: 8, justifyContent: 'center', alignItems: 'center' }}&gt;&#10;                &lt;Text style={{ fontSize: 14, color: '#276FBF' }}&gt;观察&lt;/Text&gt;&#10;            &lt;/Box&gt;&#10;            &lt;Box style={{ width: 44, height: 76, justifyContent: 'center', alignItems: 'center' }}&gt;&#10;                &lt;Text style={{ fontSize: 22, color: '#26816B' }}&gt;›&lt;/Text&gt;&#10;            &lt;/Box&gt;&#10;            &lt;Box style={{ width: 155, height: 76, background: '#ECF7F2', borderRadius: 8, justifyContent: 'center', alignItems: 'center' }}&gt;&#10;                &lt;Text style={{ fontSize: 14, color: '#26816B' }}&gt;代价&lt;/Text&gt;&#10;            &lt;/Box&gt;&#10;            &lt;Box style={{ width: 44, height: 76, justifyContent: 'center', alignItems: 'center' }}&gt;&#10;                &lt;Text style={{ fontSize: 22, color: '#CB6B28' }}&gt;›&lt;/Text&gt;&#10;            &lt;/Box&gt;&#10;            &lt;Box style={{ width: 155, height: 76, background: '#FFF4E6', borderRadius: 8, justifyContent: 'center', alignItems: 'center' }}&gt;&#10;                &lt;Text style={{ fontSize: 14, color: '#CB6B28' }}&gt;未完成&lt;/Text&gt;&#10;            &lt;/Box&gt;&#10;            &lt;Box style={{ width: 44, height: 76, justifyContent: 'center', alignItems: 'center' }}&gt;&#10;                &lt;Text style={{ fontSize: 22, color: '#CB6B28' }}&gt;›&lt;/Text&gt;&#10;            &lt;/Box&gt;&#10;            &lt;Box style={{ width: 155, height: 76, background: '#FFF4E6', borderRadius: 8, justifyContent: 'center', alignItems: 'center' }}&gt;&#10;                &lt;Text style={{ fontSize: 14, color: '#CB6B28' }}&gt;解释限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证据与可复核成果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24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18859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对外结论写到证据能够支持的位置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09600" y="40386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09600" y="4229100"/>
            <a:ext cx="9334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报告写到证据能支持的位置就停，不往前多走一步。缺口留在纸上，比补一个好看的结论更有价值。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09600" y="4829175"/>
            <a:ext cx="1476375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85850" y="51149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研究条件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2257425" y="50673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2505075" y="4829175"/>
            <a:ext cx="1476375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2914650" y="51149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样本与边界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152900" y="50673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4400550" y="4829175"/>
            <a:ext cx="1476375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010150" y="51149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048375" y="50673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296025" y="4829175"/>
            <a:ext cx="1476375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905625" y="51149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943850" y="50673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8191500" y="4829175"/>
            <a:ext cx="1476375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734425" y="51149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未完成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839325" y="50673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10086975" y="4829175"/>
            <a:ext cx="1476375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0563225" y="51149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解释限制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19" name="" descr="&lt;Slide notes={`人工阅卷要留下别人能重复的判断，具体是四步。&#10;&#10;第一步，先读冻结的任务表和判据，再逐项核对 H1 到 H4。顺序不能反，先看结果容易被结果牵着走。&#10;&#10;第二步，每一项都要写结论，分三档：证据支持、证据表明不成立、证据不足，并且附上来源和一句短理由。&#10;&#10;第三步，按预定标准判断「确认」。只说「很满意」是不够的，应该确认正确窗口以及与自身需求有关的准备内容。这里有个陷阱：不能看完结果之后才临时要求逐字背诵。&#10;&#10;第四步，两位评阅者可以独立核对关键样本，再区分分歧是来自标准不清、原文含糊，还是来源缺失。这三类分歧的处理方式完全不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6　人工阅卷要留下别人能重复的判断&lt;/Text&gt;&#10;            &lt;Text style={{ fontSize: 34, fontWeight: 'bold', color: '#20344B' }}&gt;人工阅卷留下的四步&lt;/Text&gt;&#10;        &lt;/Box&gt;&#10;    &lt;/Box&gt;&#10;&#10;    &lt;Box style={{ height: 540, flexDirection: 'row', alignItems: 'center', gap: 24 }}&gt;&#10;&#10;        &lt;Box style={{ width: 620, flexDirection: 'column', justifyContent: 'center', gap: 12 }}&gt;&#10;&#10;            &lt;Box style={{ width: 620, height: 110, background: '#F4F7FA', borderRadius: 10, padding: '12px 16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1&lt;/Text&gt;&#10;                &lt;/Box&gt;&#10;                &lt;Box style={{ width: 528, flexDirection: 'column', gap: 4, justifyContent: 'center' }}&gt;&#10;                    &lt;Text style={{ fontSize: 17, fontWeight: 'bold', color: '#20344B' }}&gt;先读冻结任务表与判据&lt;/Text&gt;&#10;                    &lt;Text style={{ fontSize: 14, color: '#546779', lineHeight: 1.45 }}&gt;再逐项核对 H1—H4，不从结果往回找理由。&lt;/Text&gt;&#10;                &lt;/Box&gt;&#10;            &lt;/Box&gt;&#10;&#10;            &lt;Box style={{ width: 620, height: 110, background: '#F4F7FA', borderRadius: 10, padding: '12px 16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2&lt;/Text&gt;&#10;                &lt;/Box&gt;&#10;                &lt;Box style={{ width: 528, flexDirection: 'column', gap: 4, justifyContent: 'center' }}&gt;&#10;                    &lt;Text style={{ fontSize: 17, fontWeight: 'bold', color: '#20344B' }}&gt;每项写三档结论&lt;/Text&gt;&#10;                    &lt;Text style={{ fontSize: 14, color: '#546779', lineHeight: 1.45 }}&gt;证据支持 ／ 证据表明不成立 ／ 证据不足，附来源与短理由。&lt;/Text&gt;&#10;                &lt;/Box&gt;&#10;            &lt;/Box&gt;&#10;&#10;            &lt;Box style={{ width: 620, height: 132, background: '#F4F7FA', borderRadius: 10, padding: '12px 16px', flexDirection: 'row', alignItems: 'center', gap: 16 }}&gt;&#10;                &lt;Box style={{ width: 44, height: 44, borderRadius: 8, background: '#CB6B28', justifyContent: 'center', alignItems: 'center' }}&gt;&#10;                    &lt;Text style={{ fontSize: 20, fontWeight: 'bold', color: '#FFFFFF' }}&gt;3&lt;/Text&gt;&#10;                &lt;/Box&gt;&#10;                &lt;Box style={{ width: 528, flexDirection: 'column', gap: 4, justifyContent: 'center' }}&gt;&#10;                    &lt;Text style={{ fontSize: 17, fontWeight: 'bold', color: '#CB6B28' }}&gt;按预定标准判断确认&lt;/Text&gt;&#10;                    &lt;Text style={{ fontSize: 14, color: '#546779', lineHeight: 1.45 }}&gt;只说「很满意」不够，应确认正确窗口及与自身需求有关的准备内容。&lt;/Text&gt;&#10;                    &lt;Text style={{ fontSize: 14, color: '#CB6B28', lineHeight: 1.45 }}&gt;不能看完结果后临时要求逐字背诵。&lt;/Text&gt;&#10;                &lt;/Box&gt;&#10;            &lt;/Box&gt;&#10;&#10;            &lt;Box style={{ width: 620, height: 116, background: '#F4F7FA', borderRadius: 10, padding: '12px 16px', flexDirection: 'row', alignItems: 'center', gap: 16 }}&gt;&#10;                &lt;Box style={{ width: 44, height: 44, borderRadius: 8, background: '#26816B', justifyContent: 'center', alignItems: 'center' }}&gt;&#10;                    &lt;Text style={{ fontSize: 20, fontWeight: 'bold', color: '#FFFFFF' }}&gt;4&lt;/Text&gt;&#10;                &lt;/Box&gt;&#10;                &lt;Box style={{ width: 528, flexDirection: 'column', gap: 4, justifyContent: 'center' }}&gt;&#10;                    &lt;Text style={{ fontSize: 17, fontWeight: 'bold', color: '#20344B' }}&gt;两位评阅者独立核对关键样本&lt;/Text&gt;&#10;                    &lt;Text style={{ fontSize: 14, color: '#546779', lineHeight: 1.45 }}&gt;再区分分歧来自标准不清、原文含糊还是来源缺失。&lt;/Text&gt;&#10;                &lt;/Box&gt;&#10;            &lt;/Box&gt;&#10;&#10;        &lt;/Box&gt;&#10;&#10;        &lt;Box style={{ width: 508, flexDirection: 'column', justifyContent: 'center', gap: 12 }}&gt;&#10;            &lt;Text style={{ fontSize: 20, fontWeight: 'bold', color: '#20344B' }}&gt;阅卷也有边界&lt;/Text&gt;&#10;            &lt;Box style={{ width: 508, height: 130, background: '#EDF4FC', borderRadius: 10, padding: '14px 16px', flexDirection: 'column', gap: 6, justifyContent: 'center' }}&gt;&#10;                &lt;Text style={{ fontSize: 16, fontWeight: 'bold', color: '#276FBF' }}&gt;观察者不能补写消息&lt;/Text&gt;&#10;                &lt;Text style={{ fontSize: 14, color: '#546779', lineHeight: 1.5 }}&gt;在「Agent → 选择人物 → 对话／记忆」先定位摘要，再查完整事实。面板未展示的替代关系和消息不能由观察者补写。&lt;/Text&gt;&#10;            &lt;/Box&gt;&#10;            &lt;Box style={{ width: 508, height: 130, background: '#FFF4E6', borderRadius: 10, padding: '14px 16px', flexDirection: 'column', gap: 6, justifyContent: 'center' }}&gt;&#10;                &lt;Text style={{ fontSize: 16, fontWeight: 'bold', color: '#CB6B28' }}&gt;人工作答不等于系统执行&lt;/Text&gt;&#10;                &lt;Text style={{ fontSize: 14, color: '#546779', lineHeight: 1.5 }}&gt;人工阅卷不能标成 Runtime 已执行自定义业务 Evaluator，两者不是一回事。&lt;/Text&gt;&#10;            &lt;/Box&gt;&#10;            &lt;Box style={{ width: 508, height: 130, background: '#ECF7F2', borderRadius: 10, padding: '14px 16px', flexDirection: 'column', gap: 6, justifyContent: 'center' }}&gt;&#10;                &lt;Text style={{ fontSize: 16, fontWeight: 'bold', color: '#26816B' }}&gt;不要给出假精确&lt;/Text&gt;&#10;                &lt;Text style={{ fontSize: 14, color: '#546779', lineHeight: 1.5 }}&gt;证据未补齐时报告已证实范围与待判断项，不剔除未知项后给总体效果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人工阅卷要留下别人能重复的判断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人工阅卷留下的四步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09600" y="1314450"/>
            <a:ext cx="59055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762000" y="16287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914400" y="17240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333500" y="160020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先读冻结任务表与判据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333500" y="1838325"/>
            <a:ext cx="50292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再逐项核对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H1—H4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，不从结果往回找理由。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09600" y="2476500"/>
            <a:ext cx="59055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762000" y="27908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14400" y="28860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333500" y="276225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每项写三档结论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333500" y="3000375"/>
            <a:ext cx="50292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证据支持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证据表明不成立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证据不足，附来源与短理由。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09600" y="3638550"/>
            <a:ext cx="59055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7620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914400" y="41529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333500" y="3895725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按预定标准判断确认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333500" y="4133850"/>
            <a:ext cx="50292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只说「很满意」不够，应确认正确窗口及与自身需求有关的准备内容。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333500" y="4410075"/>
            <a:ext cx="50292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不能看完结果后临时要求逐字背诵。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09600" y="5010150"/>
            <a:ext cx="5905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762000" y="53530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914400" y="54483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333500" y="5324475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两位评阅者独立核对关键样本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333500" y="5562600"/>
            <a:ext cx="50292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再区分分歧来自标准不清、原文含糊还是来源缺失。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743700" y="1571625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阅卷也有边界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743700" y="1914525"/>
            <a:ext cx="48387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896100" y="217170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观察者不能补写消息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896100" y="2419350"/>
            <a:ext cx="4533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选择人物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对话／记忆」先定位摘要，再查完整事实。面板未展示的替代关系和消息不能由观察者补写。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743700" y="3267075"/>
            <a:ext cx="48387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896100" y="352425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人工作答不等于系统执行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896100" y="3771900"/>
            <a:ext cx="4533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人工阅卷不能标成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Runtime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已执行自定义业务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，两者不是一回事。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743700" y="4619625"/>
            <a:ext cx="48387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896100" y="499110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不要给出假精确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896100" y="5238750"/>
            <a:ext cx="4533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证据未补齐时报告已证实范围与待判断项，不剔除未知项后给总体效果。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57" name="" descr="&lt;Slide notes={`报告按六步走，这个顺序不是排版偏好，而是阅读顺序上的必然。&#10;&#10;先写研究条件：冻结的任务、判据和人物是什么。再写全体样本与边界：这次覆盖了哪些计划内 Run，窗口到哪里结束。然后才是观察：已提交事实支持什么结论。&#10;&#10;第四步写代价。如果少走错窗口的代价是多花轮次与调用，这个取舍必须完整报告出来，只报好的一面就是选择性呈现。&#10;&#10;第五步写未完成，缺哪一环、哪些还待判断，摆明在纸上。&#10;&#10;最后是解释限制。这一步最容易被省略，也最容易被夸大。一个小规模教学案例，讲的是它在给定条件下的表现，不能外推成行政服务整体的效率提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7　对外结论写到证据能够支持的位置&lt;/Text&gt;&#10;            &lt;Text style={{ fontSize: 34, fontWeight: 'bold', color: '#20344B' }}&gt;报告按这个顺序写&lt;/Text&gt;&#10;        &lt;/Box&gt;&#10;    &lt;/Box&gt;&#10;&#10;    &lt;Box style={{ height: 540, flexDirection: 'column', justifyContent: 'center', gap: 16 }}&gt;&#10;&#10;        &lt;Box style={{ width: 1152, height: 340, background: '#F4F7FA', borderRadius: 12, padding: '20px 20px', flexDirection: 'column', gap: 12 }}&gt;&#10;            &lt;Text style={{ fontSize: 16, fontWeight: 'bold', color: '#20344B' }}&gt;六步顺序：条件在前，结论在后，缺口不许省略&lt;/Text&gt;&#10;            &lt;Box style={{ flexDirection: 'row' }}&gt;&#10;&#10;                &lt;Box style={{ width: 148, height: 200, background: '#EDF4FC', borderRadius: 8, padding: '12px', flexDirection: 'column', justifyContent: 'center', gap: 6 }}&gt;&#10;                    &lt;Text style={{ fontSize: 13, color: '#546779' }}&gt;第 1 步&lt;/Text&gt;&#10;                    &lt;Text style={{ fontSize: 16, fontWeight: 'bold', color: '#276FBF' }}&gt;研究条件&lt;/Text&gt;&#10;                    &lt;Text style={{ fontSize: 13, color: '#546779', lineHeight: 1.45, width: 124 }}&gt;冻结的任务、判据与人物设定。&lt;/Text&gt;&#10;                &lt;/Box&gt;&#10;&#10;                &lt;Box style={{ width: 44, height: 200, justifyContent: 'center', alignItems: 'center' }}&gt;&#10;                    &lt;Text style={{ fontSize: 22, color: '#276FBF' }}&gt;›&lt;/Text&gt;&#10;                &lt;/Box&gt;&#10;&#10;                &lt;Box style={{ width: 148, height: 200, background: '#EDF4FC', borderRadius: 8, padding: '12px', flexDirection: 'column', justifyContent: 'center', gap: 6 }}&gt;&#10;                    &lt;Text style={{ fontSize: 13, color: '#546779' }}&gt;第 2 步&lt;/Text&gt;&#10;                    &lt;Text style={{ fontSize: 16, fontWeight: 'bold', color: '#276FBF' }}&gt;全体样本与边界&lt;/Text&gt;&#10;                    &lt;Text style={{ fontSize: 13, color: '#546779', lineHeight: 1.45, width: 124 }}&gt;全部计划内 Run；76 步窗口到此为止。&lt;/Text&gt;&#10;                &lt;/Box&gt;&#10;&#10;                &lt;Box style={{ width: 44, height: 200, justifyContent: 'center', alignItems: 'center' }}&gt;&#10;                    &lt;Text style={{ fontSize: 22, color: '#276FBF' }}&gt;›&lt;/Text&gt;&#10;                &lt;/Box&gt;&#10;&#10;                &lt;Box style={{ width: 148, height: 200, background: '#ECF7F2', borderRadius: 8, padding: '12px', flexDirection: 'column', justifyContent: 'center', gap: 6 }}&gt;&#10;                    &lt;Text style={{ fontSize: 13, color: '#546779' }}&gt;第 3 步&lt;/Text&gt;&#10;                    &lt;Text style={{ fontSize: 16, fontWeight: 'bold', color: '#26816B' }}&gt;观察&lt;/Text&gt;&#10;                    &lt;Text style={{ fontSize: 13, color: '#546779', lineHeight: 1.45, width: 124 }}&gt;已提交事实支持什么，附来源位置。&lt;/Text&gt;&#10;                &lt;/Box&gt;&#10;&#10;                &lt;Box style={{ width: 44, height: 200, justifyContent: 'center', alignItems: 'center' }}&gt;&#10;                    &lt;Text style={{ fontSize: 22, color: '#26816B' }}&gt;›&lt;/Text&gt;&#10;                &lt;/Box&gt;&#10;&#10;                &lt;Box style={{ width: 148, height: 200, background: '#ECF7F2', borderRadius: 8, padding: '12px', flexDirection: 'column', justifyContent: 'center', gap: 6 }}&gt;&#10;                    &lt;Text style={{ fontSize: 13, color: '#546779' }}&gt;第 4 步&lt;/Text&gt;&#10;                    &lt;Text style={{ fontSize: 16, fontWeight: 'bold', color: '#26816B' }}&gt;代价&lt;/Text&gt;&#10;                    &lt;Text style={{ fontSize: 13, color: '#546779', lineHeight: 1.45, width: 124 }}&gt;轮次、调用与取舍要完整报告。&lt;/Text&gt;&#10;                &lt;/Box&gt;&#10;&#10;                &lt;Box style={{ width: 44, height: 200, justifyContent: 'center', alignItems: 'center' }}&gt;&#10;                    &lt;Text style={{ fontSize: 22, color: '#CB6B28' }}&gt;›&lt;/Text&gt;&#10;                &lt;/Box&gt;&#10;&#10;                &lt;Box style={{ width: 148, height: 200, background: '#FFF4E6', borderRadius: 8, padding: '12px', flexDirection: 'column', justifyContent: 'center', gap: 6 }}&gt;&#10;                    &lt;Text style={{ fontSize: 13, color: '#CB6B28' }}&gt;第 5 步&lt;/Text&gt;&#10;                    &lt;Text style={{ fontSize: 16, fontWeight: 'bold', color: '#CB6B28' }}&gt;未完成&lt;/Text&gt;&#10;                    &lt;Text style={{ fontSize: 13, color: '#546779', lineHeight: 1.45, width: 124 }}&gt;缺失环节与待判断项写在纸上。&lt;/Text&gt;&#10;                &lt;/Box&gt;&#10;&#10;                &lt;Box style={{ width: 44, height: 200, justifyContent: 'center', alignItems: 'center' }}&gt;&#10;                    &lt;Text style={{ fontSize: 22, color: '#CB6B28' }}&gt;›&lt;/Text&gt;&#10;                &lt;/Box&gt;&#10;&#10;                &lt;Box style={{ width: 148, height: 200, background: '#FFF4E6', borderRadius: 8, padding: '12px', flexDirection: 'column', justifyContent: 'center', gap: 6 }}&gt;&#10;                    &lt;Text style={{ fontSize: 13, color: '#CB6B28' }}&gt;第 6 步&lt;/Text&gt;&#10;                    &lt;Text style={{ fontSize: 16, fontWeight: 'bold', color: '#CB6B28' }}&gt;解释限制&lt;/Text&gt;&#10;                    &lt;Text style={{ fontSize: 13, color: '#546779', lineHeight: 1.45, width: 124 }}&gt;不外推到行政服务效率。&lt;/Text&gt;&#10;                &lt;/Box&gt;&#10;&#10;            &lt;/Box&gt;&#10;        &lt;/Box&gt;&#10;&#10;        &lt;Box style={{ width: 1152, height: 140, background: '#FFF4E6', borderRadius: 10, padding: '16px 20px', flexDirection: 'column', gap: 6, justifyContent: 'center' }}&gt;&#10;            &lt;Text style={{ fontSize: 17, fontWeight: 'bold', color: '#CB6B28' }}&gt;顺序不是排版偏好&lt;/Text&gt;&#10;            &lt;Text style={{ fontSize: 15, color: '#546779', lineHeight: 1.5, width: 1112 }}&gt;先写条件和边界，读者才知道这个观察能管多远；把代价和未完成放在观察之后，取舍和缺口就不会被悄悄藏起来。&lt;/Text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对外结论写到证据能够支持的位置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报告按这个顺序写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1352550"/>
            <a:ext cx="10972800" cy="323850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00100" y="1543050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六步顺序：条件在前，结论在后，缺口不许省略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800100" y="1847850"/>
            <a:ext cx="1409700" cy="1905000"/>
          </a:xfrm>
          <a:prstGeom prst="roundRect">
            <a:avLst>
              <a:gd name="adj" fmla="val 54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914400" y="2352675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914400" y="25622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研究条件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14400" y="2809875"/>
            <a:ext cx="11811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冻结的任务、判据与人物设定。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2381250" y="26765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2628900" y="1847850"/>
            <a:ext cx="1409700" cy="1905000"/>
          </a:xfrm>
          <a:prstGeom prst="roundRect">
            <a:avLst>
              <a:gd name="adj" fmla="val 54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2743200" y="2352675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2743200" y="25622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全体样本与边界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2743200" y="2809875"/>
            <a:ext cx="11811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全部计划内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；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76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步窗口到此为止。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210050" y="26765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4457700" y="1847850"/>
            <a:ext cx="1409700" cy="1905000"/>
          </a:xfrm>
          <a:prstGeom prst="roundRect">
            <a:avLst>
              <a:gd name="adj" fmla="val 54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572000" y="2352675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572000" y="25622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4572000" y="2809875"/>
            <a:ext cx="11811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已提交事实支持什么，附来源位置。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038850" y="26765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286500" y="1847850"/>
            <a:ext cx="1409700" cy="1905000"/>
          </a:xfrm>
          <a:prstGeom prst="roundRect">
            <a:avLst>
              <a:gd name="adj" fmla="val 54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400800" y="2352675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400800" y="25622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400800" y="2809875"/>
            <a:ext cx="11811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轮次、调用与取舍要完整报告。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867650" y="26765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8115300" y="1847850"/>
            <a:ext cx="1409700" cy="1905000"/>
          </a:xfrm>
          <a:prstGeom prst="roundRect">
            <a:avLst>
              <a:gd name="adj" fmla="val 54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229600" y="2352675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229600" y="25622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未完成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229600" y="2809875"/>
            <a:ext cx="11811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缺失环节与待判断项写在纸上。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9696450" y="26765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9944100" y="1847850"/>
            <a:ext cx="1409700" cy="1905000"/>
          </a:xfrm>
          <a:prstGeom prst="roundRect">
            <a:avLst>
              <a:gd name="adj" fmla="val 54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0058400" y="2352675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0058400" y="25622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解释限制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0058400" y="2809875"/>
            <a:ext cx="11811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不外推到行政服务效率。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4743450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00100" y="5153025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顺序不是排版偏好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00100" y="5410200"/>
            <a:ext cx="10591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先写条件和边界，读者才知道这个观察能管多远；把代价和未完成放在观察之后，取舍和缺口就不会被悄悄藏起来。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98" name="" descr="&lt;Slide notes={`对外发布之前，有三条措辞和口径上的约定，看起来很小，但直接影响别人怎么读你的报告。&#10;&#10;第一是命名。组别统一叫「直接建议组」和「先澄清组」，地点统一叫「A 窗口」和「B 窗口」。不要一处叫「对照组」，另一处叫「基线组」，读者会以为是两组不同的东西。&#10;&#10;第二是索引。所有图表都要指向同一个运行索引和同一份评分来源，不要出现图一来自这次 Run、图二来自另一次的情况。&#10;&#10;第三是取舍。如果少走错窗口，代价却是多花轮次和调用，这个交换必须完整报告，不能只写好的那一面。&#10;&#10;最后是交付名称。当前只有教学设计，交付名称应当是「待执行方案和判分方法」，不要写成已完成或已验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7　对外结论写到证据能够支持的位置&lt;/Text&gt;&#10;            &lt;Text style={{ fontSize: 34, fontWeight: 'bold', color: '#20344B' }}&gt;措辞与口径的三条约定&lt;/Text&gt;&#10;        &lt;/Box&gt;&#10;    &lt;/Box&gt;&#10;&#10;    &lt;Box style={{ height: 540, flexDirection: 'row', alignItems: 'center', gap: 32 }}&gt;&#10;&#10;        &lt;Box style={{ width: 460, flexDirection: 'column', gap: 12 }}&gt;&#10;            &lt;Text style={{ fontSize: 22, fontWeight: 'bold', color: '#20344B' }}&gt;三条约定&lt;/Text&gt;&#10;            &lt;Box style={{ width: 460, height: 146, background: '#EDF4FC', borderRadius: 10, padding: '14px 16px', flexDirection: 'column', gap: 6, justifyContent: 'center' }}&gt;&#10;                &lt;Text style={{ fontSize: 16, fontWeight: 'bold', color: '#276FBF' }}&gt;一 · 命名&lt;/Text&gt;&#10;                &lt;Text style={{ fontSize: 14, color: '#546779', lineHeight: 1.5, width: 428 }}&gt;组别称「直接建议组／先澄清组」，地点称「A 窗口／B 窗口」，避免混淆。&lt;/Text&gt;&#10;            &lt;/Box&gt;&#10;            &lt;Box style={{ width: 460, height: 146, background: '#ECF7F2', borderRadius: 10, padding: '14px 16px', flexDirection: 'column', gap: 6, justifyContent: 'center' }}&gt;&#10;                &lt;Text style={{ fontSize: 16, fontWeight: 'bold', color: '#26816B' }}&gt;二 · 索引&lt;/Text&gt;&#10;                &lt;Text style={{ fontSize: 14, color: '#546779', lineHeight: 1.5, width: 428 }}&gt;图表指向同一运行索引和评分来源，不混用两次运行的图。&lt;/Text&gt;&#10;            &lt;/Box&gt;&#10;            &lt;Box style={{ width: 460, height: 146, background: '#F7F3E8', borderRadius: 10, padding: '14px 16px', flexDirection: 'column', gap: 6, justifyContent: 'center' }}&gt;&#10;                &lt;Text style={{ fontSize: 16, fontWeight: 'bold', color: '#20344B' }}&gt;三 · 取舍&lt;/Text&gt;&#10;                &lt;Text style={{ fontSize: 14, color: '#546779', lineHeight: 1.5, width: 428 }}&gt;若少走错窗口却多花轮次与调用，应完整报告取舍。&lt;/Text&gt;&#10;            &lt;/Box&gt;&#10;        &lt;/Box&gt;&#10;&#10;        &lt;Box style={{ width: 660, flexDirection: 'column', justifyContent: 'center', gap: 12 }}&gt;&#10;            &lt;Text style={{ fontSize: 20, fontWeight: 'bold', color: '#20344B' }}&gt;交付名称要与证据相称&lt;/Text&gt;&#10;            &lt;Text style={{ fontSize: 16, color: '#546779', lineHeight: 1.7, width: 660 }}&gt;当前只有教学设计：没有创建或运行服务大厅实验，没有生成真实结果 ZIP、.gaexp 或 .garun。&lt;/Text&gt;&#10;            &lt;Box style={{ width: 660, height: 190, background: '#FFF4E6', borderRadius: 10, padding: '16px 18px', flexDirection: 'column', gap: 8, justifyContent: 'center' }}&gt;&#10;                &lt;Text style={{ fontSize: 17, fontWeight: 'bold', color: '#CB6B28' }}&gt;所以名称这样写&lt;/Text&gt;&#10;                &lt;Text style={{ fontSize: 18, fontWeight: 'bold', color: '#20344B', lineHeight: 1.5, width: 624 }}&gt;「待执行方案和判分方法」&lt;/Text&gt;&#10;                &lt;Text style={{ fontSize: 14, color: '#546779', lineHeight: 1.5, width: 624 }}&gt;不写「已验证」「已上线」「效果显著」，这些词都超出了现有材料。&lt;/Text&gt;&#10;            &lt;/Box&gt;&#10;            &lt;Box style={{ width: 660, height: 130, background: '#ECF7F2', borderRadius: 10, padding: '14px 18px', flexDirection: 'column', gap: 6, justifyContent: 'center' }}&gt;&#10;                &lt;Text style={{ fontSize: 16, fontWeight: 'bold', color: '#26816B' }}&gt;为什么这条单独强调&lt;/Text&gt;&#10;                &lt;Text style={{ fontSize: 14, color: '#546779', lineHeight: 1.5, width: 624 }}&gt;名称是接收者对成果的第一印象，写重了，后面所有材料都要替它解释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对外结论写到证据能够支持的位置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措辞与口径的三条约定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三条约定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09600" y="1704975"/>
            <a:ext cx="4381500" cy="1390650"/>
          </a:xfrm>
          <a:prstGeom prst="roundRect">
            <a:avLst>
              <a:gd name="adj" fmla="val 684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762000" y="2038350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命名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762000" y="2286000"/>
            <a:ext cx="4076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组别称「直接建议组／先澄清组」，地点称「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窗口」，避免混淆。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3209925"/>
            <a:ext cx="4381500" cy="1390650"/>
          </a:xfrm>
          <a:prstGeom prst="roundRect">
            <a:avLst>
              <a:gd name="adj" fmla="val 684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62000" y="3657600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二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索引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62000" y="3905250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图表指向同一运行索引和评分来源，不混用两次运行的图。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09600" y="4714875"/>
            <a:ext cx="4381500" cy="1390650"/>
          </a:xfrm>
          <a:prstGeom prst="roundRect">
            <a:avLst>
              <a:gd name="adj" fmla="val 684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62000" y="5162550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三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取舍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62000" y="5410200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若少走错窗口却多花轮次与调用，应完整报告取舍。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295900" y="1590675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交付名称要与证据相称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295900" y="1933575"/>
            <a:ext cx="6286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当前只有教学设计：没有创建或运行服务大厅实验，没有生成真实结果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.gaexp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或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.garun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295900" y="2676525"/>
            <a:ext cx="6286500" cy="1809750"/>
          </a:xfrm>
          <a:prstGeom prst="roundRect">
            <a:avLst>
              <a:gd name="adj" fmla="val 526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467350" y="3124200"/>
            <a:ext cx="594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所以名称这样写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467350" y="3400425"/>
            <a:ext cx="59436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「待执行方案和判分方法」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5467350" y="3790950"/>
            <a:ext cx="5943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不写「已验证」「已上线」「效果显著」，这些词都超出了现有材料。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5295900" y="4600575"/>
            <a:ext cx="62865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5467350" y="4972050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为什么这条单独强调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467350" y="5219700"/>
            <a:ext cx="5943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名称是接收者对成果的第一印象，写重了，后面所有材料都要替它解释。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24" name="" descr="&lt;Slide notes={`最后做一个小练习。有这么一句话：「本系统证明澄清能提高行政服务效率」，请指出它的三个问题。&#10;&#10;第一个是业务范围。项目只做咨询，没有行政审批和实际维修机制，「行政服务效率」不在它的范围内。&#10;&#10;第二个是样本证据。目前只有教学设计，没有运行记录，也没有真实结果包，任何「证明」都无从谈起。&#10;&#10;第三个是外推问题。即便将来跑出结果，那也是给定条件下的小规模教学案例，不能直接推广成行政服务的整体效率。&#10;&#10;相称的表述大意是：在给定条件下，待执行方案设计了两种咨询策略与判分方法，用于比较先澄清是否减少错误窗口请求。要讨论真实效果，还需要全部计划内 Run 的索引、每步的已提交事实，以及窗口内的接收与确认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6.7　对外结论写到证据能够支持的位置&lt;/Text&gt;&#10;            &lt;Text style={{ fontSize: 34, fontWeight: 'bold', color: '#20344B' }}&gt;练习：这句话写到了哪里&lt;/Text&gt;&#10;        &lt;/Box&gt;&#10;    &lt;/Box&gt;&#10;&#10;    &lt;Box style={{ height: 540, flexDirection: 'row', alignItems: 'center', gap: 24 }}&gt;&#10;&#10;        &lt;Box style={{ width: 700, flexDirection: 'column', justifyContent: 'center', gap: 12 }}&gt;&#10;&#10;            &lt;Box style={{ width: 700, height: 140, background: '#FFF4E6', borderRadius: 10, padding: '14px 18px', flexDirection: 'column', gap: 6, justifyContent: 'center' }}&gt;&#10;                &lt;Text style={{ fontSize: 15, fontWeight: 'bold', color: '#CB6B28' }}&gt;待审阅的原句&lt;/Text&gt;&#10;                &lt;Text style={{ fontSize: 20, fontWeight: 'bold', color: '#20344B', lineHeight: 1.35, width: 664 }}&gt;「本系统证明澄清能提高行政服务效率」&lt;/Text&gt;&#10;            &lt;/Box&gt;&#10;&#10;            &lt;Box style={{ width: 700, height: 150, background: '#EDF4FC', borderRadius: 10, padding: '14px 18px', flexDirection: 'column', gap: 5, justifyContent: 'center' }}&gt;&#10;                &lt;Text style={{ fontSize: 16, fontWeight: 'bold', color: '#276FBF' }}&gt;三处问题&lt;/Text&gt;&#10;                &lt;Text style={{ fontSize: 14, color: '#546779', lineHeight: 1.45, width: 664 }}&gt;业务范围：本项目只做咨询，没有行政效率机制&lt;/Text&gt;&#10;                &lt;Text style={{ fontSize: 14, color: '#546779', lineHeight: 1.45, width: 664 }}&gt;样本证据：只有教学设计，没有运行记录与结果包&lt;/Text&gt;&#10;                &lt;Text style={{ fontSize: 14, color: '#546779', lineHeight: 1.45, width: 664 }}&gt;外推问题：单次教学案例不能推广到行政服务整体&lt;/Text&gt;&#10;            &lt;/Box&gt;&#10;&#10;            &lt;Box style={{ width: 700, height: 150, background: '#ECF7F2', borderRadius: 10, padding: '14px 18px', flexDirection: 'column', gap: 5, justifyContent: 'center' }}&gt;&#10;                &lt;Text style={{ fontSize: 16, fontWeight: 'bold', color: '#26816B' }}&gt;改成符合交付状态的表述&lt;/Text&gt;&#10;                &lt;Text style={{ fontSize: 14, color: '#546779', lineHeight: 1.5, width: 664 }}&gt;在给定条件下，待执行方案设计了两种咨询策略与判分方法，用于比较先澄清是否减少错误窗口请求。&lt;/Text&gt;&#10;            &lt;/Box&gt;&#10;&#10;        &lt;/Box&gt;&#10;&#10;        &lt;Box style={{ width: 428, flexDirection: 'column', justifyContent: 'center', gap: 12 }}&gt;&#10;            &lt;Text style={{ fontSize: 20, fontWeight: 'bold', color: '#20344B' }}&gt;还要哪些真实记录&lt;/Text&gt;&#10;            &lt;Box style={{ width: 428, height: 112, background: '#EDF4FC', borderRadius: 10, padding: '14px 16px', flexDirection: 'column', gap: 4, justifyContent: 'center' }}&gt;&#10;                &lt;Text style={{ fontSize: 16, fontWeight: 'bold', color: '#276FBF' }}&gt;全部计划内 Run 的索引&lt;/Text&gt;&#10;                &lt;Text style={{ fontSize: 14, color: '#546779', lineHeight: 1.5 }}&gt;不靠反复重跑只挑成功样本。&lt;/Text&gt;&#10;            &lt;/Box&gt;&#10;            &lt;Box style={{ width: 428, height: 112, background: '#EDF4FC', borderRadius: 10, padding: '14px 16px', flexDirection: 'column', gap: 4, justifyContent: 'center' }}&gt;&#10;                &lt;Text style={{ fontSize: 16, fontWeight: 'bold', color: '#276FBF' }}&gt;每步的已提交事实&lt;/Text&gt;&#10;                &lt;Text style={{ fontSize: 14, color: '#546779', lineHeight: 1.5 }}&gt;坐标、请求、响应与人物发言。&lt;/Text&gt;&#10;            &lt;/Box&gt;&#10;            &lt;Box style={{ width: 428, height: 112, background: '#FFF4E6', borderRadius: 10, padding: '14px 16px', flexDirection: 'column', gap: 4, justifyContent: 'center' }}&gt;&#10;                &lt;Text style={{ fontSize: 16, fontWeight: 'bold', color: '#CB6B28' }}&gt;窗口内的接收与确认&lt;/Text&gt;&#10;                &lt;Text style={{ fontSize: 14, color: '#546779', lineHeight: 1.5 }}&gt;这是闭环判据里最容易缺的一环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对外结论写到证据能够支持的位置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练习：这句话写到了哪里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09600" y="1504950"/>
            <a:ext cx="66675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81050" y="1905000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待审阅的原句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81050" y="2133600"/>
            <a:ext cx="63246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「本系统证明澄清能提高行政服务效率」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609600" y="2952750"/>
            <a:ext cx="6667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81050" y="3143250"/>
            <a:ext cx="632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三处问题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81050" y="3381375"/>
            <a:ext cx="6324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业务范围：本项目只做咨询，没有行政效率机制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781050" y="3667125"/>
            <a:ext cx="6324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样本证据：只有教学设计，没有运行记录与结果包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81050" y="3952875"/>
            <a:ext cx="6324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外推问题：单次教学案例不能推广到行政服务整体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09600" y="4495800"/>
            <a:ext cx="66675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81050" y="4972050"/>
            <a:ext cx="632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改成符合交付状态的表述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781050" y="5210175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在给定条件下，待执行方案设计了两种咨询策略与判分方法，用于比较先澄清是否减少错误窗口请求。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7505700" y="1828800"/>
            <a:ext cx="4076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还要哪些真实记录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7505700" y="2171700"/>
            <a:ext cx="40767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658100" y="24669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全部计划内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的索引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658100" y="2695575"/>
            <a:ext cx="3771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不靠反复重跑只挑成功样本。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7505700" y="3352800"/>
            <a:ext cx="40767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658100" y="36480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每步的已提交事实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658100" y="3876675"/>
            <a:ext cx="3771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坐标、请求、响应与人物发言。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7505700" y="4533900"/>
            <a:ext cx="40767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658100" y="4829175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窗口内的接收与确认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658100" y="5057775"/>
            <a:ext cx="3771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这是闭环判据里最容易缺的一环。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52" name="" descr="&lt;Slide notes={`这一节要带走的是三句话。&#10;&#10;第一句，材料分开存。原始导出、解压副本、派生材料各有各的处理规则，原始导出不重新打包、不改名覆盖、不补写字段。字节还认得出来，后面的核对才有立足点。&#10;&#10;第二句，主张问三次。问判据、问事实、问定位，同时把取材边界冻结在同一个已提交窗口内，不拿窗口之外的记录来补窗口之内的结论。&#10;&#10;第三句，结论写到位就停。报告写到证据能支持的位置为止，缺口就写在纸上。下一节讲交接与复现，看看这些材料怎样交到另一位接收者手里，以及重新执行的范围该怎样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6　证据与可复核成果&lt;/Text&gt;&#10;            &lt;Text style={{ fontSize: 34, fontWeight: 'bold', color: '#20344B' }}&gt;本节小结&lt;/Text&gt;&#10;        &lt;/Box&gt;&#10;    &lt;/Box&gt;&#10;&#10;    &lt;Box style={{ height: 540, flexDirection: 'column', justifyContent: 'center', gap: 18 }}&gt;&#10;&#10;        &lt;Text style={{ fontSize: 44, fontWeight: 'bold', color: '#20344B', lineHeight: 1.25 }}&gt;记住三句话&lt;/Text&gt;&#10;&#10;        &lt;Box style={{ width: 1152, height: 104, background: '#EDF4FC', borderRadius: 10, padding: '0 24px', flexDirection: 'row', alignItems: 'center', gap: 20 }}&gt;&#10;            &lt;Text style={{ fontSize: 34, fontWeight: 'bold', color: '#276FBF', width: 56 }}&gt;一&lt;/Text&gt;&#10;            &lt;Box style={{ width: 1020, flexDirection: 'column', gap: 4 }}&gt;&#10;                &lt;Text style={{ fontSize: 20, fontWeight: 'bold', color: '#276FBF' }}&gt;材料分开存&lt;/Text&gt;&#10;                &lt;Text style={{ fontSize: 16, color: '#546779', lineHeight: 1.5 }}&gt;原始导出不动字节，解压副本只读，派生材料逐项指回原始文件。&lt;/Text&gt;&#10;            &lt;/Box&gt;&#10;        &lt;/Box&gt;&#10;&#10;        &lt;Box style={{ width: 1152, height: 104, background: '#ECF7F2', borderRadius: 10, padding: '0 24px', flexDirection: 'row', alignItems: 'center', gap: 20 }}&gt;&#10;            &lt;Text style={{ fontSize: 34, fontWeight: 'bold', color: '#26816B', width: 56 }}&gt;二&lt;/Text&gt;&#10;            &lt;Box style={{ width: 1020, flexDirection: 'column', gap: 4 }}&gt;&#10;                &lt;Text style={{ fontSize: 20, fontWeight: 'bold', color: '#26816B' }}&gt;主张问三次&lt;/Text&gt;&#10;                &lt;Text style={{ fontSize: 16, color: '#546779', lineHeight: 1.5 }}&gt;问判据、问事实、问定位；边界冻结在同一个已提交窗口内。&lt;/Text&gt;&#10;            &lt;/Box&gt;&#10;        &lt;/Box&gt;&#10;&#10;        &lt;Box style={{ width: 1152, height: 104, background: '#FFF4E6', borderRadius: 10, padding: '0 24px', flexDirection: 'row', alignItems: 'center', gap: 20 }}&gt;&#10;            &lt;Text style={{ fontSize: 34, fontWeight: 'bold', color: '#CB6B28', width: 56 }}&gt;三&lt;/Text&gt;&#10;            &lt;Box style={{ width: 1020, flexDirection: 'column', gap: 4 }}&gt;&#10;                &lt;Text style={{ fontSize: 20, fontWeight: 'bold', color: '#CB6B28' }}&gt;结论写到位就停&lt;/Text&gt;&#10;                &lt;Text style={{ fontSize: 16, color: '#546779', lineHeight: 1.5 }}&gt;写到证据能支持的位置为止，缺失环节与待判断项留在报告里。&lt;/Text&gt;&#10;            &lt;/Box&gt;&#10;        &lt;/Box&gt;&#10;&#10;        &lt;Text style={{ fontSize: 15, color: '#546779', marginTop: 6 }}&gt;第五章　5.6　证据与可复核成果　·　下一节：交接与复现&lt;/Text&gt;&#10;&#10;    &lt;/Box&gt;&#10;&#10;    &lt;Box style={{ height: 40, flexDirection: 'row', justifyContent: 'space-between', alignItems: 'center' }}&gt;&#10;        &lt;Text style={{ fontSize: 14, color: '#546779' }}&gt;5.6 证据与可复核成果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证据与可复核成果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24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本节小结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1457325"/>
            <a:ext cx="109728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记住三句话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609600" y="22574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38200" y="25622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562100" y="2486025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材料分开存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562100" y="2752725"/>
            <a:ext cx="9715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原始导出不动字节，解压副本只读，派生材料逐项指回原始文件。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34194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38200" y="372427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6816B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562100" y="3648075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主张问三次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562100" y="3914775"/>
            <a:ext cx="9715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问判据、问事实、问定位；边界冻结在同一个已提交窗口内。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609600" y="45815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38200" y="48863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CB6B28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562100" y="4810125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结论写到位就停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562100" y="5076825"/>
            <a:ext cx="9715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写到证据能支持的位置为止，缺失环节与待判断项留在报告里。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09600" y="58007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5.6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证据与可复核成果　·　下一节：交接与复现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证据与可复核成果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2026-09-29T10:36:12Z</dcterms:created>
  <dcterms:modified xsi:type="dcterms:W3CDTF">2026-09-29T10:36:12Z</dcterms:modified>
</cp:coreProperties>
</file>