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Masters/slideMaster1.xml" ContentType="application/vnd.openxmlformats-officedocument.presentationml.slideMaster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10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ppt/slides/slide18.xml" ContentType="application/vnd.openxmlformats-officedocument.presentationml.slide+xml"/>
  <Override PartName="/ppt/slides/slide11.xml" ContentType="application/vnd.openxmlformats-officedocument.presentationml.slide+xml"/>
  <Override PartName="/ppt/slides/slide16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23.xml" ContentType="application/vnd.openxmlformats-officedocument.presentationml.slide+xml"/>
  <Override PartName="/ppt/slides/slide4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25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2" Type="http://schemas.openxmlformats.org/officeDocument/2006/relationships/slide" Target="slides/slide12.xml" /><Relationship Id="rId14" Type="http://schemas.openxmlformats.org/officeDocument/2006/relationships/slide" Target="slides/slide14.xml" /><Relationship Id="rId0" Type="http://schemas.openxmlformats.org/officeDocument/2006/relationships/slideMaster" Target="slideMasters/slideMaster1.xml" /><Relationship Id="rId15" Type="http://schemas.openxmlformats.org/officeDocument/2006/relationships/slide" Target="slides/slide15.xml" /><Relationship Id="rId17" Type="http://schemas.openxmlformats.org/officeDocument/2006/relationships/slide" Target="slides/slide17.xml" /><Relationship Id="rId13" Type="http://schemas.openxmlformats.org/officeDocument/2006/relationships/slide" Target="slides/slide13.xml" /><Relationship Id="rId10" Type="http://schemas.openxmlformats.org/officeDocument/2006/relationships/slide" Target="slides/slide10.xml" /><Relationship Id="rId20" Type="http://schemas.openxmlformats.org/officeDocument/2006/relationships/slide" Target="slides/slide20.xml" /><Relationship Id="rId1" Type="http://schemas.openxmlformats.org/officeDocument/2006/relationships/slide" Target="slides/slide1.xml" /><Relationship Id="rId18" Type="http://schemas.openxmlformats.org/officeDocument/2006/relationships/slide" Target="slides/slide18.xml" /><Relationship Id="rId11" Type="http://schemas.openxmlformats.org/officeDocument/2006/relationships/slide" Target="slides/slide11.xml" /><Relationship Id="rId16" Type="http://schemas.openxmlformats.org/officeDocument/2006/relationships/slide" Target="slides/slide16.xml" /><Relationship Id="rId19" Type="http://schemas.openxmlformats.org/officeDocument/2006/relationships/slide" Target="slides/slide19.xml" /><Relationship Id="rId2" Type="http://schemas.openxmlformats.org/officeDocument/2006/relationships/slide" Target="slides/slide2.xml" /><Relationship Id="rId21" Type="http://schemas.openxmlformats.org/officeDocument/2006/relationships/slide" Target="slides/slide21.xml" /><Relationship Id="rId22" Type="http://schemas.openxmlformats.org/officeDocument/2006/relationships/slide" Target="slides/slide22.xml" /><Relationship Id="rId23" Type="http://schemas.openxmlformats.org/officeDocument/2006/relationships/slide" Target="slides/slide23.xml" /><Relationship Id="rId24" Type="http://schemas.openxmlformats.org/officeDocument/2006/relationships/slide" Target="slides/slide24.xml" /><Relationship Id="rId25" Type="http://schemas.openxmlformats.org/officeDocument/2006/relationships/notesMaster" Target="notesMasters/notesMaster1.xml" /><Relationship Id="rId28" Type="http://schemas.openxmlformats.org/officeDocument/2006/relationships/viewProps" Target="viewProps.xml" /><Relationship Id="rId26" Type="http://schemas.openxmlformats.org/officeDocument/2006/relationships/presProps" Target="presProps.xml" /><Relationship Id="rId27" Type="http://schemas.openxmlformats.org/officeDocument/2006/relationships/tableStyles" Target="tableStyles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我先强调一个经常被忽略的事实：一份项目材料能被下载，并不等于另一个人能理解它，更不等于他能接着往下做。</a:t>
            </a:r>
          </a:p>
          <a:p>
            <a:r>
              <a:rPr lang="zh-CN" dirty="0"/>
              <a:t>接收者可能是三种完全不同的人。有人只想审阅结论，看看这个设计值不值得做；有人需要离线回放，确认当时到底发生了什么；还有人准备在自己的机器上继续研究。</a:t>
            </a:r>
          </a:p>
          <a:p>
            <a:r>
              <a:rPr lang="zh-CN" dirty="0"/>
              <a:t>这三种需求要的材料范围、验证深度都不一样。所以在动手整理之前，先把「接收者要完成什么」写成一句话，后面的材料清单才有依据。</a:t>
            </a:r>
          </a:p>
          <a:p>
            <a:r>
              <a:rPr lang="zh-CN" dirty="0"/>
              <a:t>还要提醒一句：服务大厅项目目前只有待实施的设计，没有任何真实导出和异机结果。凡是没发生的，就写「未生成」或「未验证」，不能拿一份演算数据填成已完成的仿真报告。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这一节要看清四件事，顺序不能颠倒。</a:t>
            </a:r>
          </a:p>
          <a:p>
            <a:r>
              <a:rPr lang="zh-CN" dirty="0"/>
              <a:t>第一件，先说清接收者要完成什么。同一个项目，接收者可能只审设计、核文件、看回放、复算分数，或者干脆重新执行；这五类检查回答的问题完全不同，不能互相替代。</a:t>
            </a:r>
          </a:p>
          <a:p>
            <a:r>
              <a:rPr lang="zh-CN" dirty="0"/>
              <a:t>第二件，用一张清单把需求、证据和文件对上，并且认清手上到底是哪种包。普通的结果 ZIP 与 config、exp、run 三种正式包不是一回事，改后缀改变不了文件合同。</a:t>
            </a:r>
          </a:p>
          <a:p>
            <a:r>
              <a:rPr lang="zh-CN" dirty="0"/>
              <a:t>第三件，接收方先做只读核验，不需要模型凭据，只要程序、包和素材能读。它分字节与来源、协议与事实、交付结论三层。</a:t>
            </a:r>
          </a:p>
          <a:p>
            <a:r>
              <a:rPr lang="zh-CN" dirty="0"/>
              <a:t>第四件，把正式复现当成一件单独的工作。新跑、续跑、重跑、复算的身份规则不同，最后要落成一份允许写「尚未验证」的交付记录。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接手这件事，第一步不是整理文件，而是问清楚接收者到底要完成什么。</a:t>
            </a:r>
          </a:p>
          <a:p>
            <a:r>
              <a:rPr lang="zh-CN" dirty="0"/>
              <a:t>我见过很多交付，作者把压缩包发过去，附一句「请帮我看看」。这句话听起来客气，实际上没有告诉对方任何可执行的动作：看什么、看到什么程度、要不要运行模型。</a:t>
            </a:r>
          </a:p>
          <a:p>
            <a:r>
              <a:rPr lang="zh-CN" dirty="0"/>
              <a:t>所以要先选检查类型。是审设计、核文件、看回放、复算分数，还是重新执行？这五类检查回答的是五个不同问题，作者准备材料的方式也完全不同。</a:t>
            </a:r>
          </a:p>
          <a:p>
            <a:r>
              <a:rPr lang="zh-CN" dirty="0"/>
              <a:t>只有把目标写成一句能落地的话，比如确认两组只改变了咨询台的澄清策略，并检查 H1 到 H4 的判分能否追到证据，后面的材料范围和验证深度才有依据。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五种接收检查，回答的是五个不同问题，彼此不能替代。</a:t>
            </a:r>
          </a:p>
          <a:p>
            <a:r>
              <a:rPr lang="zh-CN" dirty="0"/>
              <a:t>设计审阅回答「知道研究什么」，看的是委托、输入、两组之间唯一的差异和判据。它不需要调用模型，材料说得清楚就能判断设计值不值得做。</a:t>
            </a:r>
          </a:p>
          <a:p>
            <a:r>
              <a:rPr lang="zh-CN" dirty="0"/>
              <a:t>文件核对回答「收到哪份材料」，看的是原名、类型、大小、摘要和来源。收到文件本身，不代表协议校验通过，更不代表运行验收通过。</a:t>
            </a:r>
          </a:p>
          <a:p>
            <a:r>
              <a:rPr lang="zh-CN" dirty="0"/>
              <a:t>事实回放回答「保存了哪些世界事实」，靠的是 Run 身份、帧和素材；它只读事实，不加载 Brain 重新推理，所以证明不了模型行为。</a:t>
            </a:r>
          </a:p>
          <a:p>
            <a:r>
              <a:rPr lang="zh-CN" dirty="0"/>
              <a:t>结果复算回答「按规则能否得到结论」，要能追到原始记录、逐项判分和汇总，并保留未知与未完成。重新执行回答「这个环境能否继续工作」，要另记新事实与消耗。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「请帮我看看」不是充分的交付目标。</a:t>
            </a:r>
          </a:p>
          <a:p>
            <a:r>
              <a:rPr lang="zh-CN" dirty="0"/>
              <a:t>更清楚的请求长这样：请确认两组只改变了咨询台的澄清策略，并检查 H1 到 H4 的判分是否能追到证据。这句话给了接收者三样东西——范围、对象和判据。它还隐含两条边界：不要求接收者运行模型，也不要求把公共作者资源全部导入自己的工作区。</a:t>
            </a:r>
          </a:p>
          <a:p>
            <a:r>
              <a:rPr lang="zh-CN" dirty="0"/>
              <a:t>如果目标不是审阅而是继续实验，那就还要交代下一项工作。检查尚未投递的窗口回复，需要的是一条可恢复边界；调整一段 SOP，需要准备新草稿；从相同封存输入增加独立重复，需要创建新 Run。这三件事的前置材料完全不同，不能只写成「继续跑一下」。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五项接手任务，各有必要的交付和必须保留的边界。</a:t>
            </a:r>
          </a:p>
          <a:p>
            <a:r>
              <a:rPr lang="zh-CN" dirty="0"/>
              <a:t>设计审阅要交需求、两组差异、人物信息边界和判分表；边界是尚无行为结果时不评价策略效果。</a:t>
            </a:r>
          </a:p>
          <a:p>
            <a:r>
              <a:rPr lang="zh-CN" dirty="0"/>
              <a:t>文件核对要交实际文件、来源、原名、类型、大小与摘要；收到文件不等于通过协议校验或运行验收。</a:t>
            </a:r>
          </a:p>
          <a:p>
            <a:r>
              <a:rPr lang="zh-CN" dirty="0"/>
              <a:t>结果复算要交全部结果索引、原始证据、评分依据与缺失项；截图和总结不能独立证明闭环。</a:t>
            </a:r>
          </a:p>
          <a:p>
            <a:r>
              <a:rPr lang="zh-CN" dirty="0"/>
              <a:t>事实回放要交可校验的 Run 材料、兼容读取环境和素材；记住回放不重新调用模型，所以它证明不了模型行为。</a:t>
            </a:r>
          </a:p>
          <a:p>
            <a:r>
              <a:rPr lang="zh-CN" dirty="0"/>
              <a:t>重新执行要交正式输入或 Run 包、环境条件和执行计划；这次新执行还要另行确认预算与身份。接收者签收材料只说明这次交付被接收，不自动代表每一级验证都通过。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清单和包，是同一件事的两面。</a:t>
            </a:r>
          </a:p>
          <a:p>
            <a:r>
              <a:rPr lang="zh-CN" dirty="0"/>
              <a:t>一面是把需求、证据和文件对上。一份能接手的交付，要能说明 A 窗口处理使用咨询、B 窗口处理已有设施问题，两组共有四项需求，只有咨询台是否先澄清目的这一处不同；而精确的策略片段、每个人物的私人目的、空间方案和运行参数，都要有固定出处。</a:t>
            </a:r>
          </a:p>
          <a:p>
            <a:r>
              <a:rPr lang="zh-CN" dirty="0"/>
              <a:t>另一面是认清手上到底是什么包。当前协议里，普通的结果 ZIP 和 config、exp、run 三种正式包同时存在，后缀长得像，能力却完全不同。接收者只有先看清包类型，才知道自己能导入、能运行，还是只能回放。</a:t>
            </a:r>
          </a:p>
          <a:p>
            <a:r>
              <a:rPr lang="zh-CN" dirty="0"/>
              <a:t>两件事合起来，接收者才不会拿着一个结果压缩包，却以为可以接着跑实验。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一份交付清单，要把需求、证据和文件串在一起。</a:t>
            </a:r>
          </a:p>
          <a:p>
            <a:r>
              <a:rPr lang="zh-CN" dirty="0"/>
              <a:t>服务大厅项目交付时要能说明：A 窗口处理使用咨询，B 窗口处理已有设施问题；两组共有四项需求，只有咨询台是否先澄清目的这一处不同。</a:t>
            </a:r>
          </a:p>
          <a:p>
            <a:r>
              <a:rPr lang="zh-CN" dirty="0"/>
              <a:t>清单记七类材料：项目说明写范围与负责人；输入清单列地图、人物、对象和两组精确差异；身份登记记实验、Run、Attempt 与内嵌输入摘要；结果索引覆盖全部 Run、失败与未完成任务；证据材料把请求、回复、确认消息和人工判分对应起来；原始导出记字节数、SHA256 和取得方式；接手说明写环境前提与未解决问题。</a:t>
            </a:r>
          </a:p>
          <a:p>
            <a:r>
              <a:rPr lang="zh-CN" dirty="0"/>
              <a:t>精确策略片段、私人目的和运行参数都要有固定出处，不能让接收者在多份记录里猜哪一份有效。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作者说明里的 H1 到 H4 是教学任务键，用来标记四项教学任务，方便对照判分表；它不是系统生成的身份。</a:t>
            </a:r>
          </a:p>
          <a:p>
            <a:r>
              <a:rPr lang="zh-CN" dirty="0"/>
              <a:t>引用一条结论的时候，比如「孟川已获得正确建议」，要指出对应的人物、请求、回复与接收轮次。人物同名并不足以确认它来自哪一次 Run，因为同名角色可能在多个实验里都出现过。</a:t>
            </a:r>
          </a:p>
          <a:p>
            <a:r>
              <a:rPr lang="zh-CN" dirty="0"/>
              <a:t>还有一件容易被误解的事：角色的私有记忆隔离，是 Runtime 的参与者权限边界，它不表示交付 Run 时这些记录从文件里消失了。需要对公众分享的讲义，可以制作注明来源的摘录；完整的证据原件另按项目约定保存。绝不能删改原包之后，还继续引用原来的摘要。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收到压缩文件后，先认清它是哪种包。</a:t>
            </a:r>
          </a:p>
          <a:p>
            <a:r>
              <a:rPr lang="zh-CN" dirty="0"/>
              <a:t>普通结果 ZIP 装的是一段固定提交边界里的结果、报告和审计材料，可以看，不能当成正式 Run 包，也不能回放；改成 .garun 只是换了名字，内容合同没变。</a:t>
            </a:r>
          </a:p>
          <a:p>
            <a:r>
              <a:rPr lang="zh-CN" dirty="0"/>
              <a:t>config 资源包装的是选定的基础资源和附件。它可显式保留未绑定的跨资源依赖，但进入实验前必须绑定完整。</a:t>
            </a:r>
          </a:p>
          <a:p>
            <a:r>
              <a:rPr lang="zh-CN" dirty="0"/>
              <a:t>exp 也就是 .gaexp，装完整实验输入与装配，用来准备新运行。run 也就是 .garun，在内嵌实验之上带执行事实，可按条件回放、恢复或重跑。</a:t>
            </a:r>
          </a:p>
          <a:p>
            <a:r>
              <a:rPr lang="zh-CN" dirty="0"/>
              <a:t>三种正式包都用 ga-package v2，类型由清单的 package_kind 识别，不靠文件名推断。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四类文件都能拿到，但能做的事差别很大，所以清单不能只写「一个 ZIP」。</a:t>
            </a:r>
          </a:p>
          <a:p>
            <a:r>
              <a:rPr lang="zh-CN" dirty="0"/>
              <a:t>普通结果 ZIP 能查看固定提交边界里的结果、报告和审计材料；要核对它的内容范围和来源 Step，它不会自动变成正式 Run 包。</a:t>
            </a:r>
          </a:p>
          <a:p>
            <a:r>
              <a:rPr lang="zh-CN" dirty="0"/>
              <a:t>config 资源包通常是 .zip，能导入所选的地图、人物、Skill 等基础资源；要核对它自身的附件和跨资源依赖，不能当成已完成的实验。</a:t>
            </a:r>
          </a:p>
          <a:p>
            <a:r>
              <a:rPr lang="zh-CN" dirty="0"/>
              <a:t>exp 和 .gaexp 能取得完整实验输入与装配；要核对协议、完整性、环境和执行条件。</a:t>
            </a:r>
          </a:p>
          <a:p>
            <a:r>
              <a:rPr lang="zh-CN" dirty="0"/>
              <a:t>run 和 .garun 能取得内嵌实验与执行事实，供回放以及符合条件的恢复和重跑；要核对身份、帧、恢复边界和目标环境。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三个动作看起来都在「把文件弄进来」，含义却完全不同。</a:t>
            </a:r>
          </a:p>
          <a:p>
            <a:r>
              <a:rPr lang="zh-CN" dirty="0"/>
              <a:t>正式封存要在一致边界取得内容，并生成完整性清单；它不能靠把一个结果 ZIP 改后缀来实现。第三章已区分过界面上的下载按钮和底层正式封存能力，这里不再重复界面操作。</a:t>
            </a:r>
          </a:p>
          <a:p>
            <a:r>
              <a:rPr lang="zh-CN" dirty="0"/>
              <a:t>资源绑定是另一件事：config 包可以显式保留未绑定的跨资源依赖，但进入实验前必须绑定完整。遇到同一个 Skill key 内容冲突，不能按显示名称静默覆盖，要明确选定。</a:t>
            </a:r>
          </a:p>
          <a:p>
            <a:r>
              <a:rPr lang="zh-CN" dirty="0"/>
              <a:t>导入资源是第三个动作。导入成功只说明资源进来了，不等于恢复了一个 Run 的历史。</a:t>
            </a:r>
          </a:p>
          <a:p>
            <a:r>
              <a:rPr lang="zh-CN" dirty="0"/>
              <a:t>这个项目里还有操作没经过界面核验，它们仍列为缺口；我不用命令或直接调接口去补做系统验收。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接收方拿到材料之后，第一件事是只读核验，而不是立刻开始跑。</a:t>
            </a:r>
          </a:p>
          <a:p>
            <a:r>
              <a:rPr lang="zh-CN" dirty="0"/>
              <a:t>只读核验分三层，顺序不能颠倒。先证明「还是同一份材料」，再证明「包本身说得通」，最后才谈结论站不站得住。</a:t>
            </a:r>
          </a:p>
          <a:p>
            <a:r>
              <a:rPr lang="zh-CN" dirty="0"/>
              <a:t>这三层都不需要模型凭据，只要程序、包和素材满足读取要求就能做。这也是为什么很多交付的第一次接收，可以在一台没有密钥的机器上完成。</a:t>
            </a:r>
          </a:p>
          <a:p>
            <a:r>
              <a:rPr lang="zh-CN" dirty="0"/>
              <a:t>要注意的是，只读核验也有自己的失败结果：文件损坏、协议不支持、内容缺失、证据对应错误，这四类要分别记录，不能统一写成一句「复现失败」。因为每一种失败对应的下一步动作完全不同。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第一层是字节与来源核验。对照清单里的文件名、大小和 SHA256，确认传输后还是同一份材料，再核对生成时间、源状态与提交边界。哈希相同只证明字节相同，不证明内容合理，也不证明业务成功；没有原始摘要时，就记录缺少比较依据，不能用接收后的摘要倒推传输前状态。</a:t>
            </a:r>
          </a:p>
          <a:p>
            <a:r>
              <a:rPr lang="zh-CN" dirty="0"/>
              <a:t>第二层是协议与事实核验。用兼容读取环境检查正式包身份、完整性、内嵌实验摘要和帧连续性。Replay 只读事实，不加载 Brain，不重新推理。</a:t>
            </a:r>
          </a:p>
          <a:p>
            <a:r>
              <a:rPr lang="zh-CN" dirty="0"/>
              <a:t>第三层是交付结论核验。在实际存在的类别里抽查成功、未完成或有争议的判断，沿材料定位原始记录；某类没有样本就说明未观察到。若清单写完成三项、明细只有两条充分证据，就登记差异，退回补充或修正报告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只读核验有一个很实际的好处：它不需要模型凭据。</a:t>
            </a:r>
          </a:p>
          <a:p>
            <a:r>
              <a:rPr lang="zh-CN" dirty="0"/>
              <a:t>只要程序、包和素材满足读取要求，就可以在没有密钥、也连不上远程服务的机器上完成。这正是很多交付的第一次接收能做到的事——对方先确认「我拿到的东西是完整的、说得通的」，再决定要不要投入算力和费用去重跑。</a:t>
            </a:r>
          </a:p>
          <a:p>
            <a:r>
              <a:rPr lang="zh-CN" dirty="0"/>
              <a:t>Replay 的能力边界要说清楚：它只读事实，不加载 Brain，也不重新推理。所以一次回放通过，证明的是当时的记录能被正确读出，而不是模型行为被复现了。</a:t>
            </a:r>
          </a:p>
          <a:p>
            <a:r>
              <a:rPr lang="zh-CN" dirty="0"/>
              <a:t>还有一层容易被跳过。如果在回放里看见 H3 出现在 B 窗口附近，这只是现象；要评价闭环，还得去查实际的回复内容和确认消息，看这条建议是不是真的被采纳了。顺序不能反。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只读核验也会失败，而且失败不止一种。</a:t>
            </a:r>
          </a:p>
          <a:p>
            <a:r>
              <a:rPr lang="zh-CN" dirty="0"/>
              <a:t>文件损坏，指的是字节对不上、解不开或读到一半中断。这类失败要记录是哪个文件、在哪一步失败，然后退回重传。</a:t>
            </a:r>
          </a:p>
          <a:p>
            <a:r>
              <a:rPr lang="zh-CN" dirty="0"/>
              <a:t>协议不支持，指的是读取环境版本与包协议不匹配。这时要记录读取环境与包的协议版本，换兼容环境重试，而不是断定材料有问题。</a:t>
            </a:r>
          </a:p>
          <a:p>
            <a:r>
              <a:rPr lang="zh-CN" dirty="0"/>
              <a:t>内容缺失，指的是清单声明存在、实际却没包含。要登记缺失的是哪一项、对应清单哪一条，退回补充。</a:t>
            </a:r>
          </a:p>
          <a:p>
            <a:r>
              <a:rPr lang="zh-CN" dirty="0"/>
              <a:t>证据对应错误，指的是结论和原始记录对不上。要登记差异，退回修正报告，而不是由接收者猜出结论。</a:t>
            </a:r>
          </a:p>
          <a:p>
            <a:r>
              <a:rPr lang="zh-CN" dirty="0"/>
              <a:t>这四类的下一步动作完全不同，所以不能统一写成「复现失败」。写清失败类型，接收者才知道该退文件、换环境、补内容，还是改报告。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正式复现不是一件事，而是四种不同的工作：新跑、续跑、重跑、复算。</a:t>
            </a:r>
          </a:p>
          <a:p>
            <a:r>
              <a:rPr lang="zh-CN" dirty="0"/>
              <a:t>很多争论都来自把它们混为一谈。有人做完一次新跑，就说「复现通过了」；有人做了一次回放，就说「模型行为能复现」。这两句话都不成立，因为它们的输入、身份和后置产物都不一样。</a:t>
            </a:r>
          </a:p>
          <a:p>
            <a:r>
              <a:rPr lang="zh-CN" dirty="0"/>
              <a:t>所以要先选清楚这次到底做哪一项，再准备目标环境。选择的对象也决定了要核对哪些条件：新跑从封存实验开始，续跑要从一个完整检查点接上，重跑要拿旧 Run 的内嵌实验，复算只用既有事实和判据。</a:t>
            </a:r>
          </a:p>
          <a:p>
            <a:r>
              <a:rPr lang="zh-CN" dirty="0"/>
              <a:t>最后还要落成一份能执行的交付记录。它允许清楚地写「尚未验证」，因为接收者真正需要的，是知道缺哪一项、下一步该做什么。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这四种工作，差别最清楚的地方就在输入和身份上。</a:t>
            </a:r>
          </a:p>
          <a:p>
            <a:r>
              <a:rPr lang="zh-CN" dirty="0"/>
              <a:t>新跑从封存实验开始，创建新的 Run，run_id 是新的，同时产生第一个 Attempt。续跑拿到同一个 Run 的完整检查点，身份上保留原来的 run_id，只新建一个 Attempt，并从最新完整提交边界的下一个 Step 继续。重跑从旧 Run 的内嵌实验创建新 Run，run_id 也是新的，它复用的是当时的实验，不是当时的执行事实。复算只用既有的事实和判据，不生成任何新的世界事实。</a:t>
            </a:r>
          </a:p>
          <a:p>
            <a:r>
              <a:rPr lang="zh-CN" dirty="0"/>
              <a:t>这四行只是对应关系，不是执行顺序。交付承诺以实际接收记录为准；同机回放成功，不等于异机续跑通过。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如果接收者打算真的重新执行，环境条件就必须逐项记下来。</a:t>
            </a:r>
          </a:p>
          <a:p>
            <a:r>
              <a:rPr lang="zh-CN" dirty="0"/>
              <a:t>要记录的有六项：操作系统；程序版本或源码提交；工作区有没有被修改过；Python 与依赖环境；模型服务地址；以及实际使用的模型标识。缺哪一项，别人都无法判断他拿到的是不是你当时那个环境。</a:t>
            </a:r>
          </a:p>
          <a:p>
            <a:r>
              <a:rPr lang="zh-CN" dirty="0"/>
              <a:t>这里有两个常见的误解。第一，远程服务本身可能改变，地址没变不代表行为没变。第二，模型名字相同、随机种子也相同，都不足以保证重新生成同一组消息。语言模型的采样本身带有不确定性，服务端的版本、参数和基础设施也会变化。</a:t>
            </a:r>
          </a:p>
          <a:p>
            <a:r>
              <a:rPr lang="zh-CN" dirty="0"/>
              <a:t>所以「复现」在仿真项目里从来不是一句「我跑了一遍结果一样」，而是一份写清了环境、输入和边界的记录。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凭据和费用这两件事，最好在交付之前就讲明白。</a:t>
            </a:r>
          </a:p>
          <a:p>
            <a:r>
              <a:rPr lang="zh-CN" dirty="0"/>
              <a:t>先说凭据。包本身不携带模型密钥，它只声明需要哪些环境变量之类的凭据要求。接收者要在自己的目标机器上提供可用的凭据，而且密钥不该写进交付表，更不该写进 Skill 里。把密钥放进交付材料，等于把它交给了所有能拿到这份材料的人。</a:t>
            </a:r>
          </a:p>
          <a:p>
            <a:r>
              <a:rPr lang="zh-CN" dirty="0"/>
              <a:t>再说离线与联网。离线读取不需要调用模型，所以它不产生请求，也不产生费用。但连接验证和正式执行不一样，它们真的会发出请求，也会真的计费。这一部分应该纳入一份独立的执行计划，写清谁授权、预算多少、用什么标识，而不是默认「顺便跑一下」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下面这是服务大厅项目当前真正可用的登记样式，里面没有虚构文件，也没有编造 UUID。</a:t>
            </a:r>
          </a:p>
          <a:p>
            <a:r>
              <a:rPr lang="zh-CN" dirty="0"/>
              <a:t>项目写社区服务大厅咨询策略比较；本次交付目标写审阅设计与下一阶段执行计划；当前材料是场景说明、需求表、策略差异、预算与待填写证据清单。实验、Run 和 Attempt 全部写「未创建」，三种原始包写「未生成」，接收环境与只读验证写「待记录」，异机续跑和重跑写「未执行」。最后一项写明下一项工作：按约定完成材料制作及浏览器配置，补齐保存证据。</a:t>
            </a:r>
          </a:p>
          <a:p>
            <a:r>
              <a:rPr lang="zh-CN" dirty="0"/>
              <a:t>这份记录的价值不在于内容多，而在于每一项都如实。将来真有导出了，就逐项替换对应状态，同时保留交付日期和依据。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接收方走完前面那些步骤之后，才可以动笔写下复现结论。而且措辞要节制。</a:t>
            </a:r>
          </a:p>
          <a:p>
            <a:r>
              <a:rPr lang="zh-CN" dirty="0"/>
              <a:t>在记录好的环境里回放通过、从某个边界续跑通过，这两句话是可以写的，前提是每一项都有对应的环境与验证记录。反过来，如果只完成了材料核对，那就应该明确写「尚未验证」，把缺口写清楚。</a:t>
            </a:r>
          </a:p>
          <a:p>
            <a:r>
              <a:rPr lang="zh-CN" dirty="0"/>
              <a:t>有两种句式一定要避免。第一种，用一次新 Run 顺利结束，来代替旧 Run 的恢复验证——这是两件不同的事，新 Run 成功说明不了旧 Run 能被恢复。第二种，用一次回放通过，来代替模型行为的重新运行——回放只读事实，它压根没有调用模型。</a:t>
            </a:r>
          </a:p>
          <a:p>
            <a:r>
              <a:rPr lang="zh-CN" dirty="0"/>
              <a:t>记住一句话：交付承诺以实际接收记录为准。没做过的，就不要写成做过了。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这份记录不是写一次就完了。将来真的有导出以后，要逐项替换对应状态，同时保留交付日期和依据。也就是说，改的是状态，不是把整份记录重写一遍。</a:t>
            </a:r>
          </a:p>
          <a:p>
            <a:r>
              <a:rPr lang="zh-CN" dirty="0"/>
              <a:t>可接手的交付，允许清楚地写「尚未验证」。这不是示弱，而是让接收者知道缺哪项材料、怎么继续、什么操作会产生新的世界事实。每一项复现承诺，都应该有对应的环境与验证记录在旁边。</a:t>
            </a:r>
          </a:p>
          <a:p>
            <a:r>
              <a:rPr lang="zh-CN" dirty="0"/>
              <a:t>还有一个时间上的细节容易出错：文件的取材边界，和你在下载当下看到的页面最新 Step，可能并不相同。登记时要以实际导出来源为准。不要仅仅因为页面继续往前推进了，就把一份旧文件改记成更晚的边界。那样改出来的记录，看起来更完整，实际上已经失真了。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这一节要带走的是三句话。</a:t>
            </a:r>
          </a:p>
          <a:p>
            <a:r>
              <a:rPr lang="zh-CN" dirty="0"/>
              <a:t>第一句，说清要做什么。「请帮我看看」不是交付目标。先选检查类型——设计审阅、文件核对、事实回放、结果复算还是重新执行——再按类型准备材料。这五类检查回答五个不同问题，不能相互替代。</a:t>
            </a:r>
          </a:p>
          <a:p>
            <a:r>
              <a:rPr lang="zh-CN" dirty="0"/>
              <a:t>第二句，认清文件是什么。普通结果 ZIP 和 config、exp、run 三种正式包是不同的文件合同，改后缀改变不了它的能力。能导入不等于能回放，能回放不等于能重跑。</a:t>
            </a:r>
          </a:p>
          <a:p>
            <a:r>
              <a:rPr lang="zh-CN" dirty="0"/>
              <a:t>第三句，把承诺写到能验证。回放通过不等于续跑通过，一次新 Run 成功也不能代替旧 Run 的恢复验证。没做过的就写「尚未验证」，把缺口和下一步写清楚。</a:t>
            </a:r>
          </a:p>
          <a:p>
            <a:r>
              <a:rPr lang="zh-CN" dirty="0"/>
              <a:t>一份能接手的交付，是接收者知道该从哪儿继续的交付。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23.xml"/></Relationships>
</file>

<file path=ppt/slides/_rels/slide2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1" Type="http://schemas.openxmlformats.org/officeDocument/2006/relationships/notesSlide" Target="../notesSlides/notesSlide24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notes={`我先强调一个经常被忽略的事实：一份项目材料能被下载，并不等于另一个人能理解它，更不等于他能接着往下做。&#10;&#10;接收者可能是三种完全不同的人。有人只想审阅结论，看看这个设计值不值得做；有人需要离线回放，确认当时到底发生了什么；还有人准备在自己的机器上继续研究。&#10;&#10;这三种需求要的材料范围、验证深度都不一样。所以在动手整理之前，先把「接收者要完成什么」写成一句话，后面的材料清单才有依据。&#10;&#10;还要提醒一句：服务大厅项目目前只有待实施的设计，没有任何真实导出和异机结果。凡是没发生的，就写「未生成」或「未验证」，不能拿一份演算数据填成已完成的仿真报告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第五章　综合实战与交付　·　5.7　交付与复现&lt;/Text&gt;&#10;            &lt;Text style={{ fontSize: 34, fontWeight: 'bold', color: '#20344B' }}&gt;交付与复现&lt;/Text&gt;&#10;        &lt;/Box&gt;&#10;    &lt;/Box&gt;&#10;&#10;    &lt;Box style={{ height: 540, flexDirection: 'row', alignItems: 'center', gap: 32 }}&gt;&#10;&#10;        &lt;Box style={{ width: 560, flexDirection: 'column', gap: 14 }}&gt;&#10;            &lt;Text style={{ fontSize: 52, fontWeight: 'bold', color: '#20344B', lineHeight: 1.2 }}&gt;让接收者知道{'\n'}拿到了什么&lt;/Text&gt;&#10;            &lt;Box style={{ width: 72, height: 4, background: '#276FBF' }} /&gt;&#10;            &lt;Text style={{ fontSize: 17, color: '#546779', lineHeight: 1.7, width: 540 }}&gt;文件能被下载，并不等于另一个人能理解或继续工作。交付之前先写清接收者要完成什么，才能决定材料范围和验证深度。&lt;/Text&gt;&#10;            &lt;Box style={{ width: 372, height: 44, background: '#EDF4FC', borderRadius: 8, justifyContent: 'center', alignItems: 'center', marginTop: 4 }}&gt;&#10;                &lt;Text style={{ fontSize: 15, color: '#276FBF' }}&gt;五类接收检查，不能相互替代&lt;/Text&gt;&#10;            &lt;/Box&gt;&#10;        &lt;/Box&gt;&#10;&#10;        &lt;Box style={{ width: 560, flexDirection: 'column', justifyContent: 'center' }}&gt;&#10;            &lt;Box style={{ width: 560, height: 88, background: '#F7F3E8', borderRadius: 10, padding: '0 20px', flexDirection: 'column', gap: 3, justifyContent: 'center' }}&gt;&#10;                &lt;Text style={{ fontSize: 18, fontWeight: 'bold', color: '#20344B' }}&gt;文件已经下载&lt;/Text&gt;&#10;                &lt;Text style={{ fontSize: 14, color: '#546779' }}&gt;原名、类型、大小都对得上，压缩包也能解开&lt;/Text&gt;&#10;            &lt;/Box&gt;&#10;            &lt;Box style={{ width: 560, height: 32, justifyContent: 'center', alignItems: 'center' }}&gt;&#10;                &lt;Text style={{ fontSize: 22, color: '#276FBF' }}&gt;↓&lt;/Text&gt;&#10;            &lt;/Box&gt;&#10;            &lt;Box style={{ width: 560, height: 88, background: '#EDF4FC', borderRadius: 10, padding: '0 20px', flexDirection: 'column', gap: 3, justifyContent: 'center' }}&gt;&#10;                &lt;Text style={{ fontSize: 18, fontWeight: 'bold', color: '#276FBF' }}&gt;接收者要完成什么？&lt;/Text&gt;&#10;                &lt;Text style={{ fontSize: 14, color: '#546779' }}&gt;审设计、核文件、看回放、复算分数，还是重新执行&lt;/Text&gt;&#10;            &lt;/Box&gt;&#10;            &lt;Box style={{ width: 560, height: 32, justifyContent: 'center', alignItems: 'center' }}&gt;&#10;                &lt;Text style={{ fontSize: 22, color: '#CB6B28' }}&gt;↓&lt;/Text&gt;&#10;            &lt;/Box&gt;&#10;            &lt;Box style={{ width: 560, height: 88, background: '#FFF4E6', borderRadius: 10, padding: '0 20px', flexDirection: 'column', gap: 3, justifyContent: 'center' }}&gt;&#10;                &lt;Text style={{ fontSize: 18, fontWeight: 'bold', color: '#CB6B28' }}&gt;本项目尚未生成材料&lt;/Text&gt;&#10;                &lt;Text style={{ fontSize: 14, color: '#546779' }}&gt;空项保留「未生成／未验证」，不填演算数据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5.7 交付与复现&lt;/Text&gt;&#10;        &lt;Text style={{ fontSize: 14, color: '#546779' }}&gt;01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762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第五章　综合实战与交付　·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5.7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交付与复现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7622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交付与复现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609600" y="2219325"/>
            <a:ext cx="5334000" cy="14287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900" b="1">
                <a:solidFill>
                  <a:srgbClr val="20344B"/>
                </a:solidFill>
                <a:latin typeface="Microsoft YaHei"/>
                <a:ea typeface="Microsoft YaHei"/>
              </a:rPr>
              <a:t>让接收者知道</a:t>
            </a:r>
            <a:endParaRPr/>
          </a:p>
          <a:p>
            <a:pPr>
              <a:lnSpc>
                <a:spcPct val="120000"/>
              </a:lnSpc>
            </a:pPr>
            <a:r>
              <a:rPr lang="zh-CN" sz="3900" b="1">
                <a:solidFill>
                  <a:srgbClr val="20344B"/>
                </a:solidFill>
                <a:latin typeface="Microsoft YaHei"/>
                <a:ea typeface="Microsoft YaHei"/>
              </a:rPr>
              <a:t>拿到了什么</a:t>
            </a:r>
            <a:endParaRPr/>
          </a:p>
        </p:txBody>
      </p:sp>
      <p:sp>
        <p:nvSpPr>
          <p:cNvPr id="7" name=""/>
          <p:cNvSpPr/>
          <p:nvPr/>
        </p:nvSpPr>
        <p:spPr>
          <a:xfrm rot="0" flipH="0" flipV="0">
            <a:off x="609600" y="378142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609600" y="3952875"/>
            <a:ext cx="51435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文件能被下载，并不等于另一个人能理解或继续工作。交付之前先写清接收者要完成什么，才能决定材料范围和验证深度。</a:t>
            </a:r>
            <a:endParaRPr/>
          </a:p>
        </p:txBody>
      </p:sp>
      <p:sp>
        <p:nvSpPr>
          <p:cNvPr id="9" name=""/>
          <p:cNvSpPr/>
          <p:nvPr/>
        </p:nvSpPr>
        <p:spPr>
          <a:xfrm rot="0" flipH="0" flipV="0">
            <a:off x="609600" y="4791075"/>
            <a:ext cx="3543300" cy="419100"/>
          </a:xfrm>
          <a:prstGeom prst="roundRect">
            <a:avLst>
              <a:gd name="adj" fmla="val 1818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1457325" y="4914900"/>
            <a:ext cx="1857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五类接收检查，不能相互替代</a:t>
            </a:r>
            <a:endParaRPr/>
          </a:p>
        </p:txBody>
      </p:sp>
      <p:sp>
        <p:nvSpPr>
          <p:cNvPr id="11" name=""/>
          <p:cNvSpPr/>
          <p:nvPr/>
        </p:nvSpPr>
        <p:spPr>
          <a:xfrm rot="0" flipH="0" flipV="0">
            <a:off x="6248400" y="2152650"/>
            <a:ext cx="5334000" cy="838200"/>
          </a:xfrm>
          <a:prstGeom prst="roundRect">
            <a:avLst>
              <a:gd name="adj" fmla="val 11364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6438900" y="2371725"/>
            <a:ext cx="4953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文件已经下载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6438900" y="2609850"/>
            <a:ext cx="4953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原名、类型、大小都对得上，压缩包也能解开</a:t>
            </a:r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8867775" y="3019425"/>
            <a:ext cx="1047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15" name=""/>
          <p:cNvSpPr/>
          <p:nvPr/>
        </p:nvSpPr>
        <p:spPr>
          <a:xfrm rot="0" flipH="0" flipV="0">
            <a:off x="6248400" y="3295650"/>
            <a:ext cx="5334000" cy="838200"/>
          </a:xfrm>
          <a:prstGeom prst="roundRect">
            <a:avLst>
              <a:gd name="adj" fmla="val 11364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6438900" y="3514725"/>
            <a:ext cx="4953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接收者要完成什么？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6438900" y="3752850"/>
            <a:ext cx="4953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审设计、核文件、看回放、复算分数，还是重新执行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8867775" y="4162425"/>
            <a:ext cx="1047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CB6B28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19" name=""/>
          <p:cNvSpPr/>
          <p:nvPr/>
        </p:nvSpPr>
        <p:spPr>
          <a:xfrm rot="0" flipH="0" flipV="0">
            <a:off x="6248400" y="4438650"/>
            <a:ext cx="5334000" cy="838200"/>
          </a:xfrm>
          <a:prstGeom prst="roundRect">
            <a:avLst>
              <a:gd name="adj" fmla="val 11364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6438900" y="4657725"/>
            <a:ext cx="4953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本项目尚未生成材料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6438900" y="4895850"/>
            <a:ext cx="4953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空项保留「未生成／未验证」，不填演算数据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5.7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交付与复现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01 / 24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328" name="" descr="&lt;Slide notes={`这一节要看清四件事，顺序不能颠倒。&#10;&#10;第一件，先说清接收者要完成什么。同一个项目，接收者可能只审设计、核文件、看回放、复算分数，或者干脆重新执行；这五类检查回答的问题完全不同，不能互相替代。&#10;&#10;第二件，用一张清单把需求、证据和文件对上，并且认清手上到底是哪种包。普通的结果 ZIP 与 config、exp、run 三种正式包不是一回事，改后缀改变不了文件合同。&#10;&#10;第三件，接收方先做只读核验，不需要模型凭据，只要程序、包和素材能读。它分字节与来源、协议与事实、交付结论三层。&#10;&#10;第四件，把正式复现当成一件单独的工作。新跑、续跑、重跑、复算的身份规则不同，最后要落成一份允许写「尚未验证」的交付记录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7　本节地图&lt;/Text&gt;&#10;            &lt;Text style={{ fontSize: 34, fontWeight: 'bold', color: '#20344B' }}&gt;本节要看清的四件事&lt;/Text&gt;&#10;        &lt;/Box&gt;&#10;    &lt;/Box&gt;&#10;&#10;    &lt;Box style={{ height: 540, flexDirection: 'row', alignItems: 'center', gap: 28 }}&gt;&#10;&#10;        &lt;Box style={{ width: 340, flexDirection: 'column', justifyContent: 'center', gap: 14 }}&gt;&#10;            &lt;Text style={{ fontSize: 16, color: '#546779', lineHeight: 1.75 }}&gt;材料被下载，不等于有人能接手。四件事依次把「谁要做什么、拿到哪份文件、验到哪一层」写清楚。&lt;/Text&gt;&#10;            &lt;Box style={{ width: 340, height: 50, background: '#F7F3E8', borderRadius: 8, justifyContent: 'center', alignItems: 'center' }}&gt;&#10;                &lt;Text style={{ fontSize: 16, color: '#20344B' }}&gt;材料能被下载&lt;/Text&gt;&#10;            &lt;/Box&gt;&#10;            &lt;Box style={{ width: 340, height: 28, justifyContent: 'center', alignItems: 'center' }}&gt;&#10;                &lt;Text style={{ fontSize: 20, color: '#276FBF' }}&gt;↓&lt;/Text&gt;&#10;            &lt;/Box&gt;&#10;            &lt;Box style={{ width: 340, height: 50, background: '#EDF4FC', borderRadius: 8, justifyContent: 'center', alignItems: 'center' }}&gt;&#10;                &lt;Text style={{ fontSize: 16, color: '#276FBF' }}&gt;接收者知道要做什么&lt;/Text&gt;&#10;            &lt;/Box&gt;&#10;            &lt;Box style={{ width: 340, height: 28, justifyContent: 'center', alignItems: 'center' }}&gt;&#10;                &lt;Text style={{ fontSize: 20, color: '#26816B' }}&gt;↓&lt;/Text&gt;&#10;            &lt;/Box&gt;&#10;            &lt;Box style={{ width: 340, height: 50, background: '#ECF7F2', borderRadius: 8, justifyContent: 'center', alignItems: 'center' }}&gt;&#10;                &lt;Text style={{ fontSize: 16, color: '#26816B' }}&gt;交付范围说得清楚&lt;/Text&gt;&#10;            &lt;/Box&gt;&#10;        &lt;/Box&gt;&#10;&#10;        &lt;Box style={{ width: 784, flexDirection: 'column', justifyContent: 'center', gap: 12 }}&gt;&#10;&#10;            &lt;Box style={{ width: 784, height: 112, background: '#F4F7FA', borderRadius: 10, padding: '0 20px', flexDirection: 'row', alignItems: 'center', gap: 18 }}&gt;&#10;                &lt;Box style={{ width: 48, height: 48, borderRadius: 8, background: '#276FBF', justifyContent: 'center', alignItems: 'center' }}&gt;&#10;                    &lt;Text style={{ fontSize: 22, fontWeight: 'bold', color: '#FFFFFF' }}&gt;①&lt;/Text&gt;&#10;                &lt;/Box&gt;&#10;                &lt;Box style={{ flexDirection: 'column', gap: 4, width: 678 }}&gt;&#10;                    &lt;Text style={{ fontSize: 20, fontWeight: 'bold', color: '#20344B' }}&gt;先说清接收者要完成什么&lt;/Text&gt;&#10;                    &lt;Text style={{ fontSize: 15, color: '#546779', lineHeight: 1.45 }}&gt;五类检查回答五个不同问题，不能相互替代；签收材料不等于每一级验证都通过&lt;/Text&gt;&#10;                &lt;/Box&gt;&#10;            &lt;/Box&gt;&#10;&#10;            &lt;Box style={{ width: 784, height: 112, background: '#F4F7FA', borderRadius: 10, padding: '0 20px', flexDirection: 'row', alignItems: 'center', gap: 18 }}&gt;&#10;                &lt;Box style={{ width: 48, height: 48, borderRadius: 8, background: '#26816B', justifyContent: 'center', alignItems: 'center' }}&gt;&#10;                    &lt;Text style={{ fontSize: 22, fontWeight: 'bold', color: '#FFFFFF' }}&gt;②&lt;/Text&gt;&#10;                &lt;/Box&gt;&#10;                &lt;Box style={{ flexDirection: 'column', gap: 4, width: 678 }}&gt;&#10;                    &lt;Text style={{ fontSize: 20, fontWeight: 'bold', color: '#20344B' }}&gt;一张清单与四类文件&lt;/Text&gt;&#10;                    &lt;Text style={{ fontSize: 15, color: '#546779', lineHeight: 1.45 }}&gt;用清单把需求、证据与文件对上；普通结果 ZIP 与 config／exp／run 是不同合同&lt;/Text&gt;&#10;                &lt;/Box&gt;&#10;            &lt;/Box&gt;&#10;&#10;            &lt;Box style={{ width: 784, height: 112, background: '#F4F7FA', borderRadius: 10, padding: '0 20px', flexDirection: 'row', alignItems: 'center', gap: 18 }}&gt;&#10;                &lt;Box style={{ width: 48, height: 48, borderRadius: 8, background: '#276FBF', justifyContent: 'center', alignItems: 'center' }}&gt;&#10;                    &lt;Text style={{ fontSize: 22, fontWeight: 'bold', color: '#FFFFFF' }}&gt;③&lt;/Text&gt;&#10;                &lt;/Box&gt;&#10;                &lt;Box style={{ flexDirection: 'column', gap: 4, width: 678 }}&gt;&#10;                    &lt;Text style={{ fontSize: 20, fontWeight: 'bold', color: '#20344B' }}&gt;接收方先做只读核验&lt;/Text&gt;&#10;                    &lt;Text style={{ fontSize: 15, color: '#546779', lineHeight: 1.45 }}&gt;字节与来源、协议与事实、交付结论三层；失败结果要分类登记，不统一写成复现失败&lt;/Text&gt;&#10;                &lt;/Box&gt;&#10;            &lt;/Box&gt;&#10;&#10;            &lt;Box style={{ width: 784, height: 112, background: '#F4F7FA', borderRadius: 10, padding: '0 20px', flexDirection: 'row', alignItems: 'center', gap: 18 }}&gt;&#10;                &lt;Box style={{ width: 48, height: 48, borderRadius: 8, background: '#26816B', justifyContent: 'center', alignItems: 'center' }}&gt;&#10;                    &lt;Text style={{ fontSize: 22, fontWeight: 'bold', color: '#FFFFFF' }}&gt;④&lt;/Text&gt;&#10;                &lt;/Box&gt;&#10;                &lt;Box style={{ flexDirection: 'column', gap: 4, width: 678 }}&gt;&#10;                    &lt;Text style={{ fontSize: 20, fontWeight: 'bold', color: '#20344B' }}&gt;正式复现与可执行的交付记录&lt;/Text&gt;&#10;                    &lt;Text style={{ fontSize: 15, color: '#546779', lineHeight: 1.45 }}&gt;新跑／续跑／重跑／复算的身份规则不同；交付记录允许清楚地写「尚未验证」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5.7 交付与复现&lt;/Text&gt;&#10;        &lt;Text style={{ fontSize: 14, color: '#546779' }}&gt;02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0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5.7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本节地图</a:t>
            </a:r>
            <a:endParaRPr/>
          </a:p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本节要看清的四件事</a:t>
            </a:r>
            <a:endParaRPr/>
          </a:p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609600" y="1924050"/>
            <a:ext cx="3238500" cy="962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材料被下载，不等于有人能接手。四件事依次把「谁要做什么、拿到哪份文件、验到哪一层」写清楚。</a:t>
            </a:r>
            <a:endParaRPr/>
          </a:p>
        </p:txBody>
      </p:sp>
      <p:sp>
        <p:nvSpPr>
          <p:cNvPr id="334" name=""/>
          <p:cNvSpPr/>
          <p:nvPr/>
        </p:nvSpPr>
        <p:spPr>
          <a:xfrm rot="0" flipH="0" flipV="0">
            <a:off x="609600" y="3019425"/>
            <a:ext cx="3238500" cy="476250"/>
          </a:xfrm>
          <a:prstGeom prst="roundRect">
            <a:avLst>
              <a:gd name="adj" fmla="val 16000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1771650" y="3162300"/>
            <a:ext cx="91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材料能被下载</a:t>
            </a:r>
            <a:endParaRPr/>
          </a:p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2181225" y="3648075"/>
            <a:ext cx="95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337" name=""/>
          <p:cNvSpPr/>
          <p:nvPr/>
        </p:nvSpPr>
        <p:spPr>
          <a:xfrm rot="0" flipH="0" flipV="0">
            <a:off x="609600" y="4029075"/>
            <a:ext cx="3238500" cy="476250"/>
          </a:xfrm>
          <a:prstGeom prst="roundRect">
            <a:avLst>
              <a:gd name="adj" fmla="val 16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1543050" y="4171950"/>
            <a:ext cx="1371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76FBF"/>
                </a:solidFill>
                <a:latin typeface="Microsoft YaHei"/>
                <a:ea typeface="Microsoft YaHei"/>
              </a:rPr>
              <a:t>接收者知道要做什么</a:t>
            </a:r>
            <a:endParaRPr/>
          </a:p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2181225" y="4657725"/>
            <a:ext cx="95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26816B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340" name=""/>
          <p:cNvSpPr/>
          <p:nvPr/>
        </p:nvSpPr>
        <p:spPr>
          <a:xfrm rot="0" flipH="0" flipV="0">
            <a:off x="609600" y="5038725"/>
            <a:ext cx="3238500" cy="476250"/>
          </a:xfrm>
          <a:prstGeom prst="roundRect">
            <a:avLst>
              <a:gd name="adj" fmla="val 160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1619250" y="5181600"/>
            <a:ext cx="121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6816B"/>
                </a:solidFill>
                <a:latin typeface="Microsoft YaHei"/>
                <a:ea typeface="Microsoft YaHei"/>
              </a:rPr>
              <a:t>交付范围说得清楚</a:t>
            </a:r>
            <a:endParaRPr/>
          </a:p>
        </p:txBody>
      </p:sp>
      <p:sp>
        <p:nvSpPr>
          <p:cNvPr id="342" name=""/>
          <p:cNvSpPr/>
          <p:nvPr/>
        </p:nvSpPr>
        <p:spPr>
          <a:xfrm rot="0" flipH="0" flipV="0">
            <a:off x="4114800" y="1409700"/>
            <a:ext cx="7467600" cy="1066800"/>
          </a:xfrm>
          <a:prstGeom prst="roundRect">
            <a:avLst>
              <a:gd name="adj" fmla="val 892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43" name=""/>
          <p:cNvSpPr/>
          <p:nvPr/>
        </p:nvSpPr>
        <p:spPr>
          <a:xfrm rot="0" flipH="0" flipV="0">
            <a:off x="4305300" y="1714500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4429125" y="1819275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</a:rPr>
              <a:t>①</a:t>
            </a:r>
            <a:endParaRPr/>
          </a:p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4933950" y="1685925"/>
            <a:ext cx="64579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先说清接收者要完成什么</a:t>
            </a:r>
            <a:endParaRPr/>
          </a:p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4933950" y="1952625"/>
            <a:ext cx="645795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五类检查回答五个不同问题，不能相互替代；签收材料不等于每一级验证都通过</a:t>
            </a:r>
            <a:endParaRPr/>
          </a:p>
        </p:txBody>
      </p:sp>
      <p:sp>
        <p:nvSpPr>
          <p:cNvPr id="347" name=""/>
          <p:cNvSpPr/>
          <p:nvPr/>
        </p:nvSpPr>
        <p:spPr>
          <a:xfrm rot="0" flipH="0" flipV="0">
            <a:off x="4114800" y="2590800"/>
            <a:ext cx="7467600" cy="1066800"/>
          </a:xfrm>
          <a:prstGeom prst="roundRect">
            <a:avLst>
              <a:gd name="adj" fmla="val 892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48" name=""/>
          <p:cNvSpPr/>
          <p:nvPr/>
        </p:nvSpPr>
        <p:spPr>
          <a:xfrm rot="0" flipH="0" flipV="0">
            <a:off x="4305300" y="2895600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4429125" y="3000375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</a:rPr>
              <a:t>②</a:t>
            </a:r>
            <a:endParaRPr/>
          </a:p>
        </p:txBody>
      </p:sp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4933950" y="2867025"/>
            <a:ext cx="64579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一张清单与四类文件</a:t>
            </a:r>
            <a:endParaRPr/>
          </a:p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4933950" y="3133725"/>
            <a:ext cx="645795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用清单把需求、证据与文件对上；普通结果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ZIP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config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／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exp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／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run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是不同合同</a:t>
            </a:r>
            <a:endParaRPr/>
          </a:p>
        </p:txBody>
      </p:sp>
      <p:sp>
        <p:nvSpPr>
          <p:cNvPr id="352" name=""/>
          <p:cNvSpPr/>
          <p:nvPr/>
        </p:nvSpPr>
        <p:spPr>
          <a:xfrm rot="0" flipH="0" flipV="0">
            <a:off x="4114800" y="3771900"/>
            <a:ext cx="7467600" cy="1066800"/>
          </a:xfrm>
          <a:prstGeom prst="roundRect">
            <a:avLst>
              <a:gd name="adj" fmla="val 892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53" name=""/>
          <p:cNvSpPr/>
          <p:nvPr/>
        </p:nvSpPr>
        <p:spPr>
          <a:xfrm rot="0" flipH="0" flipV="0">
            <a:off x="4305300" y="4076700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4429125" y="4181475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</a:rPr>
              <a:t>③</a:t>
            </a:r>
            <a:endParaRPr/>
          </a:p>
        </p:txBody>
      </p:sp>
      <p:sp>
        <p:nvSpPr>
          <p:cNvPr id="355" name="" descr="{&quot;isTemplate&quot;:true,&quot;type&quot;:&quot;text&quot;}"/>
          <p:cNvSpPr txBox="1"/>
          <p:nvPr/>
        </p:nvSpPr>
        <p:spPr>
          <a:xfrm rot="0" flipH="0" flipV="0">
            <a:off x="4933950" y="4048125"/>
            <a:ext cx="64579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接收方先做只读核验</a:t>
            </a:r>
            <a:endParaRPr/>
          </a:p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4933950" y="4314825"/>
            <a:ext cx="645795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字节与来源、协议与事实、交付结论三层；失败结果要分类登记，不统一写成复现失败</a:t>
            </a:r>
            <a:endParaRPr/>
          </a:p>
        </p:txBody>
      </p:sp>
      <p:sp>
        <p:nvSpPr>
          <p:cNvPr id="357" name=""/>
          <p:cNvSpPr/>
          <p:nvPr/>
        </p:nvSpPr>
        <p:spPr>
          <a:xfrm rot="0" flipH="0" flipV="0">
            <a:off x="4114800" y="4953000"/>
            <a:ext cx="7467600" cy="1066800"/>
          </a:xfrm>
          <a:prstGeom prst="roundRect">
            <a:avLst>
              <a:gd name="adj" fmla="val 892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58" name=""/>
          <p:cNvSpPr/>
          <p:nvPr/>
        </p:nvSpPr>
        <p:spPr>
          <a:xfrm rot="0" flipH="0" flipV="0">
            <a:off x="4305300" y="5257800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4429125" y="5362575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</a:rPr>
              <a:t>④</a:t>
            </a:r>
            <a:endParaRPr/>
          </a:p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4933950" y="5229225"/>
            <a:ext cx="64579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正式复现与可执行的交付记录</a:t>
            </a:r>
            <a:endParaRPr/>
          </a:p>
        </p:txBody>
      </p:sp>
      <p:sp>
        <p:nvSpPr>
          <p:cNvPr id="361" name="" descr="{&quot;isTemplate&quot;:true,&quot;type&quot;:&quot;text&quot;}"/>
          <p:cNvSpPr txBox="1"/>
          <p:nvPr/>
        </p:nvSpPr>
        <p:spPr>
          <a:xfrm rot="0" flipH="0" flipV="0">
            <a:off x="4933950" y="5495925"/>
            <a:ext cx="645795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新跑／续跑／重跑／复算的身份规则不同；交付记录允许清楚地写「尚未验证」</a:t>
            </a:r>
            <a:endParaRPr/>
          </a:p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5.7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交付与复现</a:t>
            </a:r>
            <a:endParaRPr/>
          </a:p>
        </p:txBody>
      </p:sp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02 / 24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505" name="" descr="&lt;Slide notes={`接手这件事，第一步不是整理文件，而是问清楚接收者到底要完成什么。&#10;&#10;我见过很多交付，作者把压缩包发过去，附一句「请帮我看看」。这句话听起来客气，实际上没有告诉对方任何可执行的动作：看什么、看到什么程度、要不要运行模型。&#10;&#10;所以要先选检查类型。是审设计、核文件、看回放、复算分数，还是重新执行？这五类检查回答的是五个不同问题，作者准备材料的方式也完全不同。&#10;&#10;只有把目标写成一句能落地的话，比如确认两组只改变了咨询台的澄清策略，并检查 H1 到 H4 的判分能否追到证据，后面的材料范围和验证深度才有依据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第五章　5.7　交付与复现&lt;/Text&gt;&#10;            &lt;Text style={{ fontSize: 34, fontWeight: 'bold', color: '#20344B' }}&gt;知识块 ①&lt;/Text&gt;&#10;        &lt;/Box&gt;&#10;    &lt;/Box&gt;&#10;&#10;    &lt;Box style={{ height: 540, flexDirection: 'column', justifyContent: 'center', gap: 16 }}&gt;&#10;&#10;        &lt;Text style={{ fontSize: 88, fontWeight: 'bold', color: '#276FBF', lineHeight: 1.0 }}&gt;①&lt;/Text&gt;&#10;&#10;        &lt;Text style={{ fontSize: 56, fontWeight: 'bold', color: '#20344B', lineHeight: 1.15 }}&gt;先说清接收者要完成什么&lt;/Text&gt;&#10;&#10;        &lt;Box style={{ width: 72, height: 4, background: '#276FBF' }} /&gt;&#10;&#10;        &lt;Text style={{ fontSize: 18, color: '#546779', lineHeight: 1.7, width: 1000 }}&gt;「请帮我看看」不是充分的交付目标。接收者要审设计、核文件、看回放、复算分数，还是重新执行？先选检查类型，再按类型准备材料。&lt;/Text&gt;&#10;&#10;        &lt;Box style={{ flexDirection: 'row', alignItems: 'center', gap: 12, marginTop: 6 }}&gt;&#10;            &lt;Box style={{ width: 200, height: 56, background: '#F4F7FA', borderRadius: 8, justifyContent: 'center', alignItems: 'center' }}&gt;&#10;                &lt;Text style={{ fontSize: 16, color: '#20344B' }}&gt;设计审阅&lt;/Text&gt;&#10;            &lt;/Box&gt;&#10;            &lt;Box style={{ width: 200, height: 56, background: '#F4F7FA', borderRadius: 8, justifyContent: 'center', alignItems: 'center' }}&gt;&#10;                &lt;Text style={{ fontSize: 16, color: '#20344B' }}&gt;文件核对&lt;/Text&gt;&#10;            &lt;/Box&gt;&#10;            &lt;Box style={{ width: 200, height: 56, background: '#F4F7FA', borderRadius: 8, justifyContent: 'center', alignItems: 'center' }}&gt;&#10;                &lt;Text style={{ fontSize: 16, color: '#20344B' }}&gt;事实回放&lt;/Text&gt;&#10;            &lt;/Box&gt;&#10;            &lt;Box style={{ width: 200, height: 56, background: '#F4F7FA', borderRadius: 8, justifyContent: 'center', alignItems: 'center' }}&gt;&#10;                &lt;Text style={{ fontSize: 16, color: '#20344B' }}&gt;结果复算&lt;/Text&gt;&#10;            &lt;/Box&gt;&#10;            &lt;Box style={{ width: 200, height: 56, background: '#F4F7FA', borderRadius: 8, justifyContent: 'center', alignItems: 'center' }}&gt;&#10;                &lt;Text style={{ fontSize: 16, color: '#20344B' }}&gt;重新执行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5.7 交付与复现&lt;/Text&gt;&#10;        &lt;Text style={{ fontSize: 14, color: '#546779' }}&gt;03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07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08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1524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第五章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5.7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交付与复现</a:t>
            </a:r>
            <a:endParaRPr/>
          </a:p>
        </p:txBody>
      </p:sp>
      <p:sp>
        <p:nvSpPr>
          <p:cNvPr id="509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1524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知识块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①</a:t>
            </a:r>
            <a:endParaRPr/>
          </a:p>
        </p:txBody>
      </p:sp>
      <p:sp>
        <p:nvSpPr>
          <p:cNvPr id="510" name="" descr="{&quot;isTemplate&quot;:true,&quot;type&quot;:&quot;text&quot;}"/>
          <p:cNvSpPr txBox="1"/>
          <p:nvPr/>
        </p:nvSpPr>
        <p:spPr>
          <a:xfrm rot="0" flipH="0" flipV="0">
            <a:off x="609600" y="1866900"/>
            <a:ext cx="10972800" cy="1009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6600" b="1">
                <a:solidFill>
                  <a:srgbClr val="276FBF"/>
                </a:solidFill>
                <a:latin typeface="Microsoft YaHei"/>
                <a:ea typeface="Microsoft YaHei"/>
              </a:rPr>
              <a:t>①</a:t>
            </a:r>
            <a:endParaRPr/>
          </a:p>
        </p:txBody>
      </p:sp>
      <p:sp>
        <p:nvSpPr>
          <p:cNvPr id="511" name="" descr="{&quot;isTemplate&quot;:true,&quot;type&quot;:&quot;text&quot;}"/>
          <p:cNvSpPr txBox="1"/>
          <p:nvPr/>
        </p:nvSpPr>
        <p:spPr>
          <a:xfrm rot="0" flipH="0" flipV="0">
            <a:off x="609600" y="3028950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先说清接收者要完成什么</a:t>
            </a:r>
            <a:endParaRPr/>
          </a:p>
        </p:txBody>
      </p:sp>
      <p:sp>
        <p:nvSpPr>
          <p:cNvPr id="512" name=""/>
          <p:cNvSpPr/>
          <p:nvPr/>
        </p:nvSpPr>
        <p:spPr>
          <a:xfrm rot="0" flipH="0" flipV="0">
            <a:off x="609600" y="392430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13" name="" descr="{&quot;isTemplate&quot;:true,&quot;type&quot;:&quot;text&quot;}"/>
          <p:cNvSpPr txBox="1"/>
          <p:nvPr/>
        </p:nvSpPr>
        <p:spPr>
          <a:xfrm rot="0" flipH="0" flipV="0">
            <a:off x="609600" y="4114800"/>
            <a:ext cx="952500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「请帮我看看」不是充分的交付目标。接收者要审设计、核文件、看回放、复算分数，还是重新执行？先选检查类型，再按类型准备材料。</a:t>
            </a:r>
            <a:endParaRPr/>
          </a:p>
        </p:txBody>
      </p:sp>
      <p:sp>
        <p:nvSpPr>
          <p:cNvPr id="514" name=""/>
          <p:cNvSpPr/>
          <p:nvPr/>
        </p:nvSpPr>
        <p:spPr>
          <a:xfrm rot="0" flipH="0" flipV="0">
            <a:off x="609600" y="5029200"/>
            <a:ext cx="1905000" cy="533400"/>
          </a:xfrm>
          <a:prstGeom prst="roundRect">
            <a:avLst>
              <a:gd name="adj" fmla="val 1428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15" name="" descr="{&quot;isTemplate&quot;:true,&quot;type&quot;:&quot;text&quot;}"/>
          <p:cNvSpPr txBox="1"/>
          <p:nvPr/>
        </p:nvSpPr>
        <p:spPr>
          <a:xfrm rot="0" flipH="0" flipV="0">
            <a:off x="1257300" y="5200650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设计审阅</a:t>
            </a:r>
            <a:endParaRPr/>
          </a:p>
        </p:txBody>
      </p:sp>
      <p:sp>
        <p:nvSpPr>
          <p:cNvPr id="516" name=""/>
          <p:cNvSpPr/>
          <p:nvPr/>
        </p:nvSpPr>
        <p:spPr>
          <a:xfrm rot="0" flipH="0" flipV="0">
            <a:off x="2628900" y="5029200"/>
            <a:ext cx="1905000" cy="533400"/>
          </a:xfrm>
          <a:prstGeom prst="roundRect">
            <a:avLst>
              <a:gd name="adj" fmla="val 1428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17" name="" descr="{&quot;isTemplate&quot;:true,&quot;type&quot;:&quot;text&quot;}"/>
          <p:cNvSpPr txBox="1"/>
          <p:nvPr/>
        </p:nvSpPr>
        <p:spPr>
          <a:xfrm rot="0" flipH="0" flipV="0">
            <a:off x="3276600" y="5200650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文件核对</a:t>
            </a:r>
            <a:endParaRPr/>
          </a:p>
        </p:txBody>
      </p:sp>
      <p:sp>
        <p:nvSpPr>
          <p:cNvPr id="518" name=""/>
          <p:cNvSpPr/>
          <p:nvPr/>
        </p:nvSpPr>
        <p:spPr>
          <a:xfrm rot="0" flipH="0" flipV="0">
            <a:off x="4648200" y="5029200"/>
            <a:ext cx="1905000" cy="533400"/>
          </a:xfrm>
          <a:prstGeom prst="roundRect">
            <a:avLst>
              <a:gd name="adj" fmla="val 1428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19" name="" descr="{&quot;isTemplate&quot;:true,&quot;type&quot;:&quot;text&quot;}"/>
          <p:cNvSpPr txBox="1"/>
          <p:nvPr/>
        </p:nvSpPr>
        <p:spPr>
          <a:xfrm rot="0" flipH="0" flipV="0">
            <a:off x="5295900" y="5200650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事实回放</a:t>
            </a:r>
            <a:endParaRPr/>
          </a:p>
        </p:txBody>
      </p:sp>
      <p:sp>
        <p:nvSpPr>
          <p:cNvPr id="520" name=""/>
          <p:cNvSpPr/>
          <p:nvPr/>
        </p:nvSpPr>
        <p:spPr>
          <a:xfrm rot="0" flipH="0" flipV="0">
            <a:off x="6667500" y="5029200"/>
            <a:ext cx="1905000" cy="533400"/>
          </a:xfrm>
          <a:prstGeom prst="roundRect">
            <a:avLst>
              <a:gd name="adj" fmla="val 1428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21" name="" descr="{&quot;isTemplate&quot;:true,&quot;type&quot;:&quot;text&quot;}"/>
          <p:cNvSpPr txBox="1"/>
          <p:nvPr/>
        </p:nvSpPr>
        <p:spPr>
          <a:xfrm rot="0" flipH="0" flipV="0">
            <a:off x="7315200" y="5200650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结果复算</a:t>
            </a:r>
            <a:endParaRPr/>
          </a:p>
        </p:txBody>
      </p:sp>
      <p:sp>
        <p:nvSpPr>
          <p:cNvPr id="522" name=""/>
          <p:cNvSpPr/>
          <p:nvPr/>
        </p:nvSpPr>
        <p:spPr>
          <a:xfrm rot="0" flipH="0" flipV="0">
            <a:off x="8686800" y="5029200"/>
            <a:ext cx="1905000" cy="533400"/>
          </a:xfrm>
          <a:prstGeom prst="roundRect">
            <a:avLst>
              <a:gd name="adj" fmla="val 1428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23" name="" descr="{&quot;isTemplate&quot;:true,&quot;type&quot;:&quot;text&quot;}"/>
          <p:cNvSpPr txBox="1"/>
          <p:nvPr/>
        </p:nvSpPr>
        <p:spPr>
          <a:xfrm rot="0" flipH="0" flipV="0">
            <a:off x="9334500" y="5200650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重新执行</a:t>
            </a:r>
            <a:endParaRPr/>
          </a:p>
        </p:txBody>
      </p:sp>
      <p:sp>
        <p:nvSpPr>
          <p:cNvPr id="52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5.7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交付与复现</a:t>
            </a:r>
            <a:endParaRPr/>
          </a:p>
        </p:txBody>
      </p:sp>
      <p:sp>
        <p:nvSpPr>
          <p:cNvPr id="52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03 / 24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526" name="" descr="&lt;Slide notes={`五种接收检查，回答的是五个不同问题，彼此不能替代。&#13;&#10;&#13;&#10;设计审阅回答「知道研究什么」，看的是委托、输入、两组之间唯一的差异和判据。它不需要调用模型，材料说得清楚就能判断设计值不值得做。&#13;&#10;&#13;&#10;文件核对回答「收到哪份材料」，看的是原名、类型、大小、摘要和来源。收到文件本身，不代表协议校验通过，更不代表运行验收通过。&#13;&#10;&#13;&#10;事实回放回答「保存了哪些世界事实」，靠的是 Run 身份、帧和素材；它只读事实，不加载 Brain 重新推理，所以证明不了模型行为。&#13;&#10;&#13;&#10;结果复算回答「按规则能否得到结论」，要能追到原始记录、逐项判分和汇总，并保留未知与未完成。重新执行回答「这个环境能否继续工作」，要另记新事实与消耗。`} style={{ width: 1280, height: 720, background: '#FFFFFF', flexDirection: 'column', padding: '20px 64px' }}&gt;&#13;&#10;&#13;&#10;    &lt;Box style={{ height: 100, flexDirection: 'row', alignItems: 'center', gap: 20 }}&gt;&#13;&#10;        &lt;Box style={{ width: 4, height: 44, background: '#276FBF' }} /&gt;&#13;&#10;        &lt;Box style={{ flexDirection: 'column', gap: 4 }}&gt;&#13;&#10;            &lt;Text style={{ fontSize: 14, color: '#546779' }}&gt;5.7.1　先约定接收者要完成什么&lt;/Text&gt;&#13;&#10;            &lt;Text style={{ fontSize: 34, fontWeight: 'bold', color: '#20344B' }}&gt;五类检查，回答五个不同问题&lt;/Text&gt;&#13;&#10;        &lt;/Box&gt;&#13;&#10;    &lt;/Box&gt;&#13;&#10;&#13;&#10;    &lt;Box style={{ height: 540, flexDirection: 'column', justifyContent: 'center', gap: 22 }}&gt;&#13;&#10;&#13;&#10;        &lt;Box style={{ width: 1152, height: 72, background: '#EDF4FC', borderRadius: 10, padding: '0 22px', flexDirection: 'row', alignItems: 'center', gap: 16 }}&gt;&#13;&#10;            &lt;Box style={{ width: 40, height: 40, background: '#276FBF', borderRadius: 8, justifyContent: 'center', alignItems: 'center' }}&gt;&#13;&#10;                &lt;Text style={{ fontSize: 18, fontWeight: 'bold', color: '#FFFFFF' }}&gt;检&lt;/Text&gt;&#13;&#10;            &lt;/Box&gt;&#13;&#10;            &lt;Box style={{ flexDirection: 'column', gap: 3 }}&gt;&#13;&#10;                &lt;Text style={{ fontSize: 20, fontWeight: 'bold', color: '#20344B' }}&gt;按约定逐项接收，各项不能相互替代&lt;/Text&gt;&#13;&#10;                &lt;Text style={{ fontSize: 15, color: '#546779' }}&gt;目标不同，作者要准备的材料与验证深度也不同&lt;/Text&gt;&#13;&#10;            &lt;/Box&gt;&#13;&#10;        &lt;/Box&gt;&#13;&#10;&#13;&#10;        &lt;Box style={{ flexDirection: 'row', alignItems: 'flex-start', gap: 10 }}&gt;&#13;&#10;&#13;&#10;            &lt;Box style={{ width: 204, height: 300, background: '#F4F7FA', borderRadius: 10, padding: '16px 14px', flexDirection: 'column', gap: 8 }}&gt;&#13;&#10;                &lt;Box style={{ width: 44, height: 44, background: '#276FBF', borderRadius: 8, justifyContent: 'center', alignItems: 'center' }}&gt;&#13;&#10;                    &lt;Text style={{ fontSize: 20, fontWeight: 'bold', color: '#FFFFFF' }}&gt;审&lt;/Text&gt;&#13;&#10;                &lt;/Box&gt;&#13;&#10;                &lt;Text style={{ fontSize: 18, fontWeight: 'bold', color: '#20344B' }}&gt;设计审阅&lt;/Text&gt;&#13;&#10;                &lt;Text style={{ fontSize: 14, color: '#546779', lineHeight: 1.6 }}&gt;知道研究什么：委托、输入、唯一差异与判据&lt;/Text&gt;&#13;&#10;                &lt;Box style={{ width: 176, height: 30, background: '#ECF7F2', borderRadius: 6, justifyContent: 'center', alignItems: 'center', marginTop: 4 }}&gt;&#13;&#10;                    &lt;Text style={{ fontSize: 13, color: '#26816B' }}&gt;无需模型调用&lt;/Text&gt;&#13;&#10;                &lt;/Box&gt;&#13;&#10;            &lt;/Box&gt;&#13;&#10;&#13;&#10;            &lt;Box style={{ width: 204, height: 300, background: '#F4F7FA', borderRadius: 10, padding: '16px 14px', flexDirection: 'column', gap: 8 }}&gt;&#13;&#10;                &lt;Box style={{ width: 44, height: 44, background: '#276FBF', borderRadius: 8, justifyContent: 'center', alignItems: 'center' }}&gt;&#13;&#10;                    &lt;Text style={{ fontSize: 20, fontWeight: 'bold', color: '#FFFFFF' }}&gt;核&lt;/Text&gt;&#13;&#10;                &lt;/Box&gt;&#13;&#10;                &lt;Text style={{ fontSize: 18, fontWeight: 'bold', color: '#20344B' }}&gt;文件核对&lt;/Text&gt;&#13;&#10;                &lt;Text style={{ fontSize: 14, color: '#546779', lineHeight: 1.6 }}&gt;收到哪份材料：原名、类型、大小、摘要与来源&lt;/Text&gt;&#13;&#10;                &lt;Box style={{ width: 176, height: 30, background: '#ECF7F2', borderRadius: 6, justifyContent: 'center', alignItems: 'center', marginTop: 4 }}&gt;&#13;&#10;                    &lt;Text style={{ fontSize: 13, color: '#26816B' }}&gt;无需模型调用&lt;/Text&gt;&#13;&#10;                &lt;/Box&gt;&#13;&#10;            &lt;/Box&gt;&#13;&#10;&#13;&#10;            &lt;Box style={{ width: 224, height: 300, background: '#F4F7FA', borderRadius: 10, padding: '16px 14px', flexDirection: 'column', gap: 8 }}&gt;&#13;&#10;                &lt;Box style={{ width: 44, height: 44, background: '#26816B', borderRadius: 8, justifyContent: 'center', alignItems: 'center' }}&gt;&#13;&#10;                    &lt;Text style={{ fontSize: 20, fontWeight: 'bold', color: '#FFFFFF' }}&gt;回&lt;/Text&gt;&#13;&#10;                &lt;/Box&gt;&#13;&#10;                &lt;Text style={{ fontSize: 18, fontWeight: 'bold', color: '#20344B' }}&gt;事实回放&lt;/Text&gt;&#13;&#10;                &lt;Text style={{ fontSize: 14, color: '#546779', lineHeight: 1.6 }}&gt;保存哪些世界事实：Run 身份、帧与素材&lt;/Text&gt;&#13;&#10;                &lt;Box style={{ width: 196, height: 30, background: '#ECF7F2', borderRadius: 6, justifyContent: 'center', alignItems: 'center', marginTop: 4 }}&gt;&#13;&#10;                    &lt;Text style={{ fontSize: 13, color: '#26816B' }}&gt;Replay 不调用模型&lt;/Text&gt;&#13;&#10;                &lt;/Box&gt;&#13;&#10;            &lt;/Box&gt;&#13;&#10;&#13;&#10;            &lt;Box style={{ width: 240, height: 300, background: '#F4F7FA', borderRadius: 10, padding: '16px 14px', flexDirection: 'column', gap: 8 }}&gt;&#13;&#10;                &lt;Box style={{ width: 44, height: 44, background: '#276FBF', borderRadius: 8, justifyContent: 'center', alignItems: 'center' }}&gt;&#13;&#10;                    &lt;Text style={{ fontSize: 20, fontWeight: 'bold', color: '#FFFFFF' }}&gt;算&lt;/Text&gt;&#13;&#10;                &lt;/Box&gt;&#13;&#10;                &lt;Text style={{ fontSize: 18, fontWeight: 'bold', color: '#20344B' }}&gt;结果复算&lt;/Text&gt;&#13;&#10;                &lt;Text style={{ fontSize: 14, color: '#546779', lineHeight: 1.6 }}&gt;按规则能否得到结论：原始记录、逐项判分与汇总&lt;/Text&gt;&#13;&#10;                &lt;Box style={{ width: 212, height: 30, background: '#EDF4FC', borderRadius: 6, justifyContent: 'center', alignItems: 'center', marginTop: 4 }}&gt;&#13;&#10;                    &lt;Text style={{ fontSize: 13, color: '#276FBF' }}&gt;保留未知与未完成&lt;/Text&gt;&#13;&#10;                &lt;/Box&gt;&#13;&#10;            &lt;/Box&gt;&#13;&#10;&#13;&#10;            &lt;Box style={{ width: 240, height: 300, background: '#F4F7FA', borderRadius: 10, padding: '16px 14px', flexDirection: 'column', gap: 8 }}&gt;&#13;&#10;                &lt;Box style={{ width: 44, height: 44, background: '#CB6B28', borderRadius: 8, justifyContent: 'center', alignItems: 'center' }}&gt;&#13;&#10;                    &lt;Text style={{ fontSize: 20, fontWeight: 'bold', color: '#FFFFFF' }}&gt;跑&lt;/Text&gt;&#13;&#10;                &lt;/Box&gt;&#13;&#10;                &lt;Text style={{ fontSize: 18, fontWeight: 'bold', color: '#20344B' }}&gt;重新执行&lt;/Text&gt;&#13;&#10;                &lt;Text style={{ fontSize: 14, color: '#546779', lineHeight: 1.6 }}&gt;此环境能否继续工作：输入、依赖、凭据与预算&lt;/Text&gt;&#13;&#10;                &lt;Box style={{ width: 212, height: 30, background: '#FFF4E6', borderRadius: 6, justifyContent: 'center', alignItems: 'center', marginTop: 4 }}&gt;&#13;&#10;                    &lt;Text style={{ fontSize: 13, color: '#CB6B28' }}&gt;另记新事实与消耗&lt;/Text&gt;&#13;&#10;                &lt;/Box&gt;&#13;&#10;            &lt;/Box&gt;&#13;&#10;&#13;&#10;        &lt;/Box&gt;&#13;&#10;&#13;&#10;        &lt;Box style={{ width: 1152, height: 84, background: '#FFF4E6', borderRadius: 10, padding: '0 22px', flexDirection: 'row', alignItems: 'center', gap: 16 }}&gt;&#13;&#10;            &lt;Box style={{ width: 4, height: 30, background: '#CB6B28' }} /&gt;&#13;&#10;            &lt;Box style={{ flexDirection: 'column', gap: 4 }}&gt;&#13;&#10;                &lt;Text style={{ fontSize: 15, fontWeight: 'bold', color: '#CB6B28' }}&gt;文件签收、事实回放和重新执行各自留证&lt;/Text&gt;&#13;&#10;                &lt;Text style={{ fontSize: 14, color: '#546779' }}&gt;它们回答的问题不同，任何一种都不能代替另一种。&lt;/Text&gt;&#13;&#10;            &lt;/Box&gt;&#13;&#10;        &lt;/Box&gt;&#13;&#10;&#13;&#10;    &lt;/Box&gt;&#13;&#10;&#13;&#10;    &lt;Box style={{ height: 40, flexDirection: 'row', justifyContent: 'space-between', alignItems: 'center' }}&gt;&#13;&#10;        &lt;Text style={{ fontSize: 14, color: '#546779' }}&gt;5.7 交付与复现&lt;/Text&gt;&#13;&#10;        &lt;Text style={{ fontSize: 14, color: '#546779' }}&gt;04 / 24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8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29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21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5.7.1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先约定接收者要完成什么</a:t>
            </a:r>
            <a:endParaRPr/>
          </a:p>
        </p:txBody>
      </p:sp>
      <p:sp>
        <p:nvSpPr>
          <p:cNvPr id="530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21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五类检查，回答五个不同问题</a:t>
            </a:r>
            <a:endParaRPr/>
          </a:p>
        </p:txBody>
      </p:sp>
      <p:sp>
        <p:nvSpPr>
          <p:cNvPr id="531" name=""/>
          <p:cNvSpPr/>
          <p:nvPr/>
        </p:nvSpPr>
        <p:spPr>
          <a:xfrm rot="0" flipH="0" flipV="0">
            <a:off x="609600" y="1333500"/>
            <a:ext cx="10972800" cy="685800"/>
          </a:xfrm>
          <a:prstGeom prst="roundRect">
            <a:avLst>
              <a:gd name="adj" fmla="val 13889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32" name=""/>
          <p:cNvSpPr/>
          <p:nvPr/>
        </p:nvSpPr>
        <p:spPr>
          <a:xfrm rot="0" flipH="0" flipV="0">
            <a:off x="819150" y="148590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33" name="" descr="{&quot;isTemplate&quot;:true,&quot;type&quot;:&quot;text&quot;}"/>
          <p:cNvSpPr txBox="1"/>
          <p:nvPr/>
        </p:nvSpPr>
        <p:spPr>
          <a:xfrm rot="0" flipH="0" flipV="0">
            <a:off x="923925" y="1571625"/>
            <a:ext cx="171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检</a:t>
            </a:r>
            <a:endParaRPr/>
          </a:p>
        </p:txBody>
      </p:sp>
      <p:sp>
        <p:nvSpPr>
          <p:cNvPr id="534" name="" descr="{&quot;isTemplate&quot;:true,&quot;type&quot;:&quot;text&quot;}"/>
          <p:cNvSpPr txBox="1"/>
          <p:nvPr/>
        </p:nvSpPr>
        <p:spPr>
          <a:xfrm rot="0" flipH="0" flipV="0">
            <a:off x="1352550" y="1466850"/>
            <a:ext cx="3048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按约定逐项接收，各项不能相互替代</a:t>
            </a:r>
            <a:endParaRPr/>
          </a:p>
        </p:txBody>
      </p:sp>
      <p:sp>
        <p:nvSpPr>
          <p:cNvPr id="535" name="" descr="{&quot;isTemplate&quot;:true,&quot;type&quot;:&quot;text&quot;}"/>
          <p:cNvSpPr txBox="1"/>
          <p:nvPr/>
        </p:nvSpPr>
        <p:spPr>
          <a:xfrm rot="0" flipH="0" flipV="0">
            <a:off x="1352550" y="1724025"/>
            <a:ext cx="3048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目标不同，作者要准备的材料与验证深度也不同</a:t>
            </a:r>
            <a:endParaRPr/>
          </a:p>
        </p:txBody>
      </p:sp>
      <p:sp>
        <p:nvSpPr>
          <p:cNvPr id="536" name=""/>
          <p:cNvSpPr/>
          <p:nvPr/>
        </p:nvSpPr>
        <p:spPr>
          <a:xfrm rot="0" flipH="0" flipV="0">
            <a:off x="609600" y="2228850"/>
            <a:ext cx="1943100" cy="2857500"/>
          </a:xfrm>
          <a:prstGeom prst="roundRect">
            <a:avLst>
              <a:gd name="adj" fmla="val 4902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37" name=""/>
          <p:cNvSpPr/>
          <p:nvPr/>
        </p:nvSpPr>
        <p:spPr>
          <a:xfrm rot="0" flipH="0" flipV="0">
            <a:off x="742950" y="238125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38" name="" descr="{&quot;isTemplate&quot;:true,&quot;type&quot;:&quot;text&quot;}"/>
          <p:cNvSpPr txBox="1"/>
          <p:nvPr/>
        </p:nvSpPr>
        <p:spPr>
          <a:xfrm rot="0" flipH="0" flipV="0">
            <a:off x="857250" y="2476500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审</a:t>
            </a:r>
            <a:endParaRPr/>
          </a:p>
        </p:txBody>
      </p:sp>
      <p:sp>
        <p:nvSpPr>
          <p:cNvPr id="539" name="" descr="{&quot;isTemplate&quot;:true,&quot;type&quot;:&quot;text&quot;}"/>
          <p:cNvSpPr txBox="1"/>
          <p:nvPr/>
        </p:nvSpPr>
        <p:spPr>
          <a:xfrm rot="0" flipH="0" flipV="0">
            <a:off x="742950" y="2876550"/>
            <a:ext cx="1676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设计审阅</a:t>
            </a:r>
            <a:endParaRPr/>
          </a:p>
        </p:txBody>
      </p:sp>
      <p:sp>
        <p:nvSpPr>
          <p:cNvPr id="540" name="" descr="{&quot;isTemplate&quot;:true,&quot;type&quot;:&quot;text&quot;}"/>
          <p:cNvSpPr txBox="1"/>
          <p:nvPr/>
        </p:nvSpPr>
        <p:spPr>
          <a:xfrm rot="0" flipH="0" flipV="0">
            <a:off x="742950" y="3162300"/>
            <a:ext cx="16764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知道研究什么：委托、输入、唯一差异与判据</a:t>
            </a:r>
            <a:endParaRPr/>
          </a:p>
        </p:txBody>
      </p:sp>
      <p:sp>
        <p:nvSpPr>
          <p:cNvPr id="541" name=""/>
          <p:cNvSpPr/>
          <p:nvPr/>
        </p:nvSpPr>
        <p:spPr>
          <a:xfrm rot="0" flipH="0" flipV="0">
            <a:off x="742950" y="3790950"/>
            <a:ext cx="1676400" cy="285750"/>
          </a:xfrm>
          <a:prstGeom prst="roundRect">
            <a:avLst>
              <a:gd name="adj" fmla="val 200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42" name="" descr="{&quot;isTemplate&quot;:true,&quot;type&quot;:&quot;text&quot;}"/>
          <p:cNvSpPr txBox="1"/>
          <p:nvPr/>
        </p:nvSpPr>
        <p:spPr>
          <a:xfrm rot="0" flipH="0" flipV="0">
            <a:off x="1209675" y="3857625"/>
            <a:ext cx="742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6816B"/>
                </a:solidFill>
                <a:latin typeface="Microsoft YaHei"/>
                <a:ea typeface="Microsoft YaHei"/>
              </a:rPr>
              <a:t>无需模型调用</a:t>
            </a:r>
            <a:endParaRPr/>
          </a:p>
        </p:txBody>
      </p:sp>
      <p:sp>
        <p:nvSpPr>
          <p:cNvPr id="543" name=""/>
          <p:cNvSpPr/>
          <p:nvPr/>
        </p:nvSpPr>
        <p:spPr>
          <a:xfrm rot="0" flipH="0" flipV="0">
            <a:off x="2647950" y="2228850"/>
            <a:ext cx="1943100" cy="2857500"/>
          </a:xfrm>
          <a:prstGeom prst="roundRect">
            <a:avLst>
              <a:gd name="adj" fmla="val 4902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44" name=""/>
          <p:cNvSpPr/>
          <p:nvPr/>
        </p:nvSpPr>
        <p:spPr>
          <a:xfrm rot="0" flipH="0" flipV="0">
            <a:off x="2781300" y="238125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45" name="" descr="{&quot;isTemplate&quot;:true,&quot;type&quot;:&quot;text&quot;}"/>
          <p:cNvSpPr txBox="1"/>
          <p:nvPr/>
        </p:nvSpPr>
        <p:spPr>
          <a:xfrm rot="0" flipH="0" flipV="0">
            <a:off x="2895600" y="2476500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核</a:t>
            </a:r>
            <a:endParaRPr/>
          </a:p>
        </p:txBody>
      </p:sp>
      <p:sp>
        <p:nvSpPr>
          <p:cNvPr id="546" name="" descr="{&quot;isTemplate&quot;:true,&quot;type&quot;:&quot;text&quot;}"/>
          <p:cNvSpPr txBox="1"/>
          <p:nvPr/>
        </p:nvSpPr>
        <p:spPr>
          <a:xfrm rot="0" flipH="0" flipV="0">
            <a:off x="2781300" y="2876550"/>
            <a:ext cx="1676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文件核对</a:t>
            </a:r>
            <a:endParaRPr/>
          </a:p>
        </p:txBody>
      </p:sp>
      <p:sp>
        <p:nvSpPr>
          <p:cNvPr id="547" name="" descr="{&quot;isTemplate&quot;:true,&quot;type&quot;:&quot;text&quot;}"/>
          <p:cNvSpPr txBox="1"/>
          <p:nvPr/>
        </p:nvSpPr>
        <p:spPr>
          <a:xfrm rot="0" flipH="0" flipV="0">
            <a:off x="2781300" y="3162300"/>
            <a:ext cx="16764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收到哪份材料：原名、类型、大小、摘要与来源</a:t>
            </a:r>
            <a:endParaRPr/>
          </a:p>
        </p:txBody>
      </p:sp>
      <p:sp>
        <p:nvSpPr>
          <p:cNvPr id="548" name=""/>
          <p:cNvSpPr/>
          <p:nvPr/>
        </p:nvSpPr>
        <p:spPr>
          <a:xfrm rot="0" flipH="0" flipV="0">
            <a:off x="2781300" y="3790950"/>
            <a:ext cx="1676400" cy="285750"/>
          </a:xfrm>
          <a:prstGeom prst="roundRect">
            <a:avLst>
              <a:gd name="adj" fmla="val 200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49" name="" descr="{&quot;isTemplate&quot;:true,&quot;type&quot;:&quot;text&quot;}"/>
          <p:cNvSpPr txBox="1"/>
          <p:nvPr/>
        </p:nvSpPr>
        <p:spPr>
          <a:xfrm rot="0" flipH="0" flipV="0">
            <a:off x="3248025" y="3857625"/>
            <a:ext cx="742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6816B"/>
                </a:solidFill>
                <a:latin typeface="Microsoft YaHei"/>
                <a:ea typeface="Microsoft YaHei"/>
              </a:rPr>
              <a:t>无需模型调用</a:t>
            </a:r>
            <a:endParaRPr/>
          </a:p>
        </p:txBody>
      </p:sp>
      <p:sp>
        <p:nvSpPr>
          <p:cNvPr id="550" name=""/>
          <p:cNvSpPr/>
          <p:nvPr/>
        </p:nvSpPr>
        <p:spPr>
          <a:xfrm rot="0" flipH="0" flipV="0">
            <a:off x="4686300" y="2228850"/>
            <a:ext cx="2133600" cy="2857500"/>
          </a:xfrm>
          <a:prstGeom prst="roundRect">
            <a:avLst>
              <a:gd name="adj" fmla="val 446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51" name=""/>
          <p:cNvSpPr/>
          <p:nvPr/>
        </p:nvSpPr>
        <p:spPr>
          <a:xfrm rot="0" flipH="0" flipV="0">
            <a:off x="4819650" y="238125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552" name="" descr="{&quot;isTemplate&quot;:true,&quot;type&quot;:&quot;text&quot;}"/>
          <p:cNvSpPr txBox="1"/>
          <p:nvPr/>
        </p:nvSpPr>
        <p:spPr>
          <a:xfrm rot="0" flipH="0" flipV="0">
            <a:off x="4933950" y="2476500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回</a:t>
            </a:r>
            <a:endParaRPr/>
          </a:p>
        </p:txBody>
      </p:sp>
      <p:sp>
        <p:nvSpPr>
          <p:cNvPr id="553" name="" descr="{&quot;isTemplate&quot;:true,&quot;type&quot;:&quot;text&quot;}"/>
          <p:cNvSpPr txBox="1"/>
          <p:nvPr/>
        </p:nvSpPr>
        <p:spPr>
          <a:xfrm rot="0" flipH="0" flipV="0">
            <a:off x="4819650" y="2876550"/>
            <a:ext cx="1866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事实回放</a:t>
            </a:r>
            <a:endParaRPr/>
          </a:p>
        </p:txBody>
      </p:sp>
      <p:sp>
        <p:nvSpPr>
          <p:cNvPr id="554" name="" descr="{&quot;isTemplate&quot;:true,&quot;type&quot;:&quot;text&quot;}"/>
          <p:cNvSpPr txBox="1"/>
          <p:nvPr/>
        </p:nvSpPr>
        <p:spPr>
          <a:xfrm rot="0" flipH="0" flipV="0">
            <a:off x="4819650" y="3162300"/>
            <a:ext cx="18669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保存哪些世界事实：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Run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身份、帧与素材</a:t>
            </a:r>
            <a:endParaRPr/>
          </a:p>
        </p:txBody>
      </p:sp>
      <p:sp>
        <p:nvSpPr>
          <p:cNvPr id="555" name=""/>
          <p:cNvSpPr/>
          <p:nvPr/>
        </p:nvSpPr>
        <p:spPr>
          <a:xfrm rot="0" flipH="0" flipV="0">
            <a:off x="4819650" y="3790950"/>
            <a:ext cx="1866900" cy="285750"/>
          </a:xfrm>
          <a:prstGeom prst="roundRect">
            <a:avLst>
              <a:gd name="adj" fmla="val 200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56" name="" descr="{&quot;isTemplate&quot;:true,&quot;type&quot;:&quot;text&quot;}"/>
          <p:cNvSpPr txBox="1"/>
          <p:nvPr/>
        </p:nvSpPr>
        <p:spPr>
          <a:xfrm rot="0" flipH="0" flipV="0">
            <a:off x="5229225" y="3857625"/>
            <a:ext cx="10572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6816B"/>
                </a:solidFill>
                <a:latin typeface="Microsoft YaHei"/>
                <a:ea typeface="Microsoft YaHei"/>
              </a:rPr>
              <a:t xml:space="preserve">Replay </a:t>
            </a:r>
            <a:r>
              <a:rPr lang="zh-CN" sz="975">
                <a:solidFill>
                  <a:srgbClr val="26816B"/>
                </a:solidFill>
                <a:latin typeface="Microsoft YaHei"/>
                <a:ea typeface="Microsoft YaHei"/>
              </a:rPr>
              <a:t>不调用模型</a:t>
            </a:r>
            <a:endParaRPr/>
          </a:p>
        </p:txBody>
      </p:sp>
      <p:sp>
        <p:nvSpPr>
          <p:cNvPr id="557" name=""/>
          <p:cNvSpPr/>
          <p:nvPr/>
        </p:nvSpPr>
        <p:spPr>
          <a:xfrm rot="0" flipH="0" flipV="0">
            <a:off x="6915150" y="2228850"/>
            <a:ext cx="2286000" cy="2857500"/>
          </a:xfrm>
          <a:prstGeom prst="roundRect">
            <a:avLst>
              <a:gd name="adj" fmla="val 416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58" name=""/>
          <p:cNvSpPr/>
          <p:nvPr/>
        </p:nvSpPr>
        <p:spPr>
          <a:xfrm rot="0" flipH="0" flipV="0">
            <a:off x="7048500" y="238125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59" name="" descr="{&quot;isTemplate&quot;:true,&quot;type&quot;:&quot;text&quot;}"/>
          <p:cNvSpPr txBox="1"/>
          <p:nvPr/>
        </p:nvSpPr>
        <p:spPr>
          <a:xfrm rot="0" flipH="0" flipV="0">
            <a:off x="7162800" y="2476500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算</a:t>
            </a:r>
            <a:endParaRPr/>
          </a:p>
        </p:txBody>
      </p:sp>
      <p:sp>
        <p:nvSpPr>
          <p:cNvPr id="560" name="" descr="{&quot;isTemplate&quot;:true,&quot;type&quot;:&quot;text&quot;}"/>
          <p:cNvSpPr txBox="1"/>
          <p:nvPr/>
        </p:nvSpPr>
        <p:spPr>
          <a:xfrm rot="0" flipH="0" flipV="0">
            <a:off x="7048500" y="2876550"/>
            <a:ext cx="2019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结果复算</a:t>
            </a:r>
            <a:endParaRPr/>
          </a:p>
        </p:txBody>
      </p:sp>
      <p:sp>
        <p:nvSpPr>
          <p:cNvPr id="561" name="" descr="{&quot;isTemplate&quot;:true,&quot;type&quot;:&quot;text&quot;}"/>
          <p:cNvSpPr txBox="1"/>
          <p:nvPr/>
        </p:nvSpPr>
        <p:spPr>
          <a:xfrm rot="0" flipH="0" flipV="0">
            <a:off x="7048500" y="3162300"/>
            <a:ext cx="20193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按规则能否得到结论：原始记录、逐项判分与汇总</a:t>
            </a:r>
            <a:endParaRPr/>
          </a:p>
        </p:txBody>
      </p:sp>
      <p:sp>
        <p:nvSpPr>
          <p:cNvPr id="562" name=""/>
          <p:cNvSpPr/>
          <p:nvPr/>
        </p:nvSpPr>
        <p:spPr>
          <a:xfrm rot="0" flipH="0" flipV="0">
            <a:off x="7048500" y="3790950"/>
            <a:ext cx="2019300" cy="285750"/>
          </a:xfrm>
          <a:prstGeom prst="roundRect">
            <a:avLst>
              <a:gd name="adj" fmla="val 20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63" name="" descr="{&quot;isTemplate&quot;:true,&quot;type&quot;:&quot;text&quot;}"/>
          <p:cNvSpPr txBox="1"/>
          <p:nvPr/>
        </p:nvSpPr>
        <p:spPr>
          <a:xfrm rot="0" flipH="0" flipV="0">
            <a:off x="7562850" y="3857625"/>
            <a:ext cx="990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76FBF"/>
                </a:solidFill>
                <a:latin typeface="Microsoft YaHei"/>
                <a:ea typeface="Microsoft YaHei"/>
              </a:rPr>
              <a:t>保留未知与未完成</a:t>
            </a:r>
            <a:endParaRPr/>
          </a:p>
        </p:txBody>
      </p:sp>
      <p:sp>
        <p:nvSpPr>
          <p:cNvPr id="564" name=""/>
          <p:cNvSpPr/>
          <p:nvPr/>
        </p:nvSpPr>
        <p:spPr>
          <a:xfrm rot="0" flipH="0" flipV="0">
            <a:off x="9296400" y="2228850"/>
            <a:ext cx="2286000" cy="2857500"/>
          </a:xfrm>
          <a:prstGeom prst="roundRect">
            <a:avLst>
              <a:gd name="adj" fmla="val 416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65" name=""/>
          <p:cNvSpPr/>
          <p:nvPr/>
        </p:nvSpPr>
        <p:spPr>
          <a:xfrm rot="0" flipH="0" flipV="0">
            <a:off x="9429750" y="238125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66" name="" descr="{&quot;isTemplate&quot;:true,&quot;type&quot;:&quot;text&quot;}"/>
          <p:cNvSpPr txBox="1"/>
          <p:nvPr/>
        </p:nvSpPr>
        <p:spPr>
          <a:xfrm rot="0" flipH="0" flipV="0">
            <a:off x="9544050" y="2476500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跑</a:t>
            </a:r>
            <a:endParaRPr/>
          </a:p>
        </p:txBody>
      </p:sp>
      <p:sp>
        <p:nvSpPr>
          <p:cNvPr id="567" name="" descr="{&quot;isTemplate&quot;:true,&quot;type&quot;:&quot;text&quot;}"/>
          <p:cNvSpPr txBox="1"/>
          <p:nvPr/>
        </p:nvSpPr>
        <p:spPr>
          <a:xfrm rot="0" flipH="0" flipV="0">
            <a:off x="9429750" y="2876550"/>
            <a:ext cx="2019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重新执行</a:t>
            </a:r>
            <a:endParaRPr/>
          </a:p>
        </p:txBody>
      </p:sp>
      <p:sp>
        <p:nvSpPr>
          <p:cNvPr id="568" name="" descr="{&quot;isTemplate&quot;:true,&quot;type&quot;:&quot;text&quot;}"/>
          <p:cNvSpPr txBox="1"/>
          <p:nvPr/>
        </p:nvSpPr>
        <p:spPr>
          <a:xfrm rot="0" flipH="0" flipV="0">
            <a:off x="9429750" y="3162300"/>
            <a:ext cx="20193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此环境能否继续工作：输入、依赖、凭据与预算</a:t>
            </a:r>
            <a:endParaRPr/>
          </a:p>
        </p:txBody>
      </p:sp>
      <p:sp>
        <p:nvSpPr>
          <p:cNvPr id="569" name=""/>
          <p:cNvSpPr/>
          <p:nvPr/>
        </p:nvSpPr>
        <p:spPr>
          <a:xfrm rot="0" flipH="0" flipV="0">
            <a:off x="9429750" y="3790950"/>
            <a:ext cx="2019300" cy="285750"/>
          </a:xfrm>
          <a:prstGeom prst="roundRect">
            <a:avLst>
              <a:gd name="adj" fmla="val 200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70" name="" descr="{&quot;isTemplate&quot;:true,&quot;type&quot;:&quot;text&quot;}"/>
          <p:cNvSpPr txBox="1"/>
          <p:nvPr/>
        </p:nvSpPr>
        <p:spPr>
          <a:xfrm rot="0" flipH="0" flipV="0">
            <a:off x="9944100" y="3857625"/>
            <a:ext cx="990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CB6B28"/>
                </a:solidFill>
                <a:latin typeface="Microsoft YaHei"/>
                <a:ea typeface="Microsoft YaHei"/>
              </a:rPr>
              <a:t>另记新事实与消耗</a:t>
            </a:r>
            <a:endParaRPr/>
          </a:p>
        </p:txBody>
      </p:sp>
      <p:sp>
        <p:nvSpPr>
          <p:cNvPr id="571" name=""/>
          <p:cNvSpPr/>
          <p:nvPr/>
        </p:nvSpPr>
        <p:spPr>
          <a:xfrm rot="0" flipH="0" flipV="0">
            <a:off x="609600" y="5295900"/>
            <a:ext cx="10972800" cy="800100"/>
          </a:xfrm>
          <a:prstGeom prst="roundRect">
            <a:avLst>
              <a:gd name="adj" fmla="val 1190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72" name=""/>
          <p:cNvSpPr/>
          <p:nvPr/>
        </p:nvSpPr>
        <p:spPr>
          <a:xfrm rot="0" flipH="0" flipV="0">
            <a:off x="819150" y="5553075"/>
            <a:ext cx="38100" cy="2857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73" name="" descr="{&quot;isTemplate&quot;:true,&quot;type&quot;:&quot;text&quot;}"/>
          <p:cNvSpPr txBox="1"/>
          <p:nvPr/>
        </p:nvSpPr>
        <p:spPr>
          <a:xfrm rot="0" flipH="0" flipV="0">
            <a:off x="1009650" y="5514975"/>
            <a:ext cx="3067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文件签收、事实回放和重新执行各自留证</a:t>
            </a:r>
            <a:endParaRPr/>
          </a:p>
        </p:txBody>
      </p:sp>
      <p:sp>
        <p:nvSpPr>
          <p:cNvPr id="574" name="" descr="{&quot;isTemplate&quot;:true,&quot;type&quot;:&quot;text&quot;}"/>
          <p:cNvSpPr txBox="1"/>
          <p:nvPr/>
        </p:nvSpPr>
        <p:spPr>
          <a:xfrm rot="0" flipH="0" flipV="0">
            <a:off x="1009650" y="5724525"/>
            <a:ext cx="3067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它们回答的问题不同，任何一种都不能代替另一种。</a:t>
            </a:r>
            <a:endParaRPr/>
          </a:p>
        </p:txBody>
      </p:sp>
      <p:sp>
        <p:nvSpPr>
          <p:cNvPr id="57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5.7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交付与复现</a:t>
            </a:r>
            <a:endParaRPr/>
          </a:p>
        </p:txBody>
      </p:sp>
      <p:sp>
        <p:nvSpPr>
          <p:cNvPr id="57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04 / 24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577" name="" descr="&lt;Slide notes={`「请帮我看看」不是充分的交付目标。&#10;&#10;更清楚的请求长这样：请确认两组只改变了咨询台的澄清策略，并检查 H1 到 H4 的判分是否能追到证据。这句话给了接收者三样东西——范围、对象和判据。它还隐含两条边界：不要求接收者运行模型，也不要求把公共作者资源全部导入自己的工作区。&#10;&#10;如果目标不是审阅而是继续实验，那就还要交代下一项工作。检查尚未投递的窗口回复，需要的是一条可恢复边界；调整一段 SOP，需要准备新草稿；从相同封存输入增加独立重复，需要创建新 Run。这三件事的前置材料完全不同，不能只写成「继续跑一下」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7.1　先约定接收者要完成什么&lt;/Text&gt;&#10;            &lt;Text style={{ fontSize: 34, fontWeight: 'bold', color: '#20344B' }}&gt;把「看看」改成可执行的请求&lt;/Text&gt;&#10;        &lt;/Box&gt;&#10;    &lt;/Box&gt;&#10;&#10;    &lt;Box style={{ height: 540, flexDirection: 'column', justifyContent: 'center', gap: 18 }}&gt;&#10;&#10;        &lt;Box style={{ flexDirection: 'row', alignItems: 'stretch', gap: 32 }}&gt;&#10;&#10;            &lt;Box style={{ width: 430, height: 190, background: '#F7F3E8', borderRadius: 10, padding: '18px 20px', flexDirection: 'column', gap: 8 }}&gt;&#10;                &lt;Text style={{ fontSize: 14, color: '#546779' }}&gt;不够的写法&lt;/Text&gt;&#10;                &lt;Text style={{ fontSize: 22, fontWeight: 'bold', color: '#20344B' }}&gt;「请帮我看看」&lt;/Text&gt;&#10;                &lt;Text style={{ fontSize: 15, color: '#546779', lineHeight: 1.6 }}&gt;没有说清看什么、看到什么程度、要不要运行模型，接收者只能自己猜。&lt;/Text&gt;&#10;            &lt;/Box&gt;&#10;&#10;            &lt;Box style={{ width: 690, height: 190, background: '#EDF4FC', borderRadius: 10, padding: '18px 20px', flexDirection: 'column', gap: 8 }}&gt;&#10;                &lt;Text style={{ fontSize: 14, color: '#546779' }}&gt;可执行的写法&lt;/Text&gt;&#10;                &lt;Text style={{ fontSize: 19, fontWeight: 'bold', color: '#276FBF', lineHeight: 1.5 }}&gt;请确认两组只改变了咨询台的澄清策略，并检查 H1—H4 的判分是否能追到证据。&lt;/Text&gt;&#10;                &lt;Text style={{ fontSize: 15, color: '#546779', lineHeight: 1.6 }}&gt;它不要求接收者运行模型，也不要求把所有公共作者资源导入自己的工作区。&lt;/Text&gt;&#10;            &lt;/Box&gt;&#10;&#10;        &lt;/Box&gt;&#10;&#10;        &lt;Box style={{ width: 1152, height: 200, background: '#F4F7FA', borderRadius: 10, padding: '18px 22px', flexDirection: 'column', gap: 10 }}&gt;&#10;            &lt;Text style={{ fontSize: 16, fontWeight: 'bold', color: '#20344B' }}&gt;如果目标是继续实验，还要交代下一项工作&lt;/Text&gt;&#10;&#10;            &lt;Box style={{ flexDirection: 'row', alignItems: 'center', gap: 14, height: 26 }}&gt;&#10;                &lt;Box style={{ width: 4, height: 22, background: '#276FBF' }} /&gt;&#10;                &lt;Text style={{ fontSize: 15, color: '#546779' }}&gt;检查尚未投递的窗口回复 —— 需要的是一条可恢复边界&lt;/Text&gt;&#10;            &lt;/Box&gt;&#10;            &lt;Box style={{ flexDirection: 'row', alignItems: 'center', gap: 14, height: 26 }}&gt;&#10;                &lt;Box style={{ width: 4, height: 22, background: '#26816B' }} /&gt;&#10;                &lt;Text style={{ fontSize: 15, color: '#546779' }}&gt;调整一段 SOP —— 需要准备一份新草稿&lt;/Text&gt;&#10;            &lt;/Box&gt;&#10;            &lt;Box style={{ flexDirection: 'row', alignItems: 'center', gap: 14, height: 26 }}&gt;&#10;                &lt;Box style={{ width: 4, height: 22, background: '#CB6B28' }} /&gt;&#10;                &lt;Text style={{ fontSize: 15, color: '#546779' }}&gt;从相同封存输入增加独立重复 —— 需要创建一个新 Run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5.7 交付与复现&lt;/Text&gt;&#10;        &lt;Text style={{ fontSize: 14, color: '#546779' }}&gt;05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9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80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21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5.7.1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先约定接收者要完成什么</a:t>
            </a:r>
            <a:endParaRPr/>
          </a:p>
        </p:txBody>
      </p:sp>
      <p:sp>
        <p:nvSpPr>
          <p:cNvPr id="581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21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把「看看」改成可执行的请求</a:t>
            </a:r>
            <a:endParaRPr/>
          </a:p>
        </p:txBody>
      </p:sp>
      <p:sp>
        <p:nvSpPr>
          <p:cNvPr id="582" name=""/>
          <p:cNvSpPr/>
          <p:nvPr/>
        </p:nvSpPr>
        <p:spPr>
          <a:xfrm rot="0" flipH="0" flipV="0">
            <a:off x="609600" y="1771650"/>
            <a:ext cx="4095750" cy="1809750"/>
          </a:xfrm>
          <a:prstGeom prst="roundRect">
            <a:avLst>
              <a:gd name="adj" fmla="val 5263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583" name="" descr="{&quot;isTemplate&quot;:true,&quot;type&quot;:&quot;text&quot;}"/>
          <p:cNvSpPr txBox="1"/>
          <p:nvPr/>
        </p:nvSpPr>
        <p:spPr>
          <a:xfrm rot="0" flipH="0" flipV="0">
            <a:off x="800100" y="1943100"/>
            <a:ext cx="3714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不够的写法</a:t>
            </a:r>
            <a:endParaRPr/>
          </a:p>
        </p:txBody>
      </p:sp>
      <p:sp>
        <p:nvSpPr>
          <p:cNvPr id="584" name="" descr="{&quot;isTemplate&quot;:true,&quot;type&quot;:&quot;text&quot;}"/>
          <p:cNvSpPr txBox="1"/>
          <p:nvPr/>
        </p:nvSpPr>
        <p:spPr>
          <a:xfrm rot="0" flipH="0" flipV="0">
            <a:off x="800100" y="2181225"/>
            <a:ext cx="3714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「请帮我看看」</a:t>
            </a:r>
            <a:endParaRPr/>
          </a:p>
        </p:txBody>
      </p:sp>
      <p:sp>
        <p:nvSpPr>
          <p:cNvPr id="585" name="" descr="{&quot;isTemplate&quot;:true,&quot;type&quot;:&quot;text&quot;}"/>
          <p:cNvSpPr txBox="1"/>
          <p:nvPr/>
        </p:nvSpPr>
        <p:spPr>
          <a:xfrm rot="0" flipH="0" flipV="0">
            <a:off x="800100" y="2514600"/>
            <a:ext cx="37147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没有说清看什么、看到什么程度、要不要运行模型，接收者只能自己猜。</a:t>
            </a:r>
            <a:endParaRPr/>
          </a:p>
        </p:txBody>
      </p:sp>
      <p:sp>
        <p:nvSpPr>
          <p:cNvPr id="586" name=""/>
          <p:cNvSpPr/>
          <p:nvPr/>
        </p:nvSpPr>
        <p:spPr>
          <a:xfrm rot="0" flipH="0" flipV="0">
            <a:off x="5010150" y="1771650"/>
            <a:ext cx="6572250" cy="1809750"/>
          </a:xfrm>
          <a:prstGeom prst="roundRect">
            <a:avLst>
              <a:gd name="adj" fmla="val 526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87" name="" descr="{&quot;isTemplate&quot;:true,&quot;type&quot;:&quot;text&quot;}"/>
          <p:cNvSpPr txBox="1"/>
          <p:nvPr/>
        </p:nvSpPr>
        <p:spPr>
          <a:xfrm rot="0" flipH="0" flipV="0">
            <a:off x="5200650" y="1943100"/>
            <a:ext cx="6191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可执行的写法</a:t>
            </a:r>
            <a:endParaRPr/>
          </a:p>
        </p:txBody>
      </p:sp>
      <p:sp>
        <p:nvSpPr>
          <p:cNvPr id="588" name="" descr="{&quot;isTemplate&quot;:true,&quot;type&quot;:&quot;text&quot;}"/>
          <p:cNvSpPr txBox="1"/>
          <p:nvPr/>
        </p:nvSpPr>
        <p:spPr>
          <a:xfrm rot="0" flipH="0" flipV="0">
            <a:off x="5200650" y="2181225"/>
            <a:ext cx="619125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425" b="1">
                <a:solidFill>
                  <a:srgbClr val="276FBF"/>
                </a:solidFill>
                <a:latin typeface="Microsoft YaHei"/>
                <a:ea typeface="Microsoft YaHei"/>
              </a:rPr>
              <a:t>请确认两组只改变了咨询台的澄清策略，并检查</a:t>
            </a:r>
            <a:r>
              <a:rPr lang="en-US" sz="1425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H1—H4 </a:t>
            </a:r>
            <a:r>
              <a:rPr lang="zh-CN" sz="1425" b="1">
                <a:solidFill>
                  <a:srgbClr val="276FBF"/>
                </a:solidFill>
                <a:latin typeface="Microsoft YaHei"/>
                <a:ea typeface="Microsoft YaHei"/>
              </a:rPr>
              <a:t>的判分是否能追到证据。</a:t>
            </a:r>
            <a:endParaRPr/>
          </a:p>
        </p:txBody>
      </p:sp>
      <p:sp>
        <p:nvSpPr>
          <p:cNvPr id="589" name="" descr="{&quot;isTemplate&quot;:true,&quot;type&quot;:&quot;text&quot;}"/>
          <p:cNvSpPr txBox="1"/>
          <p:nvPr/>
        </p:nvSpPr>
        <p:spPr>
          <a:xfrm rot="0" flipH="0" flipV="0">
            <a:off x="5200650" y="2914650"/>
            <a:ext cx="61912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它不要求接收者运行模型，也不要求把所有公共作者资源导入自己的工作区。</a:t>
            </a:r>
            <a:endParaRPr/>
          </a:p>
        </p:txBody>
      </p:sp>
      <p:sp>
        <p:nvSpPr>
          <p:cNvPr id="590" name=""/>
          <p:cNvSpPr/>
          <p:nvPr/>
        </p:nvSpPr>
        <p:spPr>
          <a:xfrm rot="0" flipH="0" flipV="0">
            <a:off x="609600" y="3752850"/>
            <a:ext cx="10972800" cy="190500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91" name="" descr="{&quot;isTemplate&quot;:true,&quot;type&quot;:&quot;text&quot;}"/>
          <p:cNvSpPr txBox="1"/>
          <p:nvPr/>
        </p:nvSpPr>
        <p:spPr>
          <a:xfrm rot="0" flipH="0" flipV="0">
            <a:off x="819150" y="3924300"/>
            <a:ext cx="10553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如果目标是继续实验，还要交代下一项工作</a:t>
            </a:r>
            <a:endParaRPr/>
          </a:p>
        </p:txBody>
      </p:sp>
      <p:sp>
        <p:nvSpPr>
          <p:cNvPr id="592" name=""/>
          <p:cNvSpPr/>
          <p:nvPr/>
        </p:nvSpPr>
        <p:spPr>
          <a:xfrm rot="0" flipH="0" flipV="0">
            <a:off x="819150" y="4229100"/>
            <a:ext cx="38100" cy="2095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93" name="" descr="{&quot;isTemplate&quot;:true,&quot;type&quot;:&quot;text&quot;}"/>
          <p:cNvSpPr txBox="1"/>
          <p:nvPr/>
        </p:nvSpPr>
        <p:spPr>
          <a:xfrm rot="0" flipH="0" flipV="0">
            <a:off x="990600" y="4248150"/>
            <a:ext cx="3543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检查尚未投递的窗口回复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需要的是一条可恢复边界</a:t>
            </a:r>
            <a:endParaRPr/>
          </a:p>
        </p:txBody>
      </p:sp>
      <p:sp>
        <p:nvSpPr>
          <p:cNvPr id="594" name=""/>
          <p:cNvSpPr/>
          <p:nvPr/>
        </p:nvSpPr>
        <p:spPr>
          <a:xfrm rot="0" flipH="0" flipV="0">
            <a:off x="819150" y="4572000"/>
            <a:ext cx="38100" cy="20955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595" name="" descr="{&quot;isTemplate&quot;:true,&quot;type&quot;:&quot;text&quot;}"/>
          <p:cNvSpPr txBox="1"/>
          <p:nvPr/>
        </p:nvSpPr>
        <p:spPr>
          <a:xfrm rot="0" flipH="0" flipV="0">
            <a:off x="990600" y="4591050"/>
            <a:ext cx="25812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调整一段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SOP ——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需要准备一份新草稿</a:t>
            </a:r>
            <a:endParaRPr/>
          </a:p>
        </p:txBody>
      </p:sp>
      <p:sp>
        <p:nvSpPr>
          <p:cNvPr id="596" name=""/>
          <p:cNvSpPr/>
          <p:nvPr/>
        </p:nvSpPr>
        <p:spPr>
          <a:xfrm rot="0" flipH="0" flipV="0">
            <a:off x="819150" y="4914900"/>
            <a:ext cx="38100" cy="2095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97" name="" descr="{&quot;isTemplate&quot;:true,&quot;type&quot;:&quot;text&quot;}"/>
          <p:cNvSpPr txBox="1"/>
          <p:nvPr/>
        </p:nvSpPr>
        <p:spPr>
          <a:xfrm rot="0" flipH="0" flipV="0">
            <a:off x="990600" y="4933950"/>
            <a:ext cx="3562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从相同封存输入增加独立重复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需要创建一个新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</a:t>
            </a:r>
            <a:endParaRPr/>
          </a:p>
        </p:txBody>
      </p:sp>
      <p:sp>
        <p:nvSpPr>
          <p:cNvPr id="59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5.7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交付与复现</a:t>
            </a:r>
            <a:endParaRPr/>
          </a:p>
        </p:txBody>
      </p:sp>
      <p:sp>
        <p:nvSpPr>
          <p:cNvPr id="599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05 / 24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600" name="" descr="&lt;Slide notes={`五项接手任务，各自有必要的交付和必须保留的边界。&#10;&#10;设计审阅要交需求、两组差异、人物信息边界和判分表；边界是——还没有行为结果的时候，不能评价策略效果。&#10;&#10;文件核对要交实际文件、来源、原名、类型、大小与摘要；收到文件不等于通过了协议校验或运行验收。&#10;&#10;结果复算要交全部结果索引、原始证据、评分依据与缺失项；截图和总结不能独立证明闭环。&#10;&#10;事实回放要交可校验的 Run 材料、兼容读取环境和素材；要记住回放不重新调用模型，所以它证明不了模型行为。&#10;&#10;重新执行要交正式输入或 Run 包、环境条件和执行计划；这次新执行还要另行确认预算与身份。接收者签收材料，只说明这次交付被接收，并不自动代表每一级验证都通过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7.1　先约定接收者要完成什么&lt;/Text&gt;&#10;            &lt;Text style={{ fontSize: 34, fontWeight: 'bold', color: '#20344B' }}&gt;交付什么，就守住什么边界&lt;/Text&gt;&#10;        &lt;/Box&gt;&#10;    &lt;/Box&gt;&#10;&#10;    &lt;Box style={{ height: 540, flexDirection: 'column', justifyContent: 'center', gap: 10 }}&gt;&#10;&#10;        &lt;Box style={{ width: 1152, height: 34, flexDirection: 'row', alignItems: 'center', gap: 12, padding: '0 18px' }}&gt;&#10;            &lt;Box style={{ width: 4, height: 20 }} /&gt;&#10;            &lt;Text style={{ fontSize: 15, fontWeight: 'bold', color: '#546779', width: 176 }}&gt;接手任务&lt;/Text&gt;&#10;            &lt;Text style={{ fontSize: 15, fontWeight: 'bold', color: '#546779', width: 460 }}&gt;必要交付&lt;/Text&gt;&#10;            &lt;Text style={{ fontSize: 15, fontWeight: 'bold', color: '#546779', width: 440 }}&gt;应明确保留的边界&lt;/Text&gt;&#10;        &lt;/Box&gt;&#10;&#10;        &lt;Box style={{ width: 1152, height: 84, background: '#F4F7FA', borderRadius: 10, padding: '0 18px', flexDirection: 'row', alignItems: 'center', gap: 12 }}&gt;&#10;            &lt;Box style={{ width: 4, height: 44, background: '#276FBF' }} /&gt;&#10;            &lt;Text style={{ fontSize: 17, fontWeight: 'bold', color: '#20344B', width: 176 }}&gt;设计审阅&lt;/Text&gt;&#10;            &lt;Text style={{ fontSize: 15, color: '#546779', lineHeight: 1.5, width: 460 }}&gt;需求、两组差异、人物信息边界、判分表&lt;/Text&gt;&#10;            &lt;Text style={{ fontSize: 15, color: '#546779', lineHeight: 1.5, width: 440 }}&gt;尚无行为结果时不能评价策略效果&lt;/Text&gt;&#10;        &lt;/Box&gt;&#10;&#10;        &lt;Box style={{ width: 1152, height: 84, background: '#F4F7FA', borderRadius: 10, padding: '0 18px', flexDirection: 'row', alignItems: 'center', gap: 12 }}&gt;&#10;            &lt;Box style={{ width: 4, height: 44, background: '#276FBF' }} /&gt;&#10;            &lt;Text style={{ fontSize: 17, fontWeight: 'bold', color: '#20344B', width: 176 }}&gt;文件核对&lt;/Text&gt;&#10;            &lt;Text style={{ fontSize: 15, color: '#546779', lineHeight: 1.5, width: 460 }}&gt;实际文件、来源、原名、类型、大小与摘要&lt;/Text&gt;&#10;            &lt;Text style={{ fontSize: 15, color: '#546779', lineHeight: 1.5, width: 440 }}&gt;收到文件不等于已通过协议校验或运行验收&lt;/Text&gt;&#10;        &lt;/Box&gt;&#10;&#10;        &lt;Box style={{ width: 1152, height: 84, background: '#F4F7FA', borderRadius: 10, padding: '0 18px', flexDirection: 'row', alignItems: 'center', gap: 12 }}&gt;&#10;            &lt;Box style={{ width: 4, height: 44, background: '#276FBF' }} /&gt;&#10;            &lt;Text style={{ fontSize: 17, fontWeight: 'bold', color: '#20344B', width: 176 }}&gt;结果复算&lt;/Text&gt;&#10;            &lt;Text style={{ fontSize: 15, color: '#546779', lineHeight: 1.5, width: 460 }}&gt;全部结果索引、原始证据、评分依据与缺失项&lt;/Text&gt;&#10;            &lt;Text style={{ fontSize: 15, color: '#546779', lineHeight: 1.5, width: 440 }}&gt;截图和总结不能独立证明闭环&lt;/Text&gt;&#10;        &lt;/Box&gt;&#10;&#10;        &lt;Box style={{ width: 1152, height: 84, background: '#ECF7F2', borderRadius: 10, padding: '0 18px', flexDirection: 'row', alignItems: 'center', gap: 12 }}&gt;&#10;            &lt;Box style={{ width: 4, height: 44, background: '#26816B' }} /&gt;&#10;            &lt;Text style={{ fontSize: 17, fontWeight: 'bold', color: '#20344B', width: 176 }}&gt;事实回放&lt;/Text&gt;&#10;            &lt;Text style={{ fontSize: 15, color: '#546779', lineHeight: 1.5, width: 460 }}&gt;可校验的 Run 材料、兼容读取环境与素材&lt;/Text&gt;&#10;            &lt;Text style={{ fontSize: 15, color: '#26816B', lineHeight: 1.5, width: 440 }}&gt;回放不重新调用模型&lt;/Text&gt;&#10;        &lt;/Box&gt;&#10;&#10;        &lt;Box style={{ width: 1152, height: 84, background: '#FFF4E6', borderRadius: 10, padding: '0 18px', flexDirection: 'row', alignItems: 'center', gap: 12 }}&gt;&#10;            &lt;Box style={{ width: 4, height: 44, background: '#CB6B28' }} /&gt;&#10;            &lt;Text style={{ fontSize: 17, fontWeight: 'bold', color: '#20344B', width: 176 }}&gt;重新执行&lt;/Text&gt;&#10;            &lt;Text style={{ fontSize: 15, color: '#546779', lineHeight: 1.5, width: 460 }}&gt;正式输入／Run 包、环境条件、执行计划&lt;/Text&gt;&#10;            &lt;Text style={{ fontSize: 15, color: '#CB6B28', lineHeight: 1.5, width: 440 }}&gt;新执行需要另行确认预算与身份&lt;/Text&gt;&#10;        &lt;/Box&gt;&#10;&#10;    &lt;/Box&gt;&#10;&#10;    &lt;Box style={{ height: 40, flexDirection: 'row', justifyContent: 'space-between', alignItems: 'center' }}&gt;&#10;        &lt;Text style={{ fontSize: 14, color: '#546779' }}&gt;5.7 交付与复现&lt;/Text&gt;&#10;        &lt;Text style={{ fontSize: 14, color: '#546779' }}&gt;06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02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03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5.7.1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先约定接收者要完成什么</a:t>
            </a:r>
            <a:endParaRPr/>
          </a:p>
        </p:txBody>
      </p:sp>
      <p:sp>
        <p:nvSpPr>
          <p:cNvPr id="604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交付什么，就守住什么边界</a:t>
            </a:r>
            <a:endParaRPr/>
          </a:p>
        </p:txBody>
      </p:sp>
      <p:sp>
        <p:nvSpPr>
          <p:cNvPr id="605" name="" descr="{&quot;isTemplate&quot;:true,&quot;type&quot;:&quot;text&quot;}"/>
          <p:cNvSpPr txBox="1"/>
          <p:nvPr/>
        </p:nvSpPr>
        <p:spPr>
          <a:xfrm rot="0" flipH="0" flipV="0">
            <a:off x="933450" y="1390650"/>
            <a:ext cx="1676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接手任务</a:t>
            </a:r>
            <a:endParaRPr/>
          </a:p>
        </p:txBody>
      </p:sp>
      <p:sp>
        <p:nvSpPr>
          <p:cNvPr id="606" name="" descr="{&quot;isTemplate&quot;:true,&quot;type&quot;:&quot;text&quot;}"/>
          <p:cNvSpPr txBox="1"/>
          <p:nvPr/>
        </p:nvSpPr>
        <p:spPr>
          <a:xfrm rot="0" flipH="0" flipV="0">
            <a:off x="2724150" y="1390650"/>
            <a:ext cx="438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必要交付</a:t>
            </a:r>
            <a:endParaRPr/>
          </a:p>
        </p:txBody>
      </p:sp>
      <p:sp>
        <p:nvSpPr>
          <p:cNvPr id="607" name="" descr="{&quot;isTemplate&quot;:true,&quot;type&quot;:&quot;text&quot;}"/>
          <p:cNvSpPr txBox="1"/>
          <p:nvPr/>
        </p:nvSpPr>
        <p:spPr>
          <a:xfrm rot="0" flipH="0" flipV="0">
            <a:off x="7219950" y="1390650"/>
            <a:ext cx="4191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应明确保留的边界</a:t>
            </a:r>
            <a:endParaRPr/>
          </a:p>
        </p:txBody>
      </p:sp>
      <p:sp>
        <p:nvSpPr>
          <p:cNvPr id="608" name=""/>
          <p:cNvSpPr/>
          <p:nvPr/>
        </p:nvSpPr>
        <p:spPr>
          <a:xfrm rot="0" flipH="0" flipV="0">
            <a:off x="609600" y="1733550"/>
            <a:ext cx="10972800" cy="800100"/>
          </a:xfrm>
          <a:prstGeom prst="roundRect">
            <a:avLst>
              <a:gd name="adj" fmla="val 1190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09" name=""/>
          <p:cNvSpPr/>
          <p:nvPr/>
        </p:nvSpPr>
        <p:spPr>
          <a:xfrm rot="0" flipH="0" flipV="0">
            <a:off x="781050" y="192405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10" name="" descr="{&quot;isTemplate&quot;:true,&quot;type&quot;:&quot;text&quot;}"/>
          <p:cNvSpPr txBox="1"/>
          <p:nvPr/>
        </p:nvSpPr>
        <p:spPr>
          <a:xfrm rot="0" flipH="0" flipV="0">
            <a:off x="933450" y="2038350"/>
            <a:ext cx="1676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设计审阅</a:t>
            </a:r>
            <a:endParaRPr/>
          </a:p>
        </p:txBody>
      </p:sp>
      <p:sp>
        <p:nvSpPr>
          <p:cNvPr id="611" name="" descr="{&quot;isTemplate&quot;:true,&quot;type&quot;:&quot;text&quot;}"/>
          <p:cNvSpPr txBox="1"/>
          <p:nvPr/>
        </p:nvSpPr>
        <p:spPr>
          <a:xfrm rot="0" flipH="0" flipV="0">
            <a:off x="2724150" y="2009775"/>
            <a:ext cx="43815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需求、两组差异、人物信息边界、判分表</a:t>
            </a:r>
            <a:endParaRPr/>
          </a:p>
        </p:txBody>
      </p:sp>
      <p:sp>
        <p:nvSpPr>
          <p:cNvPr id="612" name="" descr="{&quot;isTemplate&quot;:true,&quot;type&quot;:&quot;text&quot;}"/>
          <p:cNvSpPr txBox="1"/>
          <p:nvPr/>
        </p:nvSpPr>
        <p:spPr>
          <a:xfrm rot="0" flipH="0" flipV="0">
            <a:off x="7219950" y="2009775"/>
            <a:ext cx="41910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尚无行为结果时不能评价策略效果</a:t>
            </a:r>
            <a:endParaRPr/>
          </a:p>
        </p:txBody>
      </p:sp>
      <p:sp>
        <p:nvSpPr>
          <p:cNvPr id="613" name=""/>
          <p:cNvSpPr/>
          <p:nvPr/>
        </p:nvSpPr>
        <p:spPr>
          <a:xfrm rot="0" flipH="0" flipV="0">
            <a:off x="609600" y="2628900"/>
            <a:ext cx="10972800" cy="800100"/>
          </a:xfrm>
          <a:prstGeom prst="roundRect">
            <a:avLst>
              <a:gd name="adj" fmla="val 1190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14" name=""/>
          <p:cNvSpPr/>
          <p:nvPr/>
        </p:nvSpPr>
        <p:spPr>
          <a:xfrm rot="0" flipH="0" flipV="0">
            <a:off x="781050" y="28194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15" name="" descr="{&quot;isTemplate&quot;:true,&quot;type&quot;:&quot;text&quot;}"/>
          <p:cNvSpPr txBox="1"/>
          <p:nvPr/>
        </p:nvSpPr>
        <p:spPr>
          <a:xfrm rot="0" flipH="0" flipV="0">
            <a:off x="933450" y="2933700"/>
            <a:ext cx="1676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文件核对</a:t>
            </a:r>
            <a:endParaRPr/>
          </a:p>
        </p:txBody>
      </p:sp>
      <p:sp>
        <p:nvSpPr>
          <p:cNvPr id="616" name="" descr="{&quot;isTemplate&quot;:true,&quot;type&quot;:&quot;text&quot;}"/>
          <p:cNvSpPr txBox="1"/>
          <p:nvPr/>
        </p:nvSpPr>
        <p:spPr>
          <a:xfrm rot="0" flipH="0" flipV="0">
            <a:off x="2724150" y="2905125"/>
            <a:ext cx="43815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实际文件、来源、原名、类型、大小与摘要</a:t>
            </a:r>
            <a:endParaRPr/>
          </a:p>
        </p:txBody>
      </p:sp>
      <p:sp>
        <p:nvSpPr>
          <p:cNvPr id="617" name="" descr="{&quot;isTemplate&quot;:true,&quot;type&quot;:&quot;text&quot;}"/>
          <p:cNvSpPr txBox="1"/>
          <p:nvPr/>
        </p:nvSpPr>
        <p:spPr>
          <a:xfrm rot="0" flipH="0" flipV="0">
            <a:off x="7219950" y="2905125"/>
            <a:ext cx="41910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收到文件不等于已通过协议校验或运行验收</a:t>
            </a:r>
            <a:endParaRPr/>
          </a:p>
        </p:txBody>
      </p:sp>
      <p:sp>
        <p:nvSpPr>
          <p:cNvPr id="618" name=""/>
          <p:cNvSpPr/>
          <p:nvPr/>
        </p:nvSpPr>
        <p:spPr>
          <a:xfrm rot="0" flipH="0" flipV="0">
            <a:off x="609600" y="3524250"/>
            <a:ext cx="10972800" cy="800100"/>
          </a:xfrm>
          <a:prstGeom prst="roundRect">
            <a:avLst>
              <a:gd name="adj" fmla="val 1190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19" name=""/>
          <p:cNvSpPr/>
          <p:nvPr/>
        </p:nvSpPr>
        <p:spPr>
          <a:xfrm rot="0" flipH="0" flipV="0">
            <a:off x="781050" y="371475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20" name="" descr="{&quot;isTemplate&quot;:true,&quot;type&quot;:&quot;text&quot;}"/>
          <p:cNvSpPr txBox="1"/>
          <p:nvPr/>
        </p:nvSpPr>
        <p:spPr>
          <a:xfrm rot="0" flipH="0" flipV="0">
            <a:off x="933450" y="3829050"/>
            <a:ext cx="1676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结果复算</a:t>
            </a:r>
            <a:endParaRPr/>
          </a:p>
        </p:txBody>
      </p:sp>
      <p:sp>
        <p:nvSpPr>
          <p:cNvPr id="621" name="" descr="{&quot;isTemplate&quot;:true,&quot;type&quot;:&quot;text&quot;}"/>
          <p:cNvSpPr txBox="1"/>
          <p:nvPr/>
        </p:nvSpPr>
        <p:spPr>
          <a:xfrm rot="0" flipH="0" flipV="0">
            <a:off x="2724150" y="3800475"/>
            <a:ext cx="43815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全部结果索引、原始证据、评分依据与缺失项</a:t>
            </a:r>
            <a:endParaRPr/>
          </a:p>
        </p:txBody>
      </p:sp>
      <p:sp>
        <p:nvSpPr>
          <p:cNvPr id="622" name="" descr="{&quot;isTemplate&quot;:true,&quot;type&quot;:&quot;text&quot;}"/>
          <p:cNvSpPr txBox="1"/>
          <p:nvPr/>
        </p:nvSpPr>
        <p:spPr>
          <a:xfrm rot="0" flipH="0" flipV="0">
            <a:off x="7219950" y="3800475"/>
            <a:ext cx="41910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截图和总结不能独立证明闭环</a:t>
            </a:r>
            <a:endParaRPr/>
          </a:p>
        </p:txBody>
      </p:sp>
      <p:sp>
        <p:nvSpPr>
          <p:cNvPr id="623" name=""/>
          <p:cNvSpPr/>
          <p:nvPr/>
        </p:nvSpPr>
        <p:spPr>
          <a:xfrm rot="0" flipH="0" flipV="0">
            <a:off x="609600" y="4419600"/>
            <a:ext cx="10972800" cy="800100"/>
          </a:xfrm>
          <a:prstGeom prst="roundRect">
            <a:avLst>
              <a:gd name="adj" fmla="val 1190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24" name=""/>
          <p:cNvSpPr/>
          <p:nvPr/>
        </p:nvSpPr>
        <p:spPr>
          <a:xfrm rot="0" flipH="0" flipV="0">
            <a:off x="781050" y="4610100"/>
            <a:ext cx="38100" cy="4191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625" name="" descr="{&quot;isTemplate&quot;:true,&quot;type&quot;:&quot;text&quot;}"/>
          <p:cNvSpPr txBox="1"/>
          <p:nvPr/>
        </p:nvSpPr>
        <p:spPr>
          <a:xfrm rot="0" flipH="0" flipV="0">
            <a:off x="933450" y="4724400"/>
            <a:ext cx="1676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事实回放</a:t>
            </a:r>
            <a:endParaRPr/>
          </a:p>
        </p:txBody>
      </p:sp>
      <p:sp>
        <p:nvSpPr>
          <p:cNvPr id="626" name="" descr="{&quot;isTemplate&quot;:true,&quot;type&quot;:&quot;text&quot;}"/>
          <p:cNvSpPr txBox="1"/>
          <p:nvPr/>
        </p:nvSpPr>
        <p:spPr>
          <a:xfrm rot="0" flipH="0" flipV="0">
            <a:off x="2724150" y="4695825"/>
            <a:ext cx="43815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可校验的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材料、兼容读取环境与素材</a:t>
            </a:r>
            <a:endParaRPr/>
          </a:p>
        </p:txBody>
      </p:sp>
      <p:sp>
        <p:nvSpPr>
          <p:cNvPr id="627" name="" descr="{&quot;isTemplate&quot;:true,&quot;type&quot;:&quot;text&quot;}"/>
          <p:cNvSpPr txBox="1"/>
          <p:nvPr/>
        </p:nvSpPr>
        <p:spPr>
          <a:xfrm rot="0" flipH="0" flipV="0">
            <a:off x="7219950" y="4695825"/>
            <a:ext cx="41910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回放不重新调用模型</a:t>
            </a:r>
            <a:endParaRPr/>
          </a:p>
        </p:txBody>
      </p:sp>
      <p:sp>
        <p:nvSpPr>
          <p:cNvPr id="628" name=""/>
          <p:cNvSpPr/>
          <p:nvPr/>
        </p:nvSpPr>
        <p:spPr>
          <a:xfrm rot="0" flipH="0" flipV="0">
            <a:off x="609600" y="5314950"/>
            <a:ext cx="10972800" cy="800100"/>
          </a:xfrm>
          <a:prstGeom prst="roundRect">
            <a:avLst>
              <a:gd name="adj" fmla="val 1190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29" name=""/>
          <p:cNvSpPr/>
          <p:nvPr/>
        </p:nvSpPr>
        <p:spPr>
          <a:xfrm rot="0" flipH="0" flipV="0">
            <a:off x="781050" y="5505450"/>
            <a:ext cx="38100" cy="419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630" name="" descr="{&quot;isTemplate&quot;:true,&quot;type&quot;:&quot;text&quot;}"/>
          <p:cNvSpPr txBox="1"/>
          <p:nvPr/>
        </p:nvSpPr>
        <p:spPr>
          <a:xfrm rot="0" flipH="0" flipV="0">
            <a:off x="933450" y="5619750"/>
            <a:ext cx="1676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重新执行</a:t>
            </a:r>
            <a:endParaRPr/>
          </a:p>
        </p:txBody>
      </p:sp>
      <p:sp>
        <p:nvSpPr>
          <p:cNvPr id="631" name="" descr="{&quot;isTemplate&quot;:true,&quot;type&quot;:&quot;text&quot;}"/>
          <p:cNvSpPr txBox="1"/>
          <p:nvPr/>
        </p:nvSpPr>
        <p:spPr>
          <a:xfrm rot="0" flipH="0" flipV="0">
            <a:off x="2724150" y="5591175"/>
            <a:ext cx="43815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正式输入／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Run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包、环境条件、执行计划</a:t>
            </a:r>
            <a:endParaRPr/>
          </a:p>
        </p:txBody>
      </p:sp>
      <p:sp>
        <p:nvSpPr>
          <p:cNvPr id="632" name="" descr="{&quot;isTemplate&quot;:true,&quot;type&quot;:&quot;text&quot;}"/>
          <p:cNvSpPr txBox="1"/>
          <p:nvPr/>
        </p:nvSpPr>
        <p:spPr>
          <a:xfrm rot="0" flipH="0" flipV="0">
            <a:off x="7219950" y="5591175"/>
            <a:ext cx="41910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新执行需要另行确认预算与身份</a:t>
            </a:r>
            <a:endParaRPr/>
          </a:p>
        </p:txBody>
      </p:sp>
      <p:sp>
        <p:nvSpPr>
          <p:cNvPr id="63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5.7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交付与复现</a:t>
            </a:r>
            <a:endParaRPr/>
          </a:p>
        </p:txBody>
      </p:sp>
      <p:sp>
        <p:nvSpPr>
          <p:cNvPr id="634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06 / 24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635" name="" descr="&lt;Slide notes={`清单和包，是同一件事的两面。&#10;&#10;一面是把需求、证据和文件对上。一份能接手的交付，要能说明 A 窗口处理使用咨询、B 窗口处理已有设施问题，两组共有四项需求，只有咨询台是否先澄清目的这一处不同；而精确的策略片段、每个人物的私人目的、空间方案和运行参数，都要有固定出处。&#10;&#10;另一面是认清手上到底是什么包。当前协议里，普通的结果 ZIP 和 config、exp、run 三种正式包同时存在，后缀长得像，能力却完全不同。接收者只有先看清包类型，才知道自己能导入、能运行，还是只能回放。&#10;&#10;两件事合起来，接收者才不会拿着一个结果压缩包，却以为可以接着跑实验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第五章　5.7　交付与复现&lt;/Text&gt;&#10;            &lt;Text style={{ fontSize: 34, fontWeight: 'bold', color: '#20344B' }}&gt;知识块 ②&lt;/Text&gt;&#10;        &lt;/Box&gt;&#10;    &lt;/Box&gt;&#10;&#10;    &lt;Box style={{ height: 540, flexDirection: 'column', justifyContent: 'center', gap: 16 }}&gt;&#10;&#10;        &lt;Text style={{ fontSize: 88, fontWeight: 'bold', color: '#276FBF', lineHeight: 1.0 }}&gt;②&lt;/Text&gt;&#10;&#10;        &lt;Text style={{ fontSize: 56, fontWeight: 'bold', color: '#20344B', lineHeight: 1.15 }}&gt;一张清单与四类文件&lt;/Text&gt;&#10;&#10;        &lt;Box style={{ width: 72, height: 4, background: '#276FBF' }} /&gt;&#10;&#10;        &lt;Text style={{ fontSize: 18, color: '#546779', lineHeight: 1.7, width: 1000 }}&gt;材料要能对上需求与证据，也要认得出自己是什么包。类型认错，后面的导入、运行和回放就全走偏。&lt;/Text&gt;&#10;&#10;        &lt;Box style={{ width: 1152, height: 56, background: '#F4F7FA', borderRadius: 8, justifyContent: 'center', alignItems: 'center' }}&gt;&#10;            &lt;Text style={{ fontSize: 16, color: '#20344B' }}&gt;清单七项：项目说明 · 输入清单 · 身份登记 · 结果索引 · 证据材料 · 原始导出 · 接手说明&lt;/Text&gt;&#10;        &lt;/Box&gt;&#10;&#10;        &lt;Box style={{ width: 1152, height: 28, justifyContent: 'center', alignItems: 'center' }}&gt;&#10;            &lt;Text style={{ fontSize: 20, color: '#276FBF' }}&gt;↓&lt;/Text&gt;&#10;        &lt;/Box&gt;&#10;&#10;        &lt;Box style={{ flexDirection: 'row', alignItems: 'center', gap: 16 }}&gt;&#10;            &lt;Box style={{ width: 276, height: 56, background: '#F7F3E8', borderRadius: 8, justifyContent: 'center', alignItems: 'center' }}&gt;&#10;                &lt;Text style={{ fontSize: 16, color: '#CB6B28' }}&gt;普通结果 ZIP&lt;/Text&gt;&#10;            &lt;/Box&gt;&#10;            &lt;Box style={{ width: 276, height: 56, background: '#EDF4FC', borderRadius: 8, justifyContent: 'center', alignItems: 'center' }}&gt;&#10;                &lt;Text style={{ fontSize: 16, color: '#276FBF' }}&gt;config 资源包&lt;/Text&gt;&#10;            &lt;/Box&gt;&#10;            &lt;Box style={{ width: 276, height: 56, background: '#ECF7F2', borderRadius: 8, justifyContent: 'center', alignItems: 'center' }}&gt;&#10;                &lt;Text style={{ fontSize: 16, color: '#26816B' }}&gt;exp 实验包&lt;/Text&gt;&#10;            &lt;/Box&gt;&#10;            &lt;Box style={{ width: 276, height: 56, background: '#F4F7FA', borderRadius: 8, justifyContent: 'center', alignItems: 'center' }}&gt;&#10;                &lt;Text style={{ fontSize: 16, color: '#20344B' }}&gt;run 运行包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5.7 交付与复现&lt;/Text&gt;&#10;        &lt;Text style={{ fontSize: 14, color: '#546779' }}&gt;07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37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38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1524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第五章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5.7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交付与复现</a:t>
            </a:r>
            <a:endParaRPr/>
          </a:p>
        </p:txBody>
      </p:sp>
      <p:sp>
        <p:nvSpPr>
          <p:cNvPr id="639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1524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知识块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②</a:t>
            </a:r>
            <a:endParaRPr/>
          </a:p>
        </p:txBody>
      </p:sp>
      <p:sp>
        <p:nvSpPr>
          <p:cNvPr id="640" name="" descr="{&quot;isTemplate&quot;:true,&quot;type&quot;:&quot;text&quot;}"/>
          <p:cNvSpPr txBox="1"/>
          <p:nvPr/>
        </p:nvSpPr>
        <p:spPr>
          <a:xfrm rot="0" flipH="0" flipV="0">
            <a:off x="609600" y="1524000"/>
            <a:ext cx="10972800" cy="1009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6600" b="1">
                <a:solidFill>
                  <a:srgbClr val="276FBF"/>
                </a:solidFill>
                <a:latin typeface="Microsoft YaHei"/>
                <a:ea typeface="Microsoft YaHei"/>
              </a:rPr>
              <a:t>②</a:t>
            </a:r>
            <a:endParaRPr/>
          </a:p>
        </p:txBody>
      </p:sp>
      <p:sp>
        <p:nvSpPr>
          <p:cNvPr id="641" name="" descr="{&quot;isTemplate&quot;:true,&quot;type&quot;:&quot;text&quot;}"/>
          <p:cNvSpPr txBox="1"/>
          <p:nvPr/>
        </p:nvSpPr>
        <p:spPr>
          <a:xfrm rot="0" flipH="0" flipV="0">
            <a:off x="609600" y="2686050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一张清单与四类文件</a:t>
            </a:r>
            <a:endParaRPr/>
          </a:p>
        </p:txBody>
      </p:sp>
      <p:sp>
        <p:nvSpPr>
          <p:cNvPr id="642" name=""/>
          <p:cNvSpPr/>
          <p:nvPr/>
        </p:nvSpPr>
        <p:spPr>
          <a:xfrm rot="0" flipH="0" flipV="0">
            <a:off x="609600" y="358140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43" name="" descr="{&quot;isTemplate&quot;:true,&quot;type&quot;:&quot;text&quot;}"/>
          <p:cNvSpPr txBox="1"/>
          <p:nvPr/>
        </p:nvSpPr>
        <p:spPr>
          <a:xfrm rot="0" flipH="0" flipV="0">
            <a:off x="609600" y="3771900"/>
            <a:ext cx="95250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材料要能对上需求与证据，也要认得出自己是什么包。类型认错，后面的导入、运行和回放就全走偏。</a:t>
            </a:r>
            <a:endParaRPr/>
          </a:p>
        </p:txBody>
      </p:sp>
      <p:sp>
        <p:nvSpPr>
          <p:cNvPr id="644" name=""/>
          <p:cNvSpPr/>
          <p:nvPr/>
        </p:nvSpPr>
        <p:spPr>
          <a:xfrm rot="0" flipH="0" flipV="0">
            <a:off x="609600" y="4276725"/>
            <a:ext cx="10972800" cy="533400"/>
          </a:xfrm>
          <a:prstGeom prst="roundRect">
            <a:avLst>
              <a:gd name="adj" fmla="val 1428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45" name="" descr="{&quot;isTemplate&quot;:true,&quot;type&quot;:&quot;text&quot;}"/>
          <p:cNvSpPr txBox="1"/>
          <p:nvPr/>
        </p:nvSpPr>
        <p:spPr>
          <a:xfrm rot="0" flipH="0" flipV="0">
            <a:off x="3200400" y="4448175"/>
            <a:ext cx="5791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清单七项：项目说明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输入清单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身份登记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结果索引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证据材料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原始导出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接手说明</a:t>
            </a:r>
            <a:endParaRPr/>
          </a:p>
        </p:txBody>
      </p:sp>
      <p:sp>
        <p:nvSpPr>
          <p:cNvPr id="646" name="" descr="{&quot;isTemplate&quot;:true,&quot;type&quot;:&quot;text&quot;}"/>
          <p:cNvSpPr txBox="1"/>
          <p:nvPr/>
        </p:nvSpPr>
        <p:spPr>
          <a:xfrm rot="0" flipH="0" flipV="0">
            <a:off x="6048375" y="4981575"/>
            <a:ext cx="95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647" name=""/>
          <p:cNvSpPr/>
          <p:nvPr/>
        </p:nvSpPr>
        <p:spPr>
          <a:xfrm rot="0" flipH="0" flipV="0">
            <a:off x="609600" y="5381625"/>
            <a:ext cx="2628900" cy="533400"/>
          </a:xfrm>
          <a:prstGeom prst="roundRect">
            <a:avLst>
              <a:gd name="adj" fmla="val 14286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648" name="" descr="{&quot;isTemplate&quot;:true,&quot;type&quot;:&quot;text&quot;}"/>
          <p:cNvSpPr txBox="1"/>
          <p:nvPr/>
        </p:nvSpPr>
        <p:spPr>
          <a:xfrm rot="0" flipH="0" flipV="0">
            <a:off x="1476375" y="5553075"/>
            <a:ext cx="895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B6B28"/>
                </a:solidFill>
                <a:latin typeface="Microsoft YaHei"/>
                <a:ea typeface="Microsoft YaHei"/>
              </a:rPr>
              <a:t>普通结果</a:t>
            </a:r>
            <a:r>
              <a:rPr lang="en-US" sz="1200">
                <a:solidFill>
                  <a:srgbClr val="CB6B28"/>
                </a:solidFill>
                <a:latin typeface="Microsoft YaHei"/>
                <a:ea typeface="Microsoft YaHei"/>
              </a:rPr>
              <a:t xml:space="preserve"> ZIP</a:t>
            </a:r>
            <a:endParaRPr/>
          </a:p>
        </p:txBody>
      </p:sp>
      <p:sp>
        <p:nvSpPr>
          <p:cNvPr id="649" name=""/>
          <p:cNvSpPr/>
          <p:nvPr/>
        </p:nvSpPr>
        <p:spPr>
          <a:xfrm rot="0" flipH="0" flipV="0">
            <a:off x="3390900" y="5381625"/>
            <a:ext cx="2628900" cy="533400"/>
          </a:xfrm>
          <a:prstGeom prst="roundRect">
            <a:avLst>
              <a:gd name="adj" fmla="val 1428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50" name="" descr="{&quot;isTemplate&quot;:true,&quot;type&quot;:&quot;text&quot;}"/>
          <p:cNvSpPr txBox="1"/>
          <p:nvPr/>
        </p:nvSpPr>
        <p:spPr>
          <a:xfrm rot="0" flipH="0" flipV="0">
            <a:off x="4229100" y="5553075"/>
            <a:ext cx="9620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76FBF"/>
                </a:solidFill>
                <a:latin typeface="Microsoft YaHei"/>
                <a:ea typeface="Microsoft YaHei"/>
              </a:rPr>
              <a:t xml:space="preserve">config </a:t>
            </a:r>
            <a:r>
              <a:rPr lang="zh-CN" sz="1200">
                <a:solidFill>
                  <a:srgbClr val="276FBF"/>
                </a:solidFill>
                <a:latin typeface="Microsoft YaHei"/>
                <a:ea typeface="Microsoft YaHei"/>
              </a:rPr>
              <a:t>资源包</a:t>
            </a:r>
            <a:endParaRPr/>
          </a:p>
        </p:txBody>
      </p:sp>
      <p:sp>
        <p:nvSpPr>
          <p:cNvPr id="651" name=""/>
          <p:cNvSpPr/>
          <p:nvPr/>
        </p:nvSpPr>
        <p:spPr>
          <a:xfrm rot="0" flipH="0" flipV="0">
            <a:off x="6172200" y="5381625"/>
            <a:ext cx="2628900" cy="533400"/>
          </a:xfrm>
          <a:prstGeom prst="roundRect">
            <a:avLst>
              <a:gd name="adj" fmla="val 1428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52" name="" descr="{&quot;isTemplate&quot;:true,&quot;type&quot;:&quot;text&quot;}"/>
          <p:cNvSpPr txBox="1"/>
          <p:nvPr/>
        </p:nvSpPr>
        <p:spPr>
          <a:xfrm rot="0" flipH="0" flipV="0">
            <a:off x="7105650" y="5553075"/>
            <a:ext cx="7715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6816B"/>
                </a:solidFill>
                <a:latin typeface="Microsoft YaHei"/>
                <a:ea typeface="Microsoft YaHei"/>
              </a:rPr>
              <a:t xml:space="preserve">exp </a:t>
            </a:r>
            <a:r>
              <a:rPr lang="zh-CN" sz="1200">
                <a:solidFill>
                  <a:srgbClr val="26816B"/>
                </a:solidFill>
                <a:latin typeface="Microsoft YaHei"/>
                <a:ea typeface="Microsoft YaHei"/>
              </a:rPr>
              <a:t>实验包</a:t>
            </a:r>
            <a:endParaRPr/>
          </a:p>
        </p:txBody>
      </p:sp>
      <p:sp>
        <p:nvSpPr>
          <p:cNvPr id="653" name=""/>
          <p:cNvSpPr/>
          <p:nvPr/>
        </p:nvSpPr>
        <p:spPr>
          <a:xfrm rot="0" flipH="0" flipV="0">
            <a:off x="8953500" y="5381625"/>
            <a:ext cx="2628900" cy="533400"/>
          </a:xfrm>
          <a:prstGeom prst="roundRect">
            <a:avLst>
              <a:gd name="adj" fmla="val 1428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54" name="" descr="{&quot;isTemplate&quot;:true,&quot;type&quot;:&quot;text&quot;}"/>
          <p:cNvSpPr txBox="1"/>
          <p:nvPr/>
        </p:nvSpPr>
        <p:spPr>
          <a:xfrm rot="0" flipH="0" flipV="0">
            <a:off x="9896475" y="5553075"/>
            <a:ext cx="7524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run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运行包</a:t>
            </a:r>
            <a:endParaRPr/>
          </a:p>
        </p:txBody>
      </p:sp>
      <p:sp>
        <p:nvSpPr>
          <p:cNvPr id="65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5.7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交付与复现</a:t>
            </a:r>
            <a:endParaRPr/>
          </a:p>
        </p:txBody>
      </p:sp>
      <p:sp>
        <p:nvSpPr>
          <p:cNvPr id="65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07 / 24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657" name="" descr="&lt;Slide notes={`一份交付清单，要把需求、证据和文件串在一起。&#10;&#10;服务大厅项目交付时要能说明：A 窗口处理使用咨询，B 窗口处理已有设施问题；两组共有四项需求，只有咨询台是否先澄清目的这一处不同。&#10;&#10;清单记七类材料：项目说明写范围与负责人；输入清单列地图、人物、对象和两组精确差异；身份登记记实验、Run、Attempt 与内嵌输入摘要；结果索引覆盖全部 Run、失败与未完成任务；证据材料把请求、回复、确认消息和人工判分对应起来；原始导出记字节数、SHA256 和取得方式；接手说明写环境前提与未解决问题。&#10;&#10;精确策略片段、私人目的和运行参数都要有固定出处，不能让接收者在多份记录里猜哪一份有效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7.2　用一张清单连接需求、证据与文件&lt;/Text&gt;&#10;            &lt;Text style={{ fontSize: 34, fontWeight: 'bold', color: '#20344B' }}&gt;七类材料，各有固定出处&lt;/Text&gt;&#10;        &lt;/Box&gt;&#10;    &lt;/Box&gt;&#10;&#10;    &lt;Box style={{ height: 540, flexDirection: 'row', alignItems: 'center', gap: 28 }}&gt;&#10;&#10;        &lt;Box style={{ width: 300, flexDirection: 'column', justifyContent: 'center', gap: 14 }}&gt;&#10;            &lt;Text style={{ fontSize: 16, color: '#546779', lineHeight: 1.75 }}&gt;交付要能说明：A 窗口处理使用咨询，B 窗口处理已有设施问题；两组共有四项需求，只有咨询台是否先澄清目的不同。&lt;/Text&gt;&#10;            &lt;Box style={{ width: 300, height: 92, background: '#ECF7F2', borderRadius: 8, padding: '14px 16px', justifyContent: 'center' }}&gt;&#10;                &lt;Text style={{ fontSize: 14, color: '#26816B', lineHeight: 1.55 }}&gt;精确策略片段、私人目的、空间方案与运行参数都要有固定出处&lt;/Text&gt;&#10;            &lt;/Box&gt;&#10;            &lt;Box style={{ width: 300, height: 72, background: '#F7F3E8', borderRadius: 8, padding: '14px 16px', justifyContent: 'center' }}&gt;&#10;                &lt;Text style={{ fontSize: 14, color: '#546779', lineHeight: 1.55 }}&gt;避免接收者在多份聊天记录里猜哪一份有效&lt;/Text&gt;&#10;            &lt;/Box&gt;&#10;        &lt;/Box&gt;&#10;&#10;        &lt;Box style={{ width: 824, flexDirection: 'column', justifyContent: 'center', gap: 8 }}&gt;&#10;&#10;            &lt;Box style={{ width: 824, height: 62, background: '#F4F7FA', borderRadius: 8, padding: '0 16px', flexDirection: 'row', alignItems: 'center', gap: 12 }}&gt;&#10;                &lt;Box style={{ width: 4, height: 32, background: '#276FBF' }} /&gt;&#10;                &lt;Text style={{ fontSize: 15, fontWeight: 'bold', color: '#20344B', width: 130 }}&gt;项目说明&lt;/Text&gt;&#10;                &lt;Text style={{ fontSize: 14, color: '#546779', width: 634 }}&gt;本批范围、负责人、交付日期、当前阶段和下一项工作&lt;/Text&gt;&#10;            &lt;/Box&gt;&#10;&#10;            &lt;Box style={{ width: 824, height: 62, background: '#F4F7FA', borderRadius: 8, padding: '0 16px', flexDirection: 'row', alignItems: 'center', gap: 12 }}&gt;&#10;                &lt;Box style={{ width: 4, height: 32, background: '#276FBF' }} /&gt;&#10;                &lt;Text style={{ fontSize: 15, fontWeight: 'bold', color: '#20344B', width: 130 }}&gt;输入清单&lt;/Text&gt;&#10;                &lt;Text style={{ fontSize: 14, color: '#546779', width: 634 }}&gt;地图、五人、三对象、Brain／Skill、模型配置及两组精确差异&lt;/Text&gt;&#10;            &lt;/Box&gt;&#10;&#10;            &lt;Box style={{ width: 824, height: 62, background: '#EDF4FC', borderRadius: 8, padding: '0 16px', flexDirection: 'row', alignItems: 'center', gap: 12 }}&gt;&#10;                &lt;Box style={{ width: 4, height: 32, background: '#276FBF' }} /&gt;&#10;                &lt;Text style={{ fontSize: 15, fontWeight: 'bold', color: '#20344B', width: 130 }}&gt;身份登记&lt;/Text&gt;&#10;                &lt;Text style={{ fontSize: 14, color: '#546779', width: 634 }}&gt;实验、Run、全部 Attempt 与内嵌输入摘要；未产生者明确标记&lt;/Text&gt;&#10;            &lt;/Box&gt;&#10;&#10;            &lt;Box style={{ width: 824, height: 62, background: '#F4F7FA', borderRadius: 8, padding: '0 16px', flexDirection: 'row', alignItems: 'center', gap: 12 }}&gt;&#10;                &lt;Box style={{ width: 4, height: 32, background: '#276FBF' }} /&gt;&#10;                &lt;Text style={{ fontSize: 15, fontWeight: 'bold', color: '#20344B', width: 130 }}&gt;结果索引&lt;/Text&gt;&#10;                &lt;Text style={{ fontSize: 14, color: '#546779', width: 634 }}&gt;全部 Run、失败与未完成任务、实际观察窗口、评分入口&lt;/Text&gt;&#10;            &lt;/Box&gt;&#10;&#10;            &lt;Box style={{ width: 824, height: 62, background: '#F4F7FA', borderRadius: 8, padding: '0 16px', flexDirection: 'row', alignItems: 'center', gap: 12 }}&gt;&#10;                &lt;Box style={{ width: 4, height: 32, background: '#26816B' }} /&gt;&#10;                &lt;Text style={{ fontSize: 15, fontWeight: 'bold', color: '#20344B', width: 130 }}&gt;证据材料&lt;/Text&gt;&#10;                &lt;Text style={{ fontSize: 14, color: '#546779', width: 634 }}&gt;请求／回复、位置、确认消息和人工判分的对应关系&lt;/Text&gt;&#10;            &lt;/Box&gt;&#10;&#10;            &lt;Box style={{ width: 824, height: 62, background: '#F4F7FA', borderRadius: 8, padding: '0 16px', flexDirection: 'row', alignItems: 'center', gap: 12 }}&gt;&#10;                &lt;Box style={{ width: 4, height: 32, background: '#26816B' }} /&gt;&#10;                &lt;Text style={{ fontSize: 15, fontWeight: 'bold', color: '#20344B', width: 130 }}&gt;原始导出&lt;/Text&gt;&#10;                &lt;Text style={{ fontSize: 14, color: '#546779', width: 634 }}&gt;文件类型、来源边界、时间、字节数、SHA256 和取得方式&lt;/Text&gt;&#10;            &lt;/Box&gt;&#10;&#10;            &lt;Box style={{ width: 824, height: 62, background: '#FFF4E6', borderRadius: 8, padding: '0 16px', flexDirection: 'row', alignItems: 'center', gap: 12 }}&gt;&#10;                &lt;Box style={{ width: 4, height: 32, background: '#CB6B28' }} /&gt;&#10;                &lt;Text style={{ fontSize: 15, fontWeight: 'bold', color: '#20344B', width: 130 }}&gt;接手说明&lt;/Text&gt;&#10;                &lt;Text style={{ fontSize: 14, color: '#546779', width: 634 }}&gt;环境前提、已知限制、未解决问题及所需决定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5.7 交付与复现&lt;/Text&gt;&#10;        &lt;Text style={{ fontSize: 14, color: '#546779' }}&gt;08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59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60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5.7.2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用一张清单连接需求、证据与文件</a:t>
            </a:r>
            <a:endParaRPr/>
          </a:p>
        </p:txBody>
      </p:sp>
      <p:sp>
        <p:nvSpPr>
          <p:cNvPr id="661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七类材料，各有固定出处</a:t>
            </a:r>
            <a:endParaRPr/>
          </a:p>
        </p:txBody>
      </p:sp>
      <p:sp>
        <p:nvSpPr>
          <p:cNvPr id="662" name="" descr="{&quot;isTemplate&quot;:true,&quot;type&quot;:&quot;text&quot;}"/>
          <p:cNvSpPr txBox="1"/>
          <p:nvPr/>
        </p:nvSpPr>
        <p:spPr>
          <a:xfrm rot="0" flipH="0" flipV="0">
            <a:off x="609600" y="2324100"/>
            <a:ext cx="2857500" cy="962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交付要能说明：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A 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窗口处理使用咨询，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B 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窗口处理已有设施问题；两组共有四项需求，只有咨询台是否先澄清目的不同。</a:t>
            </a:r>
            <a:endParaRPr/>
          </a:p>
        </p:txBody>
      </p:sp>
      <p:sp>
        <p:nvSpPr>
          <p:cNvPr id="663" name=""/>
          <p:cNvSpPr/>
          <p:nvPr/>
        </p:nvSpPr>
        <p:spPr>
          <a:xfrm rot="0" flipH="0" flipV="0">
            <a:off x="609600" y="3419475"/>
            <a:ext cx="2857500" cy="876300"/>
          </a:xfrm>
          <a:prstGeom prst="roundRect">
            <a:avLst>
              <a:gd name="adj" fmla="val 869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64" name="" descr="{&quot;isTemplate&quot;:true,&quot;type&quot;:&quot;text&quot;}"/>
          <p:cNvSpPr txBox="1"/>
          <p:nvPr/>
        </p:nvSpPr>
        <p:spPr>
          <a:xfrm rot="0" flipH="0" flipV="0">
            <a:off x="762000" y="3609975"/>
            <a:ext cx="25527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26816B"/>
                </a:solidFill>
                <a:latin typeface="Microsoft YaHei"/>
                <a:ea typeface="Microsoft YaHei"/>
              </a:rPr>
              <a:t>精确策略片段、私人目的、空间方案与运行参数都要有固定出处</a:t>
            </a:r>
            <a:endParaRPr/>
          </a:p>
        </p:txBody>
      </p:sp>
      <p:sp>
        <p:nvSpPr>
          <p:cNvPr id="665" name=""/>
          <p:cNvSpPr/>
          <p:nvPr/>
        </p:nvSpPr>
        <p:spPr>
          <a:xfrm rot="0" flipH="0" flipV="0">
            <a:off x="609600" y="4429125"/>
            <a:ext cx="2857500" cy="685800"/>
          </a:xfrm>
          <a:prstGeom prst="roundRect">
            <a:avLst>
              <a:gd name="adj" fmla="val 11111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666" name="" descr="{&quot;isTemplate&quot;:true,&quot;type&quot;:&quot;text&quot;}"/>
          <p:cNvSpPr txBox="1"/>
          <p:nvPr/>
        </p:nvSpPr>
        <p:spPr>
          <a:xfrm rot="0" flipH="0" flipV="0">
            <a:off x="762000" y="4648200"/>
            <a:ext cx="25527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避免接收者在多份聊天记录里猜哪一份有效</a:t>
            </a:r>
            <a:endParaRPr/>
          </a:p>
        </p:txBody>
      </p:sp>
      <p:sp>
        <p:nvSpPr>
          <p:cNvPr id="667" name=""/>
          <p:cNvSpPr/>
          <p:nvPr/>
        </p:nvSpPr>
        <p:spPr>
          <a:xfrm rot="0" flipH="0" flipV="0">
            <a:off x="3733800" y="1419225"/>
            <a:ext cx="7848600" cy="590550"/>
          </a:xfrm>
          <a:prstGeom prst="roundRect">
            <a:avLst>
              <a:gd name="adj" fmla="val 1290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68" name=""/>
          <p:cNvSpPr/>
          <p:nvPr/>
        </p:nvSpPr>
        <p:spPr>
          <a:xfrm rot="0" flipH="0" flipV="0">
            <a:off x="3886200" y="1562100"/>
            <a:ext cx="38100" cy="3048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69" name="" descr="{&quot;isTemplate&quot;:true,&quot;type&quot;:&quot;text&quot;}"/>
          <p:cNvSpPr txBox="1"/>
          <p:nvPr/>
        </p:nvSpPr>
        <p:spPr>
          <a:xfrm rot="0" flipH="0" flipV="0">
            <a:off x="4038600" y="1628775"/>
            <a:ext cx="1238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项目说明</a:t>
            </a:r>
            <a:endParaRPr/>
          </a:p>
        </p:txBody>
      </p:sp>
      <p:sp>
        <p:nvSpPr>
          <p:cNvPr id="670" name="" descr="{&quot;isTemplate&quot;:true,&quot;type&quot;:&quot;text&quot;}"/>
          <p:cNvSpPr txBox="1"/>
          <p:nvPr/>
        </p:nvSpPr>
        <p:spPr>
          <a:xfrm rot="0" flipH="0" flipV="0">
            <a:off x="5391150" y="1638300"/>
            <a:ext cx="6038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本批范围、负责人、交付日期、当前阶段和下一项工作</a:t>
            </a:r>
            <a:endParaRPr/>
          </a:p>
        </p:txBody>
      </p:sp>
      <p:sp>
        <p:nvSpPr>
          <p:cNvPr id="671" name=""/>
          <p:cNvSpPr/>
          <p:nvPr/>
        </p:nvSpPr>
        <p:spPr>
          <a:xfrm rot="0" flipH="0" flipV="0">
            <a:off x="3733800" y="2085975"/>
            <a:ext cx="7848600" cy="590550"/>
          </a:xfrm>
          <a:prstGeom prst="roundRect">
            <a:avLst>
              <a:gd name="adj" fmla="val 1290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72" name=""/>
          <p:cNvSpPr/>
          <p:nvPr/>
        </p:nvSpPr>
        <p:spPr>
          <a:xfrm rot="0" flipH="0" flipV="0">
            <a:off x="3886200" y="2228850"/>
            <a:ext cx="38100" cy="3048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73" name="" descr="{&quot;isTemplate&quot;:true,&quot;type&quot;:&quot;text&quot;}"/>
          <p:cNvSpPr txBox="1"/>
          <p:nvPr/>
        </p:nvSpPr>
        <p:spPr>
          <a:xfrm rot="0" flipH="0" flipV="0">
            <a:off x="4038600" y="2295525"/>
            <a:ext cx="1238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输入清单</a:t>
            </a:r>
            <a:endParaRPr/>
          </a:p>
        </p:txBody>
      </p:sp>
      <p:sp>
        <p:nvSpPr>
          <p:cNvPr id="674" name="" descr="{&quot;isTemplate&quot;:true,&quot;type&quot;:&quot;text&quot;}"/>
          <p:cNvSpPr txBox="1"/>
          <p:nvPr/>
        </p:nvSpPr>
        <p:spPr>
          <a:xfrm rot="0" flipH="0" flipV="0">
            <a:off x="5391150" y="2305050"/>
            <a:ext cx="6038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地图、五人、三对象、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Brain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／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Skill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、模型配置及两组精确差异</a:t>
            </a:r>
            <a:endParaRPr/>
          </a:p>
        </p:txBody>
      </p:sp>
      <p:sp>
        <p:nvSpPr>
          <p:cNvPr id="675" name=""/>
          <p:cNvSpPr/>
          <p:nvPr/>
        </p:nvSpPr>
        <p:spPr>
          <a:xfrm rot="0" flipH="0" flipV="0">
            <a:off x="3733800" y="2752725"/>
            <a:ext cx="7848600" cy="590550"/>
          </a:xfrm>
          <a:prstGeom prst="roundRect">
            <a:avLst>
              <a:gd name="adj" fmla="val 1290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76" name=""/>
          <p:cNvSpPr/>
          <p:nvPr/>
        </p:nvSpPr>
        <p:spPr>
          <a:xfrm rot="0" flipH="0" flipV="0">
            <a:off x="3886200" y="2895600"/>
            <a:ext cx="38100" cy="3048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77" name="" descr="{&quot;isTemplate&quot;:true,&quot;type&quot;:&quot;text&quot;}"/>
          <p:cNvSpPr txBox="1"/>
          <p:nvPr/>
        </p:nvSpPr>
        <p:spPr>
          <a:xfrm rot="0" flipH="0" flipV="0">
            <a:off x="4038600" y="2962275"/>
            <a:ext cx="1238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身份登记</a:t>
            </a:r>
            <a:endParaRPr/>
          </a:p>
        </p:txBody>
      </p:sp>
      <p:sp>
        <p:nvSpPr>
          <p:cNvPr id="678" name="" descr="{&quot;isTemplate&quot;:true,&quot;type&quot;:&quot;text&quot;}"/>
          <p:cNvSpPr txBox="1"/>
          <p:nvPr/>
        </p:nvSpPr>
        <p:spPr>
          <a:xfrm rot="0" flipH="0" flipV="0">
            <a:off x="5391150" y="2971800"/>
            <a:ext cx="6038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实验、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Run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、全部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Attempt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与内嵌输入摘要；未产生者明确标记</a:t>
            </a:r>
            <a:endParaRPr/>
          </a:p>
        </p:txBody>
      </p:sp>
      <p:sp>
        <p:nvSpPr>
          <p:cNvPr id="679" name=""/>
          <p:cNvSpPr/>
          <p:nvPr/>
        </p:nvSpPr>
        <p:spPr>
          <a:xfrm rot="0" flipH="0" flipV="0">
            <a:off x="3733800" y="3419475"/>
            <a:ext cx="7848600" cy="590550"/>
          </a:xfrm>
          <a:prstGeom prst="roundRect">
            <a:avLst>
              <a:gd name="adj" fmla="val 1290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80" name=""/>
          <p:cNvSpPr/>
          <p:nvPr/>
        </p:nvSpPr>
        <p:spPr>
          <a:xfrm rot="0" flipH="0" flipV="0">
            <a:off x="3886200" y="3562350"/>
            <a:ext cx="38100" cy="3048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81" name="" descr="{&quot;isTemplate&quot;:true,&quot;type&quot;:&quot;text&quot;}"/>
          <p:cNvSpPr txBox="1"/>
          <p:nvPr/>
        </p:nvSpPr>
        <p:spPr>
          <a:xfrm rot="0" flipH="0" flipV="0">
            <a:off x="4038600" y="3629025"/>
            <a:ext cx="1238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结果索引</a:t>
            </a:r>
            <a:endParaRPr/>
          </a:p>
        </p:txBody>
      </p:sp>
      <p:sp>
        <p:nvSpPr>
          <p:cNvPr id="682" name="" descr="{&quot;isTemplate&quot;:true,&quot;type&quot;:&quot;text&quot;}"/>
          <p:cNvSpPr txBox="1"/>
          <p:nvPr/>
        </p:nvSpPr>
        <p:spPr>
          <a:xfrm rot="0" flipH="0" flipV="0">
            <a:off x="5391150" y="3638550"/>
            <a:ext cx="6038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全部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、失败与未完成任务、实际观察窗口、评分入口</a:t>
            </a:r>
            <a:endParaRPr/>
          </a:p>
        </p:txBody>
      </p:sp>
      <p:sp>
        <p:nvSpPr>
          <p:cNvPr id="683" name=""/>
          <p:cNvSpPr/>
          <p:nvPr/>
        </p:nvSpPr>
        <p:spPr>
          <a:xfrm rot="0" flipH="0" flipV="0">
            <a:off x="3733800" y="4086225"/>
            <a:ext cx="7848600" cy="590550"/>
          </a:xfrm>
          <a:prstGeom prst="roundRect">
            <a:avLst>
              <a:gd name="adj" fmla="val 1290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84" name=""/>
          <p:cNvSpPr/>
          <p:nvPr/>
        </p:nvSpPr>
        <p:spPr>
          <a:xfrm rot="0" flipH="0" flipV="0">
            <a:off x="3886200" y="4229100"/>
            <a:ext cx="38100" cy="3048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685" name="" descr="{&quot;isTemplate&quot;:true,&quot;type&quot;:&quot;text&quot;}"/>
          <p:cNvSpPr txBox="1"/>
          <p:nvPr/>
        </p:nvSpPr>
        <p:spPr>
          <a:xfrm rot="0" flipH="0" flipV="0">
            <a:off x="4038600" y="4295775"/>
            <a:ext cx="1238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证据材料</a:t>
            </a:r>
            <a:endParaRPr/>
          </a:p>
        </p:txBody>
      </p:sp>
      <p:sp>
        <p:nvSpPr>
          <p:cNvPr id="686" name="" descr="{&quot;isTemplate&quot;:true,&quot;type&quot;:&quot;text&quot;}"/>
          <p:cNvSpPr txBox="1"/>
          <p:nvPr/>
        </p:nvSpPr>
        <p:spPr>
          <a:xfrm rot="0" flipH="0" flipV="0">
            <a:off x="5391150" y="4305300"/>
            <a:ext cx="6038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请求／回复、位置、确认消息和人工判分的对应关系</a:t>
            </a:r>
            <a:endParaRPr/>
          </a:p>
        </p:txBody>
      </p:sp>
      <p:sp>
        <p:nvSpPr>
          <p:cNvPr id="687" name=""/>
          <p:cNvSpPr/>
          <p:nvPr/>
        </p:nvSpPr>
        <p:spPr>
          <a:xfrm rot="0" flipH="0" flipV="0">
            <a:off x="3733800" y="4752975"/>
            <a:ext cx="7848600" cy="590550"/>
          </a:xfrm>
          <a:prstGeom prst="roundRect">
            <a:avLst>
              <a:gd name="adj" fmla="val 1290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88" name=""/>
          <p:cNvSpPr/>
          <p:nvPr/>
        </p:nvSpPr>
        <p:spPr>
          <a:xfrm rot="0" flipH="0" flipV="0">
            <a:off x="3886200" y="4895850"/>
            <a:ext cx="38100" cy="3048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689" name="" descr="{&quot;isTemplate&quot;:true,&quot;type&quot;:&quot;text&quot;}"/>
          <p:cNvSpPr txBox="1"/>
          <p:nvPr/>
        </p:nvSpPr>
        <p:spPr>
          <a:xfrm rot="0" flipH="0" flipV="0">
            <a:off x="4038600" y="4962525"/>
            <a:ext cx="1238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原始导出</a:t>
            </a:r>
            <a:endParaRPr/>
          </a:p>
        </p:txBody>
      </p:sp>
      <p:sp>
        <p:nvSpPr>
          <p:cNvPr id="690" name="" descr="{&quot;isTemplate&quot;:true,&quot;type&quot;:&quot;text&quot;}"/>
          <p:cNvSpPr txBox="1"/>
          <p:nvPr/>
        </p:nvSpPr>
        <p:spPr>
          <a:xfrm rot="0" flipH="0" flipV="0">
            <a:off x="5391150" y="4972050"/>
            <a:ext cx="6038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文件类型、来源边界、时间、字节数、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SHA256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和取得方式</a:t>
            </a:r>
            <a:endParaRPr/>
          </a:p>
        </p:txBody>
      </p:sp>
      <p:sp>
        <p:nvSpPr>
          <p:cNvPr id="691" name=""/>
          <p:cNvSpPr/>
          <p:nvPr/>
        </p:nvSpPr>
        <p:spPr>
          <a:xfrm rot="0" flipH="0" flipV="0">
            <a:off x="3733800" y="5419725"/>
            <a:ext cx="7848600" cy="590550"/>
          </a:xfrm>
          <a:prstGeom prst="roundRect">
            <a:avLst>
              <a:gd name="adj" fmla="val 1290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92" name=""/>
          <p:cNvSpPr/>
          <p:nvPr/>
        </p:nvSpPr>
        <p:spPr>
          <a:xfrm rot="0" flipH="0" flipV="0">
            <a:off x="3886200" y="5562600"/>
            <a:ext cx="38100" cy="3048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693" name="" descr="{&quot;isTemplate&quot;:true,&quot;type&quot;:&quot;text&quot;}"/>
          <p:cNvSpPr txBox="1"/>
          <p:nvPr/>
        </p:nvSpPr>
        <p:spPr>
          <a:xfrm rot="0" flipH="0" flipV="0">
            <a:off x="4038600" y="5629275"/>
            <a:ext cx="1238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接手说明</a:t>
            </a:r>
            <a:endParaRPr/>
          </a:p>
        </p:txBody>
      </p:sp>
      <p:sp>
        <p:nvSpPr>
          <p:cNvPr id="694" name="" descr="{&quot;isTemplate&quot;:true,&quot;type&quot;:&quot;text&quot;}"/>
          <p:cNvSpPr txBox="1"/>
          <p:nvPr/>
        </p:nvSpPr>
        <p:spPr>
          <a:xfrm rot="0" flipH="0" flipV="0">
            <a:off x="5391150" y="5638800"/>
            <a:ext cx="6038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环境前提、已知限制、未解决问题及所需决定</a:t>
            </a:r>
            <a:endParaRPr/>
          </a:p>
        </p:txBody>
      </p:sp>
      <p:sp>
        <p:nvSpPr>
          <p:cNvPr id="69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5.7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交付与复现</a:t>
            </a:r>
            <a:endParaRPr/>
          </a:p>
        </p:txBody>
      </p:sp>
      <p:sp>
        <p:nvSpPr>
          <p:cNvPr id="69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08 / 24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697" name="" descr="&lt;Slide notes={`作者说明里的 H1 到 H4 是教学任务键，用来标记四项教学任务，方便对照判分表；它不是系统生成的身份。&#10;&#10;引用一条结论的时候，比如「孟川已获得正确建议」，要指出对应的人物、请求、回复与接收轮次。人物同名并不足以确认它来自哪一次 Run，因为同名角色可能在多个实验里都出现过。&#10;&#10;还有一件容易被误解的事：角色的私有记忆隔离，是 Runtime 的参与者权限边界，它不表示交付 Run 时这些记录从文件里消失了。需要对公众分享的讲义，可以制作注明来源的摘录；完整的证据原件另按项目约定保存。绝不能删改原包之后，还继续引用原来的摘要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7.2　用一张清单连接需求、证据与文件&lt;/Text&gt;&#10;            &lt;Text style={{ fontSize: 34, fontWeight: 'bold', color: '#20344B' }}&gt;教学任务键不是身份&lt;/Text&gt;&#10;        &lt;/Box&gt;&#10;    &lt;/Box&gt;&#10;&#10;    &lt;Box style={{ height: 540, flexDirection: 'column', justifyContent: 'center', gap: 18 }}&gt;&#10;&#10;        &lt;Box style={{ flexDirection: 'row', alignItems: 'stretch', gap: 32 }}&gt;&#10;&#10;            &lt;Box style={{ width: 560, height: 200, background: '#EDF4FC', borderRadius: 10, padding: '18px 20px', flexDirection: 'column', gap: 8 }}&gt;&#10;                &lt;Text style={{ fontSize: 14, color: '#546779' }}&gt;作者说明里的写法&lt;/Text&gt;&#10;                &lt;Text style={{ fontSize: 20, fontWeight: 'bold', color: '#276FBF' }}&gt;教学任务键 H1—H4&lt;/Text&gt;&#10;                &lt;Text style={{ fontSize: 15, color: '#546779', lineHeight: 1.6 }}&gt;标记四项教学任务，方便对照判分表与需求编号。它由作者命名，不进入系统身份。&lt;/Text&gt;&#10;            &lt;/Box&gt;&#10;&#10;            &lt;Box style={{ width: 560, height: 200, background: '#ECF7F2', borderRadius: 10, padding: '18px 20px', flexDirection: 'column', gap: 8 }}&gt;&#10;                &lt;Text style={{ fontSize: 14, color: '#546779' }}&gt;系统生成的身份&lt;/Text&gt;&#10;                &lt;Text style={{ fontSize: 20, fontWeight: 'bold', color: '#26816B' }}&gt;实验／Run／Attempt&lt;/Text&gt;&#10;                &lt;Text style={{ fontSize: 15, color: '#546779', lineHeight: 1.6 }}&gt;在创建时由系统生成并写入清单，用于确认这条记录到底来自哪一次运行。&lt;/Text&gt;&#10;            &lt;/Box&gt;&#10;&#10;        &lt;/Box&gt;&#10;&#10;        &lt;Box style={{ width: 1152, height: 84, background: '#FFF4E6', borderRadius: 10, padding: '0 22px', flexDirection: 'row', alignItems: 'center', gap: 16 }}&gt;&#10;            &lt;Box style={{ width: 4, height: 30, background: '#CB6B28' }} /&gt;&#10;            &lt;Box style={{ flexDirection: 'column', gap: 4 }}&gt;&#10;                &lt;Text style={{ fontSize: 15, fontWeight: 'bold', color: '#CB6B28' }}&gt;人物同名，不足以确认它来自哪次 Run&lt;/Text&gt;&#10;                &lt;Text style={{ fontSize: 14, color: '#546779' }}&gt;引用一条结论时要指出对应人物、请求、回复与接收轮次。&lt;/Text&gt;&#10;            &lt;/Box&gt;&#10;        &lt;/Box&gt;&#10;&#10;        &lt;Box style={{ width: 1152, height: 130, background: '#F4F7FA', borderRadius: 10, padding: '16px 22px', flexDirection: 'column', gap: 6, justifyContent: 'center' }}&gt;&#10;            &lt;Text style={{ fontSize: 16, fontWeight: 'bold', color: '#20344B' }}&gt;私有记忆隔离是 Runtime 的权限边界&lt;/Text&gt;&#10;            &lt;Text style={{ fontSize: 15, color: '#546779', lineHeight: 1.6 }}&gt;它不表示交付 Run 时这些记录从文件里消失。需要公开分享的讲义可制作注明来源的摘录；完整证据原件另按项目约定保存，不能删改原包后继续引用原摘要。&lt;/Text&gt;&#10;        &lt;/Box&gt;&#10;&#10;    &lt;/Box&gt;&#10;&#10;    &lt;Box style={{ height: 40, flexDirection: 'row', justifyContent: 'space-between', alignItems: 'center' }}&gt;&#10;        &lt;Text style={{ fontSize: 14, color: '#546779' }}&gt;5.7 交付与复现&lt;/Text&gt;&#10;        &lt;Text style={{ fontSize: 14, color: '#546779' }}&gt;09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99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00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5.7.2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用一张清单连接需求、证据与文件</a:t>
            </a:r>
            <a:endParaRPr/>
          </a:p>
        </p:txBody>
      </p:sp>
      <p:sp>
        <p:nvSpPr>
          <p:cNvPr id="701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教学任务键不是身份</a:t>
            </a:r>
            <a:endParaRPr/>
          </a:p>
        </p:txBody>
      </p:sp>
      <p:sp>
        <p:nvSpPr>
          <p:cNvPr id="702" name=""/>
          <p:cNvSpPr/>
          <p:nvPr/>
        </p:nvSpPr>
        <p:spPr>
          <a:xfrm rot="0" flipH="0" flipV="0">
            <a:off x="609600" y="1571625"/>
            <a:ext cx="5334000" cy="1905000"/>
          </a:xfrm>
          <a:prstGeom prst="roundRect">
            <a:avLst>
              <a:gd name="adj" fmla="val 5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03" name="" descr="{&quot;isTemplate&quot;:true,&quot;type&quot;:&quot;text&quot;}"/>
          <p:cNvSpPr txBox="1"/>
          <p:nvPr/>
        </p:nvSpPr>
        <p:spPr>
          <a:xfrm rot="0" flipH="0" flipV="0">
            <a:off x="800100" y="1743075"/>
            <a:ext cx="4953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作者说明里的写法</a:t>
            </a:r>
            <a:endParaRPr/>
          </a:p>
        </p:txBody>
      </p:sp>
      <p:sp>
        <p:nvSpPr>
          <p:cNvPr id="704" name="" descr="{&quot;isTemplate&quot;:true,&quot;type&quot;:&quot;text&quot;}"/>
          <p:cNvSpPr txBox="1"/>
          <p:nvPr/>
        </p:nvSpPr>
        <p:spPr>
          <a:xfrm rot="0" flipH="0" flipV="0">
            <a:off x="800100" y="1981200"/>
            <a:ext cx="4953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教学任务键</a:t>
            </a:r>
            <a:r>
              <a:rPr lang="en-US" sz="150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H1—H4</a:t>
            </a:r>
            <a:endParaRPr/>
          </a:p>
        </p:txBody>
      </p:sp>
      <p:sp>
        <p:nvSpPr>
          <p:cNvPr id="705" name="" descr="{&quot;isTemplate&quot;:true,&quot;type&quot;:&quot;text&quot;}"/>
          <p:cNvSpPr txBox="1"/>
          <p:nvPr/>
        </p:nvSpPr>
        <p:spPr>
          <a:xfrm rot="0" flipH="0" flipV="0">
            <a:off x="800100" y="2286000"/>
            <a:ext cx="49530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标记四项教学任务，方便对照判分表与需求编号。它由作者命名，不进入系统身份。</a:t>
            </a:r>
            <a:endParaRPr/>
          </a:p>
        </p:txBody>
      </p:sp>
      <p:sp>
        <p:nvSpPr>
          <p:cNvPr id="706" name=""/>
          <p:cNvSpPr/>
          <p:nvPr/>
        </p:nvSpPr>
        <p:spPr>
          <a:xfrm rot="0" flipH="0" flipV="0">
            <a:off x="6248400" y="1571625"/>
            <a:ext cx="5334000" cy="1905000"/>
          </a:xfrm>
          <a:prstGeom prst="roundRect">
            <a:avLst>
              <a:gd name="adj" fmla="val 50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707" name="" descr="{&quot;isTemplate&quot;:true,&quot;type&quot;:&quot;text&quot;}"/>
          <p:cNvSpPr txBox="1"/>
          <p:nvPr/>
        </p:nvSpPr>
        <p:spPr>
          <a:xfrm rot="0" flipH="0" flipV="0">
            <a:off x="6438900" y="1743075"/>
            <a:ext cx="4953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系统生成的身份</a:t>
            </a:r>
            <a:endParaRPr/>
          </a:p>
        </p:txBody>
      </p:sp>
      <p:sp>
        <p:nvSpPr>
          <p:cNvPr id="708" name="" descr="{&quot;isTemplate&quot;:true,&quot;type&quot;:&quot;text&quot;}"/>
          <p:cNvSpPr txBox="1"/>
          <p:nvPr/>
        </p:nvSpPr>
        <p:spPr>
          <a:xfrm rot="0" flipH="0" flipV="0">
            <a:off x="6438900" y="1981200"/>
            <a:ext cx="4953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实验／</a:t>
            </a:r>
            <a:r>
              <a:rPr lang="en-US" sz="1500" b="1">
                <a:solidFill>
                  <a:srgbClr val="26816B"/>
                </a:solidFill>
                <a:latin typeface="Microsoft YaHei"/>
                <a:ea typeface="Microsoft YaHei"/>
              </a:rPr>
              <a:t>Run</a:t>
            </a: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／</a:t>
            </a:r>
            <a:r>
              <a:rPr lang="en-US" sz="1500" b="1">
                <a:solidFill>
                  <a:srgbClr val="26816B"/>
                </a:solidFill>
                <a:latin typeface="Microsoft YaHei"/>
                <a:ea typeface="Microsoft YaHei"/>
              </a:rPr>
              <a:t>Attempt</a:t>
            </a:r>
            <a:endParaRPr/>
          </a:p>
        </p:txBody>
      </p:sp>
      <p:sp>
        <p:nvSpPr>
          <p:cNvPr id="709" name="" descr="{&quot;isTemplate&quot;:true,&quot;type&quot;:&quot;text&quot;}"/>
          <p:cNvSpPr txBox="1"/>
          <p:nvPr/>
        </p:nvSpPr>
        <p:spPr>
          <a:xfrm rot="0" flipH="0" flipV="0">
            <a:off x="6438900" y="2286000"/>
            <a:ext cx="49530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在创建时由系统生成并写入清单，用于确认这条记录到底来自哪一次运行。</a:t>
            </a:r>
            <a:endParaRPr/>
          </a:p>
        </p:txBody>
      </p:sp>
      <p:sp>
        <p:nvSpPr>
          <p:cNvPr id="710" name=""/>
          <p:cNvSpPr/>
          <p:nvPr/>
        </p:nvSpPr>
        <p:spPr>
          <a:xfrm rot="0" flipH="0" flipV="0">
            <a:off x="609600" y="3648075"/>
            <a:ext cx="10972800" cy="800100"/>
          </a:xfrm>
          <a:prstGeom prst="roundRect">
            <a:avLst>
              <a:gd name="adj" fmla="val 1190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711" name=""/>
          <p:cNvSpPr/>
          <p:nvPr/>
        </p:nvSpPr>
        <p:spPr>
          <a:xfrm rot="0" flipH="0" flipV="0">
            <a:off x="819150" y="3905250"/>
            <a:ext cx="38100" cy="2857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712" name="" descr="{&quot;isTemplate&quot;:true,&quot;type&quot;:&quot;text&quot;}"/>
          <p:cNvSpPr txBox="1"/>
          <p:nvPr/>
        </p:nvSpPr>
        <p:spPr>
          <a:xfrm rot="0" flipH="0" flipV="0">
            <a:off x="1009650" y="3867150"/>
            <a:ext cx="3467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人物同名，不足以确认它来自哪次</a:t>
            </a:r>
            <a:r>
              <a:rPr lang="en-US" sz="1125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Run</a:t>
            </a:r>
            <a:endParaRPr/>
          </a:p>
        </p:txBody>
      </p:sp>
      <p:sp>
        <p:nvSpPr>
          <p:cNvPr id="713" name="" descr="{&quot;isTemplate&quot;:true,&quot;type&quot;:&quot;text&quot;}"/>
          <p:cNvSpPr txBox="1"/>
          <p:nvPr/>
        </p:nvSpPr>
        <p:spPr>
          <a:xfrm rot="0" flipH="0" flipV="0">
            <a:off x="1009650" y="4076700"/>
            <a:ext cx="3467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引用一条结论时要指出对应人物、请求、回复与接收轮次。</a:t>
            </a:r>
            <a:endParaRPr/>
          </a:p>
        </p:txBody>
      </p:sp>
      <p:sp>
        <p:nvSpPr>
          <p:cNvPr id="714" name=""/>
          <p:cNvSpPr/>
          <p:nvPr/>
        </p:nvSpPr>
        <p:spPr>
          <a:xfrm rot="0" flipH="0" flipV="0">
            <a:off x="609600" y="4619625"/>
            <a:ext cx="10972800" cy="1238250"/>
          </a:xfrm>
          <a:prstGeom prst="roundRect">
            <a:avLst>
              <a:gd name="adj" fmla="val 7692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15" name="" descr="{&quot;isTemplate&quot;:true,&quot;type&quot;:&quot;text&quot;}"/>
          <p:cNvSpPr txBox="1"/>
          <p:nvPr/>
        </p:nvSpPr>
        <p:spPr>
          <a:xfrm rot="0" flipH="0" flipV="0">
            <a:off x="819150" y="4981575"/>
            <a:ext cx="10553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私有记忆隔离是</a:t>
            </a:r>
            <a:r>
              <a:rPr lang="en-US" sz="12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Runtime </a:t>
            </a: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的权限边界</a:t>
            </a:r>
            <a:endParaRPr/>
          </a:p>
        </p:txBody>
      </p:sp>
      <p:sp>
        <p:nvSpPr>
          <p:cNvPr id="716" name="" descr="{&quot;isTemplate&quot;:true,&quot;type&quot;:&quot;text&quot;}"/>
          <p:cNvSpPr txBox="1"/>
          <p:nvPr/>
        </p:nvSpPr>
        <p:spPr>
          <a:xfrm rot="0" flipH="0" flipV="0">
            <a:off x="819150" y="5229225"/>
            <a:ext cx="105537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它不表示交付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时这些记录从文件里消失。需要公开分享的讲义可制作注明来源的摘录；完整证据原件另按项目约定保存，不能删改原包后继续引用原摘要。</a:t>
            </a:r>
            <a:endParaRPr/>
          </a:p>
        </p:txBody>
      </p:sp>
      <p:sp>
        <p:nvSpPr>
          <p:cNvPr id="71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5.7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交付与复现</a:t>
            </a:r>
            <a:endParaRPr/>
          </a:p>
        </p:txBody>
      </p:sp>
      <p:sp>
        <p:nvSpPr>
          <p:cNvPr id="71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09 / 24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24" name="" descr="&lt;Slide notes={`收到压缩文件后，先认清它是哪种包。&#13;&#10;&#13;&#10;普通结果 ZIP 装的是一段固定提交边界里的结果、报告和审计材料，可以看，不能当成正式 Run 包，也不能回放；改成 .garun 只是换了名字，内容合同没变。&#13;&#10;&#13;&#10;config 资源包装的是选定的基础资源和附件。它可显式保留未绑定的跨资源依赖，但进入实验前必须绑定完整。&#13;&#10;&#13;&#10;exp 也就是 .gaexp，装完整实验输入与装配，用来准备新运行。run 也就是 .garun，在内嵌实验之上带执行事实，可按条件回放、恢复或重跑。&#13;&#10;&#13;&#10;三种正式包都用 ga-package v2，类型由清单的 package_kind 识别，不靠文件名推断。`} style={{ width: 1280, height: 720, background: '#FFFFFF', flexDirection: 'column', padding: '20px 64px' }}&gt;&#13;&#10;&#13;&#10;    &lt;Box style={{ height: 100, flexDirection: 'row', alignItems: 'center', gap: 20 }}&gt;&#13;&#10;        &lt;Box style={{ width: 4, height: 44, background: '#276FBF' }} /&gt;&#13;&#10;        &lt;Box style={{ flexDirection: 'column', gap: 4 }}&gt;&#13;&#10;            &lt;Text style={{ fontSize: 14, color: '#546779' }}&gt;5.7.3　四类文件对应不同用途&lt;/Text&gt;&#13;&#10;            &lt;Text style={{ fontSize: 34, fontWeight: 'bold', color: '#20344B' }}&gt;先认清包类型，再决定怎么用&lt;/Text&gt;&#13;&#10;        &lt;/Box&gt;&#13;&#10;    &lt;/Box&gt;&#13;&#10;&#13;&#10;    &lt;Box style={{ height: 540, flexDirection: 'column', justifyContent: 'center', gap: 20 }}&gt;&#13;&#10;&#13;&#10;        &lt;Box style={{ width: 1152, height: 78, background: '#EDF4FC', borderRadius: 10, padding: '0 22px', flexDirection: 'row', alignItems: 'center', gap: 16 }}&gt;&#13;&#10;            &lt;Box style={{ width: 4, height: 34, background: '#276FBF' }} /&gt;&#13;&#10;            &lt;Box style={{ flexDirection: 'column', gap: 3 }}&gt;&#13;&#10;                &lt;Text style={{ fontSize: 20, fontWeight: 'bold', color: '#20344B' }}&gt;文件类型，决定接收者拿它做什么&lt;/Text&gt;&#13;&#10;                &lt;Text style={{ fontSize: 15, color: '#546779' }}&gt;读完清单核实类型，再选择导入、运行或回放&lt;/Text&gt;&#13;&#10;            &lt;/Box&gt;&#13;&#10;        &lt;/Box&gt;&#13;&#10;&#13;&#10;        &lt;Box style={{ flexDirection: 'row', alignItems: 'stretch', gap: 16 }}&gt;&#13;&#10;&#13;&#10;            &lt;Box style={{ width: 276, height: 280, background: '#F7F3E8', borderRadius: 10, padding: '16px 18px', flexDirection: 'column', gap: 10 }}&gt;&#13;&#10;                &lt;Box style={{ width: 62, height: 26, background: '#CB6B28', borderRadius: 6, justifyContent: 'center', alignItems: 'center' }}&gt;&#13;&#10;                    &lt;Text style={{ fontSize: 13, fontWeight: 'bold', color: '#FFFFFF' }}&gt;ZIP&lt;/Text&gt;&#13;&#10;                &lt;/Box&gt;&#13;&#10;                &lt;Text style={{ fontSize: 19, fontWeight: 'bold', color: '#20344B' }}&gt;普通结果 ZIP&lt;/Text&gt;&#13;&#10;                &lt;Text style={{ fontSize: 15, color: '#546779', lineHeight: 1.6 }}&gt;固定提交边界的结果与审计材料，可以查看，不能回放&lt;/Text&gt;&#13;&#10;                &lt;Text style={{ fontSize: 14, color: '#CB6B28', lineHeight: 1.5, marginTop: 4 }}&gt;改后缀不会让它变成正式包&lt;/Text&gt;&#13;&#10;            &lt;/Box&gt;&#13;&#10;&#13;&#10;            &lt;Box style={{ width: 276, height: 280, background: '#EDF4FC', borderRadius: 10, padding: '16px 18px', flexDirection: 'column', gap: 10 }}&gt;&#13;&#10;                &lt;Box style={{ width: 86, height: 26, background: '#276FBF', borderRadius: 6, justifyContent: 'center', alignItems: 'center' }}&gt;&#13;&#10;                    &lt;Text style={{ fontSize: 13, fontWeight: 'bold', color: '#FFFFFF' }}&gt;config&lt;/Text&gt;&#13;&#10;                &lt;/Box&gt;&#13;&#10;                &lt;Text style={{ fontSize: 19, fontWeight: 'bold', color: '#20344B' }}&gt;资源包&lt;/Text&gt;&#13;&#10;                &lt;Text style={{ fontSize: 15, color: '#546779', lineHeight: 1.6 }}&gt;所选基础资源和附件，如地图、人物、Skill，可选导入&lt;/Text&gt;&#13;&#10;                &lt;Text style={{ fontSize: 14, color: '#276FBF', lineHeight: 1.5, marginTop: 4 }}&gt;进入实验前必须绑定完整&lt;/Text&gt;&#13;&#10;            &lt;/Box&gt;&#13;&#10;&#13;&#10;            &lt;Box style={{ width: 276, height: 280, background: '#ECF7F2', borderRadius: 10, padding: '16px 18px', flexDirection: 'column', gap: 10 }}&gt;&#13;&#10;                &lt;Box style={{ width: 74, height: 26, background: '#26816B', borderRadius: 6, justifyContent: 'center', alignItems: 'center' }}&gt;&#13;&#10;                    &lt;Text style={{ fontSize: 13, fontWeight: 'bold', color: '#FFFFFF' }}&gt;.gaexp&lt;/Text&gt;&#13;&#10;                &lt;/Box&gt;&#13;&#10;                &lt;Text style={{ fontSize: 19, fontWeight: 'bold', color: '#20344B' }}&gt;实验包&lt;/Text&gt;&#13;&#10;                &lt;Text style={{ fontSize: 15, color: '#546779', lineHeight: 1.6 }}&gt;完整实验输入与装配，用来准备并开始一次新的运行&lt;/Text&gt;&#13;&#10;                &lt;Text style={{ fontSize: 14, color: '#26816B', lineHeight: 1.5, marginTop: 4 }}&gt;三种正式包之一&lt;/Text&gt;&#13;&#10;            &lt;/Box&gt;&#13;&#10;&#13;&#10;            &lt;Box style={{ width: 276, height: 280, background: '#F4F7FA', borderRadius: 10, padding: '16px 18px', flexDirection: 'column', gap: 10 }}&gt;&#13;&#10;                &lt;Box style={{ width: 78, height: 26, background: '#20344B', borderRadius: 6, justifyContent: 'center', alignItems: 'center' }}&gt;&#13;&#10;                    &lt;Text style={{ fontSize: 13, fontWeight: 'bold', color: '#FFFFFF' }}&gt;.garun&lt;/Text&gt;&#13;&#10;                &lt;/Box&gt;&#13;&#10;                &lt;Text style={{ fontSize: 19, fontWeight: 'bold', color: '#20344B' }}&gt;运行包&lt;/Text&gt;&#13;&#10;                &lt;Text style={{ fontSize: 15, color: '#546779', lineHeight: 1.6 }}&gt;内嵌实验与执行事实，按条件回放、恢复或重跑&lt;/Text&gt;&#13;&#10;                &lt;Text style={{ fontSize: 14, color: '#546779', lineHeight: 1.5, marginTop: 4 }}&gt;身份与帧可以校验&lt;/Text&gt;&#13;&#10;            &lt;/Box&gt;&#13;&#10;&#13;&#10;        &lt;/Box&gt;&#13;&#10;&#13;&#10;        &lt;Box style={{ width: 1152, height: 90, background: '#FFF4E6', borderRadius: 10, padding: '0 22px', flexDirection: 'row', alignItems: 'center', gap: 16 }}&gt;&#13;&#10;            &lt;Box style={{ width: 4, height: 40, background: '#CB6B28' }} /&gt;&#13;&#10;            &lt;Box style={{ flexDirection: 'column', gap: 4 }}&gt;&#13;&#10;                &lt;Text style={{ fontSize: 15, fontWeight: 'bold', color: '#CB6B28' }}&gt;扩展名或「能解压」不能单独证明协议验证通过&lt;/Text&gt;&#13;&#10;                &lt;Text style={{ fontSize: 14, color: '#546779' }}&gt;三种正式包采用 ga-package v2，类型由清单的 package_kind 识别，不靠文件名推断。&lt;/Text&gt;&#13;&#10;            &lt;/Box&gt;&#13;&#10;        &lt;/Box&gt;&#13;&#10;&#13;&#10;    &lt;/Box&gt;&#13;&#10;&#13;&#10;    &lt;Box style={{ height: 40, flexDirection: 'row', justifyContent: 'space-between', alignItems: 'center' }}&gt;&#13;&#10;        &lt;Text style={{ fontSize: 14, color: '#546779' }}&gt;5.7 交付与复现&lt;/Text&gt;&#13;&#10;        &lt;Text style={{ fontSize: 14, color: '#546779' }}&gt;10 / 24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6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21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5.7.3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四类文件对应不同用途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21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先认清包类型，再决定怎么用</a:t>
            </a:r>
            <a:endParaRPr/>
          </a:p>
        </p:txBody>
      </p:sp>
      <p:sp>
        <p:nvSpPr>
          <p:cNvPr id="29" name=""/>
          <p:cNvSpPr/>
          <p:nvPr/>
        </p:nvSpPr>
        <p:spPr>
          <a:xfrm rot="0" flipH="0" flipV="0">
            <a:off x="609600" y="1390650"/>
            <a:ext cx="10972800" cy="742950"/>
          </a:xfrm>
          <a:prstGeom prst="roundRect">
            <a:avLst>
              <a:gd name="adj" fmla="val 1282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0" name=""/>
          <p:cNvSpPr/>
          <p:nvPr/>
        </p:nvSpPr>
        <p:spPr>
          <a:xfrm rot="0" flipH="0" flipV="0">
            <a:off x="819150" y="1600200"/>
            <a:ext cx="38100" cy="3238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1009650" y="1552575"/>
            <a:ext cx="2857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文件类型，决定接收者拿它做什么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1009650" y="1809750"/>
            <a:ext cx="2857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读完清单核实类型，再选择导入、运行或回放</a:t>
            </a:r>
            <a:endParaRPr/>
          </a:p>
        </p:txBody>
      </p:sp>
      <p:sp>
        <p:nvSpPr>
          <p:cNvPr id="33" name=""/>
          <p:cNvSpPr/>
          <p:nvPr/>
        </p:nvSpPr>
        <p:spPr>
          <a:xfrm rot="0" flipH="0" flipV="0">
            <a:off x="609600" y="2324100"/>
            <a:ext cx="2628900" cy="2667000"/>
          </a:xfrm>
          <a:prstGeom prst="roundRect">
            <a:avLst>
              <a:gd name="adj" fmla="val 3623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34" name=""/>
          <p:cNvSpPr/>
          <p:nvPr/>
        </p:nvSpPr>
        <p:spPr>
          <a:xfrm rot="0" flipH="0" flipV="0">
            <a:off x="781050" y="2476500"/>
            <a:ext cx="590550" cy="247650"/>
          </a:xfrm>
          <a:prstGeom prst="roundRect">
            <a:avLst>
              <a:gd name="adj" fmla="val 23077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971550" y="2524125"/>
            <a:ext cx="209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ZIP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781050" y="2819400"/>
            <a:ext cx="2286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普通结果</a:t>
            </a:r>
            <a:r>
              <a:rPr lang="en-US" sz="1425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ZIP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781050" y="3133725"/>
            <a:ext cx="22860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固定提交边界的结果与审计材料，可以查看，不能回放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781050" y="3819525"/>
            <a:ext cx="22860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改后缀不会让它变成正式包</a:t>
            </a:r>
            <a:endParaRPr/>
          </a:p>
        </p:txBody>
      </p:sp>
      <p:sp>
        <p:nvSpPr>
          <p:cNvPr id="39" name=""/>
          <p:cNvSpPr/>
          <p:nvPr/>
        </p:nvSpPr>
        <p:spPr>
          <a:xfrm rot="0" flipH="0" flipV="0">
            <a:off x="3390900" y="2324100"/>
            <a:ext cx="2628900" cy="2667000"/>
          </a:xfrm>
          <a:prstGeom prst="roundRect">
            <a:avLst>
              <a:gd name="adj" fmla="val 362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0" name=""/>
          <p:cNvSpPr/>
          <p:nvPr/>
        </p:nvSpPr>
        <p:spPr>
          <a:xfrm rot="0" flipH="0" flipV="0">
            <a:off x="3562350" y="2476500"/>
            <a:ext cx="819150" cy="247650"/>
          </a:xfrm>
          <a:prstGeom prst="roundRect">
            <a:avLst>
              <a:gd name="adj" fmla="val 2307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3771900" y="2524125"/>
            <a:ext cx="400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config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3562350" y="2819400"/>
            <a:ext cx="2286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资源包</a:t>
            </a:r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3562350" y="3133725"/>
            <a:ext cx="22860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所选基础资源和附件，如地图、人物、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Skill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，可选导入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3562350" y="3819525"/>
            <a:ext cx="22860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进入实验前必须绑定完整</a:t>
            </a:r>
            <a:endParaRPr/>
          </a:p>
        </p:txBody>
      </p:sp>
      <p:sp>
        <p:nvSpPr>
          <p:cNvPr id="45" name=""/>
          <p:cNvSpPr/>
          <p:nvPr/>
        </p:nvSpPr>
        <p:spPr>
          <a:xfrm rot="0" flipH="0" flipV="0">
            <a:off x="6172200" y="2324100"/>
            <a:ext cx="2628900" cy="2667000"/>
          </a:xfrm>
          <a:prstGeom prst="roundRect">
            <a:avLst>
              <a:gd name="adj" fmla="val 362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6" name=""/>
          <p:cNvSpPr/>
          <p:nvPr/>
        </p:nvSpPr>
        <p:spPr>
          <a:xfrm rot="0" flipH="0" flipV="0">
            <a:off x="6343650" y="2476500"/>
            <a:ext cx="704850" cy="247650"/>
          </a:xfrm>
          <a:prstGeom prst="roundRect">
            <a:avLst>
              <a:gd name="adj" fmla="val 23077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6486525" y="2524125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.gaexp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6343650" y="2819400"/>
            <a:ext cx="2286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实验包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6343650" y="3133725"/>
            <a:ext cx="22860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完整实验输入与装配，用来准备并开始一次新的运行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6343650" y="3819525"/>
            <a:ext cx="22860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26816B"/>
                </a:solidFill>
                <a:latin typeface="Microsoft YaHei"/>
                <a:ea typeface="Microsoft YaHei"/>
              </a:rPr>
              <a:t>三种正式包之一</a:t>
            </a:r>
            <a:endParaRPr/>
          </a:p>
        </p:txBody>
      </p:sp>
      <p:sp>
        <p:nvSpPr>
          <p:cNvPr id="51" name=""/>
          <p:cNvSpPr/>
          <p:nvPr/>
        </p:nvSpPr>
        <p:spPr>
          <a:xfrm rot="0" flipH="0" flipV="0">
            <a:off x="8953500" y="2324100"/>
            <a:ext cx="2628900" cy="2667000"/>
          </a:xfrm>
          <a:prstGeom prst="roundRect">
            <a:avLst>
              <a:gd name="adj" fmla="val 362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2" name=""/>
          <p:cNvSpPr/>
          <p:nvPr/>
        </p:nvSpPr>
        <p:spPr>
          <a:xfrm rot="0" flipH="0" flipV="0">
            <a:off x="9124950" y="2476500"/>
            <a:ext cx="742950" cy="247650"/>
          </a:xfrm>
          <a:prstGeom prst="roundRect">
            <a:avLst>
              <a:gd name="adj" fmla="val 23077"/>
            </a:avLst>
          </a:prstGeom>
          <a:solidFill>
            <a:srgbClr val="20344B"/>
          </a:solidFill>
          <a:ln/>
        </p:spPr>
        <p:txBody>
          <a:bodyPr/>
          <a:p/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9296400" y="2524125"/>
            <a:ext cx="4095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.garun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9124950" y="2819400"/>
            <a:ext cx="2286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运行包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9124950" y="3133725"/>
            <a:ext cx="22860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内嵌实验与执行事实，按条件回放、恢复或重跑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9124950" y="3819525"/>
            <a:ext cx="22860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身份与帧可以校验</a:t>
            </a:r>
            <a:endParaRPr/>
          </a:p>
        </p:txBody>
      </p:sp>
      <p:sp>
        <p:nvSpPr>
          <p:cNvPr id="57" name=""/>
          <p:cNvSpPr/>
          <p:nvPr/>
        </p:nvSpPr>
        <p:spPr>
          <a:xfrm rot="0" flipH="0" flipV="0">
            <a:off x="609600" y="5181600"/>
            <a:ext cx="10972800" cy="857250"/>
          </a:xfrm>
          <a:prstGeom prst="roundRect">
            <a:avLst>
              <a:gd name="adj" fmla="val 1111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8" name=""/>
          <p:cNvSpPr/>
          <p:nvPr/>
        </p:nvSpPr>
        <p:spPr>
          <a:xfrm rot="0" flipH="0" flipV="0">
            <a:off x="819150" y="5419725"/>
            <a:ext cx="38100" cy="3810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1009650" y="5429250"/>
            <a:ext cx="5257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扩展名或「能解压」不能单独证明协议验证通过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1009650" y="5638800"/>
            <a:ext cx="525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三种正式包采用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ga-package v2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，类型由清单的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package_kind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识别，不靠文件名推断。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5.7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交付与复现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10 / 24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63" name="" descr="&lt;Slide notes={`四类文件都能拿到，但能做的事差别很大，所以清单不能只写「一个 ZIP」。&#13;&#10;&#13;&#10;普通结果 ZIP 能查看固定提交边界里的结果、报告和审计材料；要核对它的内容范围和来源 Step，它不会自动变成正式 Run 包。&#13;&#10;&#13;&#10;config 资源包通常是 .zip，能导入所选的地图、人物、Skill 等基础资源；要核对它自身的附件和跨资源依赖，不能当成已完成的实验。&#13;&#10;&#13;&#10;exp 和 .gaexp 能取得完整实验输入与装配；要核对协议、完整性、环境和执行条件。&#13;&#10;&#13;&#10;run 和 .garun 能取得内嵌实验与执行事实，供回放以及符合条件的恢复和重跑；要核对身份、帧、恢复边界和目标环境。`} style={{ width: 1280, height: 720, background: '#FFFFFF', flexDirection: 'column', padding: '20px 64px' }}&gt;&#13;&#10;&#13;&#10;    &lt;Box style={{ height: 100, flexDirection: 'row', alignItems: 'center', gap: 20 }}&gt;&#13;&#10;        &lt;Box style={{ width: 4, height: 44, background: '#276FBF' }} /&gt;&#13;&#10;        &lt;Box style={{ flexDirection: 'column', gap: 4 }}&gt;&#13;&#10;            &lt;Text style={{ fontSize: 14, color: '#546779' }}&gt;5.7.3　四类文件对应不同用途&lt;/Text&gt;&#13;&#10;            &lt;Text style={{ fontSize: 34, fontWeight: 'bold', color: '#20344B' }}&gt;能做什么，还要核对什么&lt;/Text&gt;&#13;&#10;        &lt;/Box&gt;&#13;&#10;    &lt;/Box&gt;&#13;&#10;&#13;&#10;    &lt;Box style={{ height: 540, flexDirection: 'column', justifyContent: 'center', gap: 10 }}&gt;&#13;&#10;&#13;&#10;        &lt;Box style={{ width: 1152, height: 34, flexDirection: 'row', alignItems: 'center', gap: 12, padding: '0 18px' }}&gt;&#13;&#10;            &lt;Box style={{ width: 4, height: 20 }} /&gt;&#13;&#10;            &lt;Text style={{ fontSize: 15, fontWeight: 'bold', color: '#546779', width: 220 }}&gt;类型&lt;/Text&gt;&#13;&#10;            &lt;Text style={{ fontSize: 15, fontWeight: 'bold', color: '#546779', width: 420 }}&gt;接收者可以据此做什么&lt;/Text&gt;&#13;&#10;            &lt;Text style={{ fontSize: 15, fontWeight: 'bold', color: '#546779', width: 436 }}&gt;仍需核对什么&lt;/Text&gt;&#13;&#10;        &lt;/Box&gt;&#13;&#10;&#13;&#10;        &lt;Box style={{ width: 1152, height: 84, background: '#F7F3E8', borderRadius: 10, padding: '0 18px', flexDirection: 'row', alignItems: 'center', gap: 12 }}&gt;&#13;&#10;            &lt;Box style={{ width: 4, height: 44, background: '#CB6B28' }} /&gt;&#13;&#10;            &lt;Text style={{ fontSize: 17, fontWeight: 'bold', color: '#20344B', width: 220 }}&gt;普通结果 ZIP&lt;/Text&gt;&#13;&#10;            &lt;Text style={{ fontSize: 15, color: '#546779', lineHeight: 1.5, width: 420 }}&gt;查看固定提交边界的结果、报告与审计材料&lt;/Text&gt;&#13;&#10;            &lt;Text style={{ fontSize: 15, color: '#CB6B28', lineHeight: 1.5, width: 436 }}&gt;内容范围、来源 Step；它不自动成为正式 Run 包&lt;/Text&gt;&#13;&#10;        &lt;/Box&gt;&#13;&#10;&#13;&#10;        &lt;Box style={{ width: 1152, height: 84, background: '#F4F7FA', borderRadius: 10, padding: '0 18px', flexDirection: 'row', alignItems: 'center', gap: 12 }}&gt;&#13;&#10;            &lt;Box style={{ width: 4, height: 44, background: '#276FBF' }} /&gt;&#13;&#10;            &lt;Text style={{ fontSize: 17, fontWeight: 'bold', color: '#20344B', width: 220 }}&gt;config　资源包&lt;/Text&gt;&#13;&#10;            &lt;Text style={{ fontSize: 15, color: '#546779', lineHeight: 1.5, width: 420 }}&gt;导入所选地图、人物、Skill 等基础资源&lt;/Text&gt;&#13;&#10;            &lt;Text style={{ fontSize: 15, color: '#546779', lineHeight: 1.5, width: 436 }}&gt;自身附件及跨资源依赖，不能当作已完成实验&lt;/Text&gt;&#13;&#10;        &lt;/Box&gt;&#13;&#10;&#13;&#10;        &lt;Box style={{ width: 1152, height: 84, background: '#F4F7FA', borderRadius: 10, padding: '0 18px', flexDirection: 'row', alignItems: 'center', gap: 12 }}&gt;&#13;&#10;            &lt;Box style={{ width: 4, height: 44, background: '#26816B' }} /&gt;&#13;&#10;            &lt;Text style={{ fontSize: 17, fontWeight: 'bold', color: '#20344B', width: 220 }}&gt;exp　.gaexp&lt;/Text&gt;&#13;&#10;            &lt;Text style={{ fontSize: 15, color: '#546779', lineHeight: 1.5, width: 420 }}&gt;取得完整实验输入与装配&lt;/Text&gt;&#13;&#10;            &lt;Text style={{ fontSize: 15, color: '#546779', lineHeight: 1.5, width: 436 }}&gt;协议、完整性、环境和执行条件&lt;/Text&gt;&#13;&#10;        &lt;/Box&gt;&#13;&#10;&#13;&#10;        &lt;Box style={{ width: 1152, height: 84, background: '#ECF7F2', borderRadius: 10, padding: '0 18px', flexDirection: 'row', alignItems: 'center', gap: 12 }}&gt;&#13;&#10;            &lt;Box style={{ width: 4, height: 44, background: '#26816B' }} /&gt;&#13;&#10;            &lt;Text style={{ fontSize: 17, fontWeight: 'bold', color: '#20344B', width: 220 }}&gt;run　.garun&lt;/Text&gt;&#13;&#10;            &lt;Text style={{ fontSize: 15, color: '#546779', lineHeight: 1.5, width: 420 }}&gt;取得内嵌实验与执行事实，供回放及符合条件的恢复／重跑&lt;/Text&gt;&#13;&#10;            &lt;Text style={{ fontSize: 15, color: '#546779', lineHeight: 1.5, width: 436 }}&gt;身份、帧、恢复边界和目标环境&lt;/Text&gt;&#13;&#10;        &lt;/Box&gt;&#13;&#10;&#13;&#10;    &lt;/Box&gt;&#13;&#10;&#13;&#10;    &lt;Box style={{ height: 40, flexDirection: 'row', justifyContent: 'space-between', alignItems: 'center' }}&gt;&#13;&#10;        &lt;Text style={{ fontSize: 14, color: '#546779' }}&gt;5.7 交付与复现&lt;/Text&gt;&#13;&#10;        &lt;Text style={{ fontSize: 14, color: '#546779' }}&gt;11 / 24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5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5.7.3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四类文件对应不同用途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能做什么，还要核对什么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933450" y="1838325"/>
            <a:ext cx="2095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类型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3143250" y="1838325"/>
            <a:ext cx="4000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接收者可以据此做什么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7258050" y="1838325"/>
            <a:ext cx="4152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仍需核对什么</a:t>
            </a:r>
            <a:endParaRPr/>
          </a:p>
        </p:txBody>
      </p:sp>
      <p:sp>
        <p:nvSpPr>
          <p:cNvPr id="71" name=""/>
          <p:cNvSpPr/>
          <p:nvPr/>
        </p:nvSpPr>
        <p:spPr>
          <a:xfrm rot="0" flipH="0" flipV="0">
            <a:off x="609600" y="2181225"/>
            <a:ext cx="10972800" cy="800100"/>
          </a:xfrm>
          <a:prstGeom prst="roundRect">
            <a:avLst>
              <a:gd name="adj" fmla="val 11905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72" name=""/>
          <p:cNvSpPr/>
          <p:nvPr/>
        </p:nvSpPr>
        <p:spPr>
          <a:xfrm rot="0" flipH="0" flipV="0">
            <a:off x="781050" y="2371725"/>
            <a:ext cx="38100" cy="419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933450" y="2486025"/>
            <a:ext cx="2095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普通结果</a:t>
            </a:r>
            <a:r>
              <a:rPr lang="en-US" sz="1275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ZIP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3143250" y="2457450"/>
            <a:ext cx="40005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查看固定提交边界的结果、报告与审计材料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7258050" y="2457450"/>
            <a:ext cx="41529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内容范围、来源</a:t>
            </a:r>
            <a:r>
              <a:rPr lang="en-US" sz="1125">
                <a:solidFill>
                  <a:srgbClr val="CB6B28"/>
                </a:solidFill>
                <a:latin typeface="Microsoft YaHei"/>
                <a:ea typeface="Microsoft YaHei"/>
              </a:rPr>
              <a:t xml:space="preserve"> Step</a:t>
            </a: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；它不自动成为正式</a:t>
            </a:r>
            <a:r>
              <a:rPr lang="en-US" sz="1125">
                <a:solidFill>
                  <a:srgbClr val="CB6B28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包</a:t>
            </a:r>
            <a:endParaRPr/>
          </a:p>
        </p:txBody>
      </p:sp>
      <p:sp>
        <p:nvSpPr>
          <p:cNvPr id="76" name=""/>
          <p:cNvSpPr/>
          <p:nvPr/>
        </p:nvSpPr>
        <p:spPr>
          <a:xfrm rot="0" flipH="0" flipV="0">
            <a:off x="609600" y="3076575"/>
            <a:ext cx="10972800" cy="800100"/>
          </a:xfrm>
          <a:prstGeom prst="roundRect">
            <a:avLst>
              <a:gd name="adj" fmla="val 1190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7" name=""/>
          <p:cNvSpPr/>
          <p:nvPr/>
        </p:nvSpPr>
        <p:spPr>
          <a:xfrm rot="0" flipH="0" flipV="0">
            <a:off x="781050" y="3267075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933450" y="3381375"/>
            <a:ext cx="2095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0344B"/>
                </a:solidFill>
                <a:latin typeface="Microsoft YaHei"/>
                <a:ea typeface="Microsoft YaHei"/>
              </a:rPr>
              <a:t>config</a:t>
            </a: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　资源包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3143250" y="3352800"/>
            <a:ext cx="40005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导入所选地图、人物、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Skill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等基础资源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7258050" y="3352800"/>
            <a:ext cx="41529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自身附件及跨资源依赖，不能当作已完成实验</a:t>
            </a:r>
            <a:endParaRPr/>
          </a:p>
        </p:txBody>
      </p:sp>
      <p:sp>
        <p:nvSpPr>
          <p:cNvPr id="81" name=""/>
          <p:cNvSpPr/>
          <p:nvPr/>
        </p:nvSpPr>
        <p:spPr>
          <a:xfrm rot="0" flipH="0" flipV="0">
            <a:off x="609600" y="3971925"/>
            <a:ext cx="10972800" cy="800100"/>
          </a:xfrm>
          <a:prstGeom prst="roundRect">
            <a:avLst>
              <a:gd name="adj" fmla="val 1190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82" name=""/>
          <p:cNvSpPr/>
          <p:nvPr/>
        </p:nvSpPr>
        <p:spPr>
          <a:xfrm rot="0" flipH="0" flipV="0">
            <a:off x="781050" y="4162425"/>
            <a:ext cx="38100" cy="4191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933450" y="4276725"/>
            <a:ext cx="2095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0344B"/>
                </a:solidFill>
                <a:latin typeface="Microsoft YaHei"/>
                <a:ea typeface="Microsoft YaHei"/>
              </a:rPr>
              <a:t>exp</a:t>
            </a: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　</a:t>
            </a:r>
            <a:r>
              <a:rPr lang="en-US" sz="1275" b="1">
                <a:solidFill>
                  <a:srgbClr val="20344B"/>
                </a:solidFill>
                <a:latin typeface="Microsoft YaHei"/>
                <a:ea typeface="Microsoft YaHei"/>
              </a:rPr>
              <a:t>.gaexp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3143250" y="4248150"/>
            <a:ext cx="40005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取得完整实验输入与装配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7258050" y="4248150"/>
            <a:ext cx="41529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协议、完整性、环境和执行条件</a:t>
            </a:r>
            <a:endParaRPr/>
          </a:p>
        </p:txBody>
      </p:sp>
      <p:sp>
        <p:nvSpPr>
          <p:cNvPr id="86" name=""/>
          <p:cNvSpPr/>
          <p:nvPr/>
        </p:nvSpPr>
        <p:spPr>
          <a:xfrm rot="0" flipH="0" flipV="0">
            <a:off x="609600" y="4867275"/>
            <a:ext cx="10972800" cy="800100"/>
          </a:xfrm>
          <a:prstGeom prst="roundRect">
            <a:avLst>
              <a:gd name="adj" fmla="val 1190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87" name=""/>
          <p:cNvSpPr/>
          <p:nvPr/>
        </p:nvSpPr>
        <p:spPr>
          <a:xfrm rot="0" flipH="0" flipV="0">
            <a:off x="781050" y="5057775"/>
            <a:ext cx="38100" cy="4191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933450" y="5172075"/>
            <a:ext cx="2095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0344B"/>
                </a:solidFill>
                <a:latin typeface="Microsoft YaHei"/>
                <a:ea typeface="Microsoft YaHei"/>
              </a:rPr>
              <a:t>run</a:t>
            </a: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　</a:t>
            </a:r>
            <a:r>
              <a:rPr lang="en-US" sz="1275" b="1">
                <a:solidFill>
                  <a:srgbClr val="20344B"/>
                </a:solidFill>
                <a:latin typeface="Microsoft YaHei"/>
                <a:ea typeface="Microsoft YaHei"/>
              </a:rPr>
              <a:t>.garun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3143250" y="5143500"/>
            <a:ext cx="40005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取得内嵌实验与执行事实，供回放及符合条件的恢复／重跑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7258050" y="5143500"/>
            <a:ext cx="41529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身份、帧、恢复边界和目标环境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5.7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交付与复现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11 / 24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93" name="" descr="&lt;Slide notes={`三个动作看起来都在「把文件弄进来」，含义却完全不同。&#13;&#10;&#13;&#10;正式封存要在一致边界取得内容，并生成完整性清单；它不能靠把一个结果 ZIP 改后缀来实现。第三章已区分过界面上的下载按钮和底层正式封存能力，这里不再重复界面操作。&#13;&#10;&#13;&#10;资源绑定是另一件事：config 包可以显式保留未绑定的跨资源依赖，但进入实验前必须绑定完整。遇到同一个 Skill key 内容冲突，不能按显示名称静默覆盖，要明确选定。&#13;&#10;&#13;&#10;导入资源是第三个动作。导入成功只说明资源进来了，不等于恢复了一个 Run 的历史。&#13;&#10;&#13;&#10;这个项目里还有操作没经过界面核验，它们仍列为缺口；我不用命令或直接调接口去补做系统验收。`} style={{ width: 1280, height: 720, background: '#FFFFFF', flexDirection: 'column', padding: '20px 64px' }}&gt;&#13;&#10;&#13;&#10;    &lt;Box style={{ height: 100, flexDirection: 'row', alignItems: 'center', gap: 20 }}&gt;&#13;&#10;        &lt;Box style={{ width: 4, height: 44, background: '#276FBF' }} /&gt;&#13;&#10;        &lt;Box style={{ flexDirection: 'column', gap: 4 }}&gt;&#13;&#10;            &lt;Text style={{ fontSize: 14, color: '#546779' }}&gt;5.7.3　四类文件对应不同用途&lt;/Text&gt;&#13;&#10;            &lt;Text style={{ fontSize: 34, fontWeight: 'bold', color: '#20344B' }}&gt;封存、绑定、导入不是一回事&lt;/Text&gt;&#13;&#10;        &lt;/Box&gt;&#13;&#10;    &lt;/Box&gt;&#13;&#10;&#13;&#10;    &lt;Box style={{ height: 540, flexDirection: 'column', justifyContent: 'center', gap: 14 }}&gt;&#13;&#10;&#13;&#10;        &lt;Box style={{ width: 1152, height: 104, background: '#F4F7FA', borderRadius: 10, padding: '0 22px', flexDirection: 'row', alignItems: 'center', gap: 16 }}&gt;&#13;&#10;            &lt;Box style={{ width: 44, height: 44, background: '#276FBF', borderRadius: 8, justifyContent: 'center', alignItems: 'center' }}&gt;&#13;&#10;                &lt;Text style={{ fontSize: 20, fontWeight: 'bold', color: '#FFFFFF' }}&gt;封&lt;/Text&gt;&#13;&#10;            &lt;/Box&gt;&#13;&#10;            &lt;Box style={{ flexDirection: 'column', gap: 4, width: 1048 }}&gt;&#13;&#10;                &lt;Text style={{ fontSize: 18, fontWeight: 'bold', color: '#20344B' }}&gt;正式封存：一致边界 ＋ 完整性清单&lt;/Text&gt;&#13;&#10;                &lt;Text style={{ fontSize: 15, color: '#546779', lineHeight: 1.5 }}&gt;要在一致边界取得内容并生成完整性清单，不能把一个结果 ZIP 改后缀实现。&lt;/Text&gt;&#13;&#10;            &lt;/Box&gt;&#13;&#10;        &lt;/Box&gt;&#13;&#10;&#13;&#10;        &lt;Box style={{ width: 1152, height: 104, background: '#ECF7F2', borderRadius: 10, padding: '0 22px', flexDirection: 'row', alignItems: 'center', gap: 16 }}&gt;&#13;&#10;            &lt;Box style={{ width: 44, height: 44, background: '#26816B', borderRadius: 8, justifyContent: 'center', alignItems: 'center' }}&gt;&#13;&#10;                &lt;Text style={{ fontSize: 20, fontWeight: 'bold', color: '#FFFFFF' }}&gt;绑&lt;/Text&gt;&#13;&#10;            &lt;/Box&gt;&#13;&#10;            &lt;Box style={{ flexDirection: 'column', gap: 4, width: 1048 }}&gt;&#13;&#10;                &lt;Text style={{ fontSize: 18, fontWeight: 'bold', color: '#20344B' }}&gt;资源绑定：进实验前必须完整&lt;/Text&gt;&#13;&#10;                &lt;Text style={{ fontSize: 15, color: '#546779', lineHeight: 1.5 }}&gt;config 可以含显式未绑定的跨资源依赖；同一个 Skill key 内容冲突时，不按显示名称静默覆盖。&lt;/Text&gt;&#13;&#10;            &lt;/Box&gt;&#13;&#10;        &lt;/Box&gt;&#13;&#10;&#13;&#10;        &lt;Box style={{ width: 1152, height: 104, background: '#F7F3E8', borderRadius: 10, padding: '0 22px', flexDirection: 'row', alignItems: 'center', gap: 16 }}&gt;&#13;&#10;            &lt;Box style={{ width: 44, height: 44, background: '#CB6B28', borderRadius: 8, justifyContent: 'center', alignItems: 'center' }}&gt;&#13;&#10;                &lt;Text style={{ fontSize: 20, fontWeight: 'bold', color: '#FFFFFF' }}&gt;导&lt;/Text&gt;&#13;&#10;            &lt;/Box&gt;&#13;&#10;            &lt;Box style={{ flexDirection: 'column', gap: 4, width: 1048 }}&gt;&#13;&#10;                &lt;Text style={{ fontSize: 18, fontWeight: 'bold', color: '#20344B' }}&gt;导入资源：成功不等于恢复历史&lt;/Text&gt;&#13;&#10;                &lt;Text style={{ fontSize: 15, color: '#546779', lineHeight: 1.5 }}&gt;导入把资源放进工作区，但一个 Run 的执行事实不会因此回来。&lt;/Text&gt;&#13;&#10;            &lt;/Box&gt;&#13;&#10;        &lt;/Box&gt;&#13;&#10;&#13;&#10;        &lt;Box style={{ width: 1152, height: 96, background: '#FFF4E6', borderRadius: 10, padding: '0 22px', flexDirection: 'row', alignItems: 'center', gap: 16 }}&gt;&#13;&#10;            &lt;Box style={{ width: 4, height: 44, background: '#CB6B28' }} /&gt;&#13;&#10;            &lt;Box style={{ flexDirection: 'column', gap: 4 }}&gt;&#13;&#10;                &lt;Text style={{ fontSize: 15, fontWeight: 'bold', color: '#CB6B28' }}&gt;导入资源成功，不等于恢复了一个 Run 的历史&lt;/Text&gt;&#13;&#10;                &lt;Text style={{ fontSize: 14, color: '#546779' }}&gt;本项目没有经 UI 核验的操作仍列为缺口，不用命令或直接接口补做本次系统验收。&lt;/Text&gt;&#13;&#10;            &lt;/Box&gt;&#13;&#10;        &lt;/Box&gt;&#13;&#10;&#13;&#10;    &lt;/Box&gt;&#13;&#10;&#13;&#10;    &lt;Box style={{ height: 40, flexDirection: 'row', justifyContent: 'space-between', alignItems: 'center' }}&gt;&#13;&#10;        &lt;Text style={{ fontSize: 14, color: '#546779' }}&gt;5.7 交付与复现&lt;/Text&gt;&#13;&#10;        &lt;Text style={{ fontSize: 14, color: '#546779' }}&gt;12 / 24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5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21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5.7.3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四类文件对应不同用途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21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封存、绑定、导入不是一回事</a:t>
            </a:r>
            <a:endParaRPr/>
          </a:p>
        </p:txBody>
      </p:sp>
      <p:sp>
        <p:nvSpPr>
          <p:cNvPr id="98" name=""/>
          <p:cNvSpPr/>
          <p:nvPr/>
        </p:nvSpPr>
        <p:spPr>
          <a:xfrm rot="0" flipH="0" flipV="0">
            <a:off x="609600" y="1571625"/>
            <a:ext cx="10972800" cy="990600"/>
          </a:xfrm>
          <a:prstGeom prst="roundRect">
            <a:avLst>
              <a:gd name="adj" fmla="val 961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99" name=""/>
          <p:cNvSpPr/>
          <p:nvPr/>
        </p:nvSpPr>
        <p:spPr>
          <a:xfrm rot="0" flipH="0" flipV="0">
            <a:off x="819150" y="185737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933450" y="1952625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封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1390650" y="1819275"/>
            <a:ext cx="9982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正式封存：一致边界</a:t>
            </a:r>
            <a:r>
              <a:rPr lang="en-US" sz="13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＋</a:t>
            </a:r>
            <a:r>
              <a:rPr lang="en-US" sz="13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完整性清单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1390650" y="2066925"/>
            <a:ext cx="99822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要在一致边界取得内容并生成完整性清单，不能把一个结果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ZIP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改后缀实现。</a:t>
            </a:r>
            <a:endParaRPr/>
          </a:p>
        </p:txBody>
      </p:sp>
      <p:sp>
        <p:nvSpPr>
          <p:cNvPr id="103" name=""/>
          <p:cNvSpPr/>
          <p:nvPr/>
        </p:nvSpPr>
        <p:spPr>
          <a:xfrm rot="0" flipH="0" flipV="0">
            <a:off x="609600" y="2695575"/>
            <a:ext cx="10972800" cy="990600"/>
          </a:xfrm>
          <a:prstGeom prst="roundRect">
            <a:avLst>
              <a:gd name="adj" fmla="val 961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04" name=""/>
          <p:cNvSpPr/>
          <p:nvPr/>
        </p:nvSpPr>
        <p:spPr>
          <a:xfrm rot="0" flipH="0" flipV="0">
            <a:off x="819150" y="298132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933450" y="3076575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绑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1390650" y="2943225"/>
            <a:ext cx="9982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资源绑定：进实验前必须完整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1390650" y="3190875"/>
            <a:ext cx="99822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config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可以含显式未绑定的跨资源依赖；同一个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 key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内容冲突时，不按显示名称静默覆盖。</a:t>
            </a:r>
            <a:endParaRPr/>
          </a:p>
        </p:txBody>
      </p:sp>
      <p:sp>
        <p:nvSpPr>
          <p:cNvPr id="108" name=""/>
          <p:cNvSpPr/>
          <p:nvPr/>
        </p:nvSpPr>
        <p:spPr>
          <a:xfrm rot="0" flipH="0" flipV="0">
            <a:off x="609600" y="3819525"/>
            <a:ext cx="10972800" cy="990600"/>
          </a:xfrm>
          <a:prstGeom prst="roundRect">
            <a:avLst>
              <a:gd name="adj" fmla="val 9615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109" name=""/>
          <p:cNvSpPr/>
          <p:nvPr/>
        </p:nvSpPr>
        <p:spPr>
          <a:xfrm rot="0" flipH="0" flipV="0">
            <a:off x="819150" y="410527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933450" y="4200525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导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1390650" y="4067175"/>
            <a:ext cx="9982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导入资源：成功不等于恢复历史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1390650" y="4314825"/>
            <a:ext cx="99822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导入把资源放进工作区，但一个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的执行事实不会因此回来。</a:t>
            </a:r>
            <a:endParaRPr/>
          </a:p>
        </p:txBody>
      </p:sp>
      <p:sp>
        <p:nvSpPr>
          <p:cNvPr id="113" name=""/>
          <p:cNvSpPr/>
          <p:nvPr/>
        </p:nvSpPr>
        <p:spPr>
          <a:xfrm rot="0" flipH="0" flipV="0">
            <a:off x="609600" y="4943475"/>
            <a:ext cx="10972800" cy="914400"/>
          </a:xfrm>
          <a:prstGeom prst="roundRect">
            <a:avLst>
              <a:gd name="adj" fmla="val 1041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14" name=""/>
          <p:cNvSpPr/>
          <p:nvPr/>
        </p:nvSpPr>
        <p:spPr>
          <a:xfrm rot="0" flipH="0" flipV="0">
            <a:off x="819150" y="5191125"/>
            <a:ext cx="38100" cy="419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1009650" y="5219700"/>
            <a:ext cx="4886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导入资源成功，不等于恢复了一个</a:t>
            </a:r>
            <a:r>
              <a:rPr lang="en-US" sz="1125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的历史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1009650" y="5429250"/>
            <a:ext cx="48863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本项目没有经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UI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核验的操作仍列为缺口，不用命令或直接接口补做本次系统验收。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5.7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交付与复现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12 / 24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19" name="" descr="&lt;Slide notes={`接收方拿到材料之后，第一件事是只读核验，而不是立刻开始跑。&#10;&#10;只读核验分三层，顺序不能颠倒。先证明「还是同一份材料」，再证明「包本身说得通」，最后才谈结论站不站得住。&#10;&#10;这三层都不需要模型凭据，只要程序、包和素材满足读取要求就能做。这也是为什么很多交付的第一次接收，可以在一台没有密钥的机器上完成。&#10;&#10;要注意的是，只读核验也有自己的失败结果：文件损坏、协议不支持、内容缺失、证据对应错误，这四类要分别记录，不能统一写成一句「复现失败」。因为每一种失败对应的下一步动作完全不同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第五章　5.7　交付与复现&lt;/Text&gt;&#10;            &lt;Text style={{ fontSize: 34, fontWeight: 'bold', color: '#20344B' }}&gt;知识块 ③&lt;/Text&gt;&#10;        &lt;/Box&gt;&#10;    &lt;/Box&gt;&#10;&#10;    &lt;Box style={{ height: 540, flexDirection: 'column', justifyContent: 'center', gap: 16 }}&gt;&#10;&#10;        &lt;Text style={{ fontSize: 88, fontWeight: 'bold', color: '#276FBF', lineHeight: 1.0 }}&gt;③&lt;/Text&gt;&#10;&#10;        &lt;Text style={{ fontSize: 56, fontWeight: 'bold', color: '#20344B', lineHeight: 1.15 }}&gt;接收方先做只读核验&lt;/Text&gt;&#10;&#10;        &lt;Box style={{ width: 72, height: 4, background: '#276FBF' }} /&gt;&#10;&#10;        &lt;Text style={{ fontSize: 18, color: '#546779', lineHeight: 1.7, width: 1000 }}&gt;先证明「还是同一份材料」，再证明「包本身说得通」，最后才谈结论。三层都不需要模型凭据。&lt;/Text&gt;&#10;&#10;        &lt;Box style={{ width: 340, height: 52, background: '#EDF4FC', borderRadius: 8, padding: '0 18px', justifyContent: 'center' }}&gt;&#10;            &lt;Text style={{ fontSize: 16, color: '#276FBF' }}&gt;第一层　字节与来源核验&lt;/Text&gt;&#10;        &lt;/Box&gt;&#10;        &lt;Box style={{ width: 560, height: 52, background: '#ECF7F2', borderRadius: 8, padding: '0 18px', justifyContent: 'center' }}&gt;&#10;            &lt;Text style={{ fontSize: 16, color: '#26816B' }}&gt;第二层　协议与事实核验&lt;/Text&gt;&#10;        &lt;/Box&gt;&#10;        &lt;Box style={{ width: 780, height: 52, background: '#F4F7FA', borderRadius: 8, padding: '0 18px', justifyContent: 'center' }}&gt;&#10;            &lt;Text style={{ fontSize: 16, color: '#20344B' }}&gt;第三层　交付结论核验&lt;/Text&gt;&#10;        &lt;/Box&gt;&#10;&#10;    &lt;/Box&gt;&#10;&#10;    &lt;Box style={{ height: 40, flexDirection: 'row', justifyContent: 'space-between', alignItems: 'center' }}&gt;&#10;        &lt;Text style={{ fontSize: 14, color: '#546779' }}&gt;5.7 交付与复现&lt;/Text&gt;&#10;        &lt;Text style={{ fontSize: 14, color: '#546779' }}&gt;13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1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1524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第五章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5.7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交付与复现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1524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知识块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③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609600" y="1447800"/>
            <a:ext cx="10972800" cy="1009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6600" b="1">
                <a:solidFill>
                  <a:srgbClr val="276FBF"/>
                </a:solidFill>
                <a:latin typeface="Microsoft YaHei"/>
                <a:ea typeface="Microsoft YaHei"/>
              </a:rPr>
              <a:t>③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609600" y="2609850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接收方先做只读核验</a:t>
            </a:r>
            <a:endParaRPr/>
          </a:p>
        </p:txBody>
      </p:sp>
      <p:sp>
        <p:nvSpPr>
          <p:cNvPr id="126" name=""/>
          <p:cNvSpPr/>
          <p:nvPr/>
        </p:nvSpPr>
        <p:spPr>
          <a:xfrm rot="0" flipH="0" flipV="0">
            <a:off x="609600" y="350520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609600" y="3695700"/>
            <a:ext cx="95250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先证明「还是同一份材料」，再证明「包本身说得通」，最后才谈结论。三层都不需要模型凭据。</a:t>
            </a:r>
            <a:endParaRPr/>
          </a:p>
        </p:txBody>
      </p:sp>
      <p:sp>
        <p:nvSpPr>
          <p:cNvPr id="128" name=""/>
          <p:cNvSpPr/>
          <p:nvPr/>
        </p:nvSpPr>
        <p:spPr>
          <a:xfrm rot="0" flipH="0" flipV="0">
            <a:off x="609600" y="4200525"/>
            <a:ext cx="3238500" cy="495300"/>
          </a:xfrm>
          <a:prstGeom prst="roundRect">
            <a:avLst>
              <a:gd name="adj" fmla="val 1538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781050" y="4352925"/>
            <a:ext cx="2895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76FBF"/>
                </a:solidFill>
                <a:latin typeface="Microsoft YaHei"/>
                <a:ea typeface="Microsoft YaHei"/>
              </a:rPr>
              <a:t>第一层　字节与来源核验</a:t>
            </a:r>
            <a:endParaRPr/>
          </a:p>
        </p:txBody>
      </p:sp>
      <p:sp>
        <p:nvSpPr>
          <p:cNvPr id="130" name=""/>
          <p:cNvSpPr/>
          <p:nvPr/>
        </p:nvSpPr>
        <p:spPr>
          <a:xfrm rot="0" flipH="0" flipV="0">
            <a:off x="609600" y="4848225"/>
            <a:ext cx="5334000" cy="495300"/>
          </a:xfrm>
          <a:prstGeom prst="roundRect">
            <a:avLst>
              <a:gd name="adj" fmla="val 1538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781050" y="5000625"/>
            <a:ext cx="4991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6816B"/>
                </a:solidFill>
                <a:latin typeface="Microsoft YaHei"/>
                <a:ea typeface="Microsoft YaHei"/>
              </a:rPr>
              <a:t>第二层　协议与事实核验</a:t>
            </a:r>
            <a:endParaRPr/>
          </a:p>
        </p:txBody>
      </p:sp>
      <p:sp>
        <p:nvSpPr>
          <p:cNvPr id="132" name=""/>
          <p:cNvSpPr/>
          <p:nvPr/>
        </p:nvSpPr>
        <p:spPr>
          <a:xfrm rot="0" flipH="0" flipV="0">
            <a:off x="609600" y="5495925"/>
            <a:ext cx="7429500" cy="495300"/>
          </a:xfrm>
          <a:prstGeom prst="roundRect">
            <a:avLst>
              <a:gd name="adj" fmla="val 1538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781050" y="5648325"/>
            <a:ext cx="7086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第三层　交付结论核验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5.7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交付与复现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13 / 24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36" name="" descr="&lt;Slide notes={`第一层是字节与来源核验。对照清单里的文件名、大小和 SHA256，确认传输后还是同一份材料，再核对生成时间、源状态与提交边界。哈希相同只证明字节相同，不证明内容合理，也不证明业务成功；没有原始摘要时，就记录缺少比较依据，不能用接收后的摘要倒推传输前状态。&#13;&#10;&#13;&#10;第二层是协议与事实核验。用兼容读取环境检查正式包身份、完整性、内嵌实验摘要和帧连续性。Replay 只读事实，不加载 Brain，不重新推理。&#13;&#10;&#13;&#10;第三层是交付结论核验。在实际存在的类别里抽查成功、未完成或有争议的判断，沿材料定位原始记录；某类没有样本就说明未观察到。若清单写完成三项、明细只有两条充分证据，就登记差异，退回补充或修正报告。`} style={{ width: 1280, height: 720, background: '#FFFFFF', flexDirection: 'column', padding: '20px 64px' }}&gt;&#13;&#10;&#13;&#10;    &lt;Box style={{ height: 100, flexDirection: 'row', alignItems: 'center', gap: 20 }}&gt;&#13;&#10;        &lt;Box style={{ width: 4, height: 44, background: '#276FBF' }} /&gt;&#13;&#10;        &lt;Box style={{ flexDirection: 'column', gap: 4 }}&gt;&#13;&#10;            &lt;Text style={{ fontSize: 14, color: '#546779' }}&gt;5.7.4　接收方先做只读核验&lt;/Text&gt;&#13;&#10;            &lt;Text style={{ fontSize: 34, fontWeight: 'bold', color: '#20344B' }}&gt;三层核验，逐层收紧&lt;/Text&gt;&#13;&#10;        &lt;/Box&gt;&#13;&#10;    &lt;/Box&gt;&#13;&#10;&#13;&#10;    &lt;Box style={{ height: 540, flexDirection: 'column', justifyContent: 'center', gap: 14 }}&gt;&#13;&#10;&#13;&#10;        &lt;Box style={{ width: 1152, height: 70, background: '#EDF4FC', borderRadius: 10, padding: '0 22px', flexDirection: 'row', alignItems: 'center', gap: 16 }}&gt;&#13;&#10;            &lt;Box style={{ width: 4, height: 32, background: '#276FBF' }} /&gt;&#13;&#10;            &lt;Box style={{ flexDirection: 'column', gap: 3 }}&gt;&#13;&#10;                &lt;Text style={{ fontSize: 20, fontWeight: 'bold', color: '#20344B' }}&gt;只读核验可以分三层完成&lt;/Text&gt;&#13;&#10;                &lt;Text style={{ fontSize: 15, color: '#546779' }}&gt;先证明是同一份材料，再证明包说得通，最后才评价结论&lt;/Text&gt;&#13;&#10;            &lt;/Box&gt;&#13;&#10;        &lt;/Box&gt;&#13;&#10;&#13;&#10;        &lt;Box style={{ width: 768, height: 104, background: '#EDF4FC', borderRadius: 10, padding: '0 20px', flexDirection: 'row', alignItems: 'center', gap: 14 }}&gt;&#13;&#10;            &lt;Box style={{ width: 4, height: 36, background: '#276FBF' }} /&gt;&#13;&#10;            &lt;Box style={{ flexDirection: 'column', gap: 4, width: 710 }}&gt;&#13;&#10;                &lt;Text style={{ fontSize: 18, fontWeight: 'bold', color: '#20344B' }}&gt;第一层　字节与来源核验&lt;/Text&gt;&#13;&#10;                &lt;Text style={{ fontSize: 15, color: '#546779', lineHeight: 1.5 }}&gt;对照文件名、大小和 SHA256，再核对生成时间、源状态与提交边界&lt;/Text&gt;&#13;&#10;            &lt;/Box&gt;&#13;&#10;        &lt;/Box&gt;&#13;&#10;&#13;&#10;        &lt;Box style={{ width: 960, height: 104, background: '#ECF7F2', borderRadius: 10, padding: '0 20px', flexDirection: 'row', alignItems: 'center', gap: 14 }}&gt;&#13;&#10;            &lt;Box style={{ width: 4, height: 36, background: '#26816B' }} /&gt;&#13;&#10;            &lt;Box style={{ flexDirection: 'column', gap: 4, width: 902 }}&gt;&#13;&#10;                &lt;Text style={{ fontSize: 18, fontWeight: 'bold', color: '#20344B' }}&gt;第二层　协议与事实核验&lt;/Text&gt;&#13;&#10;                &lt;Text style={{ fontSize: 15, color: '#546779', lineHeight: 1.5 }}&gt;用兼容读取环境检查正式包身份、完整性、内嵌实验摘要和帧连续性，再看提交范围内的状态&lt;/Text&gt;&#13;&#10;            &lt;/Box&gt;&#13;&#10;        &lt;/Box&gt;&#13;&#10;&#13;&#10;        &lt;Box style={{ width: 1152, height: 104, background: '#F4F7FA', borderRadius: 10, padding: '0 20px', flexDirection: 'row', alignItems: 'center', gap: 14 }}&gt;&#13;&#10;            &lt;Box style={{ width: 4, height: 36, background: '#276FBF' }} /&gt;&#13;&#10;            &lt;Box style={{ flexDirection: 'column', gap: 4, width: 1094 }}&gt;&#13;&#10;                &lt;Text style={{ fontSize: 18, fontWeight: 'bold', color: '#20344B' }}&gt;第三层　交付结论核验&lt;/Text&gt;&#13;&#10;                &lt;Text style={{ fontSize: 15, color: '#546779', lineHeight: 1.5 }}&gt;抽查成功、未完成或有争议的判断，沿材料定位原始记录；某类没有样本就说明未观察到&lt;/Text&gt;&#13;&#10;            &lt;/Box&gt;&#13;&#10;        &lt;/Box&gt;&#13;&#10;&#13;&#10;        &lt;Box style={{ width: 1152, height: 84, background: '#FFF4E6', borderRadius: 10, padding: '0 22px', flexDirection: 'row', alignItems: 'center', gap: 16 }}&gt;&#13;&#10;            &lt;Box style={{ width: 4, height: 36, background: '#CB6B28' }} /&gt;&#13;&#10;            &lt;Box style={{ flexDirection: 'column', gap: 4 }}&gt;&#13;&#10;                &lt;Text style={{ fontSize: 15, fontWeight: 'bold', color: '#CB6B28' }}&gt;哈希相同只证明字节相同&lt;/Text&gt;&#13;&#10;                &lt;Text style={{ fontSize: 14, color: '#546779' }}&gt;没有原始摘要时，应记录缺少比较依据，不能用接收后第一次计算的摘要倒证传输前状态。&lt;/Text&gt;&#13;&#10;            &lt;/Box&gt;&#13;&#10;        &lt;/Box&gt;&#13;&#10;&#13;&#10;    &lt;/Box&gt;&#13;&#10;&#13;&#10;    &lt;Box style={{ height: 40, flexDirection: 'row', justifyContent: 'space-between', alignItems: 'center' }}&gt;&#13;&#10;        &lt;Text style={{ fontSize: 14, color: '#546779' }}&gt;5.7 交付与复现&lt;/Text&gt;&#13;&#10;        &lt;Text style={{ fontSize: 14, color: '#546779' }}&gt;14 / 24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8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5.7.4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接收方先做只读核验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三层核验，逐层收紧</a:t>
            </a:r>
            <a:endParaRPr/>
          </a:p>
        </p:txBody>
      </p:sp>
      <p:sp>
        <p:nvSpPr>
          <p:cNvPr id="141" name=""/>
          <p:cNvSpPr/>
          <p:nvPr/>
        </p:nvSpPr>
        <p:spPr>
          <a:xfrm rot="0" flipH="0" flipV="0">
            <a:off x="609600" y="1228725"/>
            <a:ext cx="10972800" cy="666750"/>
          </a:xfrm>
          <a:prstGeom prst="roundRect">
            <a:avLst>
              <a:gd name="adj" fmla="val 1428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42" name=""/>
          <p:cNvSpPr/>
          <p:nvPr/>
        </p:nvSpPr>
        <p:spPr>
          <a:xfrm rot="0" flipH="0" flipV="0">
            <a:off x="819150" y="1409700"/>
            <a:ext cx="38100" cy="3048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1009650" y="1352550"/>
            <a:ext cx="35718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只读核验可以分三层完成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1009650" y="1609725"/>
            <a:ext cx="3571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先证明是同一份材料，再证明包说得通，最后才评价结论</a:t>
            </a:r>
            <a:endParaRPr/>
          </a:p>
        </p:txBody>
      </p:sp>
      <p:sp>
        <p:nvSpPr>
          <p:cNvPr id="145" name=""/>
          <p:cNvSpPr/>
          <p:nvPr/>
        </p:nvSpPr>
        <p:spPr>
          <a:xfrm rot="0" flipH="0" flipV="0">
            <a:off x="609600" y="2028825"/>
            <a:ext cx="7315200" cy="990600"/>
          </a:xfrm>
          <a:prstGeom prst="roundRect">
            <a:avLst>
              <a:gd name="adj" fmla="val 961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46" name=""/>
          <p:cNvSpPr/>
          <p:nvPr/>
        </p:nvSpPr>
        <p:spPr>
          <a:xfrm rot="0" flipH="0" flipV="0">
            <a:off x="800100" y="2352675"/>
            <a:ext cx="38100" cy="3429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971550" y="2276475"/>
            <a:ext cx="6762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第一层　字节与来源核验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971550" y="2524125"/>
            <a:ext cx="67627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对照文件名、大小和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SHA256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，再核对生成时间、源状态与提交边界</a:t>
            </a:r>
            <a:endParaRPr/>
          </a:p>
        </p:txBody>
      </p:sp>
      <p:sp>
        <p:nvSpPr>
          <p:cNvPr id="149" name=""/>
          <p:cNvSpPr/>
          <p:nvPr/>
        </p:nvSpPr>
        <p:spPr>
          <a:xfrm rot="0" flipH="0" flipV="0">
            <a:off x="609600" y="3152775"/>
            <a:ext cx="9144000" cy="990600"/>
          </a:xfrm>
          <a:prstGeom prst="roundRect">
            <a:avLst>
              <a:gd name="adj" fmla="val 961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50" name=""/>
          <p:cNvSpPr/>
          <p:nvPr/>
        </p:nvSpPr>
        <p:spPr>
          <a:xfrm rot="0" flipH="0" flipV="0">
            <a:off x="800100" y="3476625"/>
            <a:ext cx="38100" cy="3429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971550" y="3400425"/>
            <a:ext cx="85915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第二层　协议与事实核验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971550" y="3648075"/>
            <a:ext cx="85915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用兼容读取环境检查正式包身份、完整性、内嵌实验摘要和帧连续性，再看提交范围内的状态</a:t>
            </a:r>
            <a:endParaRPr/>
          </a:p>
        </p:txBody>
      </p:sp>
      <p:sp>
        <p:nvSpPr>
          <p:cNvPr id="153" name=""/>
          <p:cNvSpPr/>
          <p:nvPr/>
        </p:nvSpPr>
        <p:spPr>
          <a:xfrm rot="0" flipH="0" flipV="0">
            <a:off x="609600" y="4276725"/>
            <a:ext cx="10972800" cy="990600"/>
          </a:xfrm>
          <a:prstGeom prst="roundRect">
            <a:avLst>
              <a:gd name="adj" fmla="val 961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54" name=""/>
          <p:cNvSpPr/>
          <p:nvPr/>
        </p:nvSpPr>
        <p:spPr>
          <a:xfrm rot="0" flipH="0" flipV="0">
            <a:off x="800100" y="4600575"/>
            <a:ext cx="38100" cy="3429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971550" y="4524375"/>
            <a:ext cx="10420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第三层　交付结论核验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971550" y="4772025"/>
            <a:ext cx="104203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抽查成功、未完成或有争议的判断，沿材料定位原始记录；某类没有样本就说明未观察到</a:t>
            </a:r>
            <a:endParaRPr/>
          </a:p>
        </p:txBody>
      </p:sp>
      <p:sp>
        <p:nvSpPr>
          <p:cNvPr id="157" name=""/>
          <p:cNvSpPr/>
          <p:nvPr/>
        </p:nvSpPr>
        <p:spPr>
          <a:xfrm rot="0" flipH="0" flipV="0">
            <a:off x="609600" y="5400675"/>
            <a:ext cx="10972800" cy="800100"/>
          </a:xfrm>
          <a:prstGeom prst="roundRect">
            <a:avLst>
              <a:gd name="adj" fmla="val 1190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58" name=""/>
          <p:cNvSpPr/>
          <p:nvPr/>
        </p:nvSpPr>
        <p:spPr>
          <a:xfrm rot="0" flipH="0" flipV="0">
            <a:off x="819150" y="5629275"/>
            <a:ext cx="38100" cy="3429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1009650" y="5619750"/>
            <a:ext cx="5334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哈希相同只证明字节相同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1009650" y="5829300"/>
            <a:ext cx="5334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没有原始摘要时，应记录缺少比较依据，不能用接收后第一次计算的摘要倒证传输前状态。</a:t>
            </a:r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5.7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交付与复现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14 / 24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63" name="" descr="&lt;Slide notes={`只读核验有一个很实际的好处：它不需要模型凭据。&#10;&#10;只要程序、包和素材满足读取要求，就可以在没有密钥、也连不上远程服务的机器上完成。这正是很多交付的第一次接收能做到的事——对方先确认「我拿到的东西是完整的、说得通的」，再决定要不要投入算力和费用去重跑。&#10;&#10;Replay 的能力边界要说清楚：它只读事实，不加载 Brain，也不重新推理。所以一次回放通过，证明的是当时的记录能被正确读出，而不是模型行为被复现了。&#10;&#10;还有一层容易被跳过。如果在回放里看见 H3 出现在 B 窗口附近，这只是现象；要评价闭环，还得去查实际的回复内容和确认消息，看这条建议是不是真的被采纳了。顺序不能反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7.4　接收方先做只读核验&lt;/Text&gt;&#10;            &lt;Text style={{ fontSize: 34, fontWeight: 'bold', color: '#20344B' }}&gt;不需要凭据，也证明不了行为&lt;/Text&gt;&#10;        &lt;/Box&gt;&#10;    &lt;/Box&gt;&#10;&#10;    &lt;Box style={{ height: 540, flexDirection: 'row', alignItems: 'center', gap: 32 }}&gt;&#10;&#10;        &lt;Box style={{ width: 512, height: 400, background: '#EDF4FC', borderRadius: 10, padding: '20px 22px', flexDirection: 'column', gap: 10 }}&gt;&#10;            &lt;Text style={{ fontSize: 20, fontWeight: 'bold', color: '#276FBF' }}&gt;只读核验的前提&lt;/Text&gt;&#10;            &lt;Box style={{ width: 468, height: 42, background: '#FFFFFF', borderRadius: 8, padding: '0 14px', flexDirection: 'row', alignItems: 'center', gap: 10 }}&gt;&#10;                &lt;Box style={{ width: 4, height: 22, background: '#276FBF' }} /&gt;&#10;                &lt;Text style={{ fontSize: 15, color: '#546779' }}&gt;程序、包与素材满足读取要求&lt;/Text&gt;&#10;            &lt;/Box&gt;&#10;            &lt;Box style={{ width: 468, height: 42, background: '#FFFFFF', borderRadius: 8, padding: '0 14px', flexDirection: 'row', alignItems: 'center', gap: 10 }}&gt;&#10;                &lt;Box style={{ width: 4, height: 22, background: '#276FBF' }} /&gt;&#10;                &lt;Text style={{ fontSize: 15, color: '#546779' }}&gt;不需要模型凭据，也不必访问远程服务&lt;/Text&gt;&#10;            &lt;/Box&gt;&#10;            &lt;Box style={{ width: 468, height: 42, background: '#FFFFFF', borderRadius: 8, padding: '0 14px', flexDirection: 'row', alignItems: 'center', gap: 10 }}&gt;&#10;                &lt;Box style={{ width: 4, height: 22, background: '#26816B' }} /&gt;&#10;                &lt;Text style={{ fontSize: 15, color: '#546779' }}&gt;可以在离线机器上完成第一轮接收&lt;/Text&gt;&#10;            &lt;/Box&gt;&#10;            &lt;Box style={{ width: 468, height: 92, background: '#ECF7F2', borderRadius: 8, padding: '12px 14px', justifyContent: 'center' }}&gt;&#10;                &lt;Text style={{ fontSize: 14, color: '#26816B', lineHeight: 1.6 }}&gt;离线读取不调用模型，因此不产生请求与费用；连接验证和正式执行才可能计费。&lt;/Text&gt;&#10;            &lt;/Box&gt;&#10;        &lt;/Box&gt;&#10;&#10;        &lt;Box style={{ width: 608, height: 400, background: '#F4F7FA', borderRadius: 10, padding: '20px 22px', flexDirection: 'column', gap: 10 }}&gt;&#10;            &lt;Text style={{ fontSize: 20, fontWeight: 'bold', color: '#26816B' }}&gt;Replay 只做什么&lt;/Text&gt;&#10;            &lt;Box style={{ width: 564, height: 42, background: '#ECF7F2', borderRadius: 8, padding: '0 14px', flexDirection: 'row', alignItems: 'center', gap: 10 }}&gt;&#10;                &lt;Box style={{ width: 4, height: 22, background: '#26816B' }} /&gt;&#10;                &lt;Text style={{ fontSize: 15, color: '#546779' }}&gt;只读事实，不加载 Brain，不重新推理&lt;/Text&gt;&#10;            &lt;/Box&gt;&#10;            &lt;Box style={{ width: 564, height: 42, background: '#ECF7F2', borderRadius: 8, padding: '0 14px', flexDirection: 'row', alignItems: 'center', gap: 10 }}&gt;&#10;                &lt;Box style={{ width: 4, height: 22, background: '#26816B' }} /&gt;&#10;                &lt;Text style={{ fontSize: 15, color: '#546779' }}&gt;回放通过，证明的是记录能被读出&lt;/Text&gt;&#10;            &lt;/Box&gt;&#10;            &lt;Box style={{ width: 564, height: 92, background: '#FFF4E6', borderRadius: 8, padding: '12px 14px', justifyContent: 'center' }}&gt;&#10;                &lt;Text style={{ fontSize: 14, color: '#CB6B28', lineHeight: 1.6 }}&gt;看见 H3 在 B 窗口附近，还要查实际回复与确认，才能评价闭环。&lt;/Text&gt;&#10;            &lt;/Box&gt;&#10;            &lt;Box style={{ width: 564, height: 62, background: '#FFFFFF', borderRadius: 8, padding: '12px 14px', justifyContent: 'center' }}&gt;&#10;                &lt;Text style={{ fontSize: 14, color: '#546779', lineHeight: 1.6 }}&gt;它证明不了模型行为的重新运行，也替代不了一次真实的重新执行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5.7 交付与复现&lt;/Text&gt;&#10;        &lt;Text style={{ fontSize: 14, color: '#546779' }}&gt;15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5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21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5.7.4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接收方先做只读核验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21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不需要凭据，也证明不了行为</a:t>
            </a:r>
            <a:endParaRPr/>
          </a:p>
        </p:txBody>
      </p:sp>
      <p:sp>
        <p:nvSpPr>
          <p:cNvPr id="168" name=""/>
          <p:cNvSpPr/>
          <p:nvPr/>
        </p:nvSpPr>
        <p:spPr>
          <a:xfrm rot="0" flipH="0" flipV="0">
            <a:off x="609600" y="1809750"/>
            <a:ext cx="4876800" cy="3810000"/>
          </a:xfrm>
          <a:prstGeom prst="roundRect">
            <a:avLst>
              <a:gd name="adj" fmla="val 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819150" y="2000250"/>
            <a:ext cx="4457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只读核验的前提</a:t>
            </a:r>
            <a:endParaRPr/>
          </a:p>
        </p:txBody>
      </p:sp>
      <p:sp>
        <p:nvSpPr>
          <p:cNvPr id="170" name=""/>
          <p:cNvSpPr/>
          <p:nvPr/>
        </p:nvSpPr>
        <p:spPr>
          <a:xfrm rot="0" flipH="0" flipV="0">
            <a:off x="819150" y="2324100"/>
            <a:ext cx="4457700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1" name=""/>
          <p:cNvSpPr/>
          <p:nvPr/>
        </p:nvSpPr>
        <p:spPr>
          <a:xfrm rot="0" flipH="0" flipV="0">
            <a:off x="952500" y="2419350"/>
            <a:ext cx="38100" cy="2095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1085850" y="2438400"/>
            <a:ext cx="1857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程序、包与素材满足读取要求</a:t>
            </a:r>
            <a:endParaRPr/>
          </a:p>
        </p:txBody>
      </p:sp>
      <p:sp>
        <p:nvSpPr>
          <p:cNvPr id="173" name=""/>
          <p:cNvSpPr/>
          <p:nvPr/>
        </p:nvSpPr>
        <p:spPr>
          <a:xfrm rot="0" flipH="0" flipV="0">
            <a:off x="819150" y="2819400"/>
            <a:ext cx="4457700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4" name=""/>
          <p:cNvSpPr/>
          <p:nvPr/>
        </p:nvSpPr>
        <p:spPr>
          <a:xfrm rot="0" flipH="0" flipV="0">
            <a:off x="952500" y="2914650"/>
            <a:ext cx="38100" cy="2095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1085850" y="2933700"/>
            <a:ext cx="2428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不需要模型凭据，也不必访问远程服务</a:t>
            </a:r>
            <a:endParaRPr/>
          </a:p>
        </p:txBody>
      </p:sp>
      <p:sp>
        <p:nvSpPr>
          <p:cNvPr id="176" name=""/>
          <p:cNvSpPr/>
          <p:nvPr/>
        </p:nvSpPr>
        <p:spPr>
          <a:xfrm rot="0" flipH="0" flipV="0">
            <a:off x="819150" y="3314700"/>
            <a:ext cx="4457700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7" name=""/>
          <p:cNvSpPr/>
          <p:nvPr/>
        </p:nvSpPr>
        <p:spPr>
          <a:xfrm rot="0" flipH="0" flipV="0">
            <a:off x="952500" y="3409950"/>
            <a:ext cx="38100" cy="20955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1085850" y="3429000"/>
            <a:ext cx="2143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可以在离线机器上完成第一轮接收</a:t>
            </a:r>
            <a:endParaRPr/>
          </a:p>
        </p:txBody>
      </p:sp>
      <p:sp>
        <p:nvSpPr>
          <p:cNvPr id="179" name=""/>
          <p:cNvSpPr/>
          <p:nvPr/>
        </p:nvSpPr>
        <p:spPr>
          <a:xfrm rot="0" flipH="0" flipV="0">
            <a:off x="819150" y="3810000"/>
            <a:ext cx="4457700" cy="876300"/>
          </a:xfrm>
          <a:prstGeom prst="roundRect">
            <a:avLst>
              <a:gd name="adj" fmla="val 869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952500" y="3990975"/>
            <a:ext cx="41910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26816B"/>
                </a:solidFill>
                <a:latin typeface="Microsoft YaHei"/>
                <a:ea typeface="Microsoft YaHei"/>
              </a:rPr>
              <a:t>离线读取不调用模型，因此不产生请求与费用；连接验证和正式执行才可能计费。</a:t>
            </a:r>
            <a:endParaRPr/>
          </a:p>
        </p:txBody>
      </p:sp>
      <p:sp>
        <p:nvSpPr>
          <p:cNvPr id="181" name=""/>
          <p:cNvSpPr/>
          <p:nvPr/>
        </p:nvSpPr>
        <p:spPr>
          <a:xfrm rot="0" flipH="0" flipV="0">
            <a:off x="5791200" y="1809750"/>
            <a:ext cx="5791200" cy="3810000"/>
          </a:xfrm>
          <a:prstGeom prst="roundRect">
            <a:avLst>
              <a:gd name="adj" fmla="val 25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6000750" y="2000250"/>
            <a:ext cx="53721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Replay </a:t>
            </a: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只做什么</a:t>
            </a:r>
            <a:endParaRPr/>
          </a:p>
        </p:txBody>
      </p:sp>
      <p:sp>
        <p:nvSpPr>
          <p:cNvPr id="183" name=""/>
          <p:cNvSpPr/>
          <p:nvPr/>
        </p:nvSpPr>
        <p:spPr>
          <a:xfrm rot="0" flipH="0" flipV="0">
            <a:off x="6000750" y="2324100"/>
            <a:ext cx="5372100" cy="400050"/>
          </a:xfrm>
          <a:prstGeom prst="roundRect">
            <a:avLst>
              <a:gd name="adj" fmla="val 19048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84" name=""/>
          <p:cNvSpPr/>
          <p:nvPr/>
        </p:nvSpPr>
        <p:spPr>
          <a:xfrm rot="0" flipH="0" flipV="0">
            <a:off x="6134100" y="2419350"/>
            <a:ext cx="38100" cy="20955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6267450" y="2438400"/>
            <a:ext cx="2400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只读事实，不加载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Brain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，不重新推理</a:t>
            </a:r>
            <a:endParaRPr/>
          </a:p>
        </p:txBody>
      </p:sp>
      <p:sp>
        <p:nvSpPr>
          <p:cNvPr id="186" name=""/>
          <p:cNvSpPr/>
          <p:nvPr/>
        </p:nvSpPr>
        <p:spPr>
          <a:xfrm rot="0" flipH="0" flipV="0">
            <a:off x="6000750" y="2819400"/>
            <a:ext cx="5372100" cy="400050"/>
          </a:xfrm>
          <a:prstGeom prst="roundRect">
            <a:avLst>
              <a:gd name="adj" fmla="val 19048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87" name=""/>
          <p:cNvSpPr/>
          <p:nvPr/>
        </p:nvSpPr>
        <p:spPr>
          <a:xfrm rot="0" flipH="0" flipV="0">
            <a:off x="6134100" y="2914650"/>
            <a:ext cx="38100" cy="20955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6267450" y="2933700"/>
            <a:ext cx="2143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回放通过，证明的是记录能被读出</a:t>
            </a:r>
            <a:endParaRPr/>
          </a:p>
        </p:txBody>
      </p:sp>
      <p:sp>
        <p:nvSpPr>
          <p:cNvPr id="189" name=""/>
          <p:cNvSpPr/>
          <p:nvPr/>
        </p:nvSpPr>
        <p:spPr>
          <a:xfrm rot="0" flipH="0" flipV="0">
            <a:off x="6000750" y="3314700"/>
            <a:ext cx="5372100" cy="876300"/>
          </a:xfrm>
          <a:prstGeom prst="roundRect">
            <a:avLst>
              <a:gd name="adj" fmla="val 869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6134100" y="3629025"/>
            <a:ext cx="51054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看见</a:t>
            </a:r>
            <a:r>
              <a:rPr lang="en-US" sz="1050">
                <a:solidFill>
                  <a:srgbClr val="CB6B28"/>
                </a:solidFill>
                <a:latin typeface="Microsoft YaHei"/>
                <a:ea typeface="Microsoft YaHei"/>
              </a:rPr>
              <a:t xml:space="preserve"> H3 </a:t>
            </a: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在</a:t>
            </a:r>
            <a:r>
              <a:rPr lang="en-US" sz="1050">
                <a:solidFill>
                  <a:srgbClr val="CB6B28"/>
                </a:solidFill>
                <a:latin typeface="Microsoft YaHei"/>
                <a:ea typeface="Microsoft YaHei"/>
              </a:rPr>
              <a:t xml:space="preserve"> B </a:t>
            </a: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窗口附近，还要查实际回复与确认，才能评价闭环。</a:t>
            </a:r>
            <a:endParaRPr/>
          </a:p>
        </p:txBody>
      </p:sp>
      <p:sp>
        <p:nvSpPr>
          <p:cNvPr id="191" name=""/>
          <p:cNvSpPr/>
          <p:nvPr/>
        </p:nvSpPr>
        <p:spPr>
          <a:xfrm rot="0" flipH="0" flipV="0">
            <a:off x="6000750" y="4286250"/>
            <a:ext cx="53721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6134100" y="4457700"/>
            <a:ext cx="51054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它证明不了模型行为的重新运行，也替代不了一次真实的重新执行。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5.7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交付与复现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15 / 24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95" name="" descr="&lt;Slide notes={`只读核验也会失败，而且失败不止一种。&#10;&#10;文件损坏，指的是字节对不上、解不开或者读到一半中断。这类失败要记录是哪个文件、在哪一步失败，然后退回重传。&#10;&#10;协议不支持，指的是读取环境的版本和包的协议不匹配。这时候要记录读取环境的版本和包的协议版本，换一个兼容环境再试，而不是断定材料有问题。&#10;&#10;内容缺失，指的是清单里声明存在，实际却没包含。要登记缺失的是哪一项、对应清单里的哪一条，退回补充。&#10;&#10;证据对应错误，指的是结论和原始记录对不上。这一类要登记差异，退回修正报告，而不是由接收者猜出结论。&#10;&#10;这四类的下一步动作完全不同，所以不能统一写成「复现失败」。写清楚失败类型，接收者才知道该退文件、换环境、补内容，还是改报告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7.4　接收方先做只读核验&lt;/Text&gt;&#10;            &lt;Text style={{ fontSize: 34, fontWeight: 'bold', color: '#20344B' }}&gt;失败也要分类登记&lt;/Text&gt;&#10;        &lt;/Box&gt;&#10;    &lt;/Box&gt;&#10;&#10;    &lt;Box style={{ height: 540, flexDirection: 'column', justifyContent: 'center', gap: 10 }}&gt;&#10;&#10;        &lt;Box style={{ width: 1152, height: 34, flexDirection: 'row', alignItems: 'center', gap: 12, padding: '0 18px' }}&gt;&#10;            &lt;Box style={{ width: 4, height: 20 }} /&gt;&#10;            &lt;Text style={{ fontSize: 15, fontWeight: 'bold', color: '#546779', width: 240 }}&gt;失败类型&lt;/Text&gt;&#10;            &lt;Text style={{ fontSize: 15, fontWeight: 'bold', color: '#546779', width: 400 }}&gt;实际含义&lt;/Text&gt;&#10;            &lt;Text style={{ fontSize: 15, fontWeight: 'bold', color: '#546779', width: 436 }}&gt;怎样登记与下一步&lt;/Text&gt;&#10;        &lt;/Box&gt;&#10;&#10;        &lt;Box style={{ width: 1152, height: 88, background: '#F4F7FA', borderRadius: 10, padding: '0 18px', flexDirection: 'row', alignItems: 'center', gap: 12 }}&gt;&#10;            &lt;Box style={{ width: 4, height: 48, background: '#CB6B28' }} /&gt;&#10;            &lt;Text style={{ fontSize: 17, fontWeight: 'bold', color: '#20344B', width: 240 }}&gt;文件损坏&lt;/Text&gt;&#10;            &lt;Text style={{ fontSize: 15, color: '#546779', lineHeight: 1.5, width: 400 }}&gt;字节不一致、无法解开或读取中断&lt;/Text&gt;&#10;            &lt;Text style={{ fontSize: 15, color: '#546779', lineHeight: 1.5, width: 436 }}&gt;记录哪个文件、哪一步失败，退回重传&lt;/Text&gt;&#10;        &lt;/Box&gt;&#10;&#10;        &lt;Box style={{ width: 1152, height: 88, background: '#F4F7FA', borderRadius: 10, padding: '0 18px', flexDirection: 'row', alignItems: 'center', gap: 12 }}&gt;&#10;            &lt;Box style={{ width: 4, height: 48, background: '#276FBF' }} /&gt;&#10;            &lt;Text style={{ fontSize: 17, fontWeight: 'bold', color: '#20344B', width: 240 }}&gt;协议不支持&lt;/Text&gt;&#10;            &lt;Text style={{ fontSize: 15, color: '#546779', lineHeight: 1.5, width: 400 }}&gt;读取环境版本与包协议不匹配&lt;/Text&gt;&#10;            &lt;Text style={{ fontSize: 15, color: '#546779', lineHeight: 1.5, width: 436 }}&gt;记录读取环境与包版本，换兼容环境重试&lt;/Text&gt;&#10;        &lt;/Box&gt;&#10;&#10;        &lt;Box style={{ width: 1152, height: 88, background: '#F4F7FA', borderRadius: 10, padding: '0 18px', flexDirection: 'row', alignItems: 'center', gap: 12 }}&gt;&#10;            &lt;Box style={{ width: 4, height: 48, background: '#276FBF' }} /&gt;&#10;            &lt;Text style={{ fontSize: 17, fontWeight: 'bold', color: '#20344B', width: 240 }}&gt;内容缺失&lt;/Text&gt;&#10;            &lt;Text style={{ fontSize: 15, color: '#546779', lineHeight: 1.5, width: 400 }}&gt;清单声明存在，实际未包含&lt;/Text&gt;&#10;            &lt;Text style={{ fontSize: 15, color: '#546779', lineHeight: 1.5, width: 436 }}&gt;登记缺失项与对应清单条目，退回补充&lt;/Text&gt;&#10;        &lt;/Box&gt;&#10;&#10;        &lt;Box style={{ width: 1152, height: 88, background: '#FFF4E6', borderRadius: 10, padding: '0 18px', flexDirection: 'row', alignItems: 'center', gap: 12 }}&gt;&#10;            &lt;Box style={{ width: 4, height: 48, background: '#CB6B28' }} /&gt;&#10;            &lt;Text style={{ fontSize: 17, fontWeight: 'bold', color: '#20344B', width: 240 }}&gt;证据对应错误&lt;/Text&gt;&#10;            &lt;Text style={{ fontSize: 15, color: '#546779', lineHeight: 1.5, width: 400 }}&gt;结论与原始记录对不上&lt;/Text&gt;&#10;            &lt;Text style={{ fontSize: 15, color: '#CB6B28', lineHeight: 1.5, width: 436 }}&gt;登记差异，退回修正报告，不由接收者猜出结论&lt;/Text&gt;&#10;        &lt;/Box&gt;&#10;&#10;        &lt;Box style={{ width: 1152, height: 72, background: '#FFF4E6', borderRadius: 10, padding: '0 22px', flexDirection: 'row', alignItems: 'center', gap: 16 }}&gt;&#10;            &lt;Box style={{ width: 4, height: 32, background: '#CB6B28' }} /&gt;&#10;            &lt;Text style={{ fontSize: 15, color: '#CB6B28' }}&gt;这四类不能统一写成「复现失败」：下一步动作完全不同，退文件、换环境、补内容和改报告是四件事。&lt;/Text&gt;&#10;        &lt;/Box&gt;&#10;&#10;    &lt;/Box&gt;&#10;&#10;    &lt;Box style={{ height: 40, flexDirection: 'row', justifyContent: 'space-between', alignItems: 'center' }}&gt;&#10;        &lt;Text style={{ fontSize: 14, color: '#546779' }}&gt;5.7 交付与复现&lt;/Text&gt;&#10;        &lt;Text style={{ fontSize: 14, color: '#546779' }}&gt;16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7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590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5.7.4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接收方先做只读核验</a:t>
            </a:r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590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失败也要分类登记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933450" y="1371600"/>
            <a:ext cx="2286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失败类型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3333750" y="1371600"/>
            <a:ext cx="3810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实际含义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7258050" y="1371600"/>
            <a:ext cx="4152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怎样登记与下一步</a:t>
            </a:r>
            <a:endParaRPr/>
          </a:p>
        </p:txBody>
      </p:sp>
      <p:sp>
        <p:nvSpPr>
          <p:cNvPr id="203" name=""/>
          <p:cNvSpPr/>
          <p:nvPr/>
        </p:nvSpPr>
        <p:spPr>
          <a:xfrm rot="0" flipH="0" flipV="0">
            <a:off x="609600" y="1714500"/>
            <a:ext cx="10972800" cy="838200"/>
          </a:xfrm>
          <a:prstGeom prst="roundRect">
            <a:avLst>
              <a:gd name="adj" fmla="val 1136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04" name=""/>
          <p:cNvSpPr/>
          <p:nvPr/>
        </p:nvSpPr>
        <p:spPr>
          <a:xfrm rot="0" flipH="0" flipV="0">
            <a:off x="781050" y="1905000"/>
            <a:ext cx="38100" cy="4572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933450" y="2038350"/>
            <a:ext cx="2286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文件损坏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3333750" y="2009775"/>
            <a:ext cx="38100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字节不一致、无法解开或读取中断</a:t>
            </a:r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7258050" y="2009775"/>
            <a:ext cx="41529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记录哪个文件、哪一步失败，退回重传</a:t>
            </a:r>
            <a:endParaRPr/>
          </a:p>
        </p:txBody>
      </p:sp>
      <p:sp>
        <p:nvSpPr>
          <p:cNvPr id="208" name=""/>
          <p:cNvSpPr/>
          <p:nvPr/>
        </p:nvSpPr>
        <p:spPr>
          <a:xfrm rot="0" flipH="0" flipV="0">
            <a:off x="609600" y="2647950"/>
            <a:ext cx="10972800" cy="838200"/>
          </a:xfrm>
          <a:prstGeom prst="roundRect">
            <a:avLst>
              <a:gd name="adj" fmla="val 1136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09" name=""/>
          <p:cNvSpPr/>
          <p:nvPr/>
        </p:nvSpPr>
        <p:spPr>
          <a:xfrm rot="0" flipH="0" flipV="0">
            <a:off x="781050" y="2838450"/>
            <a:ext cx="38100" cy="4572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933450" y="2971800"/>
            <a:ext cx="2286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协议不支持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3333750" y="2943225"/>
            <a:ext cx="38100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读取环境版本与包协议不匹配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7258050" y="2943225"/>
            <a:ext cx="41529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记录读取环境与包版本，换兼容环境重试</a:t>
            </a:r>
            <a:endParaRPr/>
          </a:p>
        </p:txBody>
      </p:sp>
      <p:sp>
        <p:nvSpPr>
          <p:cNvPr id="213" name=""/>
          <p:cNvSpPr/>
          <p:nvPr/>
        </p:nvSpPr>
        <p:spPr>
          <a:xfrm rot="0" flipH="0" flipV="0">
            <a:off x="609600" y="3581400"/>
            <a:ext cx="10972800" cy="838200"/>
          </a:xfrm>
          <a:prstGeom prst="roundRect">
            <a:avLst>
              <a:gd name="adj" fmla="val 1136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14" name=""/>
          <p:cNvSpPr/>
          <p:nvPr/>
        </p:nvSpPr>
        <p:spPr>
          <a:xfrm rot="0" flipH="0" flipV="0">
            <a:off x="781050" y="3771900"/>
            <a:ext cx="38100" cy="4572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933450" y="3905250"/>
            <a:ext cx="2286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内容缺失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3333750" y="3876675"/>
            <a:ext cx="38100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清单声明存在，实际未包含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7258050" y="3876675"/>
            <a:ext cx="41529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登记缺失项与对应清单条目，退回补充</a:t>
            </a:r>
            <a:endParaRPr/>
          </a:p>
        </p:txBody>
      </p:sp>
      <p:sp>
        <p:nvSpPr>
          <p:cNvPr id="218" name=""/>
          <p:cNvSpPr/>
          <p:nvPr/>
        </p:nvSpPr>
        <p:spPr>
          <a:xfrm rot="0" flipH="0" flipV="0">
            <a:off x="609600" y="4514850"/>
            <a:ext cx="10972800" cy="838200"/>
          </a:xfrm>
          <a:prstGeom prst="roundRect">
            <a:avLst>
              <a:gd name="adj" fmla="val 11364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19" name=""/>
          <p:cNvSpPr/>
          <p:nvPr/>
        </p:nvSpPr>
        <p:spPr>
          <a:xfrm rot="0" flipH="0" flipV="0">
            <a:off x="781050" y="4705350"/>
            <a:ext cx="38100" cy="4572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933450" y="4838700"/>
            <a:ext cx="2286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证据对应错误</a:t>
            </a:r>
            <a:endParaRPr/>
          </a:p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3333750" y="4810125"/>
            <a:ext cx="38100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结论与原始记录对不上</a:t>
            </a:r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7258050" y="4810125"/>
            <a:ext cx="41529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登记差异，退回修正报告，不由接收者猜出结论</a:t>
            </a:r>
            <a:endParaRPr/>
          </a:p>
        </p:txBody>
      </p:sp>
      <p:sp>
        <p:nvSpPr>
          <p:cNvPr id="223" name=""/>
          <p:cNvSpPr/>
          <p:nvPr/>
        </p:nvSpPr>
        <p:spPr>
          <a:xfrm rot="0" flipH="0" flipV="0">
            <a:off x="609600" y="5448300"/>
            <a:ext cx="10972800" cy="685800"/>
          </a:xfrm>
          <a:prstGeom prst="roundRect">
            <a:avLst>
              <a:gd name="adj" fmla="val 13889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24" name=""/>
          <p:cNvSpPr/>
          <p:nvPr/>
        </p:nvSpPr>
        <p:spPr>
          <a:xfrm rot="0" flipH="0" flipV="0">
            <a:off x="819150" y="5638800"/>
            <a:ext cx="38100" cy="3048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1009650" y="5705475"/>
            <a:ext cx="6572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这四类不能统一写成「复现失败」：下一步动作完全不同，退文件、换环境、补内容和改报告是四件事。</a:t>
            </a:r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5.7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交付与复现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16 / 24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228" name="" descr="&lt;Slide notes={`正式复现不是一件事，而是四种不同的工作：新跑、续跑、重跑、复算。&#10;&#10;很多争论都来自把它们混为一谈。有人做完一次新跑，就说「复现通过了」；有人做了一次回放，就说「模型行为能复现」。这两句话都不成立，因为它们的输入、身份和后置产物都不一样。&#10;&#10;所以要先选清楚这次到底做哪一项，再准备目标环境。选择的对象也决定了要核对哪些条件：新跑从封存实验开始，续跑要从一个完整检查点接上，重跑要拿旧 Run 的内嵌实验，复算只用既有事实和判据。&#10;&#10;最后还要落成一份能执行的交付记录。它允许清楚地写「尚未验证」，因为接收者真正需要的，是知道缺哪一项、下一步该做什么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第五章　5.7　交付与复现&lt;/Text&gt;&#10;            &lt;Text style={{ fontSize: 34, fontWeight: 'bold', color: '#20344B' }}&gt;知识块 ④&lt;/Text&gt;&#10;        &lt;/Box&gt;&#10;    &lt;/Box&gt;&#10;&#10;    &lt;Box style={{ height: 540, flexDirection: 'column', justifyContent: 'center', gap: 16 }}&gt;&#10;&#10;        &lt;Text style={{ fontSize: 88, fontWeight: 'bold', color: '#276FBF', lineHeight: 1.0 }}&gt;④&lt;/Text&gt;&#10;&#10;        &lt;Text style={{ fontSize: 56, fontWeight: 'bold', color: '#20344B', lineHeight: 1.15 }}&gt;正式复现与可执行的交付记录&lt;/Text&gt;&#10;&#10;        &lt;Box style={{ width: 72, height: 4, background: '#276FBF' }} /&gt;&#10;&#10;        &lt;Text style={{ fontSize: 18, color: '#546779', lineHeight: 1.7, width: 1000 }}&gt;新跑、续跑、重跑、复算是四种工作，不是一件事的四种叫法。选清哪一项，再准备目标环境。&lt;/Text&gt;&#10;&#10;        &lt;Box style={{ flexDirection: 'row', alignItems: 'center', gap: 16, marginTop: 6 }}&gt;&#10;            &lt;Box style={{ width: 276, height: 56, background: '#EDF4FC', borderRadius: 8, justifyContent: 'center', alignItems: 'center' }}&gt;&#10;                &lt;Text style={{ fontSize: 17, color: '#276FBF' }}&gt;新跑&lt;/Text&gt;&#10;            &lt;/Box&gt;&#10;            &lt;Box style={{ width: 276, height: 56, background: '#ECF7F2', borderRadius: 8, justifyContent: 'center', alignItems: 'center' }}&gt;&#10;                &lt;Text style={{ fontSize: 17, color: '#26816B' }}&gt;续跑&lt;/Text&gt;&#10;            &lt;/Box&gt;&#10;            &lt;Box style={{ width: 276, height: 56, background: '#F4F7FA', borderRadius: 8, justifyContent: 'center', alignItems: 'center' }}&gt;&#10;                &lt;Text style={{ fontSize: 17, color: '#20344B' }}&gt;重跑&lt;/Text&gt;&#10;            &lt;/Box&gt;&#10;            &lt;Box style={{ width: 276, height: 56, background: '#FFF4E6', borderRadius: 8, justifyContent: 'center', alignItems: 'center' }}&gt;&#10;                &lt;Text style={{ fontSize: 17, color: '#CB6B28' }}&gt;复算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5.7 交付与复现&lt;/Text&gt;&#10;        &lt;Text style={{ fontSize: 14, color: '#546779' }}&gt;17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30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1524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第五章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5.7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交付与复现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1524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知识块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④</a:t>
            </a:r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609600" y="2047875"/>
            <a:ext cx="10972800" cy="1009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6600" b="1">
                <a:solidFill>
                  <a:srgbClr val="276FBF"/>
                </a:solidFill>
                <a:latin typeface="Microsoft YaHei"/>
                <a:ea typeface="Microsoft YaHei"/>
              </a:rPr>
              <a:t>④</a:t>
            </a:r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609600" y="320992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正式复现与可执行的交付记录</a:t>
            </a:r>
            <a:endParaRPr/>
          </a:p>
        </p:txBody>
      </p:sp>
      <p:sp>
        <p:nvSpPr>
          <p:cNvPr id="235" name=""/>
          <p:cNvSpPr/>
          <p:nvPr/>
        </p:nvSpPr>
        <p:spPr>
          <a:xfrm rot="0" flipH="0" flipV="0">
            <a:off x="609600" y="410527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609600" y="4295775"/>
            <a:ext cx="95250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新跑、续跑、重跑、复算是四种工作，不是一件事的四种叫法。选清哪一项，再准备目标环境。</a:t>
            </a:r>
            <a:endParaRPr/>
          </a:p>
        </p:txBody>
      </p:sp>
      <p:sp>
        <p:nvSpPr>
          <p:cNvPr id="237" name=""/>
          <p:cNvSpPr/>
          <p:nvPr/>
        </p:nvSpPr>
        <p:spPr>
          <a:xfrm rot="0" flipH="0" flipV="0">
            <a:off x="609600" y="4857750"/>
            <a:ext cx="2628900" cy="533400"/>
          </a:xfrm>
          <a:prstGeom prst="roundRect">
            <a:avLst>
              <a:gd name="adj" fmla="val 1428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1762125" y="5029200"/>
            <a:ext cx="323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76FBF"/>
                </a:solidFill>
                <a:latin typeface="Microsoft YaHei"/>
                <a:ea typeface="Microsoft YaHei"/>
              </a:rPr>
              <a:t>新跑</a:t>
            </a:r>
            <a:endParaRPr/>
          </a:p>
        </p:txBody>
      </p:sp>
      <p:sp>
        <p:nvSpPr>
          <p:cNvPr id="239" name=""/>
          <p:cNvSpPr/>
          <p:nvPr/>
        </p:nvSpPr>
        <p:spPr>
          <a:xfrm rot="0" flipH="0" flipV="0">
            <a:off x="3390900" y="4857750"/>
            <a:ext cx="2628900" cy="533400"/>
          </a:xfrm>
          <a:prstGeom prst="roundRect">
            <a:avLst>
              <a:gd name="adj" fmla="val 1428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4543425" y="5029200"/>
            <a:ext cx="323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6816B"/>
                </a:solidFill>
                <a:latin typeface="Microsoft YaHei"/>
                <a:ea typeface="Microsoft YaHei"/>
              </a:rPr>
              <a:t>续跑</a:t>
            </a:r>
            <a:endParaRPr/>
          </a:p>
        </p:txBody>
      </p:sp>
      <p:sp>
        <p:nvSpPr>
          <p:cNvPr id="241" name=""/>
          <p:cNvSpPr/>
          <p:nvPr/>
        </p:nvSpPr>
        <p:spPr>
          <a:xfrm rot="0" flipH="0" flipV="0">
            <a:off x="6172200" y="4857750"/>
            <a:ext cx="2628900" cy="533400"/>
          </a:xfrm>
          <a:prstGeom prst="roundRect">
            <a:avLst>
              <a:gd name="adj" fmla="val 1428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7324725" y="5029200"/>
            <a:ext cx="323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重跑</a:t>
            </a:r>
            <a:endParaRPr/>
          </a:p>
        </p:txBody>
      </p:sp>
      <p:sp>
        <p:nvSpPr>
          <p:cNvPr id="243" name=""/>
          <p:cNvSpPr/>
          <p:nvPr/>
        </p:nvSpPr>
        <p:spPr>
          <a:xfrm rot="0" flipH="0" flipV="0">
            <a:off x="8953500" y="4857750"/>
            <a:ext cx="2628900" cy="533400"/>
          </a:xfrm>
          <a:prstGeom prst="roundRect">
            <a:avLst>
              <a:gd name="adj" fmla="val 1428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10106025" y="5029200"/>
            <a:ext cx="323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CB6B28"/>
                </a:solidFill>
                <a:latin typeface="Microsoft YaHei"/>
                <a:ea typeface="Microsoft YaHei"/>
              </a:rPr>
              <a:t>复算</a:t>
            </a:r>
            <a:endParaRPr/>
          </a:p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5.7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交付与复现</a:t>
            </a:r>
            <a:endParaRPr/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17 / 24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247" name="" descr="&lt;Slide notes={`这四种工作，差别最清楚的地方就在输入和身份上。&#13;&#10;&#13;&#10;新跑从封存实验开始，创建新的 Run，run_id 是新的，同时产生第一个 Attempt。续跑拿到同一个 Run 的完整检查点，身份上保留原来的 run_id，只新建一个 Attempt，并从最新完整提交边界的下一个 Step 继续。重跑从旧 Run 的内嵌实验创建新 Run，run_id 也是新的，它复用的是当时的实验，不是当时的执行事实。复算只用既有的事实和判据，不生成任何新的世界事实。&#13;&#10;&#13;&#10;这四行只是对应关系，不是执行顺序。交付承诺以实际接收记录为准；同机回放成功，不等于异机续跑通过。`} style={{ width: 1280, height: 720, background: '#FFFFFF', flexDirection: 'column', padding: '20px 64px' }}&gt;&#13;&#10;&#13;&#10;    &lt;Box style={{ height: 100, flexDirection: 'row', alignItems: 'center', gap: 20 }}&gt;&#13;&#10;        &lt;Box style={{ width: 4, height: 44, background: '#276FBF' }} /&gt;&#13;&#10;        &lt;Box style={{ flexDirection: 'column', gap: 4 }}&gt;&#13;&#10;            &lt;Text style={{ fontSize: 14, color: '#546779' }}&gt;5.7.5　正式复现是一项单独工作&lt;/Text&gt;&#13;&#10;            &lt;Text style={{ fontSize: 34, fontWeight: 'bold', color: '#20344B' }}&gt;输入不同，身份就不同&lt;/Text&gt;&#13;&#10;        &lt;/Box&gt;&#13;&#10;    &lt;/Box&gt;&#13;&#10;&#13;&#10;    &lt;Box style={{ height: 540, flexDirection: 'column', justifyContent: 'center', gap: 10 }}&gt;&#13;&#10;&#13;&#10;        &lt;Box style={{ width: 1152, height: 66, background: '#EDF4FC', borderRadius: 10, padding: '0 22px', flexDirection: 'row', alignItems: 'center', gap: 16 }}&gt;&#13;&#10;            &lt;Box style={{ width: 4, height: 30, background: '#276FBF' }} /&gt;&#13;&#10;            &lt;Box style={{ flexDirection: 'column', gap: 3 }}&gt;&#13;&#10;                &lt;Text style={{ fontSize: 19, fontWeight: 'bold', color: '#20344B' }}&gt;逐行比较输入来源，以及是否创建新的运行身份&lt;/Text&gt;&#13;&#10;                &lt;Text style={{ fontSize: 14, color: '#546779' }}&gt;只表示对应比较项，不表示执行顺序&lt;/Text&gt;&#13;&#10;            &lt;/Box&gt;&#13;&#10;        &lt;/Box&gt;&#13;&#10;&#13;&#10;        &lt;Box style={{ width: 1152, height: 84, background: '#F4F7FA', borderRadius: 10, padding: '0 20px', flexDirection: 'row', alignItems: 'center', gap: 16 }}&gt;&#13;&#10;            &lt;Box style={{ width: 500, height: 48, background: '#EDF4FC', borderRadius: 8, padding: '0 16px', flexDirection: 'column', justifyContent: 'center', gap: 2 }}&gt;&#13;&#10;                &lt;Text style={{ fontSize: 13, color: '#546779' }}&gt;新跑的输入&lt;/Text&gt;&#13;&#10;                &lt;Text style={{ fontSize: 16, fontWeight: 'bold', color: '#276FBF' }}&gt;封存实验&lt;/Text&gt;&#13;&#10;            &lt;/Box&gt;&#13;&#10;            &lt;Box style={{ width: 64, height: 48, justifyContent: 'center', alignItems: 'center' }}&gt;&#13;&#10;                &lt;Text style={{ fontSize: 26, color: '#276FBF' }}&gt;›&lt;/Text&gt;&#13;&#10;            &lt;/Box&gt;&#13;&#10;            &lt;Box style={{ width: 516, height: 48, background: '#FFFFFF', borderRadius: 8, padding: '0 16px', flexDirection: 'column', justifyContent: 'center', gap: 2 }}&gt;&#13;&#10;                &lt;Text style={{ fontSize: 13, color: '#546779' }}&gt;输出身份&lt;/Text&gt;&#13;&#10;                &lt;Text style={{ fontSize: 16, fontWeight: 'bold', color: '#20344B' }}&gt;新 run_id ＋ 首个 Attempt&lt;/Text&gt;&#13;&#10;            &lt;/Box&gt;&#13;&#10;        &lt;/Box&gt;&#13;&#10;&#13;&#10;        &lt;Box style={{ width: 1152, height: 84, background: '#ECF7F2', borderRadius: 10, padding: '0 20px', flexDirection: 'row', alignItems: 'center', gap: 16 }}&gt;&#13;&#10;            &lt;Box style={{ width: 500, height: 48, background: '#FFFFFF', borderRadius: 8, padding: '0 16px', flexDirection: 'column', justifyContent: 'center', gap: 2 }}&gt;&#13;&#10;                &lt;Text style={{ fontSize: 13, color: '#546779' }}&gt;续跑的输入&lt;/Text&gt;&#13;&#10;                &lt;Text style={{ fontSize: 16, fontWeight: 'bold', color: '#26816B' }}&gt;Run 的完整检查点&lt;/Text&gt;&#13;&#10;            &lt;/Box&gt;&#13;&#10;            &lt;Box style={{ width: 64, height: 48, justifyContent: 'center', alignItems: 'center' }}&gt;&#13;&#10;                &lt;Text style={{ fontSize: 26, color: '#26816B' }}&gt;›&lt;/Text&gt;&#13;&#10;            &lt;/Box&gt;&#13;&#10;            &lt;Box style={{ width: 516, height: 48, background: '#FFFFFF', borderRadius: 8, padding: '0 16px', flexDirection: 'column', justifyContent: 'center', gap: 2 }}&gt;&#13;&#10;                &lt;Text style={{ fontSize: 13, color: '#546779' }}&gt;输出身份&lt;/Text&gt;&#13;&#10;                &lt;Text style={{ fontSize: 16, fontWeight: 'bold', color: '#26816B' }}&gt;同 run_id ＋ 新 Attempt&lt;/Text&gt;&#13;&#10;            &lt;/Box&gt;&#13;&#10;        &lt;/Box&gt;&#13;&#10;&#13;&#10;        &lt;Box style={{ width: 1152, height: 84, background: '#F4F7FA', borderRadius: 10, padding: '0 20px', flexDirection: 'row', alignItems: 'center', gap: 16 }}&gt;&#13;&#10;            &lt;Box style={{ width: 500, height: 48, background: '#FFFFFF', borderRadius: 8, padding: '0 16px', flexDirection: 'column', justifyContent: 'center', gap: 2 }}&gt;&#13;&#10;                &lt;Text style={{ fontSize: 13, color: '#546779' }}&gt;重跑的输入&lt;/Text&gt;&#13;&#10;                &lt;Text style={{ fontSize: 16, fontWeight: 'bold', color: '#20344B' }}&gt;旧 Run 的内嵌实验&lt;/Text&gt;&#13;&#10;            &lt;/Box&gt;&#13;&#10;            &lt;Box style={{ width: 64, height: 48, justifyContent: 'center', alignItems: 'center' }}&gt;&#13;&#10;                &lt;Text style={{ fontSize: 26, color: '#276FBF' }}&gt;›&lt;/Text&gt;&#13;&#10;            &lt;/Box&gt;&#13;&#10;            &lt;Box style={{ width: 516, height: 48, background: '#FFFFFF', borderRadius: 8, padding: '0 16px', flexDirection: 'column', justifyContent: 'center', gap: 2 }}&gt;&#13;&#10;                &lt;Text style={{ fontSize: 13, color: '#546779' }}&gt;输出身份&lt;/Text&gt;&#13;&#10;                &lt;Text style={{ fontSize: 16, fontWeight: 'bold', color: '#20344B' }}&gt;新 run_id&lt;/Text&gt;&#13;&#10;            &lt;/Box&gt;&#13;&#10;        &lt;/Box&gt;&#13;&#10;&#13;&#10;        &lt;Box style={{ width: 1152, height: 84, background: '#FFF4E6', borderRadius: 10, padding: '0 20px', flexDirection: 'row', alignItems: 'center', gap: 16 }}&gt;&#13;&#10;            &lt;Box style={{ width: 500, height: 48, background: '#FFFFFF', borderRadius: 8, padding: '0 16px', flexDirection: 'column', justifyContent: 'center', gap: 2 }}&gt;&#13;&#10;                &lt;Text style={{ fontSize: 13, color: '#546779' }}&gt;复算的输入&lt;/Text&gt;&#13;&#10;                &lt;Text style={{ fontSize: 16, fontWeight: 'bold', color: '#CB6B28' }}&gt;既有事实与判据&lt;/Text&gt;&#13;&#10;            &lt;/Box&gt;&#13;&#10;            &lt;Box style={{ width: 64, height: 48, justifyContent: 'center', alignItems: 'center' }}&gt;&#13;&#10;                &lt;Text style={{ fontSize: 26, color: '#CB6B28' }}&gt;›&lt;/Text&gt;&#13;&#10;            &lt;/Box&gt;&#13;&#10;            &lt;Box style={{ width: 516, height: 48, background: '#FFFFFF', borderRadius: 8, padding: '0 16px', flexDirection: 'column', justifyContent: 'center', gap: 2 }}&gt;&#13;&#10;                &lt;Text style={{ fontSize: 13, color: '#546779' }}&gt;输出身份&lt;/Text&gt;&#13;&#10;                &lt;Text style={{ fontSize: 16, fontWeight: 'bold', color: '#CB6B28' }}&gt;不生成世界事实&lt;/Text&gt;&#13;&#10;            &lt;/Box&gt;&#13;&#10;        &lt;/Box&gt;&#13;&#10;&#13;&#10;        &lt;Box style={{ width: 1152, height: 72, background: '#FFF4E6', borderRadius: 10, padding: '0 22px', flexDirection: 'row', alignItems: 'center', gap: 16 }}&gt;&#13;&#10;            &lt;Box style={{ width: 4, height: 32, background: '#CB6B28' }} /&gt;&#13;&#10;            &lt;Text style={{ fontSize: 15, color: '#CB6B28' }}&gt;交付承诺以实际接收记录为准；同机回放不等于异机续跑通过。&lt;/Text&gt;&#13;&#10;        &lt;/Box&gt;&#13;&#10;&#13;&#10;    &lt;/Box&gt;&#13;&#10;&#13;&#10;    &lt;Box style={{ height: 40, flexDirection: 'row', justifyContent: 'space-between', alignItems: 'center' }}&gt;&#13;&#10;        &lt;Text style={{ fontSize: 14, color: '#546779' }}&gt;5.7 交付与复现&lt;/Text&gt;&#13;&#10;        &lt;Text style={{ fontSize: 14, color: '#546779' }}&gt;18 / 24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49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5.7.5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正式复现是一项单独工作</a:t>
            </a:r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输入不同，身份就不同</a:t>
            </a:r>
            <a:endParaRPr/>
          </a:p>
        </p:txBody>
      </p:sp>
      <p:sp>
        <p:nvSpPr>
          <p:cNvPr id="252" name=""/>
          <p:cNvSpPr/>
          <p:nvPr/>
        </p:nvSpPr>
        <p:spPr>
          <a:xfrm rot="0" flipH="0" flipV="0">
            <a:off x="609600" y="1219200"/>
            <a:ext cx="10972800" cy="628650"/>
          </a:xfrm>
          <a:prstGeom prst="roundRect">
            <a:avLst>
              <a:gd name="adj" fmla="val 1515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53" name=""/>
          <p:cNvSpPr/>
          <p:nvPr/>
        </p:nvSpPr>
        <p:spPr>
          <a:xfrm rot="0" flipH="0" flipV="0">
            <a:off x="819150" y="1390650"/>
            <a:ext cx="38100" cy="2857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1009650" y="1333500"/>
            <a:ext cx="38004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逐行比较输入来源，以及是否创建新的运行身份</a:t>
            </a:r>
            <a:endParaRPr/>
          </a:p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1009650" y="1581150"/>
            <a:ext cx="3800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只表示对应比较项，不表示执行顺序</a:t>
            </a:r>
            <a:endParaRPr/>
          </a:p>
        </p:txBody>
      </p:sp>
      <p:sp>
        <p:nvSpPr>
          <p:cNvPr id="256" name=""/>
          <p:cNvSpPr/>
          <p:nvPr/>
        </p:nvSpPr>
        <p:spPr>
          <a:xfrm rot="0" flipH="0" flipV="0">
            <a:off x="609600" y="1943100"/>
            <a:ext cx="10972800" cy="800100"/>
          </a:xfrm>
          <a:prstGeom prst="roundRect">
            <a:avLst>
              <a:gd name="adj" fmla="val 1190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57" name=""/>
          <p:cNvSpPr/>
          <p:nvPr/>
        </p:nvSpPr>
        <p:spPr>
          <a:xfrm rot="0" flipH="0" flipV="0">
            <a:off x="800100" y="2114550"/>
            <a:ext cx="4762500" cy="457200"/>
          </a:xfrm>
          <a:prstGeom prst="roundRect">
            <a:avLst>
              <a:gd name="adj" fmla="val 1666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952500" y="2162175"/>
            <a:ext cx="4457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新跑的输入</a:t>
            </a:r>
            <a:endParaRPr/>
          </a:p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952500" y="2333625"/>
            <a:ext cx="4457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封存实验</a:t>
            </a:r>
            <a:endParaRPr/>
          </a:p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5981700" y="21907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261" name=""/>
          <p:cNvSpPr/>
          <p:nvPr/>
        </p:nvSpPr>
        <p:spPr>
          <a:xfrm rot="0" flipH="0" flipV="0">
            <a:off x="6477000" y="2114550"/>
            <a:ext cx="49149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6629400" y="2162175"/>
            <a:ext cx="4610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输出身份</a:t>
            </a:r>
            <a:endParaRPr/>
          </a:p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6629400" y="2333625"/>
            <a:ext cx="4610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新</a:t>
            </a:r>
            <a:r>
              <a:rPr lang="en-US" sz="12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run_id </a:t>
            </a: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＋</a:t>
            </a:r>
            <a:r>
              <a:rPr lang="en-US" sz="12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首个</a:t>
            </a:r>
            <a:r>
              <a:rPr lang="en-US" sz="12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Attempt</a:t>
            </a:r>
            <a:endParaRPr/>
          </a:p>
        </p:txBody>
      </p:sp>
      <p:sp>
        <p:nvSpPr>
          <p:cNvPr id="264" name=""/>
          <p:cNvSpPr/>
          <p:nvPr/>
        </p:nvSpPr>
        <p:spPr>
          <a:xfrm rot="0" flipH="0" flipV="0">
            <a:off x="609600" y="2838450"/>
            <a:ext cx="10972800" cy="800100"/>
          </a:xfrm>
          <a:prstGeom prst="roundRect">
            <a:avLst>
              <a:gd name="adj" fmla="val 1190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65" name=""/>
          <p:cNvSpPr/>
          <p:nvPr/>
        </p:nvSpPr>
        <p:spPr>
          <a:xfrm rot="0" flipH="0" flipV="0">
            <a:off x="800100" y="3009900"/>
            <a:ext cx="47625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952500" y="3057525"/>
            <a:ext cx="4457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续跑的输入</a:t>
            </a:r>
            <a:endParaRPr/>
          </a:p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952500" y="3228975"/>
            <a:ext cx="4457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Run </a:t>
            </a: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的完整检查点</a:t>
            </a:r>
            <a:endParaRPr/>
          </a:p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5981700" y="308610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269" name=""/>
          <p:cNvSpPr/>
          <p:nvPr/>
        </p:nvSpPr>
        <p:spPr>
          <a:xfrm rot="0" flipH="0" flipV="0">
            <a:off x="6477000" y="3009900"/>
            <a:ext cx="49149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6629400" y="3057525"/>
            <a:ext cx="4610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输出身份</a:t>
            </a:r>
            <a:endParaRPr/>
          </a:p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6629400" y="3228975"/>
            <a:ext cx="4610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同</a:t>
            </a:r>
            <a:r>
              <a:rPr lang="en-US" sz="120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run_id </a:t>
            </a: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＋</a:t>
            </a:r>
            <a:r>
              <a:rPr lang="en-US" sz="120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新</a:t>
            </a:r>
            <a:r>
              <a:rPr lang="en-US" sz="120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Attempt</a:t>
            </a:r>
            <a:endParaRPr/>
          </a:p>
        </p:txBody>
      </p:sp>
      <p:sp>
        <p:nvSpPr>
          <p:cNvPr id="272" name=""/>
          <p:cNvSpPr/>
          <p:nvPr/>
        </p:nvSpPr>
        <p:spPr>
          <a:xfrm rot="0" flipH="0" flipV="0">
            <a:off x="609600" y="3733800"/>
            <a:ext cx="10972800" cy="800100"/>
          </a:xfrm>
          <a:prstGeom prst="roundRect">
            <a:avLst>
              <a:gd name="adj" fmla="val 1190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73" name=""/>
          <p:cNvSpPr/>
          <p:nvPr/>
        </p:nvSpPr>
        <p:spPr>
          <a:xfrm rot="0" flipH="0" flipV="0">
            <a:off x="800100" y="3905250"/>
            <a:ext cx="47625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952500" y="3952875"/>
            <a:ext cx="4457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重跑的输入</a:t>
            </a:r>
            <a:endParaRPr/>
          </a:p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952500" y="4124325"/>
            <a:ext cx="4457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旧</a:t>
            </a:r>
            <a:r>
              <a:rPr lang="en-US" sz="12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的内嵌实验</a:t>
            </a:r>
            <a:endParaRPr/>
          </a:p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5981700" y="39814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277" name=""/>
          <p:cNvSpPr/>
          <p:nvPr/>
        </p:nvSpPr>
        <p:spPr>
          <a:xfrm rot="0" flipH="0" flipV="0">
            <a:off x="6477000" y="3905250"/>
            <a:ext cx="49149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6629400" y="3952875"/>
            <a:ext cx="4610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输出身份</a:t>
            </a:r>
            <a:endParaRPr/>
          </a:p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6629400" y="4124325"/>
            <a:ext cx="4610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新</a:t>
            </a:r>
            <a:r>
              <a:rPr lang="en-US" sz="12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run_id</a:t>
            </a:r>
            <a:endParaRPr/>
          </a:p>
        </p:txBody>
      </p:sp>
      <p:sp>
        <p:nvSpPr>
          <p:cNvPr id="280" name=""/>
          <p:cNvSpPr/>
          <p:nvPr/>
        </p:nvSpPr>
        <p:spPr>
          <a:xfrm rot="0" flipH="0" flipV="0">
            <a:off x="609600" y="4629150"/>
            <a:ext cx="10972800" cy="800100"/>
          </a:xfrm>
          <a:prstGeom prst="roundRect">
            <a:avLst>
              <a:gd name="adj" fmla="val 1190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81" name=""/>
          <p:cNvSpPr/>
          <p:nvPr/>
        </p:nvSpPr>
        <p:spPr>
          <a:xfrm rot="0" flipH="0" flipV="0">
            <a:off x="800100" y="4800600"/>
            <a:ext cx="47625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952500" y="4848225"/>
            <a:ext cx="4457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复算的输入</a:t>
            </a:r>
            <a:endParaRPr/>
          </a:p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952500" y="5019675"/>
            <a:ext cx="4457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既有事实与判据</a:t>
            </a:r>
            <a:endParaRPr/>
          </a:p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5981700" y="487680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CB6B28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285" name=""/>
          <p:cNvSpPr/>
          <p:nvPr/>
        </p:nvSpPr>
        <p:spPr>
          <a:xfrm rot="0" flipH="0" flipV="0">
            <a:off x="6477000" y="4800600"/>
            <a:ext cx="49149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6629400" y="4848225"/>
            <a:ext cx="4610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输出身份</a:t>
            </a:r>
            <a:endParaRPr/>
          </a:p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6629400" y="5019675"/>
            <a:ext cx="4610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不生成世界事实</a:t>
            </a:r>
            <a:endParaRPr/>
          </a:p>
        </p:txBody>
      </p:sp>
      <p:sp>
        <p:nvSpPr>
          <p:cNvPr id="288" name=""/>
          <p:cNvSpPr/>
          <p:nvPr/>
        </p:nvSpPr>
        <p:spPr>
          <a:xfrm rot="0" flipH="0" flipV="0">
            <a:off x="609600" y="5524500"/>
            <a:ext cx="10972800" cy="685800"/>
          </a:xfrm>
          <a:prstGeom prst="roundRect">
            <a:avLst>
              <a:gd name="adj" fmla="val 13889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89" name=""/>
          <p:cNvSpPr/>
          <p:nvPr/>
        </p:nvSpPr>
        <p:spPr>
          <a:xfrm rot="0" flipH="0" flipV="0">
            <a:off x="819150" y="5715000"/>
            <a:ext cx="38100" cy="3048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1009650" y="5781675"/>
            <a:ext cx="4000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交付承诺以实际接收记录为准；同机回放不等于异机续跑通过。</a:t>
            </a:r>
            <a:endParaRPr/>
          </a:p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5.7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交付与复现</a:t>
            </a:r>
            <a:endParaRPr/>
          </a:p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18 / 24</a:t>
            </a:r>
            <a:endParaRPr/>
          </a:p>
        </p:txBody>
      </p:sp>
    </p:spTree>
  </p:cSld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293" name="" descr="&lt;Slide notes={`如果接收者打算真的重新执行，环境条件就必须逐项记下来。&#10;&#10;要记录的有六项：操作系统；程序版本或源码提交；工作区有没有被修改过；Python 与依赖环境；模型服务地址；以及实际使用的模型标识。缺哪一项，别人都无法判断他拿到的是不是你当时那个环境。&#10;&#10;这里有两个常见的误解。第一，远程服务本身可能改变，地址没变不代表行为没变。第二，模型名字相同、随机种子也相同，都不足以保证重新生成同一组消息。语言模型的采样本身带有不确定性，服务端的版本、参数和基础设施也会变化。&#10;&#10;所以「复现」在仿真项目里从来不是一句「我跑了一遍结果一样」，而是一份写清了环境、输入和边界的记录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7.5　正式复现是一项单独工作&lt;/Text&gt;&#10;            &lt;Text style={{ fontSize: 34, fontWeight: 'bold', color: '#20344B' }}&gt;要留下六项环境条件&lt;/Text&gt;&#10;        &lt;/Box&gt;&#10;    &lt;/Box&gt;&#10;&#10;    &lt;Box style={{ height: 540, flexDirection: 'row', alignItems: 'center', gap: 32 }}&gt;&#10;&#10;        &lt;Box style={{ width: 620, height: 400, background: '#F4F7FA', borderRadius: 10, padding: '20px 22px', flexDirection: 'column', gap: 8 }}&gt;&#10;            &lt;Text style={{ fontSize: 20, fontWeight: 'bold', color: '#20344B' }}&gt;重新执行要记录的环境条件&lt;/Text&gt;&#10;            &lt;Box style={{ width: 576, height: 34, background: '#FFFFFF', borderRadius: 6, padding: '0 14px', flexDirection: 'row', alignItems: 'center', gap: 10 }}&gt;&#10;                &lt;Box style={{ width: 4, height: 18, background: '#276FBF' }} /&gt;&#10;                &lt;Text style={{ fontSize: 15, color: '#546779' }}&gt;操作系统&lt;/Text&gt;&#10;            &lt;/Box&gt;&#10;            &lt;Box style={{ width: 576, height: 34, background: '#FFFFFF', borderRadius: 6, padding: '0 14px', flexDirection: 'row', alignItems: 'center', gap: 10 }}&gt;&#10;                &lt;Box style={{ width: 4, height: 18, background: '#276FBF' }} /&gt;&#10;                &lt;Text style={{ fontSize: 15, color: '#546779' }}&gt;程序版本或源码提交&lt;/Text&gt;&#10;            &lt;/Box&gt;&#10;            &lt;Box style={{ width: 576, height: 34, background: '#FFFFFF', borderRadius: 6, padding: '0 14px', flexDirection: 'row', alignItems: 'center', gap: 10 }}&gt;&#10;                &lt;Box style={{ width: 4, height: 18, background: '#276FBF' }} /&gt;&#10;                &lt;Text style={{ fontSize: 15, color: '#546779' }}&gt;工作区修改情况&lt;/Text&gt;&#10;            &lt;/Box&gt;&#10;            &lt;Box style={{ width: 576, height: 34, background: '#FFFFFF', borderRadius: 6, padding: '0 14px', flexDirection: 'row', alignItems: 'center', gap: 10 }}&gt;&#10;                &lt;Box style={{ width: 4, height: 18, background: '#26816B' }} /&gt;&#10;                &lt;Text style={{ fontSize: 15, color: '#546779' }}&gt;Python 与依赖环境&lt;/Text&gt;&#10;            &lt;/Box&gt;&#10;            &lt;Box style={{ width: 576, height: 34, background: '#FFFFFF', borderRadius: 6, padding: '0 14px', flexDirection: 'row', alignItems: 'center', gap: 10 }}&gt;&#10;                &lt;Box style={{ width: 4, height: 18, background: '#26816B' }} /&gt;&#10;                &lt;Text style={{ fontSize: 15, color: '#546779' }}&gt;模型服务地址&lt;/Text&gt;&#10;            &lt;/Box&gt;&#10;            &lt;Box style={{ width: 576, height: 34, background: '#FFFFFF', borderRadius: 6, padding: '0 14px', flexDirection: 'row', alignItems: 'center', gap: 10 }}&gt;&#10;                &lt;Box style={{ width: 4, height: 18, background: '#26816B' }} /&gt;&#10;                &lt;Text style={{ fontSize: 15, color: '#546779' }}&gt;实际使用的模型标识&lt;/Text&gt;&#10;            &lt;/Box&gt;&#10;        &lt;/Box&gt;&#10;&#10;        &lt;Box style={{ width: 500, height: 400, background: '#FFF4E6', borderRadius: 10, padding: '20px 22px', flexDirection: 'column', gap: 10 }}&gt;&#10;            &lt;Text style={{ fontSize: 20, fontWeight: 'bold', color: '#CB6B28' }}&gt;不足以复现的两件事&lt;/Text&gt;&#10;            &lt;Box style={{ width: 456, height: 90, background: '#FFFFFF', borderRadius: 8, padding: '14px 16px', justifyContent: 'center' }}&gt;&#10;                &lt;Text style={{ fontSize: 15, color: '#546779', lineHeight: 1.6 }}&gt;远程服务可能改变；地址没变，不代表行为没变。&lt;/Text&gt;&#10;            &lt;/Box&gt;&#10;            &lt;Box style={{ width: 456, height: 120, background: '#FFFFFF', borderRadius: 8, padding: '14px 16px', justifyContent: 'center' }}&gt;&#10;                &lt;Text style={{ fontSize: 15, color: '#546779', lineHeight: 1.6 }}&gt;模型名字相同、随机种子相同，都不足以保证重新生成同一组消息。&lt;/Text&gt;&#10;            &lt;/Box&gt;&#10;            &lt;Box style={{ width: 456, height: 74, background: '#FFF4E6', borderRadius: 8, padding: '12px 16px', justifyContent: 'center' }}&gt;&#10;                &lt;Text style={{ fontSize: 14, color: '#CB6B28', lineHeight: 1.6 }}&gt;「我跑了一遍结果一样」不是一份复现记录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5.7 交付与复现&lt;/Text&gt;&#10;        &lt;Text style={{ fontSize: 14, color: '#546779' }}&gt;19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95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5.7.5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正式复现是一项单独工作</a:t>
            </a:r>
            <a:endParaRPr/>
          </a:p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要留下六项环境条件</a:t>
            </a:r>
            <a:endParaRPr/>
          </a:p>
        </p:txBody>
      </p:sp>
      <p:sp>
        <p:nvSpPr>
          <p:cNvPr id="298" name=""/>
          <p:cNvSpPr/>
          <p:nvPr/>
        </p:nvSpPr>
        <p:spPr>
          <a:xfrm rot="0" flipH="0" flipV="0">
            <a:off x="609600" y="1809750"/>
            <a:ext cx="5905500" cy="3810000"/>
          </a:xfrm>
          <a:prstGeom prst="roundRect">
            <a:avLst>
              <a:gd name="adj" fmla="val 25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819150" y="2000250"/>
            <a:ext cx="5486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重新执行要记录的环境条件</a:t>
            </a:r>
            <a:endParaRPr/>
          </a:p>
        </p:txBody>
      </p:sp>
      <p:sp>
        <p:nvSpPr>
          <p:cNvPr id="300" name=""/>
          <p:cNvSpPr/>
          <p:nvPr/>
        </p:nvSpPr>
        <p:spPr>
          <a:xfrm rot="0" flipH="0" flipV="0">
            <a:off x="819150" y="2305050"/>
            <a:ext cx="5486400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01" name=""/>
          <p:cNvSpPr/>
          <p:nvPr/>
        </p:nvSpPr>
        <p:spPr>
          <a:xfrm rot="0" flipH="0" flipV="0">
            <a:off x="952500" y="2381250"/>
            <a:ext cx="38100" cy="1714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1085850" y="238125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操作系统</a:t>
            </a:r>
            <a:endParaRPr/>
          </a:p>
        </p:txBody>
      </p:sp>
      <p:sp>
        <p:nvSpPr>
          <p:cNvPr id="303" name=""/>
          <p:cNvSpPr/>
          <p:nvPr/>
        </p:nvSpPr>
        <p:spPr>
          <a:xfrm rot="0" flipH="0" flipV="0">
            <a:off x="819150" y="2705100"/>
            <a:ext cx="5486400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04" name=""/>
          <p:cNvSpPr/>
          <p:nvPr/>
        </p:nvSpPr>
        <p:spPr>
          <a:xfrm rot="0" flipH="0" flipV="0">
            <a:off x="952500" y="2781300"/>
            <a:ext cx="38100" cy="1714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1085850" y="2781300"/>
            <a:ext cx="1285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程序版本或源码提交</a:t>
            </a:r>
            <a:endParaRPr/>
          </a:p>
        </p:txBody>
      </p:sp>
      <p:sp>
        <p:nvSpPr>
          <p:cNvPr id="306" name=""/>
          <p:cNvSpPr/>
          <p:nvPr/>
        </p:nvSpPr>
        <p:spPr>
          <a:xfrm rot="0" flipH="0" flipV="0">
            <a:off x="819150" y="3105150"/>
            <a:ext cx="5486400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07" name=""/>
          <p:cNvSpPr/>
          <p:nvPr/>
        </p:nvSpPr>
        <p:spPr>
          <a:xfrm rot="0" flipH="0" flipV="0">
            <a:off x="952500" y="3181350"/>
            <a:ext cx="38100" cy="1714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1085850" y="3181350"/>
            <a:ext cx="1000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工作区修改情况</a:t>
            </a:r>
            <a:endParaRPr/>
          </a:p>
        </p:txBody>
      </p:sp>
      <p:sp>
        <p:nvSpPr>
          <p:cNvPr id="309" name=""/>
          <p:cNvSpPr/>
          <p:nvPr/>
        </p:nvSpPr>
        <p:spPr>
          <a:xfrm rot="0" flipH="0" flipV="0">
            <a:off x="819150" y="3505200"/>
            <a:ext cx="5486400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10" name=""/>
          <p:cNvSpPr/>
          <p:nvPr/>
        </p:nvSpPr>
        <p:spPr>
          <a:xfrm rot="0" flipH="0" flipV="0">
            <a:off x="952500" y="3581400"/>
            <a:ext cx="38100" cy="17145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1085850" y="3581400"/>
            <a:ext cx="1247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Python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与依赖环境</a:t>
            </a:r>
            <a:endParaRPr/>
          </a:p>
        </p:txBody>
      </p:sp>
      <p:sp>
        <p:nvSpPr>
          <p:cNvPr id="312" name=""/>
          <p:cNvSpPr/>
          <p:nvPr/>
        </p:nvSpPr>
        <p:spPr>
          <a:xfrm rot="0" flipH="0" flipV="0">
            <a:off x="819150" y="3905250"/>
            <a:ext cx="5486400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13" name=""/>
          <p:cNvSpPr/>
          <p:nvPr/>
        </p:nvSpPr>
        <p:spPr>
          <a:xfrm rot="0" flipH="0" flipV="0">
            <a:off x="952500" y="3981450"/>
            <a:ext cx="38100" cy="17145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1085850" y="3981450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模型服务地址</a:t>
            </a:r>
            <a:endParaRPr/>
          </a:p>
        </p:txBody>
      </p:sp>
      <p:sp>
        <p:nvSpPr>
          <p:cNvPr id="315" name=""/>
          <p:cNvSpPr/>
          <p:nvPr/>
        </p:nvSpPr>
        <p:spPr>
          <a:xfrm rot="0" flipH="0" flipV="0">
            <a:off x="819150" y="4305300"/>
            <a:ext cx="5486400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16" name=""/>
          <p:cNvSpPr/>
          <p:nvPr/>
        </p:nvSpPr>
        <p:spPr>
          <a:xfrm rot="0" flipH="0" flipV="0">
            <a:off x="952500" y="4381500"/>
            <a:ext cx="38100" cy="17145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1085850" y="4381500"/>
            <a:ext cx="1285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实际使用的模型标识</a:t>
            </a:r>
            <a:endParaRPr/>
          </a:p>
        </p:txBody>
      </p:sp>
      <p:sp>
        <p:nvSpPr>
          <p:cNvPr id="318" name=""/>
          <p:cNvSpPr/>
          <p:nvPr/>
        </p:nvSpPr>
        <p:spPr>
          <a:xfrm rot="0" flipH="0" flipV="0">
            <a:off x="6819900" y="1809750"/>
            <a:ext cx="4762500" cy="3810000"/>
          </a:xfrm>
          <a:prstGeom prst="roundRect">
            <a:avLst>
              <a:gd name="adj" fmla="val 25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7029450" y="2000250"/>
            <a:ext cx="4343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B6B28"/>
                </a:solidFill>
                <a:latin typeface="Microsoft YaHei"/>
                <a:ea typeface="Microsoft YaHei"/>
              </a:rPr>
              <a:t>不足以复现的两件事</a:t>
            </a:r>
            <a:endParaRPr/>
          </a:p>
        </p:txBody>
      </p:sp>
      <p:sp>
        <p:nvSpPr>
          <p:cNvPr id="320" name=""/>
          <p:cNvSpPr/>
          <p:nvPr/>
        </p:nvSpPr>
        <p:spPr>
          <a:xfrm rot="0" flipH="0" flipV="0">
            <a:off x="7029450" y="2324100"/>
            <a:ext cx="4343400" cy="85725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7181850" y="2619375"/>
            <a:ext cx="40386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远程服务可能改变；地址没变，不代表行为没变。</a:t>
            </a:r>
            <a:endParaRPr/>
          </a:p>
        </p:txBody>
      </p:sp>
      <p:sp>
        <p:nvSpPr>
          <p:cNvPr id="322" name=""/>
          <p:cNvSpPr/>
          <p:nvPr/>
        </p:nvSpPr>
        <p:spPr>
          <a:xfrm rot="0" flipH="0" flipV="0">
            <a:off x="7029450" y="3276600"/>
            <a:ext cx="434340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7181850" y="3571875"/>
            <a:ext cx="40386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模型名字相同、随机种子相同，都不足以保证重新生成同一组消息。</a:t>
            </a:r>
            <a:endParaRPr/>
          </a:p>
        </p:txBody>
      </p:sp>
      <p:sp>
        <p:nvSpPr>
          <p:cNvPr id="324" name=""/>
          <p:cNvSpPr/>
          <p:nvPr/>
        </p:nvSpPr>
        <p:spPr>
          <a:xfrm rot="0" flipH="0" flipV="0">
            <a:off x="7029450" y="4514850"/>
            <a:ext cx="4343400" cy="704850"/>
          </a:xfrm>
          <a:prstGeom prst="roundRect">
            <a:avLst>
              <a:gd name="adj" fmla="val 1081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7181850" y="4743450"/>
            <a:ext cx="40386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「我跑了一遍结果一样」不是一份复现记录。</a:t>
            </a:r>
            <a:endParaRPr/>
          </a:p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5.7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交付与复现</a:t>
            </a:r>
            <a:endParaRPr/>
          </a:p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19 / 24</a:t>
            </a:r>
            <a:endParaRPr/>
          </a:p>
        </p:txBody>
      </p:sp>
    </p:spTree>
  </p:cSld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364" name="" descr="&lt;Slide notes={`凭据和费用这两件事，最好在交付之前就讲明白。&#10;&#10;先说凭据。包本身不携带模型密钥，它只声明需要哪些环境变量之类的凭据要求。接收者要在自己的目标机器上提供可用的凭据，而且密钥不该写进交付表，更不该写进 Skill 里。把密钥放进交付材料，等于把它交给了所有能拿到这份材料的人。&#10;&#10;再说离线与联网。离线读取不需要调用模型，所以它不产生请求，也不产生费用。但连接验证和正式执行不一样，它们真的会发出请求，也会真的计费。这一部分应该纳入一份独立的执行计划，写清谁授权、预算多少、用什么标识，而不是默认「顺便跑一下」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7.5　正式复现是一项单独工作&lt;/Text&gt;&#10;            &lt;Text style={{ fontSize: 34, fontWeight: 'bold', color: '#20344B' }}&gt;凭据自带，费用另算&lt;/Text&gt;&#10;        &lt;/Box&gt;&#10;    &lt;/Box&gt;&#10;&#10;    &lt;Box style={{ height: 540, flexDirection: 'column', justifyContent: 'center', gap: 16 }}&gt;&#10;&#10;        &lt;Box style={{ flexDirection: 'row', alignItems: 'stretch', gap: 32 }}&gt;&#10;&#10;            &lt;Box style={{ width: 560, height: 280, background: '#EDF4FC', borderRadius: 10, padding: '18px 20px', flexDirection: 'column', gap: 10 }}&gt;&#10;                &lt;Text style={{ fontSize: 20, fontWeight: 'bold', color: '#276FBF' }}&gt;凭据&lt;/Text&gt;&#10;                &lt;Text style={{ fontSize: 16, fontWeight: 'bold', color: '#20344B' }}&gt;包不携带模型密钥&lt;/Text&gt;&#10;                &lt;Text style={{ fontSize: 15, color: '#546779', lineHeight: 1.6 }}&gt;包只声明环境变量等凭据要求，接收者在目标机器提供自己的可用凭据。&lt;/Text&gt;&#10;                &lt;Box style={{ width: 520, height: 62, background: '#FFF4E6', borderRadius: 8, padding: '12px 16px', justifyContent: 'center' }}&gt;&#10;                    &lt;Text style={{ fontSize: 14, color: '#CB6B28', lineHeight: 1.6 }}&gt;不把密钥写进交付表或 Skill。&lt;/Text&gt;&#10;                &lt;/Box&gt;&#10;            &lt;/Box&gt;&#10;&#10;            &lt;Box style={{ width: 560, height: 280, background: '#F4F7FA', borderRadius: 10, padding: '18px 20px', flexDirection: 'column', gap: 10 }}&gt;&#10;                &lt;Text style={{ fontSize: 20, fontWeight: 'bold', color: '#26816B' }}&gt;离线与联网&lt;/Text&gt;&#10;                &lt;Text style={{ fontSize: 16, fontWeight: 'bold', color: '#20344B' }}&gt;离线读取不需要调用模型&lt;/Text&gt;&#10;                &lt;Text style={{ fontSize: 15, color: '#546779', lineHeight: 1.6 }}&gt;连接验证和正式执行则可能产生请求与费用。&lt;/Text&gt;&#10;                &lt;Box style={{ width: 520, height: 62, background: '#ECF7F2', borderRadius: 8, padding: '12px 16px', justifyContent: 'center' }}&gt;&#10;                    &lt;Text style={{ fontSize: 14, color: '#26816B', lineHeight: 1.6 }}&gt;应纳入独立的执行计划。&lt;/Text&gt;&#10;                &lt;/Box&gt;&#10;            &lt;/Box&gt;&#10;&#10;        &lt;/Box&gt;&#10;&#10;        &lt;Box style={{ width: 1152, height: 110, background: '#FFF4E6', borderRadius: 10, padding: '0 22px', flexDirection: 'row', alignItems: 'center', gap: 16 }}&gt;&#10;            &lt;Box style={{ width: 4, height: 48, background: '#CB6B28' }} /&gt;&#10;            &lt;Box style={{ flexDirection: 'column', gap: 5 }}&gt;&#10;                &lt;Text style={{ fontSize: 16, fontWeight: 'bold', color: '#CB6B28' }}&gt;凭据归属与费用归属，都要写在交付说明里&lt;/Text&gt;&#10;                &lt;Text style={{ fontSize: 15, color: '#546779', lineHeight: 1.5 }}&gt;谁提供密钥、谁批准预算、用哪个模型标识执行，都应在动手之前说清楚，而不是默认「顺便跑一下」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5.7 交付与复现&lt;/Text&gt;&#10;        &lt;Text style={{ fontSize: 14, color: '#546779' }}&gt;20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6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67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5.7.5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正式复现是一项单独工作</a:t>
            </a:r>
            <a:endParaRPr/>
          </a:p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凭据自带，费用另算</a:t>
            </a:r>
            <a:endParaRPr/>
          </a:p>
        </p:txBody>
      </p:sp>
      <p:sp>
        <p:nvSpPr>
          <p:cNvPr id="369" name=""/>
          <p:cNvSpPr/>
          <p:nvPr/>
        </p:nvSpPr>
        <p:spPr>
          <a:xfrm rot="0" flipH="0" flipV="0">
            <a:off x="609600" y="1781175"/>
            <a:ext cx="5334000" cy="2667000"/>
          </a:xfrm>
          <a:prstGeom prst="roundRect">
            <a:avLst>
              <a:gd name="adj" fmla="val 357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800100" y="1952625"/>
            <a:ext cx="4953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凭据</a:t>
            </a:r>
            <a:endParaRPr/>
          </a:p>
        </p:txBody>
      </p:sp>
      <p:sp>
        <p:nvSpPr>
          <p:cNvPr id="371" name="" descr="{&quot;isTemplate&quot;:true,&quot;type&quot;:&quot;text&quot;}"/>
          <p:cNvSpPr txBox="1"/>
          <p:nvPr/>
        </p:nvSpPr>
        <p:spPr>
          <a:xfrm rot="0" flipH="0" flipV="0">
            <a:off x="800100" y="2276475"/>
            <a:ext cx="4953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包不携带模型密钥</a:t>
            </a:r>
            <a:endParaRPr/>
          </a:p>
        </p:txBody>
      </p:sp>
      <p:sp>
        <p:nvSpPr>
          <p:cNvPr id="372" name="" descr="{&quot;isTemplate&quot;:true,&quot;type&quot;:&quot;text&quot;}"/>
          <p:cNvSpPr txBox="1"/>
          <p:nvPr/>
        </p:nvSpPr>
        <p:spPr>
          <a:xfrm rot="0" flipH="0" flipV="0">
            <a:off x="800100" y="2562225"/>
            <a:ext cx="49530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包只声明环境变量等凭据要求，接收者在目标机器提供自己的可用凭据。</a:t>
            </a:r>
            <a:endParaRPr/>
          </a:p>
        </p:txBody>
      </p:sp>
      <p:sp>
        <p:nvSpPr>
          <p:cNvPr id="373" name=""/>
          <p:cNvSpPr/>
          <p:nvPr/>
        </p:nvSpPr>
        <p:spPr>
          <a:xfrm rot="0" flipH="0" flipV="0">
            <a:off x="800100" y="2933700"/>
            <a:ext cx="4953000" cy="590550"/>
          </a:xfrm>
          <a:prstGeom prst="roundRect">
            <a:avLst>
              <a:gd name="adj" fmla="val 1290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952500" y="3105150"/>
            <a:ext cx="46482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不把密钥写进交付表或</a:t>
            </a:r>
            <a:r>
              <a:rPr lang="en-US" sz="1050">
                <a:solidFill>
                  <a:srgbClr val="CB6B28"/>
                </a:solidFill>
                <a:latin typeface="Microsoft YaHei"/>
                <a:ea typeface="Microsoft YaHei"/>
              </a:rPr>
              <a:t xml:space="preserve"> Skill</a:t>
            </a: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375" name=""/>
          <p:cNvSpPr/>
          <p:nvPr/>
        </p:nvSpPr>
        <p:spPr>
          <a:xfrm rot="0" flipH="0" flipV="0">
            <a:off x="6248400" y="1781175"/>
            <a:ext cx="5334000" cy="2667000"/>
          </a:xfrm>
          <a:prstGeom prst="roundRect">
            <a:avLst>
              <a:gd name="adj" fmla="val 357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6438900" y="1952625"/>
            <a:ext cx="4953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离线与联网</a:t>
            </a:r>
            <a:endParaRPr/>
          </a:p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6438900" y="2276475"/>
            <a:ext cx="4953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离线读取不需要调用模型</a:t>
            </a:r>
            <a:endParaRPr/>
          </a:p>
        </p:txBody>
      </p:sp>
      <p:sp>
        <p:nvSpPr>
          <p:cNvPr id="378" name="" descr="{&quot;isTemplate&quot;:true,&quot;type&quot;:&quot;text&quot;}"/>
          <p:cNvSpPr txBox="1"/>
          <p:nvPr/>
        </p:nvSpPr>
        <p:spPr>
          <a:xfrm rot="0" flipH="0" flipV="0">
            <a:off x="6438900" y="2562225"/>
            <a:ext cx="49530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连接验证和正式执行则可能产生请求与费用。</a:t>
            </a:r>
            <a:endParaRPr/>
          </a:p>
        </p:txBody>
      </p:sp>
      <p:sp>
        <p:nvSpPr>
          <p:cNvPr id="379" name=""/>
          <p:cNvSpPr/>
          <p:nvPr/>
        </p:nvSpPr>
        <p:spPr>
          <a:xfrm rot="0" flipH="0" flipV="0">
            <a:off x="6438900" y="2933700"/>
            <a:ext cx="4953000" cy="590550"/>
          </a:xfrm>
          <a:prstGeom prst="roundRect">
            <a:avLst>
              <a:gd name="adj" fmla="val 1290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6591300" y="3105150"/>
            <a:ext cx="46482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26816B"/>
                </a:solidFill>
                <a:latin typeface="Microsoft YaHei"/>
                <a:ea typeface="Microsoft YaHei"/>
              </a:rPr>
              <a:t>应纳入独立的执行计划。</a:t>
            </a:r>
            <a:endParaRPr/>
          </a:p>
        </p:txBody>
      </p:sp>
      <p:sp>
        <p:nvSpPr>
          <p:cNvPr id="381" name=""/>
          <p:cNvSpPr/>
          <p:nvPr/>
        </p:nvSpPr>
        <p:spPr>
          <a:xfrm rot="0" flipH="0" flipV="0">
            <a:off x="609600" y="4600575"/>
            <a:ext cx="10972800" cy="1047750"/>
          </a:xfrm>
          <a:prstGeom prst="roundRect">
            <a:avLst>
              <a:gd name="adj" fmla="val 909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82" name=""/>
          <p:cNvSpPr/>
          <p:nvPr/>
        </p:nvSpPr>
        <p:spPr>
          <a:xfrm rot="0" flipH="0" flipV="0">
            <a:off x="819150" y="4895850"/>
            <a:ext cx="38100" cy="4572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83" name="" descr="{&quot;isTemplate&quot;:true,&quot;type&quot;:&quot;text&quot;}"/>
          <p:cNvSpPr txBox="1"/>
          <p:nvPr/>
        </p:nvSpPr>
        <p:spPr>
          <a:xfrm rot="0" flipH="0" flipV="0">
            <a:off x="1009650" y="4876800"/>
            <a:ext cx="6572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凭据归属与费用归属，都要写在交付说明里</a:t>
            </a:r>
            <a:endParaRPr/>
          </a:p>
        </p:txBody>
      </p:sp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1009650" y="5114925"/>
            <a:ext cx="65722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谁提供密钥、谁批准预算、用哪个模型标识执行，都应在动手之前说清楚，而不是默认「顺便跑一下」。</a:t>
            </a:r>
            <a:endParaRPr/>
          </a:p>
        </p:txBody>
      </p:sp>
      <p:sp>
        <p:nvSpPr>
          <p:cNvPr id="38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5.7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交付与复现</a:t>
            </a:r>
            <a:endParaRPr/>
          </a:p>
        </p:txBody>
      </p:sp>
      <p:sp>
        <p:nvSpPr>
          <p:cNvPr id="38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20 / 24</a:t>
            </a:r>
            <a:endParaRPr/>
          </a:p>
        </p:txBody>
      </p:sp>
    </p:spTree>
  </p:cSld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387" name="" descr="&lt;Slide notes={`下面这是服务大厅项目当前真正可用的登记样式，里面没有虚构文件，也没有编造 UUID。&#13;&#10;&#13;&#10;项目写社区服务大厅咨询策略比较；本次交付目标写审阅设计与下一阶段执行计划；当前材料是场景说明、需求表、策略差异、预算与待填写证据清单。实验、Run 和 Attempt 全部写「未创建」，三种原始包写「未生成」，接收环境与只读验证写「待记录」，异机续跑和重跑写「未执行」。最后一项写明下一项工作：按约定完成材料制作及浏览器配置，补齐保存证据。&#13;&#10;&#13;&#10;这份记录的价值不在于内容多，而在于每一项都如实。将来真有导出了，就逐项替换对应状态，同时保留交付日期和依据。`} style={{ width: 1280, height: 720, background: '#FFFFFF', flexDirection: 'column', padding: '20px 64px' }}&gt;&#13;&#10;&#13;&#10;    &lt;Box style={{ height: 100, flexDirection: 'row', alignItems: 'center', gap: 20 }}&gt;&#13;&#10;        &lt;Box style={{ width: 4, height: 44, background: '#276FBF' }} /&gt;&#13;&#10;        &lt;Box style={{ flexDirection: 'column', gap: 4 }}&gt;&#13;&#10;            &lt;Text style={{ fontSize: 14, color: '#546779' }}&gt;5.7.6　一份简短但可执行的交付记录&lt;/Text&gt;&#13;&#10;            &lt;Text style={{ fontSize: 34, fontWeight: 'bold', color: '#20344B' }}&gt;当前状态登记样式&lt;/Text&gt;&#13;&#10;        &lt;/Box&gt;&#13;&#10;    &lt;/Box&gt;&#13;&#10;&#13;&#10;    &lt;Box style={{ height: 540, flexDirection: 'column', justifyContent: 'center', gap: 14 }}&gt;&#13;&#10;&#13;&#10;        &lt;Box style={{ width: 1152, height: 64, background: '#EDF4FC', borderRadius: 10, padding: '0 22px', flexDirection: 'row', alignItems: 'center', gap: 16 }}&gt;&#13;&#10;            &lt;Box style={{ width: 4, height: 30, background: '#276FBF' }} /&gt;&#13;&#10;            &lt;Box style={{ flexDirection: 'column', gap: 3 }}&gt;&#13;&#10;                &lt;Text style={{ fontSize: 19, fontWeight: 'bold', color: '#20344B' }}&gt;不包含虚构文件和 UUID 的登记样式&lt;/Text&gt;&#13;&#10;                &lt;Text style={{ fontSize: 14, color: '#546779' }}&gt;空项保留「未生成／未验证」，有真实导出后逐项替换&lt;/Text&gt;&#13;&#10;            &lt;/Box&gt;&#13;&#10;        &lt;/Box&gt;&#13;&#10;&#13;&#10;        &lt;Box style={{ width: 1152, height: 420, background: '#F4F7FA', borderRadius: 10, padding: '18px 22px', flexDirection: 'column', gap: 6 }}&gt;&#13;&#10;&#13;&#10;            &lt;Box style={{ width: 1108, height: 36, background: '#FFFFFF', borderRadius: 6, padding: '0 14px', flexDirection: 'row', alignItems: 'center', gap: 12 }}&gt;&#13;&#10;                &lt;Text style={{ fontSize: 15, color: '#546779', width: 320 }}&gt;项目&lt;/Text&gt;&#13;&#10;                &lt;Text style={{ fontSize: 15, color: '#20344B', width: 776 }}&gt;社区服务大厅咨询策略比较&lt;/Text&gt;&#13;&#10;            &lt;/Box&gt;&#13;&#10;&#13;&#10;            &lt;Box style={{ width: 1108, height: 36, background: '#FFFFFF', borderRadius: 6, padding: '0 14px', flexDirection: 'row', alignItems: 'center', gap: 12 }}&gt;&#13;&#10;                &lt;Text style={{ fontSize: 15, color: '#546779', width: 320 }}&gt;本次交付目标&lt;/Text&gt;&#13;&#10;                &lt;Text style={{ fontSize: 15, color: '#20344B', width: 776 }}&gt;审阅设计与下一阶段执行计划&lt;/Text&gt;&#13;&#10;            &lt;/Box&gt;&#13;&#10;&#13;&#10;            &lt;Box style={{ width: 1108, height: 36, background: '#FFFFFF', borderRadius: 6, padding: '0 14px', flexDirection: 'row', alignItems: 'center', gap: 12 }}&gt;&#13;&#10;                &lt;Text style={{ fontSize: 15, color: '#546779', width: 320 }}&gt;当前材料&lt;/Text&gt;&#13;&#10;                &lt;Text style={{ fontSize: 15, color: '#20344B', width: 776 }}&gt;场景说明、需求表、策略差异、预算与待填写证据清单&lt;/Text&gt;&#13;&#10;            &lt;/Box&gt;&#13;&#10;&#13;&#10;            &lt;Box style={{ width: 1108, height: 36, background: '#FFF4E6', borderRadius: 6, padding: '0 14px', flexDirection: 'row', alignItems: 'center', gap: 12 }}&gt;&#13;&#10;                &lt;Text style={{ fontSize: 15, color: '#546779', width: 320 }}&gt;实验 / Run / Attempt&lt;/Text&gt;&#13;&#10;                &lt;Text style={{ fontSize: 15, fontWeight: 'bold', color: '#CB6B28', width: 776 }}&gt;未创建&lt;/Text&gt;&#13;&#10;            &lt;/Box&gt;&#13;&#10;&#13;&#10;            &lt;Box style={{ width: 1108, height: 36, background: '#FFF4E6', borderRadius: 6, padding: '0 14px', flexDirection: 'row', alignItems: 'center', gap: 12 }}&gt;&#13;&#10;                &lt;Text style={{ fontSize: 15, color: '#546779', width: 320 }}&gt;原始结果 ZIP / .gaexp / .garun&lt;/Text&gt;&#13;&#10;                &lt;Text style={{ fontSize: 15, fontWeight: 'bold', color: '#CB6B28', width: 776 }}&gt;未生成&lt;/Text&gt;&#13;&#10;            &lt;/Box&gt;&#13;&#10;&#13;&#10;            &lt;Box style={{ width: 1108, height: 36, background: '#FFFFFF', borderRadius: 6, padding: '0 14px', flexDirection: 'row', alignItems: 'center', gap: 12 }}&gt;&#13;&#10;                &lt;Text style={{ fontSize: 15, color: '#546779', width: 320 }}&gt;已核验范围&lt;/Text&gt;&#13;&#10;                &lt;Text style={{ fontSize: 15, color: '#20344B', width: 776 }}&gt;本次实际完成的文档检查&lt;/Text&gt;&#13;&#10;            &lt;/Box&gt;&#13;&#10;&#13;&#10;            &lt;Box style={{ width: 1108, height: 36, background: '#FFF4E6', borderRadius: 6, padding: '0 14px', flexDirection: 'row', alignItems: 'center', gap: 12 }}&gt;&#13;&#10;                &lt;Text style={{ fontSize: 15, color: '#546779', width: 320 }}&gt;接收环境与只读验证&lt;/Text&gt;&#13;&#10;                &lt;Text style={{ fontSize: 15, fontWeight: 'bold', color: '#CB6B28', width: 776 }}&gt;待记录&lt;/Text&gt;&#13;&#10;            &lt;/Box&gt;&#13;&#10;&#13;&#10;            &lt;Box style={{ width: 1108, height: 36, background: '#FFF4E6', borderRadius: 6, padding: '0 14px', flexDirection: 'row', alignItems: 'center', gap: 12 }}&gt;&#13;&#10;                &lt;Text style={{ fontSize: 15, color: '#546779', width: 320 }}&gt;异机续跑 / 重跑&lt;/Text&gt;&#13;&#10;                &lt;Text style={{ fontSize: 15, fontWeight: 'bold', color: '#CB6B28', width: 776 }}&gt;未执行&lt;/Text&gt;&#13;&#10;            &lt;/Box&gt;&#13;&#10;&#13;&#10;            &lt;Box style={{ width: 1108, height: 36, background: '#FFFFFF', borderRadius: 6, padding: '0 14px', flexDirection: 'row', alignItems: 'center', gap: 12 }}&gt;&#13;&#10;                &lt;Text style={{ fontSize: 15, color: '#546779', width: 320 }}&gt;下一项工作&lt;/Text&gt;&#13;&#10;                &lt;Text style={{ fontSize: 15, color: '#20344B', width: 776 }}&gt;按约定完成材料制作及浏览器配置，补齐保存证据&lt;/Text&gt;&#13;&#10;            &lt;/Box&gt;&#13;&#10;&#13;&#10;        &lt;/Box&gt;&#13;&#10;&#13;&#10;    &lt;/Box&gt;&#13;&#10;&#13;&#10;    &lt;Box style={{ height: 40, flexDirection: 'row', justifyContent: 'space-between', alignItems: 'center' }}&gt;&#13;&#10;        &lt;Text style={{ fontSize: 14, color: '#546779' }}&gt;5.7 交付与复现&lt;/Text&gt;&#13;&#10;        &lt;Text style={{ fontSize: 14, color: '#546779' }}&gt;21 / 24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9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90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590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5.7.6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一份简短但可执行的交付记录</a:t>
            </a:r>
            <a:endParaRPr/>
          </a:p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590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当前状态登记样式</a:t>
            </a:r>
            <a:endParaRPr/>
          </a:p>
        </p:txBody>
      </p:sp>
      <p:sp>
        <p:nvSpPr>
          <p:cNvPr id="392" name=""/>
          <p:cNvSpPr/>
          <p:nvPr/>
        </p:nvSpPr>
        <p:spPr>
          <a:xfrm rot="0" flipH="0" flipV="0">
            <a:off x="609600" y="1343025"/>
            <a:ext cx="10972800" cy="609600"/>
          </a:xfrm>
          <a:prstGeom prst="roundRect">
            <a:avLst>
              <a:gd name="adj" fmla="val 1562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93" name=""/>
          <p:cNvSpPr/>
          <p:nvPr/>
        </p:nvSpPr>
        <p:spPr>
          <a:xfrm rot="0" flipH="0" flipV="0">
            <a:off x="819150" y="1504950"/>
            <a:ext cx="38100" cy="2857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94" name="" descr="{&quot;isTemplate&quot;:true,&quot;type&quot;:&quot;text&quot;}"/>
          <p:cNvSpPr txBox="1"/>
          <p:nvPr/>
        </p:nvSpPr>
        <p:spPr>
          <a:xfrm rot="0" flipH="0" flipV="0">
            <a:off x="1009650" y="1447800"/>
            <a:ext cx="32004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不包含虚构文件和</a:t>
            </a:r>
            <a:r>
              <a:rPr lang="en-US" sz="1425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UUID </a:t>
            </a: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的登记样式</a:t>
            </a:r>
            <a:endParaRPr/>
          </a:p>
        </p:txBody>
      </p:sp>
      <p:sp>
        <p:nvSpPr>
          <p:cNvPr id="395" name="" descr="{&quot;isTemplate&quot;:true,&quot;type&quot;:&quot;text&quot;}"/>
          <p:cNvSpPr txBox="1"/>
          <p:nvPr/>
        </p:nvSpPr>
        <p:spPr>
          <a:xfrm rot="0" flipH="0" flipV="0">
            <a:off x="1009650" y="1695450"/>
            <a:ext cx="3200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空项保留「未生成／未验证」，有真实导出后逐项替换</a:t>
            </a:r>
            <a:endParaRPr/>
          </a:p>
        </p:txBody>
      </p:sp>
      <p:sp>
        <p:nvSpPr>
          <p:cNvPr id="396" name=""/>
          <p:cNvSpPr/>
          <p:nvPr/>
        </p:nvSpPr>
        <p:spPr>
          <a:xfrm rot="0" flipH="0" flipV="0">
            <a:off x="609600" y="2085975"/>
            <a:ext cx="10972800" cy="4000500"/>
          </a:xfrm>
          <a:prstGeom prst="roundRect">
            <a:avLst>
              <a:gd name="adj" fmla="val 238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97" name=""/>
          <p:cNvSpPr/>
          <p:nvPr/>
        </p:nvSpPr>
        <p:spPr>
          <a:xfrm rot="0" flipH="0" flipV="0">
            <a:off x="819150" y="2257425"/>
            <a:ext cx="10553700" cy="342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952500" y="2343150"/>
            <a:ext cx="2971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项目</a:t>
            </a:r>
            <a:endParaRPr/>
          </a:p>
        </p:txBody>
      </p:sp>
      <p:sp>
        <p:nvSpPr>
          <p:cNvPr id="399" name="" descr="{&quot;isTemplate&quot;:true,&quot;type&quot;:&quot;text&quot;}"/>
          <p:cNvSpPr txBox="1"/>
          <p:nvPr/>
        </p:nvSpPr>
        <p:spPr>
          <a:xfrm rot="0" flipH="0" flipV="0">
            <a:off x="4038600" y="2343150"/>
            <a:ext cx="7200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社区服务大厅咨询策略比较</a:t>
            </a:r>
            <a:endParaRPr/>
          </a:p>
        </p:txBody>
      </p:sp>
      <p:sp>
        <p:nvSpPr>
          <p:cNvPr id="400" name=""/>
          <p:cNvSpPr/>
          <p:nvPr/>
        </p:nvSpPr>
        <p:spPr>
          <a:xfrm rot="0" flipH="0" flipV="0">
            <a:off x="819150" y="2657475"/>
            <a:ext cx="10553700" cy="342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952500" y="2743200"/>
            <a:ext cx="2971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本次交付目标</a:t>
            </a:r>
            <a:endParaRPr/>
          </a:p>
        </p:txBody>
      </p:sp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4038600" y="2743200"/>
            <a:ext cx="7200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审阅设计与下一阶段执行计划</a:t>
            </a:r>
            <a:endParaRPr/>
          </a:p>
        </p:txBody>
      </p:sp>
      <p:sp>
        <p:nvSpPr>
          <p:cNvPr id="403" name=""/>
          <p:cNvSpPr/>
          <p:nvPr/>
        </p:nvSpPr>
        <p:spPr>
          <a:xfrm rot="0" flipH="0" flipV="0">
            <a:off x="819150" y="3057525"/>
            <a:ext cx="10553700" cy="342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04" name="" descr="{&quot;isTemplate&quot;:true,&quot;type&quot;:&quot;text&quot;}"/>
          <p:cNvSpPr txBox="1"/>
          <p:nvPr/>
        </p:nvSpPr>
        <p:spPr>
          <a:xfrm rot="0" flipH="0" flipV="0">
            <a:off x="952500" y="3143250"/>
            <a:ext cx="2971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当前材料</a:t>
            </a:r>
            <a:endParaRPr/>
          </a:p>
        </p:txBody>
      </p:sp>
      <p:sp>
        <p:nvSpPr>
          <p:cNvPr id="405" name="" descr="{&quot;isTemplate&quot;:true,&quot;type&quot;:&quot;text&quot;}"/>
          <p:cNvSpPr txBox="1"/>
          <p:nvPr/>
        </p:nvSpPr>
        <p:spPr>
          <a:xfrm rot="0" flipH="0" flipV="0">
            <a:off x="4038600" y="3143250"/>
            <a:ext cx="7200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场景说明、需求表、策略差异、预算与待填写证据清单</a:t>
            </a:r>
            <a:endParaRPr/>
          </a:p>
        </p:txBody>
      </p:sp>
      <p:sp>
        <p:nvSpPr>
          <p:cNvPr id="406" name=""/>
          <p:cNvSpPr/>
          <p:nvPr/>
        </p:nvSpPr>
        <p:spPr>
          <a:xfrm rot="0" flipH="0" flipV="0">
            <a:off x="819150" y="3457575"/>
            <a:ext cx="10553700" cy="342900"/>
          </a:xfrm>
          <a:prstGeom prst="roundRect">
            <a:avLst>
              <a:gd name="adj" fmla="val 1666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07" name="" descr="{&quot;isTemplate&quot;:true,&quot;type&quot;:&quot;text&quot;}"/>
          <p:cNvSpPr txBox="1"/>
          <p:nvPr/>
        </p:nvSpPr>
        <p:spPr>
          <a:xfrm rot="0" flipH="0" flipV="0">
            <a:off x="952500" y="3543300"/>
            <a:ext cx="2971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实验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/ Run / Attempt</a:t>
            </a:r>
            <a:endParaRPr/>
          </a:p>
        </p:txBody>
      </p:sp>
      <p:sp>
        <p:nvSpPr>
          <p:cNvPr id="408" name="" descr="{&quot;isTemplate&quot;:true,&quot;type&quot;:&quot;text&quot;}"/>
          <p:cNvSpPr txBox="1"/>
          <p:nvPr/>
        </p:nvSpPr>
        <p:spPr>
          <a:xfrm rot="0" flipH="0" flipV="0">
            <a:off x="4038600" y="3543300"/>
            <a:ext cx="7200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未创建</a:t>
            </a:r>
            <a:endParaRPr/>
          </a:p>
        </p:txBody>
      </p:sp>
      <p:sp>
        <p:nvSpPr>
          <p:cNvPr id="409" name=""/>
          <p:cNvSpPr/>
          <p:nvPr/>
        </p:nvSpPr>
        <p:spPr>
          <a:xfrm rot="0" flipH="0" flipV="0">
            <a:off x="819150" y="3857625"/>
            <a:ext cx="10553700" cy="342900"/>
          </a:xfrm>
          <a:prstGeom prst="roundRect">
            <a:avLst>
              <a:gd name="adj" fmla="val 1666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10" name="" descr="{&quot;isTemplate&quot;:true,&quot;type&quot;:&quot;text&quot;}"/>
          <p:cNvSpPr txBox="1"/>
          <p:nvPr/>
        </p:nvSpPr>
        <p:spPr>
          <a:xfrm rot="0" flipH="0" flipV="0">
            <a:off x="952500" y="3943350"/>
            <a:ext cx="2971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原始结果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ZIP / .gaexp / .garun</a:t>
            </a:r>
            <a:endParaRPr/>
          </a:p>
        </p:txBody>
      </p:sp>
      <p:sp>
        <p:nvSpPr>
          <p:cNvPr id="411" name="" descr="{&quot;isTemplate&quot;:true,&quot;type&quot;:&quot;text&quot;}"/>
          <p:cNvSpPr txBox="1"/>
          <p:nvPr/>
        </p:nvSpPr>
        <p:spPr>
          <a:xfrm rot="0" flipH="0" flipV="0">
            <a:off x="4038600" y="3943350"/>
            <a:ext cx="7200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未生成</a:t>
            </a:r>
            <a:endParaRPr/>
          </a:p>
        </p:txBody>
      </p:sp>
      <p:sp>
        <p:nvSpPr>
          <p:cNvPr id="412" name=""/>
          <p:cNvSpPr/>
          <p:nvPr/>
        </p:nvSpPr>
        <p:spPr>
          <a:xfrm rot="0" flipH="0" flipV="0">
            <a:off x="819150" y="4257675"/>
            <a:ext cx="10553700" cy="342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13" name="" descr="{&quot;isTemplate&quot;:true,&quot;type&quot;:&quot;text&quot;}"/>
          <p:cNvSpPr txBox="1"/>
          <p:nvPr/>
        </p:nvSpPr>
        <p:spPr>
          <a:xfrm rot="0" flipH="0" flipV="0">
            <a:off x="952500" y="4343400"/>
            <a:ext cx="2971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已核验范围</a:t>
            </a:r>
            <a:endParaRPr/>
          </a:p>
        </p:txBody>
      </p:sp>
      <p:sp>
        <p:nvSpPr>
          <p:cNvPr id="414" name="" descr="{&quot;isTemplate&quot;:true,&quot;type&quot;:&quot;text&quot;}"/>
          <p:cNvSpPr txBox="1"/>
          <p:nvPr/>
        </p:nvSpPr>
        <p:spPr>
          <a:xfrm rot="0" flipH="0" flipV="0">
            <a:off x="4038600" y="4343400"/>
            <a:ext cx="7200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本次实际完成的文档检查</a:t>
            </a:r>
            <a:endParaRPr/>
          </a:p>
        </p:txBody>
      </p:sp>
      <p:sp>
        <p:nvSpPr>
          <p:cNvPr id="415" name=""/>
          <p:cNvSpPr/>
          <p:nvPr/>
        </p:nvSpPr>
        <p:spPr>
          <a:xfrm rot="0" flipH="0" flipV="0">
            <a:off x="819150" y="4657725"/>
            <a:ext cx="10553700" cy="342900"/>
          </a:xfrm>
          <a:prstGeom prst="roundRect">
            <a:avLst>
              <a:gd name="adj" fmla="val 1666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16" name="" descr="{&quot;isTemplate&quot;:true,&quot;type&quot;:&quot;text&quot;}"/>
          <p:cNvSpPr txBox="1"/>
          <p:nvPr/>
        </p:nvSpPr>
        <p:spPr>
          <a:xfrm rot="0" flipH="0" flipV="0">
            <a:off x="952500" y="4743450"/>
            <a:ext cx="2971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接收环境与只读验证</a:t>
            </a:r>
            <a:endParaRPr/>
          </a:p>
        </p:txBody>
      </p:sp>
      <p:sp>
        <p:nvSpPr>
          <p:cNvPr id="417" name="" descr="{&quot;isTemplate&quot;:true,&quot;type&quot;:&quot;text&quot;}"/>
          <p:cNvSpPr txBox="1"/>
          <p:nvPr/>
        </p:nvSpPr>
        <p:spPr>
          <a:xfrm rot="0" flipH="0" flipV="0">
            <a:off x="4038600" y="4743450"/>
            <a:ext cx="7200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待记录</a:t>
            </a:r>
            <a:endParaRPr/>
          </a:p>
        </p:txBody>
      </p:sp>
      <p:sp>
        <p:nvSpPr>
          <p:cNvPr id="418" name=""/>
          <p:cNvSpPr/>
          <p:nvPr/>
        </p:nvSpPr>
        <p:spPr>
          <a:xfrm rot="0" flipH="0" flipV="0">
            <a:off x="819150" y="5057775"/>
            <a:ext cx="10553700" cy="342900"/>
          </a:xfrm>
          <a:prstGeom prst="roundRect">
            <a:avLst>
              <a:gd name="adj" fmla="val 1666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19" name="" descr="{&quot;isTemplate&quot;:true,&quot;type&quot;:&quot;text&quot;}"/>
          <p:cNvSpPr txBox="1"/>
          <p:nvPr/>
        </p:nvSpPr>
        <p:spPr>
          <a:xfrm rot="0" flipH="0" flipV="0">
            <a:off x="952500" y="5143500"/>
            <a:ext cx="2971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异机续跑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重跑</a:t>
            </a:r>
            <a:endParaRPr/>
          </a:p>
        </p:txBody>
      </p:sp>
      <p:sp>
        <p:nvSpPr>
          <p:cNvPr id="420" name="" descr="{&quot;isTemplate&quot;:true,&quot;type&quot;:&quot;text&quot;}"/>
          <p:cNvSpPr txBox="1"/>
          <p:nvPr/>
        </p:nvSpPr>
        <p:spPr>
          <a:xfrm rot="0" flipH="0" flipV="0">
            <a:off x="4038600" y="5143500"/>
            <a:ext cx="7200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未执行</a:t>
            </a:r>
            <a:endParaRPr/>
          </a:p>
        </p:txBody>
      </p:sp>
      <p:sp>
        <p:nvSpPr>
          <p:cNvPr id="421" name=""/>
          <p:cNvSpPr/>
          <p:nvPr/>
        </p:nvSpPr>
        <p:spPr>
          <a:xfrm rot="0" flipH="0" flipV="0">
            <a:off x="819150" y="5457825"/>
            <a:ext cx="10553700" cy="342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2" name="" descr="{&quot;isTemplate&quot;:true,&quot;type&quot;:&quot;text&quot;}"/>
          <p:cNvSpPr txBox="1"/>
          <p:nvPr/>
        </p:nvSpPr>
        <p:spPr>
          <a:xfrm rot="0" flipH="0" flipV="0">
            <a:off x="952500" y="5543550"/>
            <a:ext cx="2971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下一项工作</a:t>
            </a:r>
            <a:endParaRPr/>
          </a:p>
        </p:txBody>
      </p:sp>
      <p:sp>
        <p:nvSpPr>
          <p:cNvPr id="423" name="" descr="{&quot;isTemplate&quot;:true,&quot;type&quot;:&quot;text&quot;}"/>
          <p:cNvSpPr txBox="1"/>
          <p:nvPr/>
        </p:nvSpPr>
        <p:spPr>
          <a:xfrm rot="0" flipH="0" flipV="0">
            <a:off x="4038600" y="5543550"/>
            <a:ext cx="7200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按约定完成材料制作及浏览器配置，补齐保存证据</a:t>
            </a:r>
            <a:endParaRPr/>
          </a:p>
        </p:txBody>
      </p:sp>
      <p:sp>
        <p:nvSpPr>
          <p:cNvPr id="42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5.7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交付与复现</a:t>
            </a:r>
            <a:endParaRPr/>
          </a:p>
        </p:txBody>
      </p:sp>
      <p:sp>
        <p:nvSpPr>
          <p:cNvPr id="42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21 / 24</a:t>
            </a:r>
            <a:endParaRPr/>
          </a:p>
        </p:txBody>
      </p:sp>
    </p:spTree>
  </p:cSld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426" name="" descr="&lt;Slide notes={`接收方走完前面那些步骤之后，才可以动笔写下复现结论。而且措辞要节制。&#10;&#10;在记录好的环境里回放通过、从某个边界续跑通过，这两句话是可以写的，前提是每一项都有对应的环境与验证记录。反过来，如果只完成了材料核对，那就应该明确写「尚未验证」，把缺口写清楚。&#10;&#10;有两种句式一定要避免。第一种，用一次新 Run 顺利结束，来代替旧 Run 的恢复验证——这是两件不同的事，新 Run 成功说明不了旧 Run 能被恢复。第二种，用一次回放通过，来代替模型行为的重新运行——回放只读事实，它压根没有调用模型。&#10;&#10;记住一句话：交付承诺以实际接收记录为准。没做过的，就不要写成做过了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7.5　正式复现是一项单独工作&lt;/Text&gt;&#10;            &lt;Text style={{ fontSize: 34, fontWeight: 'bold', color: '#20344B' }}&gt;复现承诺要写到什么程度&lt;/Text&gt;&#10;        &lt;/Box&gt;&#10;    &lt;/Box&gt;&#10;&#10;    &lt;Box style={{ height: 540, flexDirection: 'row', alignItems: 'center', gap: 32 }}&gt;&#10;&#10;        &lt;Box style={{ width: 560, height: 380, background: '#ECF7F2', borderRadius: 10, padding: '20px 22px', flexDirection: 'column', gap: 10 }}&gt;&#10;            &lt;Text style={{ fontSize: 20, fontWeight: 'bold', color: '#26816B' }}&gt;可以写&lt;/Text&gt;&#10;            &lt;Text style={{ fontSize: 15, color: '#546779', lineHeight: 1.6 }}&gt;前提是每一项都有对应的环境与验证记录。&lt;/Text&gt;&#10;            &lt;Box style={{ width: 516, height: 58, background: '#FFFFFF', borderRadius: 8, padding: '0 16px', flexDirection: 'row', alignItems: 'center', gap: 10 }}&gt;&#10;                &lt;Box style={{ width: 4, height: 28, background: '#26816B' }} /&gt;&#10;                &lt;Text style={{ fontSize: 16, color: '#20344B' }}&gt;在所记录环境中回放通过&lt;/Text&gt;&#10;            &lt;/Box&gt;&#10;            &lt;Box style={{ width: 516, height: 58, background: '#FFFFFF', borderRadius: 8, padding: '0 16px', flexDirection: 'row', alignItems: 'center', gap: 10 }}&gt;&#10;                &lt;Box style={{ width: 4, height: 28, background: '#26816B' }} /&gt;&#10;                &lt;Text style={{ fontSize: 16, color: '#20344B' }}&gt;从某边界续跑通过&lt;/Text&gt;&#10;            &lt;/Box&gt;&#10;            &lt;Box style={{ width: 516, height: 58, background: '#FFFFFF', borderRadius: 8, padding: '0 16px', flexDirection: 'row', alignItems: 'center', gap: 10 }}&gt;&#10;                &lt;Box style={{ width: 4, height: 28, background: '#26816B' }} /&gt;&#10;                &lt;Text style={{ fontSize: 16, color: '#20344B' }}&gt;明确写出「尚未验证」与缺口&lt;/Text&gt;&#10;            &lt;/Box&gt;&#10;        &lt;/Box&gt;&#10;&#10;        &lt;Box style={{ width: 560, height: 380, background: '#FFF4E6', borderRadius: 10, padding: '20px 22px', flexDirection: 'column', gap: 10 }}&gt;&#10;            &lt;Text style={{ fontSize: 20, fontWeight: 'bold', color: '#CB6B28' }}&gt;不能替代&lt;/Text&gt;&#10;            &lt;Text style={{ fontSize: 15, color: '#546779', lineHeight: 1.6 }}&gt;一次成功，不代表另一件事也完成了。&lt;/Text&gt;&#10;            &lt;Box style={{ width: 516, height: 78, background: '#FFFFFF', borderRadius: 8, padding: '0 16px', flexDirection: 'row', alignItems: 'center', gap: 10 }}&gt;&#10;                &lt;Box style={{ width: 4, height: 40, background: '#CB6B28' }} /&gt;&#10;                &lt;Text style={{ fontSize: 15, color: '#546779', lineHeight: 1.5, width: 470 }}&gt;一次新 Run 顺利结束，不能代替旧 Run 的恢复验证&lt;/Text&gt;&#10;            &lt;/Box&gt;&#10;            &lt;Box style={{ width: 516, height: 78, background: '#FFFFFF', borderRadius: 8, padding: '0 16px', flexDirection: 'row', alignItems: 'center', gap: 10 }}&gt;&#10;                &lt;Box style={{ width: 4, height: 40, background: '#CB6B28' }} /&gt;&#10;                &lt;Text style={{ fontSize: 15, color: '#546779', lineHeight: 1.5, width: 470 }}&gt;一次回放通过，不能代替模型行为的重新运行&lt;/Text&gt;&#10;            &lt;/Box&gt;&#10;            &lt;Box style={{ width: 516, height: 58, background: '#FFFFFF', borderRadius: 8, padding: '0 16px', flexDirection: 'row', alignItems: 'center', gap: 10 }}&gt;&#10;                &lt;Box style={{ width: 4, height: 28, background: '#CB6B28' }} /&gt;&#10;                &lt;Text style={{ fontSize: 15, color: '#CB6B28' }}&gt;交付承诺以实际接收记录为准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5.7 交付与复现&lt;/Text&gt;&#10;        &lt;Text style={{ fontSize: 14, color: '#546779' }}&gt;22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8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29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5.7.5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正式复现是一项单独工作</a:t>
            </a:r>
            <a:endParaRPr/>
          </a:p>
        </p:txBody>
      </p:sp>
      <p:sp>
        <p:nvSpPr>
          <p:cNvPr id="430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复现承诺要写到什么程度</a:t>
            </a:r>
            <a:endParaRPr/>
          </a:p>
        </p:txBody>
      </p:sp>
      <p:sp>
        <p:nvSpPr>
          <p:cNvPr id="431" name=""/>
          <p:cNvSpPr/>
          <p:nvPr/>
        </p:nvSpPr>
        <p:spPr>
          <a:xfrm rot="0" flipH="0" flipV="0">
            <a:off x="609600" y="1905000"/>
            <a:ext cx="5334000" cy="3619500"/>
          </a:xfrm>
          <a:prstGeom prst="roundRect">
            <a:avLst>
              <a:gd name="adj" fmla="val 2632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32" name="" descr="{&quot;isTemplate&quot;:true,&quot;type&quot;:&quot;text&quot;}"/>
          <p:cNvSpPr txBox="1"/>
          <p:nvPr/>
        </p:nvSpPr>
        <p:spPr>
          <a:xfrm rot="0" flipH="0" flipV="0">
            <a:off x="819150" y="2095500"/>
            <a:ext cx="49149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可以写</a:t>
            </a:r>
            <a:endParaRPr/>
          </a:p>
        </p:txBody>
      </p:sp>
      <p:sp>
        <p:nvSpPr>
          <p:cNvPr id="433" name="" descr="{&quot;isTemplate&quot;:true,&quot;type&quot;:&quot;text&quot;}"/>
          <p:cNvSpPr txBox="1"/>
          <p:nvPr/>
        </p:nvSpPr>
        <p:spPr>
          <a:xfrm rot="0" flipH="0" flipV="0">
            <a:off x="819150" y="2419350"/>
            <a:ext cx="49149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前提是每一项都有对应的环境与验证记录。</a:t>
            </a:r>
            <a:endParaRPr/>
          </a:p>
        </p:txBody>
      </p:sp>
      <p:sp>
        <p:nvSpPr>
          <p:cNvPr id="434" name=""/>
          <p:cNvSpPr/>
          <p:nvPr/>
        </p:nvSpPr>
        <p:spPr>
          <a:xfrm rot="0" flipH="0" flipV="0">
            <a:off x="819150" y="2790825"/>
            <a:ext cx="49149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5" name=""/>
          <p:cNvSpPr/>
          <p:nvPr/>
        </p:nvSpPr>
        <p:spPr>
          <a:xfrm rot="0" flipH="0" flipV="0">
            <a:off x="971550" y="2933700"/>
            <a:ext cx="38100" cy="2667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436" name="" descr="{&quot;isTemplate&quot;:true,&quot;type&quot;:&quot;text&quot;}"/>
          <p:cNvSpPr txBox="1"/>
          <p:nvPr/>
        </p:nvSpPr>
        <p:spPr>
          <a:xfrm rot="0" flipH="0" flipV="0">
            <a:off x="1104900" y="2971800"/>
            <a:ext cx="1676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在所记录环境中回放通过</a:t>
            </a:r>
            <a:endParaRPr/>
          </a:p>
        </p:txBody>
      </p:sp>
      <p:sp>
        <p:nvSpPr>
          <p:cNvPr id="437" name=""/>
          <p:cNvSpPr/>
          <p:nvPr/>
        </p:nvSpPr>
        <p:spPr>
          <a:xfrm rot="0" flipH="0" flipV="0">
            <a:off x="819150" y="3438525"/>
            <a:ext cx="49149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8" name=""/>
          <p:cNvSpPr/>
          <p:nvPr/>
        </p:nvSpPr>
        <p:spPr>
          <a:xfrm rot="0" flipH="0" flipV="0">
            <a:off x="971550" y="3581400"/>
            <a:ext cx="38100" cy="2667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439" name="" descr="{&quot;isTemplate&quot;:true,&quot;type&quot;:&quot;text&quot;}"/>
          <p:cNvSpPr txBox="1"/>
          <p:nvPr/>
        </p:nvSpPr>
        <p:spPr>
          <a:xfrm rot="0" flipH="0" flipV="0">
            <a:off x="1104900" y="3619500"/>
            <a:ext cx="121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从某边界续跑通过</a:t>
            </a:r>
            <a:endParaRPr/>
          </a:p>
        </p:txBody>
      </p:sp>
      <p:sp>
        <p:nvSpPr>
          <p:cNvPr id="440" name=""/>
          <p:cNvSpPr/>
          <p:nvPr/>
        </p:nvSpPr>
        <p:spPr>
          <a:xfrm rot="0" flipH="0" flipV="0">
            <a:off x="819150" y="4086225"/>
            <a:ext cx="49149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41" name=""/>
          <p:cNvSpPr/>
          <p:nvPr/>
        </p:nvSpPr>
        <p:spPr>
          <a:xfrm rot="0" flipH="0" flipV="0">
            <a:off x="971550" y="4229100"/>
            <a:ext cx="38100" cy="2667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442" name="" descr="{&quot;isTemplate&quot;:true,&quot;type&quot;:&quot;text&quot;}"/>
          <p:cNvSpPr txBox="1"/>
          <p:nvPr/>
        </p:nvSpPr>
        <p:spPr>
          <a:xfrm rot="0" flipH="0" flipV="0">
            <a:off x="1104900" y="4267200"/>
            <a:ext cx="1981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明确写出「尚未验证」与缺口</a:t>
            </a:r>
            <a:endParaRPr/>
          </a:p>
        </p:txBody>
      </p:sp>
      <p:sp>
        <p:nvSpPr>
          <p:cNvPr id="443" name=""/>
          <p:cNvSpPr/>
          <p:nvPr/>
        </p:nvSpPr>
        <p:spPr>
          <a:xfrm rot="0" flipH="0" flipV="0">
            <a:off x="6248400" y="1905000"/>
            <a:ext cx="5334000" cy="3619500"/>
          </a:xfrm>
          <a:prstGeom prst="roundRect">
            <a:avLst>
              <a:gd name="adj" fmla="val 2632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44" name="" descr="{&quot;isTemplate&quot;:true,&quot;type&quot;:&quot;text&quot;}"/>
          <p:cNvSpPr txBox="1"/>
          <p:nvPr/>
        </p:nvSpPr>
        <p:spPr>
          <a:xfrm rot="0" flipH="0" flipV="0">
            <a:off x="6457950" y="2095500"/>
            <a:ext cx="49149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B6B28"/>
                </a:solidFill>
                <a:latin typeface="Microsoft YaHei"/>
                <a:ea typeface="Microsoft YaHei"/>
              </a:rPr>
              <a:t>不能替代</a:t>
            </a:r>
            <a:endParaRPr/>
          </a:p>
        </p:txBody>
      </p:sp>
      <p:sp>
        <p:nvSpPr>
          <p:cNvPr id="445" name="" descr="{&quot;isTemplate&quot;:true,&quot;type&quot;:&quot;text&quot;}"/>
          <p:cNvSpPr txBox="1"/>
          <p:nvPr/>
        </p:nvSpPr>
        <p:spPr>
          <a:xfrm rot="0" flipH="0" flipV="0">
            <a:off x="6457950" y="2419350"/>
            <a:ext cx="49149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一次成功，不代表另一件事也完成了。</a:t>
            </a:r>
            <a:endParaRPr/>
          </a:p>
        </p:txBody>
      </p:sp>
      <p:sp>
        <p:nvSpPr>
          <p:cNvPr id="446" name=""/>
          <p:cNvSpPr/>
          <p:nvPr/>
        </p:nvSpPr>
        <p:spPr>
          <a:xfrm rot="0" flipH="0" flipV="0">
            <a:off x="6457950" y="2790825"/>
            <a:ext cx="491490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47" name=""/>
          <p:cNvSpPr/>
          <p:nvPr/>
        </p:nvSpPr>
        <p:spPr>
          <a:xfrm rot="0" flipH="0" flipV="0">
            <a:off x="6610350" y="2971800"/>
            <a:ext cx="38100" cy="3810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48" name="" descr="{&quot;isTemplate&quot;:true,&quot;type&quot;:&quot;text&quot;}"/>
          <p:cNvSpPr txBox="1"/>
          <p:nvPr/>
        </p:nvSpPr>
        <p:spPr>
          <a:xfrm rot="0" flipH="0" flipV="0">
            <a:off x="6743700" y="3038475"/>
            <a:ext cx="44767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一次新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顺利结束，不能代替旧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的恢复验证</a:t>
            </a:r>
            <a:endParaRPr/>
          </a:p>
        </p:txBody>
      </p:sp>
      <p:sp>
        <p:nvSpPr>
          <p:cNvPr id="449" name=""/>
          <p:cNvSpPr/>
          <p:nvPr/>
        </p:nvSpPr>
        <p:spPr>
          <a:xfrm rot="0" flipH="0" flipV="0">
            <a:off x="6457950" y="3629025"/>
            <a:ext cx="491490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50" name=""/>
          <p:cNvSpPr/>
          <p:nvPr/>
        </p:nvSpPr>
        <p:spPr>
          <a:xfrm rot="0" flipH="0" flipV="0">
            <a:off x="6610350" y="3810000"/>
            <a:ext cx="38100" cy="3810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51" name="" descr="{&quot;isTemplate&quot;:true,&quot;type&quot;:&quot;text&quot;}"/>
          <p:cNvSpPr txBox="1"/>
          <p:nvPr/>
        </p:nvSpPr>
        <p:spPr>
          <a:xfrm rot="0" flipH="0" flipV="0">
            <a:off x="6743700" y="3876675"/>
            <a:ext cx="44767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一次回放通过，不能代替模型行为的重新运行</a:t>
            </a:r>
            <a:endParaRPr/>
          </a:p>
        </p:txBody>
      </p:sp>
      <p:sp>
        <p:nvSpPr>
          <p:cNvPr id="452" name=""/>
          <p:cNvSpPr/>
          <p:nvPr/>
        </p:nvSpPr>
        <p:spPr>
          <a:xfrm rot="0" flipH="0" flipV="0">
            <a:off x="6457950" y="4467225"/>
            <a:ext cx="49149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53" name=""/>
          <p:cNvSpPr/>
          <p:nvPr/>
        </p:nvSpPr>
        <p:spPr>
          <a:xfrm rot="0" flipH="0" flipV="0">
            <a:off x="6610350" y="4610100"/>
            <a:ext cx="38100" cy="2667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54" name="" descr="{&quot;isTemplate&quot;:true,&quot;type&quot;:&quot;text&quot;}"/>
          <p:cNvSpPr txBox="1"/>
          <p:nvPr/>
        </p:nvSpPr>
        <p:spPr>
          <a:xfrm rot="0" flipH="0" flipV="0">
            <a:off x="6743700" y="4657725"/>
            <a:ext cx="1857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交付承诺以实际接收记录为准</a:t>
            </a:r>
            <a:endParaRPr/>
          </a:p>
        </p:txBody>
      </p:sp>
      <p:sp>
        <p:nvSpPr>
          <p:cNvPr id="45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5.7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交付与复现</a:t>
            </a:r>
            <a:endParaRPr/>
          </a:p>
        </p:txBody>
      </p:sp>
      <p:sp>
        <p:nvSpPr>
          <p:cNvPr id="45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22 / 24</a:t>
            </a:r>
            <a:endParaRPr/>
          </a:p>
        </p:txBody>
      </p:sp>
    </p:spTree>
  </p:cSld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457" name="" descr="&lt;Slide notes={`这份记录不是写一次就完了。将来真的有导出以后，要逐项替换对应状态，同时保留交付日期和依据。也就是说，改的是状态，不是把整份记录重写一遍。&#10;&#10;可接手的交付，允许清楚地写「尚未验证」。这不是示弱，而是让接收者知道缺哪项材料、怎么继续、什么操作会产生新的世界事实。每一项复现承诺，都应该有对应的环境与验证记录在旁边。&#10;&#10;还有一个时间上的细节容易出错：文件的取材边界，和你在下载当下看到的页面最新 Step，可能并不相同。登记时要以实际导出来源为准。不要仅仅因为页面继续往前推进了，就把一份旧文件改记成更晚的边界。那样改出来的记录，看起来更完整，实际上已经失真了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7.6　一份简短但可执行的交付记录&lt;/Text&gt;&#10;            &lt;Text style={{ fontSize: 34, fontWeight: 'bold', color: '#20344B' }}&gt;允许写「尚未验证」&lt;/Text&gt;&#10;        &lt;/Box&gt;&#10;    &lt;/Box&gt;&#10;&#10;    &lt;Box style={{ height: 540, flexDirection: 'column', justifyContent: 'center', gap: 16 }}&gt;&#10;&#10;        &lt;Box style={{ flexDirection: 'row', alignItems: 'stretch', gap: 32 }}&gt;&#10;&#10;            &lt;Box style={{ width: 400, height: 300, background: '#EDF4FC', borderRadius: 10, padding: '20px 22px', flexDirection: 'column', gap: 10 }}&gt;&#10;                &lt;Text style={{ fontSize: 20, fontWeight: 'bold', color: '#276FBF' }}&gt;有了真实导出之后&lt;/Text&gt;&#10;                &lt;Text style={{ fontSize: 16, color: '#546779', lineHeight: 1.7 }}&gt;逐项替换对应状态，保留交付日期和依据。改的是状态，不是把整份记录重写一遍。&lt;/Text&gt;&#10;                &lt;Box style={{ width: 356, height: 96, background: '#FFFFFF', borderRadius: 8, padding: '14px 16px', justifyContent: 'center' }}&gt;&#10;                    &lt;Text style={{ fontSize: 14, color: '#276FBF', lineHeight: 1.6 }}&gt;状态可以更新，历史和依据要留在原位。&lt;/Text&gt;&#10;                &lt;/Box&gt;&#10;            &lt;/Box&gt;&#10;&#10;            &lt;Box style={{ width: 720, height: 300, background: '#F4F7FA', borderRadius: 10, padding: '20px 22px', flexDirection: 'column', gap: 12 }}&gt;&#10;                &lt;Text style={{ fontSize: 20, fontWeight: 'bold', color: '#20344B' }}&gt;可接手的交付允许清楚地写「尚未验证」&lt;/Text&gt;&#10;                &lt;Box style={{ width: 676, height: 58, background: '#FFFFFF', borderRadius: 8, padding: '0 16px', flexDirection: 'row', alignItems: 'center', gap: 12 }}&gt;&#10;                    &lt;Box style={{ width: 4, height: 28, background: '#276FBF' }} /&gt;&#10;                    &lt;Text style={{ fontSize: 16, color: '#546779' }}&gt;接收者应知道缺哪项材料、如何继续&lt;/Text&gt;&#10;                &lt;/Box&gt;&#10;                &lt;Box style={{ width: 676, height: 58, background: '#FFFFFF', borderRadius: 8, padding: '0 16px', flexDirection: 'row', alignItems: 'center', gap: 12 }}&gt;&#10;                    &lt;Box style={{ width: 4, height: 28, background: '#26816B' }} /&gt;&#10;                    &lt;Text style={{ fontSize: 16, color: '#546779' }}&gt;什么操作会产生新的事实与新的消耗&lt;/Text&gt;&#10;                &lt;/Box&gt;&#10;                &lt;Box style={{ width: 676, height: 58, background: '#FFFFFF', borderRadius: 8, padding: '0 16px', flexDirection: 'row', alignItems: 'center', gap: 12 }}&gt;&#10;                    &lt;Box style={{ width: 4, height: 28, background: '#26816B' }} /&gt;&#10;                    &lt;Text style={{ fontSize: 16, color: '#546779' }}&gt;每一项复现承诺都有对应的环境与验证记录&lt;/Text&gt;&#10;                &lt;/Box&gt;&#10;            &lt;/Box&gt;&#10;&#10;        &lt;/Box&gt;&#10;&#10;        &lt;Box style={{ width: 1152, height: 110, background: '#FFF4E6', borderRadius: 10, padding: '0 22px', flexDirection: 'row', alignItems: 'center', gap: 16 }}&gt;&#10;            &lt;Box style={{ width: 4, height: 48, background: '#CB6B28' }} /&gt;&#10;            &lt;Box style={{ flexDirection: 'column', gap: 5 }}&gt;&#10;                &lt;Text style={{ fontSize: 16, fontWeight: 'bold', color: '#CB6B28' }}&gt;取材边界以实际导出来源登记&lt;/Text&gt;&#10;                &lt;Text style={{ fontSize: 15, color: '#546779', lineHeight: 1.5 }}&gt;文件的取材边界与下载时页面最新 Step 可能不同；不要仅因为页面继续推进，就把旧文件改记成更晚的边界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5.7 交付与复现&lt;/Text&gt;&#10;        &lt;Text style={{ fontSize: 14, color: '#546779' }}&gt;23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59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60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5.7.6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一份简短但可执行的交付记录</a:t>
            </a:r>
            <a:endParaRPr/>
          </a:p>
        </p:txBody>
      </p:sp>
      <p:sp>
        <p:nvSpPr>
          <p:cNvPr id="461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允许写「尚未验证」</a:t>
            </a:r>
            <a:endParaRPr/>
          </a:p>
        </p:txBody>
      </p:sp>
      <p:sp>
        <p:nvSpPr>
          <p:cNvPr id="462" name=""/>
          <p:cNvSpPr/>
          <p:nvPr/>
        </p:nvSpPr>
        <p:spPr>
          <a:xfrm rot="0" flipH="0" flipV="0">
            <a:off x="609600" y="1685925"/>
            <a:ext cx="3810000" cy="2857500"/>
          </a:xfrm>
          <a:prstGeom prst="roundRect">
            <a:avLst>
              <a:gd name="adj" fmla="val 333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63" name="" descr="{&quot;isTemplate&quot;:true,&quot;type&quot;:&quot;text&quot;}"/>
          <p:cNvSpPr txBox="1"/>
          <p:nvPr/>
        </p:nvSpPr>
        <p:spPr>
          <a:xfrm rot="0" flipH="0" flipV="0">
            <a:off x="819150" y="1876425"/>
            <a:ext cx="33909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有了真实导出之后</a:t>
            </a:r>
            <a:endParaRPr/>
          </a:p>
        </p:txBody>
      </p:sp>
      <p:sp>
        <p:nvSpPr>
          <p:cNvPr id="464" name="" descr="{&quot;isTemplate&quot;:true,&quot;type&quot;:&quot;text&quot;}"/>
          <p:cNvSpPr txBox="1"/>
          <p:nvPr/>
        </p:nvSpPr>
        <p:spPr>
          <a:xfrm rot="0" flipH="0" flipV="0">
            <a:off x="819150" y="2200275"/>
            <a:ext cx="33909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逐项替换对应状态，保留交付日期和依据。改的是状态，不是把整份记录重写一遍。</a:t>
            </a:r>
            <a:endParaRPr/>
          </a:p>
        </p:txBody>
      </p:sp>
      <p:sp>
        <p:nvSpPr>
          <p:cNvPr id="465" name=""/>
          <p:cNvSpPr/>
          <p:nvPr/>
        </p:nvSpPr>
        <p:spPr>
          <a:xfrm rot="0" flipH="0" flipV="0">
            <a:off x="819150" y="2924175"/>
            <a:ext cx="33909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66" name="" descr="{&quot;isTemplate&quot;:true,&quot;type&quot;:&quot;text&quot;}"/>
          <p:cNvSpPr txBox="1"/>
          <p:nvPr/>
        </p:nvSpPr>
        <p:spPr>
          <a:xfrm rot="0" flipH="0" flipV="0">
            <a:off x="971550" y="3257550"/>
            <a:ext cx="30861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状态可以更新，历史和依据要留在原位。</a:t>
            </a:r>
            <a:endParaRPr/>
          </a:p>
        </p:txBody>
      </p:sp>
      <p:sp>
        <p:nvSpPr>
          <p:cNvPr id="467" name=""/>
          <p:cNvSpPr/>
          <p:nvPr/>
        </p:nvSpPr>
        <p:spPr>
          <a:xfrm rot="0" flipH="0" flipV="0">
            <a:off x="4724400" y="1685925"/>
            <a:ext cx="6858000" cy="2857500"/>
          </a:xfrm>
          <a:prstGeom prst="roundRect">
            <a:avLst>
              <a:gd name="adj" fmla="val 333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68" name="" descr="{&quot;isTemplate&quot;:true,&quot;type&quot;:&quot;text&quot;}"/>
          <p:cNvSpPr txBox="1"/>
          <p:nvPr/>
        </p:nvSpPr>
        <p:spPr>
          <a:xfrm rot="0" flipH="0" flipV="0">
            <a:off x="4933950" y="1876425"/>
            <a:ext cx="64389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可接手的交付允许清楚地写「尚未验证」</a:t>
            </a:r>
            <a:endParaRPr/>
          </a:p>
        </p:txBody>
      </p:sp>
      <p:sp>
        <p:nvSpPr>
          <p:cNvPr id="469" name=""/>
          <p:cNvSpPr/>
          <p:nvPr/>
        </p:nvSpPr>
        <p:spPr>
          <a:xfrm rot="0" flipH="0" flipV="0">
            <a:off x="4933950" y="2219325"/>
            <a:ext cx="64389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0" name=""/>
          <p:cNvSpPr/>
          <p:nvPr/>
        </p:nvSpPr>
        <p:spPr>
          <a:xfrm rot="0" flipH="0" flipV="0">
            <a:off x="5086350" y="2362200"/>
            <a:ext cx="38100" cy="2667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71" name="" descr="{&quot;isTemplate&quot;:true,&quot;type&quot;:&quot;text&quot;}"/>
          <p:cNvSpPr txBox="1"/>
          <p:nvPr/>
        </p:nvSpPr>
        <p:spPr>
          <a:xfrm rot="0" flipH="0" flipV="0">
            <a:off x="5238750" y="2400300"/>
            <a:ext cx="2438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接收者应知道缺哪项材料、如何继续</a:t>
            </a:r>
            <a:endParaRPr/>
          </a:p>
        </p:txBody>
      </p:sp>
      <p:sp>
        <p:nvSpPr>
          <p:cNvPr id="472" name=""/>
          <p:cNvSpPr/>
          <p:nvPr/>
        </p:nvSpPr>
        <p:spPr>
          <a:xfrm rot="0" flipH="0" flipV="0">
            <a:off x="4933950" y="2886075"/>
            <a:ext cx="64389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3" name=""/>
          <p:cNvSpPr/>
          <p:nvPr/>
        </p:nvSpPr>
        <p:spPr>
          <a:xfrm rot="0" flipH="0" flipV="0">
            <a:off x="5086350" y="3028950"/>
            <a:ext cx="38100" cy="2667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474" name="" descr="{&quot;isTemplate&quot;:true,&quot;type&quot;:&quot;text&quot;}"/>
          <p:cNvSpPr txBox="1"/>
          <p:nvPr/>
        </p:nvSpPr>
        <p:spPr>
          <a:xfrm rot="0" flipH="0" flipV="0">
            <a:off x="5238750" y="3067050"/>
            <a:ext cx="2438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什么操作会产生新的事实与新的消耗</a:t>
            </a:r>
            <a:endParaRPr/>
          </a:p>
        </p:txBody>
      </p:sp>
      <p:sp>
        <p:nvSpPr>
          <p:cNvPr id="475" name=""/>
          <p:cNvSpPr/>
          <p:nvPr/>
        </p:nvSpPr>
        <p:spPr>
          <a:xfrm rot="0" flipH="0" flipV="0">
            <a:off x="4933950" y="3552825"/>
            <a:ext cx="64389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6" name=""/>
          <p:cNvSpPr/>
          <p:nvPr/>
        </p:nvSpPr>
        <p:spPr>
          <a:xfrm rot="0" flipH="0" flipV="0">
            <a:off x="5086350" y="3695700"/>
            <a:ext cx="38100" cy="2667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477" name="" descr="{&quot;isTemplate&quot;:true,&quot;type&quot;:&quot;text&quot;}"/>
          <p:cNvSpPr txBox="1"/>
          <p:nvPr/>
        </p:nvSpPr>
        <p:spPr>
          <a:xfrm rot="0" flipH="0" flipV="0">
            <a:off x="5238750" y="3733800"/>
            <a:ext cx="2895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每一项复现承诺都有对应的环境与验证记录</a:t>
            </a:r>
            <a:endParaRPr/>
          </a:p>
        </p:txBody>
      </p:sp>
      <p:sp>
        <p:nvSpPr>
          <p:cNvPr id="478" name=""/>
          <p:cNvSpPr/>
          <p:nvPr/>
        </p:nvSpPr>
        <p:spPr>
          <a:xfrm rot="0" flipH="0" flipV="0">
            <a:off x="609600" y="4695825"/>
            <a:ext cx="10972800" cy="1047750"/>
          </a:xfrm>
          <a:prstGeom prst="roundRect">
            <a:avLst>
              <a:gd name="adj" fmla="val 909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79" name=""/>
          <p:cNvSpPr/>
          <p:nvPr/>
        </p:nvSpPr>
        <p:spPr>
          <a:xfrm rot="0" flipH="0" flipV="0">
            <a:off x="819150" y="4991100"/>
            <a:ext cx="38100" cy="4572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80" name="" descr="{&quot;isTemplate&quot;:true,&quot;type&quot;:&quot;text&quot;}"/>
          <p:cNvSpPr txBox="1"/>
          <p:nvPr/>
        </p:nvSpPr>
        <p:spPr>
          <a:xfrm rot="0" flipH="0" flipV="0">
            <a:off x="1009650" y="4972050"/>
            <a:ext cx="69627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取材边界以实际导出来源登记</a:t>
            </a:r>
            <a:endParaRPr/>
          </a:p>
        </p:txBody>
      </p:sp>
      <p:sp>
        <p:nvSpPr>
          <p:cNvPr id="481" name="" descr="{&quot;isTemplate&quot;:true,&quot;type&quot;:&quot;text&quot;}"/>
          <p:cNvSpPr txBox="1"/>
          <p:nvPr/>
        </p:nvSpPr>
        <p:spPr>
          <a:xfrm rot="0" flipH="0" flipV="0">
            <a:off x="1009650" y="5210175"/>
            <a:ext cx="69627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文件的取材边界与下载时页面最新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Step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可能不同；不要仅因为页面继续推进，就把旧文件改记成更晚的边界。</a:t>
            </a:r>
            <a:endParaRPr/>
          </a:p>
        </p:txBody>
      </p:sp>
      <p:sp>
        <p:nvSpPr>
          <p:cNvPr id="48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5.7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交付与复现</a:t>
            </a:r>
            <a:endParaRPr/>
          </a:p>
        </p:txBody>
      </p:sp>
      <p:sp>
        <p:nvSpPr>
          <p:cNvPr id="48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23 / 24</a:t>
            </a:r>
            <a:endParaRPr/>
          </a:p>
        </p:txBody>
      </p:sp>
    </p:spTree>
  </p:cSld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484" name="" descr="&lt;Slide notes={`这一节要带走的是三句话。&#13;&#10;&#13;&#10;第一句，说清要做什么。「请帮我看看」不是交付目标。先选检查类型——设计审阅、文件核对、事实回放、结果复算还是重新执行——再按类型准备材料。这五类检查回答五个不同问题，不能相互替代。&#13;&#10;&#13;&#10;第二句，认清文件是什么。普通结果 ZIP 和 config、exp、run 三种正式包是不同的文件合同，改后缀改变不了它的能力。能导入不等于能回放，能回放不等于能重跑。&#13;&#10;&#13;&#10;第三句，把承诺写到能验证。回放通过不等于续跑通过，一次新 Run 成功也不能代替旧 Run 的恢复验证。没做过的就写「尚未验证」，把缺口和下一步写清楚。&#13;&#10;&#13;&#10;一份能接手的交付，是接收者知道该从哪儿继续的交付。`} style={{ width: 1280, height: 720, background: '#FFFFFF', flexDirection: 'column', padding: '20px 64px' }}&gt;&#13;&#10;&#13;&#10;    &lt;Box style={{ height: 100, flexDirection: 'row', alignItems: 'center', gap: 20 }}&gt;&#13;&#10;        &lt;Box style={{ width: 4, height: 44, background: '#276FBF' }} /&gt;&#13;&#10;        &lt;Box style={{ flexDirection: 'column', gap: 4 }}&gt;&#13;&#10;            &lt;Text style={{ fontSize: 14, color: '#546779' }}&gt;第五章　5.7　交付与复现&lt;/Text&gt;&#13;&#10;            &lt;Text style={{ fontSize: 34, fontWeight: 'bold', color: '#20344B' }}&gt;本节小结&lt;/Text&gt;&#13;&#10;        &lt;/Box&gt;&#13;&#10;    &lt;/Box&gt;&#13;&#10;&#13;&#10;    &lt;Box style={{ height: 540, flexDirection: 'column', justifyContent: 'center', gap: 16 }}&gt;&#13;&#10;&#13;&#10;        &lt;Text style={{ fontSize: 44, fontWeight: 'bold', color: '#20344B', lineHeight: 1.25 }}&gt;记住三句话&lt;/Text&gt;&#13;&#10;&#13;&#10;        &lt;Box style={{ width: 1152, height: 104, background: '#EDF4FC', borderRadius: 10, padding: '0 24px', flexDirection: 'row', alignItems: 'center', gap: 20 }}&gt;&#13;&#10;            &lt;Text style={{ fontSize: 34, fontWeight: 'bold', color: '#276FBF', width: 56 }}&gt;一&lt;/Text&gt;&#13;&#10;            &lt;Box style={{ width: 940, flexDirection: 'column', gap: 4 }}&gt;&#13;&#10;                &lt;Text style={{ fontSize: 20, fontWeight: 'bold', color: '#276FBF' }}&gt;说清要做什么&lt;/Text&gt;&#13;&#10;                &lt;Text style={{ fontSize: 16, color: '#546779', lineHeight: 1.5 }}&gt;先选检查类型——审设计、核文件、看回放、复算还是重跑，再准备材料。&lt;/Text&gt;&#13;&#10;            &lt;/Box&gt;&#13;&#10;        &lt;/Box&gt;&#13;&#10;&#13;&#10;        &lt;Box style={{ width: 1152, height: 104, background: '#ECF7F2', borderRadius: 10, padding: '0 24px', flexDirection: 'row', alignItems: 'center', gap: 20 }}&gt;&#13;&#10;            &lt;Text style={{ fontSize: 34, fontWeight: 'bold', color: '#26816B', width: 56 }}&gt;二&lt;/Text&gt;&#13;&#10;            &lt;Box style={{ width: 940, flexDirection: 'column', gap: 4 }}&gt;&#13;&#10;                &lt;Text style={{ fontSize: 20, fontWeight: 'bold', color: '#26816B' }}&gt;认清文件是什么&lt;/Text&gt;&#13;&#10;                &lt;Text style={{ fontSize: 16, color: '#546779', lineHeight: 1.5 }}&gt;普通结果 ZIP 与 config／exp／run 是不同的文件合同，改后缀改变不了能力。&lt;/Text&gt;&#13;&#10;            &lt;/Box&gt;&#13;&#10;        &lt;/Box&gt;&#13;&#10;&#13;&#10;        &lt;Box style={{ width: 1152, height: 104, background: '#FFF4E6', borderRadius: 10, padding: '0 24px', flexDirection: 'row', alignItems: 'center', gap: 20 }}&gt;&#13;&#10;            &lt;Text style={{ fontSize: 34, fontWeight: 'bold', color: '#CB6B28', width: 56 }}&gt;三&lt;/Text&gt;&#13;&#10;            &lt;Box style={{ width: 940, flexDirection: 'column', gap: 4 }}&gt;&#13;&#10;                &lt;Text style={{ fontSize: 20, fontWeight: 'bold', color: '#CB6B28' }}&gt;把承诺写到能验证&lt;/Text&gt;&#13;&#10;                &lt;Text style={{ fontSize: 16, color: '#546779', lineHeight: 1.5 }}&gt;回放通过不等于续跑通过；没做过的就写「尚未验证」，把缺口写清楚。&lt;/Text&gt;&#13;&#10;            &lt;/Box&gt;&#13;&#10;        &lt;/Box&gt;&#13;&#10;&#13;&#10;        &lt;Text style={{ fontSize: 15, color: '#546779', marginTop: 6 }}&gt;第五章　5.7　交付与复现　·　下一节：演示与评审&lt;/Text&gt;&#13;&#10;&#13;&#10;    &lt;/Box&gt;&#13;&#10;&#13;&#10;    &lt;Box style={{ height: 40, flexDirection: 'row', justifyContent: 'space-between', alignItems: 'center' }}&gt;&#13;&#10;        &lt;Text style={{ fontSize: 14, color: '#546779' }}&gt;5.7 交付与复现&lt;/Text&gt;&#13;&#10;        &lt;Text style={{ fontSize: 14, color: '#546779' }}&gt;24 / 24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6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87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1524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第五章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5.7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交付与复现</a:t>
            </a:r>
            <a:endParaRPr/>
          </a:p>
        </p:txBody>
      </p:sp>
      <p:sp>
        <p:nvSpPr>
          <p:cNvPr id="488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1524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本节小结</a:t>
            </a:r>
            <a:endParaRPr/>
          </a:p>
        </p:txBody>
      </p:sp>
      <p:sp>
        <p:nvSpPr>
          <p:cNvPr id="489" name="" descr="{&quot;isTemplate&quot;:true,&quot;type&quot;:&quot;text&quot;}"/>
          <p:cNvSpPr txBox="1"/>
          <p:nvPr/>
        </p:nvSpPr>
        <p:spPr>
          <a:xfrm rot="0" flipH="0" flipV="0">
            <a:off x="609600" y="1495425"/>
            <a:ext cx="10972800" cy="6286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3300" b="1">
                <a:solidFill>
                  <a:srgbClr val="20344B"/>
                </a:solidFill>
                <a:latin typeface="Microsoft YaHei"/>
                <a:ea typeface="Microsoft YaHei"/>
              </a:rPr>
              <a:t>记住三句话</a:t>
            </a:r>
            <a:endParaRPr/>
          </a:p>
        </p:txBody>
      </p:sp>
      <p:sp>
        <p:nvSpPr>
          <p:cNvPr id="490" name=""/>
          <p:cNvSpPr/>
          <p:nvPr/>
        </p:nvSpPr>
        <p:spPr>
          <a:xfrm rot="0" flipH="0" flipV="0">
            <a:off x="609600" y="2276475"/>
            <a:ext cx="10972800" cy="990600"/>
          </a:xfrm>
          <a:prstGeom prst="roundRect">
            <a:avLst>
              <a:gd name="adj" fmla="val 961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91" name="" descr="{&quot;isTemplate&quot;:true,&quot;type&quot;:&quot;text&quot;}"/>
          <p:cNvSpPr txBox="1"/>
          <p:nvPr/>
        </p:nvSpPr>
        <p:spPr>
          <a:xfrm rot="0" flipH="0" flipV="0">
            <a:off x="838200" y="2581275"/>
            <a:ext cx="533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76FBF"/>
                </a:solidFill>
                <a:latin typeface="Microsoft YaHei"/>
                <a:ea typeface="Microsoft YaHei"/>
              </a:rPr>
              <a:t>一</a:t>
            </a:r>
            <a:endParaRPr/>
          </a:p>
        </p:txBody>
      </p:sp>
      <p:sp>
        <p:nvSpPr>
          <p:cNvPr id="492" name="" descr="{&quot;isTemplate&quot;:true,&quot;type&quot;:&quot;text&quot;}"/>
          <p:cNvSpPr txBox="1"/>
          <p:nvPr/>
        </p:nvSpPr>
        <p:spPr>
          <a:xfrm rot="0" flipH="0" flipV="0">
            <a:off x="1562100" y="2505075"/>
            <a:ext cx="8953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说清要做什么</a:t>
            </a:r>
            <a:endParaRPr/>
          </a:p>
        </p:txBody>
      </p:sp>
      <p:sp>
        <p:nvSpPr>
          <p:cNvPr id="493" name="" descr="{&quot;isTemplate&quot;:true,&quot;type&quot;:&quot;text&quot;}"/>
          <p:cNvSpPr txBox="1"/>
          <p:nvPr/>
        </p:nvSpPr>
        <p:spPr>
          <a:xfrm rot="0" flipH="0" flipV="0">
            <a:off x="1562100" y="2771775"/>
            <a:ext cx="89535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先选检查类型——审设计、核文件、看回放、复算还是重跑，再准备材料。</a:t>
            </a:r>
            <a:endParaRPr/>
          </a:p>
        </p:txBody>
      </p:sp>
      <p:sp>
        <p:nvSpPr>
          <p:cNvPr id="494" name=""/>
          <p:cNvSpPr/>
          <p:nvPr/>
        </p:nvSpPr>
        <p:spPr>
          <a:xfrm rot="0" flipH="0" flipV="0">
            <a:off x="609600" y="3419475"/>
            <a:ext cx="10972800" cy="990600"/>
          </a:xfrm>
          <a:prstGeom prst="roundRect">
            <a:avLst>
              <a:gd name="adj" fmla="val 961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95" name="" descr="{&quot;isTemplate&quot;:true,&quot;type&quot;:&quot;text&quot;}"/>
          <p:cNvSpPr txBox="1"/>
          <p:nvPr/>
        </p:nvSpPr>
        <p:spPr>
          <a:xfrm rot="0" flipH="0" flipV="0">
            <a:off x="838200" y="3724275"/>
            <a:ext cx="533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6816B"/>
                </a:solidFill>
                <a:latin typeface="Microsoft YaHei"/>
                <a:ea typeface="Microsoft YaHei"/>
              </a:rPr>
              <a:t>二</a:t>
            </a:r>
            <a:endParaRPr/>
          </a:p>
        </p:txBody>
      </p:sp>
      <p:sp>
        <p:nvSpPr>
          <p:cNvPr id="496" name="" descr="{&quot;isTemplate&quot;:true,&quot;type&quot;:&quot;text&quot;}"/>
          <p:cNvSpPr txBox="1"/>
          <p:nvPr/>
        </p:nvSpPr>
        <p:spPr>
          <a:xfrm rot="0" flipH="0" flipV="0">
            <a:off x="1562100" y="3648075"/>
            <a:ext cx="8953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认清文件是什么</a:t>
            </a:r>
            <a:endParaRPr/>
          </a:p>
        </p:txBody>
      </p:sp>
      <p:sp>
        <p:nvSpPr>
          <p:cNvPr id="497" name="" descr="{&quot;isTemplate&quot;:true,&quot;type&quot;:&quot;text&quot;}"/>
          <p:cNvSpPr txBox="1"/>
          <p:nvPr/>
        </p:nvSpPr>
        <p:spPr>
          <a:xfrm rot="0" flipH="0" flipV="0">
            <a:off x="1562100" y="3914775"/>
            <a:ext cx="89535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普通结果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 ZIP 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 config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／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exp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／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run 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是不同的文件合同，改后缀改变不了能力。</a:t>
            </a:r>
            <a:endParaRPr/>
          </a:p>
        </p:txBody>
      </p:sp>
      <p:sp>
        <p:nvSpPr>
          <p:cNvPr id="498" name=""/>
          <p:cNvSpPr/>
          <p:nvPr/>
        </p:nvSpPr>
        <p:spPr>
          <a:xfrm rot="0" flipH="0" flipV="0">
            <a:off x="609600" y="4562475"/>
            <a:ext cx="10972800" cy="990600"/>
          </a:xfrm>
          <a:prstGeom prst="roundRect">
            <a:avLst>
              <a:gd name="adj" fmla="val 961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99" name="" descr="{&quot;isTemplate&quot;:true,&quot;type&quot;:&quot;text&quot;}"/>
          <p:cNvSpPr txBox="1"/>
          <p:nvPr/>
        </p:nvSpPr>
        <p:spPr>
          <a:xfrm rot="0" flipH="0" flipV="0">
            <a:off x="838200" y="4867275"/>
            <a:ext cx="533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CB6B28"/>
                </a:solidFill>
                <a:latin typeface="Microsoft YaHei"/>
                <a:ea typeface="Microsoft YaHei"/>
              </a:rPr>
              <a:t>三</a:t>
            </a:r>
            <a:endParaRPr/>
          </a:p>
        </p:txBody>
      </p:sp>
      <p:sp>
        <p:nvSpPr>
          <p:cNvPr id="500" name="" descr="{&quot;isTemplate&quot;:true,&quot;type&quot;:&quot;text&quot;}"/>
          <p:cNvSpPr txBox="1"/>
          <p:nvPr/>
        </p:nvSpPr>
        <p:spPr>
          <a:xfrm rot="0" flipH="0" flipV="0">
            <a:off x="1562100" y="4791075"/>
            <a:ext cx="8953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B6B28"/>
                </a:solidFill>
                <a:latin typeface="Microsoft YaHei"/>
                <a:ea typeface="Microsoft YaHei"/>
              </a:rPr>
              <a:t>把承诺写到能验证</a:t>
            </a:r>
            <a:endParaRPr/>
          </a:p>
        </p:txBody>
      </p:sp>
      <p:sp>
        <p:nvSpPr>
          <p:cNvPr id="501" name="" descr="{&quot;isTemplate&quot;:true,&quot;type&quot;:&quot;text&quot;}"/>
          <p:cNvSpPr txBox="1"/>
          <p:nvPr/>
        </p:nvSpPr>
        <p:spPr>
          <a:xfrm rot="0" flipH="0" flipV="0">
            <a:off x="1562100" y="5057775"/>
            <a:ext cx="89535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回放通过不等于续跑通过；没做过的就写「尚未验证」，把缺口写清楚。</a:t>
            </a:r>
            <a:endParaRPr/>
          </a:p>
        </p:txBody>
      </p:sp>
      <p:sp>
        <p:nvSpPr>
          <p:cNvPr id="502" name="" descr="{&quot;isTemplate&quot;:true,&quot;type&quot;:&quot;text&quot;}"/>
          <p:cNvSpPr txBox="1"/>
          <p:nvPr/>
        </p:nvSpPr>
        <p:spPr>
          <a:xfrm rot="0" flipH="0" flipV="0">
            <a:off x="609600" y="576262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第五章　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5.7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　交付与复现　·　下一节：演示与评审</a:t>
            </a:r>
            <a:endParaRPr/>
          </a:p>
        </p:txBody>
      </p:sp>
      <p:sp>
        <p:nvSpPr>
          <p:cNvPr id="50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5.7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交付与复现</a:t>
            </a:r>
            <a:endParaRPr/>
          </a:p>
        </p:txBody>
      </p:sp>
      <p:sp>
        <p:nvSpPr>
          <p:cNvPr id="504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24 / 24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2026-09-29T10:59:27Z</dcterms:created>
  <dcterms:modified xsi:type="dcterms:W3CDTF">2026-09-29T10:59:27Z</dcterms:modified>
</cp:coreProperties>
</file>