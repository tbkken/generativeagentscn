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Masters/slideMaster1.xml" ContentType="application/vnd.openxmlformats-officedocument.presentationml.slideMaster+xml"/>
  <Override PartName="/ppt/viewProps.xml" ContentType="application/vnd.openxmlformats-officedocument.presentationml.viewProps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26.xml" ContentType="application/vnd.openxmlformats-officedocument.presentationml.slide+xml"/>
  <Override PartName="/ppt/slides/slide4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3.xml" ContentType="application/vnd.openxmlformats-officedocument.presentationml.slide+xml"/>
  <Override PartName="/ppt/slides/slide5.xml" ContentType="application/vnd.openxmlformats-officedocument.presentationml.slide+xml"/>
  <Override PartName="/ppt/slides/slide25.xml" ContentType="application/vnd.openxmlformats-officedocument.presentationml.slide+xml"/>
  <Override PartName="/ppt/tableStyles.xml" ContentType="application/vnd.openxmlformats-officedocument.presentationml.tableStyles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27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7" Type="http://schemas.openxmlformats.org/officeDocument/2006/relationships/slide" Target="slides/slide7.xml" /><Relationship Id="rId26" Type="http://schemas.openxmlformats.org/officeDocument/2006/relationships/slide" Target="slides/slide26.xml" /><Relationship Id="rId24" Type="http://schemas.openxmlformats.org/officeDocument/2006/relationships/slide" Target="slides/slide24.xml" /><Relationship Id="rId0" Type="http://schemas.openxmlformats.org/officeDocument/2006/relationships/slideMaster" Target="slideMasters/slideMaster1.xml" /><Relationship Id="rId8" Type="http://schemas.openxmlformats.org/officeDocument/2006/relationships/slide" Target="slides/slide8.xml" /><Relationship Id="rId1" Type="http://schemas.openxmlformats.org/officeDocument/2006/relationships/slide" Target="slides/slide1.xml" /><Relationship Id="rId27" Type="http://schemas.openxmlformats.org/officeDocument/2006/relationships/notesMaster" Target="notesMasters/notesMaster1.xml" /><Relationship Id="rId10" Type="http://schemas.openxmlformats.org/officeDocument/2006/relationships/slide" Target="slides/slide10.xml" /><Relationship Id="rId28" Type="http://schemas.openxmlformats.org/officeDocument/2006/relationships/presProps" Target="presProps.xml" /><Relationship Id="rId11" Type="http://schemas.openxmlformats.org/officeDocument/2006/relationships/slide" Target="slides/slide11.xml" /><Relationship Id="rId12" Type="http://schemas.openxmlformats.org/officeDocument/2006/relationships/slide" Target="slides/slide12.xml" /><Relationship Id="rId15" Type="http://schemas.openxmlformats.org/officeDocument/2006/relationships/slide" Target="slides/slide15.xml" /><Relationship Id="rId13" Type="http://schemas.openxmlformats.org/officeDocument/2006/relationships/slide" Target="slides/slide13.xml" /><Relationship Id="rId14" Type="http://schemas.openxmlformats.org/officeDocument/2006/relationships/slide" Target="slides/slide14.xml" /><Relationship Id="rId6" Type="http://schemas.openxmlformats.org/officeDocument/2006/relationships/slide" Target="slides/slide6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2" Type="http://schemas.openxmlformats.org/officeDocument/2006/relationships/slide" Target="slides/slide2.xml" /><Relationship Id="rId20" Type="http://schemas.openxmlformats.org/officeDocument/2006/relationships/slide" Target="slides/slide20.xml" /><Relationship Id="rId21" Type="http://schemas.openxmlformats.org/officeDocument/2006/relationships/slide" Target="slides/slide21.xml" /><Relationship Id="rId22" Type="http://schemas.openxmlformats.org/officeDocument/2006/relationships/slide" Target="slides/slide22.xml" /><Relationship Id="rId23" Type="http://schemas.openxmlformats.org/officeDocument/2006/relationships/slide" Target="slides/slide23.xml" /><Relationship Id="rId25" Type="http://schemas.openxmlformats.org/officeDocument/2006/relationships/slide" Target="slides/slide25.xml" /><Relationship Id="rId29" Type="http://schemas.openxmlformats.org/officeDocument/2006/relationships/tableStyles" Target="tableStyles.xml" /><Relationship Id="rId3" Type="http://schemas.openxmlformats.org/officeDocument/2006/relationships/slide" Target="slides/slide3.xml" /><Relationship Id="rId30" Type="http://schemas.openxmlformats.org/officeDocument/2006/relationships/viewProps" Target="viewProps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我先讲一个很现实的问题：听众凭什么相信我。到了汇报阶段，我对角色和规则已经非常熟悉——看到「入口询问两轮后转往 A 窗口」，我能立刻想起前因后果。</a:t>
            </a:r>
          </a:p>
          <a:p>
            <a:r>
              <a:rPr lang="zh-CN" dirty="0"/>
              <a:t>可第一次看演示的人不知道咨询台掌握哪些信息，更不知道这条路径有没有比另一种策略更好。所以汇报的任务不是把做过的事摆出来，而是帮别人建立判断所需的背景，再把判断依据交到他们手上。</a:t>
            </a:r>
          </a:p>
          <a:p>
            <a:r>
              <a:rPr lang="zh-CN" dirty="0"/>
              <a:t>我们准备一场二十分钟的教学研讨。所有演示片段和数字必须来自各自标明的来源。当前还没有服务大厅的真实运行，可以讲解设计、可以用第四章的人工判分题练习，但不能播放别的案例，再把它说成本案的成功记录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接下来把这一节要走的路线说清楚，一共七件事，按顺序走完，你就有能力组织一场能被追问的汇报。</a:t>
            </a:r>
          </a:p>
          <a:p>
            <a:r>
              <a:rPr lang="zh-CN" dirty="0"/>
              <a:t>第一件是给材料定身份，同一份讲义里，需求表、草图、截图、已提交事件、人工算例和作者解释，看起来都很直观，证据作用却完全不同。第二件是用一条问题线把二十分钟串起来。第三件是片段选择规则，不能只播顺利的那一次。</a:t>
            </a:r>
          </a:p>
          <a:p>
            <a:r>
              <a:rPr lang="zh-CN" dirty="0"/>
              <a:t>后面四件更偏表达：数字要带着分母和条件出现；结论要拆成观察、解释、下一步三句话；评阅者可以从五个问题开始，沿证据链往回走；最后，无论材料长短，都要保留同一份事实底稿。</a:t>
            </a:r>
          </a:p>
          <a:p>
            <a:r>
              <a:rPr lang="zh-CN" dirty="0"/>
              <a:t>编号和后面每一节的扉页一一对应，方便对照。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我们从最基础的一件事开始：先告诉听众，他们正在看哪一种材料。</a:t>
            </a:r>
          </a:p>
          <a:p>
            <a:r>
              <a:rPr lang="zh-CN" dirty="0"/>
              <a:t>同一份讲义里可能同时出现需求表、作者空间草图、软件截图、已提交事件、人工算例和作者解释。它们看起来都很直观，可是证据作用完全不同。一张空间草图说明的是预期的布局和功能区域，一段回放片段说明的是某个已提交窗口里真实发生的变化，而第四章的三分之四只是人工判分练习。</a:t>
            </a:r>
          </a:p>
          <a:p>
            <a:r>
              <a:rPr lang="zh-CN" dirty="0"/>
              <a:t>所以开场要先交代项目处于设计、运行还是交付阶段，再让每份材料保留自己的身份。先讲阶段，听众才知道后面听到的哪些是承诺、哪些是已经发生的事实。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接下来把六类材料摊开来看，每一类能说明什么，以及应该配什么样的标注。</a:t>
            </a:r>
          </a:p>
          <a:p>
            <a:r>
              <a:rPr lang="zh-CN" dirty="0"/>
              <a:t>作者空间图说明的是预期的布局与功能区域，所以要注明「待制作草图，未验证系统寻路」。Skill 原文说明的是要求角色采用的方法，要标出文本来源、组别，以及是否与包内内容核对过。回放片段说明的是某个已提交窗口里实际发生的变化，必须写清 Run、Step 区间、虚拟时间和取材边界。</a:t>
            </a:r>
          </a:p>
          <a:p>
            <a:r>
              <a:rPr lang="zh-CN" dirty="0"/>
              <a:t>调用记录是模型与工具的尝试、返回及错误，要标 Attempt、调用身份、有没有产生世界提交。人工算例只说明指标怎样计算，要标明「人工构造，无对应 Run」。分析结论比较特殊，它是我对证据的解释，那就必须写清支持它的记录、适用条件，以及仍然未知的地方。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讲一下标注应该放在哪里。标注要贴近它说明的材料，图片旁边、表格旁边、片段旁边，读者在同一处就能看到来源，不必自己去猜。</a:t>
            </a:r>
          </a:p>
          <a:p>
            <a:r>
              <a:rPr lang="zh-CN" dirty="0"/>
              <a:t>最容易出问题的是把来源说明挪到讲义最后一页，或者干脆放进附录。不了解材料的读者会默认前面看到的东西都是本案结果，于是把人工练习里算出来的三分之四当成模型能力。</a:t>
            </a:r>
          </a:p>
          <a:p>
            <a:r>
              <a:rPr lang="zh-CN" dirty="0"/>
              <a:t>特别提醒课堂上出现的数字：第四章的人工判分练习给出三项闭环、四项任务，如果屏幕上出现四分之三等于百分之七十五，旁边就要写明它是人工判分练习、没有对应的运行记录。</a:t>
            </a:r>
          </a:p>
          <a:p>
            <a:r>
              <a:rPr lang="zh-CN" dirty="0"/>
              <a:t>先说明项目处在设计、运行还是交付阶段，听众才知道哪些是承诺、哪些是事实。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第二个要讲清楚的是顺序。二十分钟的汇报，依次回答四个问题：研究什么、怎样比较、证据是什么、能解释到哪里。我用一条问题线把它们串起来，不让听众在中途失去线索。</a:t>
            </a:r>
          </a:p>
          <a:p>
            <a:r>
              <a:rPr lang="zh-CN" dirty="0"/>
              <a:t>前四分钟讲问题，接着四分钟讲唯一差异，中间六分钟放证据，最后六分钟做解释与讨论。为什么证据和讨论各占六分钟？因为这两段最容易被挤掉，而它们恰恰是听众判断结果可信不可信的地方。</a:t>
            </a:r>
          </a:p>
          <a:p>
            <a:r>
              <a:rPr lang="zh-CN" dirty="0"/>
              <a:t>这里要说清一件事：这个时间分配是汇报建议，不是系统运行耗时。虚拟时间、播放时长和运行耗时是三件不同的事，不能用同一串数字互相代替。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前八分钟要做两件事。前四分钟介绍四项任务和服务分工，重点是让听众看到：H1 与 H3、H2 与 H4 分别使用相同的首句，私人目的却各不相同。每项任务在基线组和澄清组里的设定完全一样，这一点必须先说清，否则后面的比较就不成立。</a:t>
            </a:r>
          </a:p>
          <a:p>
            <a:r>
              <a:rPr lang="zh-CN" dirty="0"/>
              <a:t>这里可以问听众一句：如果不追问，咨询台凭什么区分 H1 和 H3？这个问题能帮他们理解干预的理由，但我不会预先告诉大家澄清一定有收益。</a:t>
            </a:r>
          </a:p>
          <a:p>
            <a:r>
              <a:rPr lang="zh-CN" dirty="0"/>
              <a:t>接着四分钟只讲一件事变了，就是咨询台的决策段。直接展示这一段的前后差异，比铺满一页功能名清楚得多。还要补一句：窗口也会核实需求，所以入口分流错了有时能被下游纠正，这正是不能只看最终闭环率的原因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二十分钟的骨架可以用一条时间线来记。前四分钟讲研究什么，接着四分钟讲怎样比较，中间六分钟放证据，最后六分钟做解释与讨论。线段长度就是时间长度，一眼能看出哪一段最重。</a:t>
            </a:r>
          </a:p>
          <a:p>
            <a:r>
              <a:rPr lang="zh-CN" dirty="0"/>
              <a:t>我想强调中间和后面这两段。证据段优先选一项闭环、一项未闭环的任务，把入口请求、建议、移动、窗口回复和实际确认逐个定位；某类样本不存在，就直接说未观察到，不要额外重跑来凑展示类别。汇总放在后面统一给。</a:t>
            </a:r>
          </a:p>
          <a:p>
            <a:r>
              <a:rPr lang="zh-CN" dirty="0"/>
              <a:t>讨论段回答三个问题：澄清多花的轮次值不值得，失败可能来自消息截断还是模型偏离，还有哪些问题现有教案没有回答。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证据段的六分钟怎么用，我给两个版本。</a:t>
            </a:r>
          </a:p>
          <a:p>
            <a:r>
              <a:rPr lang="zh-CN" dirty="0"/>
              <a:t>如果已经有真实运行，优先挑一项闭环、一项未闭环的任务，分别定位入口请求、建议、移动、窗口回复和实际确认。某一类样本不存在，就明确说未观察到，不要额外重跑来凑展示类别，那会让听众误以为样本是自然出现的。两段片段讲完，再给全体任务的汇总，让局部和整体各归其位。</a:t>
            </a:r>
          </a:p>
          <a:p>
            <a:r>
              <a:rPr lang="zh-CN" dirty="0"/>
              <a:t>如果还没有运行，就用完全相同的顺序展示待采集证据，用人工题演练判分，并且清楚说明没有结果。用同样的结构讲空状态，听众不会误以为漏讲了什么。</a:t>
            </a:r>
          </a:p>
          <a:p>
            <a:r>
              <a:rPr lang="zh-CN" dirty="0"/>
              <a:t>最后六分钟交给解释与讨论，结束时留下报告入口和接收检查范围，让听众有机会自己回来核对。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第三个问题跟演示片段有关：选择片段本身也需要规则。</a:t>
            </a:r>
          </a:p>
          <a:p>
            <a:r>
              <a:rPr lang="zh-CN" dirty="0"/>
              <a:t>设想某次运行里 H1 一次就闭环，而 H2 在窗口截止之前没有收到答复。只播放 H1，整个过程会显得非常顺畅，可边界问题就被遮住了。听众看到的顺畅，其实是我挑出来的。</a:t>
            </a:r>
          </a:p>
          <a:p>
            <a:r>
              <a:rPr lang="zh-CN" dirty="0"/>
              <a:t>所以只要有相应样本，就选一个典型闭环加一个未完成或者判分有争议的任务；确实不存在的类别，明确记为未观察到。同时要在报告里记下选择方法，并保留全体运行和任务索引，让后来的人能验证我是不是只挑了好看的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我把两种做法并排放一下，你就能看出差别。</a:t>
            </a:r>
          </a:p>
          <a:p>
            <a:r>
              <a:rPr lang="zh-CN" dirty="0"/>
              <a:t>只播放 H1 一次闭环，画面里每一步都通，过程显得顺畅；H2 没收到答复这件事根本不进画面，听众也就无法判断这个策略的边界在哪里。</a:t>
            </a:r>
          </a:p>
          <a:p>
            <a:r>
              <a:rPr lang="zh-CN" dirty="0"/>
              <a:t>按规则选择就不同：一个典型闭环加一个未完成或者判分有争议的任务。如果某一类样本确实不存在，就明确记为未观察到，而不是找一个相似的 Run 来补位。还要在报告里写清选择方法，并保留全体运行和任务索引。</a:t>
            </a:r>
          </a:p>
          <a:p>
            <a:r>
              <a:rPr lang="zh-CN" dirty="0"/>
              <a:t>理由很简单：我选片段的时候当然知道全部情况，但听众只看到我选出来的那两段。把选择过程写下来，他们的判断才跟我站在同一层信息上。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片段选好之后，还要注意上下文。同一段画面，截到哪一句、切在哪一刻，含义会变。</a:t>
            </a:r>
          </a:p>
          <a:p>
            <a:r>
              <a:rPr lang="zh-CN" dirty="0"/>
              <a:t>如果只截出一句「请去 A 窗口」，就要说明在此之前是否已经澄清过目的。如果截出人物位于 A 服务区，就要说明这是实际坐标，还是仍在计划中的目标。最要避免的是把角色的行走计划剪接成已经发生的移动，或者把对象已生成的最后一轮回复剪成来访者已经收到——这两处差别，恰恰是判分的关键。</a:t>
            </a:r>
          </a:p>
          <a:p>
            <a:r>
              <a:rPr lang="zh-CN" dirty="0"/>
              <a:t>展示可以加速播放、放大局部、隐藏与问题无关的面板，但需要保留原始文件并说明加工方式。为讲义裁剪的图片只是展示副本，不能替代 Run 导出；虚拟分钟、播放时长与运行耗时要分别标注。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第四个问题落在数字上。「成功率提高了」这句话本身没有提供足够信息，听众不知道分母是什么，也不知道比较条件是什么。</a:t>
            </a:r>
          </a:p>
          <a:p>
            <a:r>
              <a:rPr lang="zh-CN" dirty="0"/>
              <a:t>要让人听懂，至少要说清五件事：成功定义、任务数、运行数、未完成数、比较条件。以本案为例，正确咨询闭环必须包含适配窗口回复与实际确认；只是给出一次入口建议，还不满足这个条件。</a:t>
            </a:r>
          </a:p>
          <a:p>
            <a:r>
              <a:rPr lang="zh-CN" dirty="0"/>
              <a:t>第四章的人工练习给出三项闭环、四项任务，另有一项已经拿到入口有效建议但没完成窗口闭环。合起来看，结论才有边界。数字不是装饰，它决定听众能把这句话相信到什么程度。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接着说数字要带的五项条件：成功定义、任务数、运行数、未完成数和比较条件。缺哪一项，听众就会自己脑补一项，而脑补的结果通常比事实更乐观。</a:t>
            </a:r>
          </a:p>
          <a:p>
            <a:r>
              <a:rPr lang="zh-CN" dirty="0"/>
              <a:t>本案的闭环定义要写得像一条链：入口给出有效建议，窗口给出适配回复，来访者实际确认。三个环节都发生，才算闭环。只是给出一次入口建议，还不满足这个条件。</a:t>
            </a:r>
          </a:p>
          <a:p>
            <a:r>
              <a:rPr lang="zh-CN" dirty="0"/>
              <a:t>第四章的人工练习里，四项任务中有三项闭环，另有一项已经拿到入口有效建议但没有完成窗口闭环，所以 H2 的首次有效回应已经发生，最终闭环仍未发生。把这两句一起说出来，听众才既看到亮点，也看到边界。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同一个事实，可以说成一句合适的话，也可以说成一句站不住的话，差别就在数字有没有带着分母和条件。</a:t>
            </a:r>
          </a:p>
          <a:p>
            <a:r>
              <a:rPr lang="zh-CN" dirty="0"/>
              <a:t>合适的表述是这样的：在这段人工材料中，按预先给出的判据，闭环为三项比四项；H2 的首次有效回应已经发生，最终闭环仍未发生。它交代了材料性质、判据来源和具体处境。</a:t>
            </a:r>
          </a:p>
          <a:p>
            <a:r>
              <a:rPr lang="zh-CN" dirty="0"/>
              <a:t>不合适的说法是把三项比四项说成「模型有百分之七十五的办事能力」。这里既没有真实模型运行，也没有真实行政业务，把人工练习折算成能力百分比，是在替听众下一个我给不出的结论。</a:t>
            </a:r>
          </a:p>
          <a:p>
            <a:r>
              <a:rPr lang="zh-CN" dirty="0"/>
              <a:t>所以先有判据，再有数字。判据要在观察结果之前定下来，改过的标准要说明为什么改。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费用也要说明来源，这一点经常被忽略。Token 数不会自动等于账单金额，估算用的单价也不等于实际价格；更要提醒的是，没有提交成功的调用仍然可能产生费用。如果只能拿到部分用量，就写清可观测的部分和缺失的范围，不要用一个精确的小数掩盖信息不全。</a:t>
            </a:r>
          </a:p>
          <a:p>
            <a:r>
              <a:rPr lang="zh-CN" dirty="0"/>
              <a:t>将来取得重复运行之后，报告还要说明各个运行之间的分布和汇总方式。有一条底线：主要结论必须与全体样本一致。不能先用全部任务计算闭环率，再只对最快几个成功任务计算平均耗时，然后把两个数字并排放在一起，暗示这是一次全面改进。具体的计算口径沿用第四节的分析方法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接下来讲最容易出问题的一处表达：报告里的因果跳跃。</a:t>
            </a:r>
          </a:p>
          <a:p>
            <a:r>
              <a:rPr lang="zh-CN" dirty="0"/>
              <a:t>最常发生的跳跃是从「看见一次」直接到「应该推广」。我在一条记录里看到咨询台收到补充目的后给出了适配窗口建议，就顺手写成澄清策略有效、可以推广到其他任务。这一步跨得太大了。</a:t>
            </a:r>
          </a:p>
          <a:p>
            <a:r>
              <a:rPr lang="zh-CN" dirty="0"/>
              <a:t>约束的方法就是把推理拆成三句话：第一句只描述观察，第二句提出解释，第三句说明还需要什么检验。同一条咨询记录可以写成「记录里给出了适配建议」「这与澄清补齐分类字段的机制相符」「仍需检查其他任务和重复运行，判断收益是否抵偿额外轮次」。三句话各就各位，推广这一步就不会被偷偷塞进来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我把同一条咨询记录写成三个连续句子，你可以照着改自己的报告。</a:t>
            </a:r>
          </a:p>
          <a:p>
            <a:r>
              <a:rPr lang="zh-CN" dirty="0"/>
              <a:t>第一句只描述观察：这条任务记录中，咨询台收到补充目的后给出了适配窗口建议。它只陈述记录里发生的事，需要实际记录支持。</a:t>
            </a:r>
          </a:p>
          <a:p>
            <a:r>
              <a:rPr lang="zh-CN" dirty="0"/>
              <a:t>第二句提出解释：这一过程与澄清有助于补齐分类字段的机制相符。注意用词是「与机制相符」，不是「因此证明」。</a:t>
            </a:r>
          </a:p>
          <a:p>
            <a:r>
              <a:rPr lang="zh-CN" dirty="0"/>
              <a:t>第三句说明下一步：仍需检查其他任务和重复运行，判断收益是否抵偿额外轮次。检验方向明确写出来，推广这一步就有了入口。</a:t>
            </a:r>
          </a:p>
          <a:p>
            <a:r>
              <a:rPr lang="zh-CN" dirty="0"/>
              <a:t>这三句是写作示范，不能在没有记录的时候当成本案结果使用。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结论不顺的时候，同样的三句话结构反而更重要。</a:t>
            </a:r>
          </a:p>
          <a:p>
            <a:r>
              <a:rPr lang="zh-CN" dirty="0"/>
              <a:t>比如观察是「已经收到补充，却仍然建议了错误窗口」。这时候解释候选有好几个：角色对规则的理解、记忆检索的结果、或者执行文本前后不一致。下一步就很具体：定位当时的输入，再对照包内的 Skill 文本，看到底是哪一环断了。</a:t>
            </a:r>
          </a:p>
          <a:p>
            <a:r>
              <a:rPr lang="zh-CN" dirty="0"/>
              <a:t>最后提醒两句反向的毛病。不要每次模型行为偏离就归为系统 bug，那会把设计问题藏起来；也不要把工具的正确拒绝包装成策略失败，那是把好事说成坏事。两种包装都会让后来的接手者找不到真正的原因。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现在换到评阅者这一侧。评阅一份报告，不需要逐行审查所有文件，那样既慢又抓不到重点。</a:t>
            </a:r>
          </a:p>
          <a:p>
            <a:r>
              <a:rPr lang="zh-CN" dirty="0"/>
              <a:t>比较有效的做法是：先挑一个主要结论，然后沿着它的证据链往回走。从这句话出发，找到它引用的记录，再找到记录对应的运行与提交边界。往回走的过程中，通常会立刻暴露关键缺口——比如结论说闭环，记录里却只有一条建议。</a:t>
            </a:r>
          </a:p>
          <a:p>
            <a:r>
              <a:rPr lang="zh-CN" dirty="0"/>
              <a:t>我准备用五个问题做这件事，它们分别针对比较对象、判分标准、证据定位、不利样本和结论范围。这五个问题覆盖的是一条证据链最容易断掉的几个位置。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这五个问题我按顺序念一遍，你可以拿自己的报告对照。</a:t>
            </a:r>
          </a:p>
          <a:p>
            <a:r>
              <a:rPr lang="zh-CN" dirty="0"/>
              <a:t>第一，这句话比较的究竟是什么，能不能在委托书里找到对应的问题？很多主张在措辞上很好听，回到委托书就找不到出处。</a:t>
            </a:r>
          </a:p>
          <a:p>
            <a:r>
              <a:rPr lang="zh-CN" dirty="0"/>
              <a:t>第二，判分标准是在观察结果之前确定的吗？如果标准改过，有没有说明为什么改？</a:t>
            </a:r>
          </a:p>
          <a:p>
            <a:r>
              <a:rPr lang="zh-CN" dirty="0"/>
              <a:t>第三，被引用的证据来自哪一次运行、哪个提交边界，别人能不能重新定位到同一段记录？</a:t>
            </a:r>
          </a:p>
          <a:p>
            <a:r>
              <a:rPr lang="zh-CN" dirty="0"/>
              <a:t>第四，失败、没有回应和不利样本，有没有进入同一份结果表？只统计成功的那部分，结论一定会偏。</a:t>
            </a:r>
          </a:p>
          <a:p>
            <a:r>
              <a:rPr lang="zh-CN" dirty="0"/>
              <a:t>第五，结论有没有超出材料、系统机制或接收验证的范围？</a:t>
            </a:r>
          </a:p>
          <a:p>
            <a:r>
              <a:rPr lang="zh-CN" dirty="0"/>
              <a:t>这五问不需要逐行读文件，沿着一条证据链走一遍就够了。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发现问题之后，评阅意见怎么写才真正有用？我的建议是写成「主张—缺口—所需处理」三段。</a:t>
            </a:r>
          </a:p>
          <a:p>
            <a:r>
              <a:rPr lang="zh-CN" dirty="0"/>
              <a:t>比如报告里称 H2 闭环，但附上的记录只有一条入口建议。第一部分是主张：报告称 H2 闭环。第二部分是缺口：所附记录只有入口建议。第三部分是所需处理：请补充定位适配窗口回复以及实际确认，否则就把这一项改为未闭环。</a:t>
            </a:r>
          </a:p>
          <a:p>
            <a:r>
              <a:rPr lang="zh-CN" dirty="0"/>
              <a:t>这样的意见允许作者依据事实回应，比一句「感觉不可信」有帮助得多。</a:t>
            </a:r>
          </a:p>
          <a:p>
            <a:r>
              <a:rPr lang="zh-CN" dirty="0"/>
              <a:t>处理意见也要留下结果。补充定位、改判、缩小主张、暂时无法解决，都可以成为明确结局；只写「已沟通」，后来者不知道证据到底发生了什么。如果原始记录本身无法支持判断，就保留未知，不要请模型补一个听起来合理的故事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最后一个知识块跟交付的可复用性有关。</a:t>
            </a:r>
          </a:p>
          <a:p>
            <a:r>
              <a:rPr lang="zh-CN" dirty="0"/>
              <a:t>讲师需要一页问题和讨论提示，操作者需要环境和接收说明，研究读者需要全体结果和判分记录。这三种材料长短不同、重点不同，但它们应该引用同一份事实底稿。摘要更新之后，要回头检查图注、讲稿和报告里的数字是否同步，避免一份材料还写着三项成功，另一份已经改成两项。</a:t>
            </a:r>
          </a:p>
          <a:p>
            <a:r>
              <a:rPr lang="zh-CN" dirty="0"/>
              <a:t>项目资料能不能被别人再用，还取决于来源、内容说明和访问方式。FAIR 原则强调数字资料应当便于寻找、访问、互操作与再利用，并要求说明来源；它也允许必要的认证与授权，并不意味着所有资料必须公开。本章借鉴这些原则组织交付入口，但我不声称获得了任何认证。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同一份底稿，面对三种读者会变成三种材料。</a:t>
            </a:r>
          </a:p>
          <a:p>
            <a:r>
              <a:rPr lang="zh-CN" dirty="0"/>
              <a:t>讲师需要一页问题和讨论提示，能在二十分钟里把这件事讲清楚。操作者需要环境和接收说明，知道怎样把这份教案在自己的环境里跑起来。研究读者需要全体结果和判分记录，方便自己复算。</a:t>
            </a:r>
          </a:p>
          <a:p>
            <a:r>
              <a:rPr lang="zh-CN" dirty="0"/>
              <a:t>材料可以长短不同，引用的事实只能有一份。这里最容易出的错是摘要更新不同步：报告里已经改成两项成功，图注和讲稿还写着三项，听众一眼就看出这不是同一套事实。</a:t>
            </a:r>
          </a:p>
          <a:p>
            <a:r>
              <a:rPr lang="zh-CN" dirty="0"/>
              <a:t>所以摘要更新之后，要回头检查图注、讲稿和报告中的数字是否同步。这个动作很小，但它决定别人相不相信我的整套材料。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项目资料的可复用性还依赖三件事：来源、内容说明和访问方式。别人能不能用，往往不取决于材料多漂亮，而取决于这三件事有没有写清。</a:t>
            </a:r>
          </a:p>
          <a:p>
            <a:r>
              <a:rPr lang="zh-CN" dirty="0"/>
              <a:t>这里可以参考 FAIR 原则。它强调数字资料应当便于寻找、访问、互操作与再利用，并要求说明来源。要注意两点：第一，它允许必要的认证与授权，并不意味着所有资料必须公开；第二，这一章只是借鉴这些原则来组织交付入口，我不声称获得了任何认证。</a:t>
            </a:r>
          </a:p>
          <a:p>
            <a:r>
              <a:rPr lang="zh-CN" dirty="0"/>
              <a:t>所以我在交付清单里给每一项都留下来源说明和取用方式，别人拿到材料时既不缺上下文，也知道哪些部分需要申请权限。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最后留一个练习，也是这一节想达到的效果。请把这句话改写一遍：「我们已验证咨询台显著提高社区服务效率，可直接推广。」</a:t>
            </a:r>
          </a:p>
          <a:p>
            <a:r>
              <a:rPr lang="zh-CN" dirty="0"/>
              <a:t>这句话的问题不在语气，而在于它同时承诺了三件我没有的东西：真实验证、真实提升和可推广性。</a:t>
            </a:r>
          </a:p>
          <a:p>
            <a:r>
              <a:rPr lang="zh-CN" dirty="0"/>
              <a:t>与当前书稿相符的开场是这样的：我们设计了一项虚构咨询实验，用于比较立即建议与先澄清的取舍；当前交付是教案和验收方法，尚无运行结果。今天先讨论信息分配和判分规则是否足以回答这个问题。</a:t>
            </a:r>
          </a:p>
          <a:p>
            <a:r>
              <a:rPr lang="zh-CN" dirty="0"/>
              <a:t>它把材料性质、交付状态和讨论目标都交代了，也把判断的依据交到听众手上。将来取得证据，再据其强度更新这段话。让别人听懂，也让别人能够质疑，这两件事其实是同一件事。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5.xml"/></Relationships>
</file>

<file path=ppt/slides/_rels/slide2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6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notes={`我先讲一个很现实的问题：听众凭什么相信我。到了汇报阶段，我对角色和规则已经非常熟悉——看到「入口询问两轮后转往 A 窗口」，我能立刻想起前因后果。&#10;&#10;可第一次看演示的人不知道咨询台掌握哪些信息，更不知道这条路径有没有比另一种策略更好。所以汇报的任务不是把做过的事摆出来，而是帮别人建立判断所需的背景，再把判断依据交到他们手上。&#10;&#10;我们准备一场二十分钟的教学研讨。所有演示片段和数字必须来自各自标明的来源。当前还没有服务大厅的真实运行，可以讲解设计、可以用第四章的人工判分题练习，但不能播放别的案例，再把它说成本案的成功记录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第五章　综合实战与交付　·　5.8　演示与评审&lt;/Text&gt;&#10;            &lt;Text style={{ fontSize: 34, fontWeight: 'bold', color: '#20344B' }}&gt;汇报与质疑&lt;/Text&gt;&#10;        &lt;/Box&gt;&#10;    &lt;/Box&gt;&#10;&#10;    &lt;Box style={{ height: 540, flexDirection: 'row', alignItems: 'center', gap: 32 }}&gt;&#10;&#10;        &lt;Box style={{ width: 520, flexDirection: 'column', gap: 14 }}&gt;&#10;            &lt;Text style={{ fontSize: 52, fontWeight: 'bold', color: '#20344B', lineHeight: 1.2 }}&gt;让别人听懂，{'\n'}也让别人能够质疑&lt;/Text&gt;&#10;            &lt;Box style={{ width: 72, height: 4, background: '#276FBF' }} /&gt;&#10;            &lt;Text style={{ fontSize: 17, color: '#546779', lineHeight: 1.7, width: 520 }}&gt;汇报不是展示做过什么。它要帮助第一次看演示的人建立判断所需的背景，并把判断依据交到他们手上。&lt;/Text&gt;&#10;            &lt;Box style={{ flexDirection: 'row', gap: 12, marginTop: 4 }}&gt;&#10;                &lt;Box style={{ width: 160, height: 42, background: '#EDF4FC', borderRadius: 8, justifyContent: 'center', alignItems: 'center' }}&gt;&#10;                    &lt;Text style={{ fontSize: 15, color: '#276FBF' }}&gt;材料有身份&lt;/Text&gt;&#10;                &lt;/Box&gt;&#10;                &lt;Box style={{ width: 160, height: 42, background: '#EDF4FC', borderRadius: 8, justifyContent: 'center', alignItems: 'center' }}&gt;&#10;                    &lt;Text style={{ fontSize: 15, color: '#276FBF' }}&gt;主张有强度&lt;/Text&gt;&#10;                &lt;/Box&gt;&#10;                &lt;Box style={{ width: 160, height: 42, background: '#ECF7F2', borderRadius: 8, justifyContent: 'center', alignItems: 'center' }}&gt;&#10;                    &lt;Text style={{ fontSize: 15, color: '#26816B' }}&gt;数字有分母&lt;/Text&gt;&#10;                &lt;/Box&gt;&#10;            &lt;/Box&gt;&#10;        &lt;/Box&gt;&#10;&#10;        &lt;Box style={{ width: 600, flexDirection: 'column', justifyContent: 'center' }}&gt;&#10;            &lt;Box style={{ width: 600, height: 84, background: '#F4F7FA', borderRadius: 10, padding: '0 22px', flexDirection: 'column', gap: 4, justifyContent: 'center' }}&gt;&#10;                &lt;Text style={{ fontSize: 14, color: '#546779' }}&gt;同一份讲义里的材料&lt;/Text&gt;&#10;                &lt;Text style={{ fontSize: 18, fontWeight: 'bold', color: '#20344B' }}&gt;空间图 · 回放片段 · 人工算例&lt;/Text&gt;&#10;            &lt;/Box&gt;&#10;            &lt;Box style={{ width: 600, height: 40, justifyContent: 'center', alignItems: 'center' }}&gt;&#10;                &lt;Text style={{ fontSize: 22, color: '#276FBF' }}&gt;↓&lt;/Text&gt;&#10;            &lt;/Box&gt;&#10;            &lt;Box style={{ width: 600, height: 76, background: '#EDF4FC', borderRadius: 10, padding: '0 22px', flexDirection: 'column', gap: 4, justifyContent: 'center' }}&gt;&#10;                &lt;Text style={{ fontSize: 18, fontWeight: 'bold', color: '#276FBF' }}&gt;每份材料带着自己的来源标注&lt;/Text&gt;&#10;                &lt;Text style={{ fontSize: 15, color: '#546779' }}&gt;Run 与 Step 区间、虚拟时间、取材边界、组别与核对状态&lt;/Text&gt;&#10;            &lt;/Box&gt;&#10;            &lt;Box style={{ width: 600, height: 40, justifyContent: 'center', alignItems: 'center' }}&gt;&#10;                &lt;Text style={{ fontSize: 22, color: '#26816B' }}&gt;↓&lt;/Text&gt;&#10;            &lt;/Box&gt;&#10;            &lt;Box style={{ width: 600, flexDirection: 'row', gap: 20 }}&gt;&#10;                &lt;Box style={{ width: 290, height: 130, background: '#ECF7F2', borderRadius: 10, padding: '16px 20px', flexDirection: 'column', gap: 6, justifyContent: 'center' }}&gt;&#10;                    &lt;Text style={{ fontSize: 20, fontWeight: 'bold', color: '#26816B' }}&gt;能解释到哪里&lt;/Text&gt;&#10;                    &lt;Text style={{ fontSize: 15, color: '#546779', lineHeight: 1.5 }}&gt;证据支持到{'\n'}什么程度就说到什么程度&lt;/Text&gt;&#10;                &lt;/Box&gt;&#10;                &lt;Box style={{ width: 290, height: 130, background: '#FFF4E6', borderRadius: 10, padding: '16px 20px', flexDirection: 'column', gap: 6, justifyContent: 'center' }}&gt;&#10;                    &lt;Text style={{ fontSize: 20, fontWeight: 'bold', color: '#CB6B28' }}&gt;人工算例&lt;/Text&gt;&#10;                    &lt;Text style={{ fontSize: 15, color: '#546779', lineHeight: 1.5 }}&gt;人工构造，{'\n'}无对应 Run&lt;/Text&gt;&#10;                &lt;/Box&gt;&#10;            &lt;/Box&gt;&#10;        &lt;/Box&gt;&#10;&#10;    &lt;/Box&gt;&#10;&#10;    &lt;Box style={{ height: 40, flexDirection: 'row', justifyContent: 'space-between', alignItems: 'center' }}&gt;&#10;        &lt;Text style={{ fontSize: 14, color: '#546779' }}&gt;5.8 汇报与质疑&lt;/Text&gt;&#10;        &lt;Text style={{ fontSize: 14, color: '#546779' }}&gt;01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762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第五章　综合实战与交付　·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5.8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演示与评审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7622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汇报与质疑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09600" y="2228850"/>
            <a:ext cx="4953000" cy="14287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让别人听懂，</a:t>
            </a:r>
            <a:endParaRPr/>
          </a:p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也让别人能够质疑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609600" y="379095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609600" y="3962400"/>
            <a:ext cx="49530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汇报不是展示做过什么。它要帮助第一次看演示的人建立判断所需的背景，并把判断依据交到他们手上。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609600" y="4800600"/>
            <a:ext cx="1524000" cy="400050"/>
          </a:xfrm>
          <a:prstGeom prst="roundRect">
            <a:avLst>
              <a:gd name="adj" fmla="val 1904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1019175" y="4914900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材料有身份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2247900" y="4800600"/>
            <a:ext cx="1524000" cy="400050"/>
          </a:xfrm>
          <a:prstGeom prst="roundRect">
            <a:avLst>
              <a:gd name="adj" fmla="val 1904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2657475" y="4914900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主张有强度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3886200" y="4800600"/>
            <a:ext cx="1524000" cy="400050"/>
          </a:xfrm>
          <a:prstGeom prst="roundRect">
            <a:avLst>
              <a:gd name="adj" fmla="val 19048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4295775" y="4914900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数字有分母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5867400" y="1952625"/>
            <a:ext cx="571500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6076950" y="2152650"/>
            <a:ext cx="5295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同一份讲义里的材料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6076950" y="2352675"/>
            <a:ext cx="5295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空间图</a:t>
            </a: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回放片段</a:t>
            </a: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人工算例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8677275" y="2819400"/>
            <a:ext cx="104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5867400" y="3133725"/>
            <a:ext cx="5715000" cy="723900"/>
          </a:xfrm>
          <a:prstGeom prst="roundRect">
            <a:avLst>
              <a:gd name="adj" fmla="val 1315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6076950" y="3286125"/>
            <a:ext cx="5295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每份材料带着自己的来源标注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6076950" y="3533775"/>
            <a:ext cx="5295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Run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Step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区间、虚拟时间、取材边界、组别与核对状态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8677275" y="3924300"/>
            <a:ext cx="104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5867400" y="4238625"/>
            <a:ext cx="2762250" cy="1238250"/>
          </a:xfrm>
          <a:prstGeom prst="roundRect">
            <a:avLst>
              <a:gd name="adj" fmla="val 769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6057900" y="4457700"/>
            <a:ext cx="2381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能解释到哪里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6057900" y="4743450"/>
            <a:ext cx="2381250" cy="514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证据支持到</a:t>
            </a:r>
            <a:endParaRPr/>
          </a:p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什么程度就说到什么程度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8820150" y="4238625"/>
            <a:ext cx="2762250" cy="1238250"/>
          </a:xfrm>
          <a:prstGeom prst="roundRect">
            <a:avLst>
              <a:gd name="adj" fmla="val 769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9010650" y="4457700"/>
            <a:ext cx="2381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人工算例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9010650" y="4743450"/>
            <a:ext cx="2381250" cy="514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人工构造，</a:t>
            </a:r>
            <a:endParaRPr/>
          </a:p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无对应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汇报与质疑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01 / 26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265" name="" descr="&lt;Slide notes={`接下来把这一节要走的路线说清楚，一共七件事，按顺序走完，你就有能力组织一场能被追问的汇报。&#10;&#10;第一件是给材料定身份，同一份讲义里，需求表、草图、截图、已提交事件、人工算例和作者解释，看起来都很直观，证据作用却完全不同。第二件是用一条问题线把二十分钟串起来。第三件是片段选择规则，不能只播顺利的那一次。&#10;&#10;后面四件更偏表达：数字要带着分母和条件出现；结论要拆成观察、解释、下一步三句话；评阅者可以从五个问题开始，沿证据链往回走；最后，无论材料长短，都要保留同一份事实底稿。&#10;&#10;编号和后面每一节的扉页一一对应，方便对照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第五章　5.8　演示与评审&lt;/Text&gt;&#10;            &lt;Text style={{ fontSize: 34, fontWeight: 'bold', color: '#20344B' }}&gt;本节要看清的七件事&lt;/Text&gt;&#10;        &lt;/Box&gt;&#10;    &lt;/Box&gt;&#10;&#10;    &lt;Box style={{ height: 540, flexDirection: 'row', alignItems: 'center', gap: 32 }}&gt;&#10;&#10;        &lt;Box style={{ width: 300, flexDirection: 'column', gap: 14, justifyContent: 'center' }}&gt;&#10;            &lt;Text style={{ fontSize: 22, fontWeight: 'bold', color: '#20344B', lineHeight: 1.4 }}&gt;从材料身份{'\n'}到事实底稿&lt;/Text&gt;&#10;            &lt;Box style={{ width: 72, height: 4, background: '#276FBF' }} /&gt;&#10;            &lt;Text style={{ fontSize: 16, color: '#546779', lineHeight: 1.7, width: 300 }}&gt;七个知识块，编号与每一节的扉页一一对应。&lt;/Text&gt;&#10;            &lt;Box style={{ width: 300, height: 64, background: '#F7F3E8', borderRadius: 8, justifyContent: 'center', alignItems: 'center' }}&gt;&#10;                &lt;Text style={{ fontSize: 15, color: '#546779' }}&gt;结论强度＝证据强度&lt;/Text&gt;&#10;            &lt;/Box&gt;&#10;        &lt;/Box&gt;&#10;&#10;        &lt;Box style={{ width: 820, flexDirection: 'row', flexWrap: 'wrap', gap: 12 }}&gt;&#10;            &lt;Box style={{ width: 404, height: 118, background: '#EDF4FC', borderRadius: 10, padding: '14px 18px', flexDirection: 'column', gap: 6, justifyContent: 'center' }}&gt;&#10;                &lt;Text style={{ fontSize: 18, fontWeight: 'bold', color: '#276FBF' }}&gt;① 材料先有身份&lt;/Text&gt;&#10;                &lt;Text style={{ fontSize: 14, color: '#546779', lineHeight: 1.5 }}&gt;同一份讲义里的材料，证据作用并不相同。&lt;/Text&gt;&#10;            &lt;/Box&gt;&#10;            &lt;Box style={{ width: 404, height: 118, background: '#ECF7F2', borderRadius: 10, padding: '14px 18px', flexDirection: 'column', gap: 6, justifyContent: 'center' }}&gt;&#10;                &lt;Text style={{ fontSize: 18, fontWeight: 'bold', color: '#26816B' }}&gt;② 一条问题线&lt;/Text&gt;&#10;                &lt;Text style={{ fontSize: 14, color: '#546779', lineHeight: 1.5 }}&gt;二十分钟按顺序回答四个问题。&lt;/Text&gt;&#10;            &lt;/Box&gt;&#10;            &lt;Box style={{ width: 404, height: 118, background: '#F4F7FA', borderRadius: 10, padding: '14px 18px', flexDirection: 'column', gap: 6, justifyContent: 'center' }}&gt;&#10;                &lt;Text style={{ fontSize: 18, fontWeight: 'bold', color: '#20344B' }}&gt;③ 片段选择规则&lt;/Text&gt;&#10;                &lt;Text style={{ fontSize: 14, color: '#546779', lineHeight: 1.5 }}&gt;一个典型闭环，一个未完成或有争议的任务。&lt;/Text&gt;&#10;            &lt;/Box&gt;&#10;            &lt;Box style={{ width: 404, height: 118, background: '#EDF4FC', borderRadius: 10, padding: '14px 18px', flexDirection: 'column', gap: 6, justifyContent: 'center' }}&gt;&#10;                &lt;Text style={{ fontSize: 18, fontWeight: 'bold', color: '#276FBF' }}&gt;④ 数字带分母&lt;/Text&gt;&#10;                &lt;Text style={{ fontSize: 14, color: '#546779', lineHeight: 1.5 }}&gt;成功定义、任务数、运行数与比较条件。&lt;/Text&gt;&#10;            &lt;/Box&gt;&#10;            &lt;Box style={{ width: 404, height: 118, background: '#ECF7F2', borderRadius: 10, padding: '14px 18px', flexDirection: 'column', gap: 6, justifyContent: 'center' }}&gt;&#10;                &lt;Text style={{ fontSize: 18, fontWeight: 'bold', color: '#26816B' }}&gt;⑤ 三句话&lt;/Text&gt;&#10;                &lt;Text style={{ fontSize: 14, color: '#546779', lineHeight: 1.5 }}&gt;观察、解释、下一步分开写，不一步跳到推广。&lt;/Text&gt;&#10;            &lt;/Box&gt;&#10;            &lt;Box style={{ width: 404, height: 118, background: '#F4F7FA', borderRadius: 10, padding: '14px 18px', flexDirection: 'column', gap: 6, justifyContent: 'center' }}&gt;&#10;                &lt;Text style={{ fontSize: 18, fontWeight: 'bold', color: '#20344B' }}&gt;⑥ 五个问题&lt;/Text&gt;&#10;                &lt;Text style={{ fontSize: 14, color: '#546779', lineHeight: 1.5 }}&gt;评阅沿一条证据链往回走，就能找到缺口。&lt;/Text&gt;&#10;            &lt;/Box&gt;&#10;            &lt;Box style={{ width: 404, height: 118, background: '#EDF4FC', borderRadius: 10, padding: '14px 18px', flexDirection: 'column', gap: 6, justifyContent: 'center' }}&gt;&#10;                &lt;Text style={{ fontSize: 18, fontWeight: 'bold', color: '#276FBF' }}&gt;⑦ 同一份底稿&lt;/Text&gt;&#10;                &lt;Text style={{ fontSize: 14, color: '#546779', lineHeight: 1.5 }}&gt;材料可以长短不同，事实只能有一份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8 汇报与质疑&lt;/Text&gt;&#10;        &lt;Text style={{ fontSize: 14, color: '#546779' }}&gt;02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第五章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5.8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演示与评审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本节要看清的七件事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609600" y="2524125"/>
            <a:ext cx="2857500" cy="704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从材料身份</a:t>
            </a:r>
            <a:endParaRPr/>
          </a:p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到事实底稿</a:t>
            </a:r>
            <a:endParaRPr/>
          </a:p>
        </p:txBody>
      </p:sp>
      <p:sp>
        <p:nvSpPr>
          <p:cNvPr id="271" name=""/>
          <p:cNvSpPr/>
          <p:nvPr/>
        </p:nvSpPr>
        <p:spPr>
          <a:xfrm rot="0" flipH="0" flipV="0">
            <a:off x="609600" y="336232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609600" y="3533775"/>
            <a:ext cx="28575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七个知识块，编号与每一节的扉页一一对应。</a:t>
            </a:r>
            <a:endParaRPr/>
          </a:p>
        </p:txBody>
      </p:sp>
      <p:sp>
        <p:nvSpPr>
          <p:cNvPr id="273" name=""/>
          <p:cNvSpPr/>
          <p:nvPr/>
        </p:nvSpPr>
        <p:spPr>
          <a:xfrm rot="0" flipH="0" flipV="0">
            <a:off x="609600" y="4295775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1400175" y="4514850"/>
            <a:ext cx="1285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结论强度＝证据强度</a:t>
            </a:r>
            <a:endParaRPr/>
          </a:p>
        </p:txBody>
      </p:sp>
      <p:sp>
        <p:nvSpPr>
          <p:cNvPr id="275" name=""/>
          <p:cNvSpPr/>
          <p:nvPr/>
        </p:nvSpPr>
        <p:spPr>
          <a:xfrm rot="0" flipH="0" flipV="0">
            <a:off x="3771900" y="1295400"/>
            <a:ext cx="3848100" cy="1123950"/>
          </a:xfrm>
          <a:prstGeom prst="roundRect">
            <a:avLst>
              <a:gd name="adj" fmla="val 847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3943350" y="1600200"/>
            <a:ext cx="3505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① </a:t>
            </a: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材料先有身份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3943350" y="1866900"/>
            <a:ext cx="35052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同一份讲义里的材料，证据作用并不相同。</a:t>
            </a:r>
            <a:endParaRPr/>
          </a:p>
        </p:txBody>
      </p:sp>
      <p:sp>
        <p:nvSpPr>
          <p:cNvPr id="278" name=""/>
          <p:cNvSpPr/>
          <p:nvPr/>
        </p:nvSpPr>
        <p:spPr>
          <a:xfrm rot="0" flipH="0" flipV="0">
            <a:off x="7734300" y="1295400"/>
            <a:ext cx="3848100" cy="1123950"/>
          </a:xfrm>
          <a:prstGeom prst="roundRect">
            <a:avLst>
              <a:gd name="adj" fmla="val 847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7905750" y="1600200"/>
            <a:ext cx="3505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② </a:t>
            </a: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一条问题线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7905750" y="1866900"/>
            <a:ext cx="35052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二十分钟按顺序回答四个问题。</a:t>
            </a:r>
            <a:endParaRPr/>
          </a:p>
        </p:txBody>
      </p:sp>
      <p:sp>
        <p:nvSpPr>
          <p:cNvPr id="281" name=""/>
          <p:cNvSpPr/>
          <p:nvPr/>
        </p:nvSpPr>
        <p:spPr>
          <a:xfrm rot="0" flipH="0" flipV="0">
            <a:off x="3771900" y="2533650"/>
            <a:ext cx="3848100" cy="1123950"/>
          </a:xfrm>
          <a:prstGeom prst="roundRect">
            <a:avLst>
              <a:gd name="adj" fmla="val 847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3943350" y="2838450"/>
            <a:ext cx="3505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③ </a:t>
            </a: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片段选择规则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3943350" y="3105150"/>
            <a:ext cx="35052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一个典型闭环，一个未完成或有争议的任务。</a:t>
            </a:r>
            <a:endParaRPr/>
          </a:p>
        </p:txBody>
      </p:sp>
      <p:sp>
        <p:nvSpPr>
          <p:cNvPr id="284" name=""/>
          <p:cNvSpPr/>
          <p:nvPr/>
        </p:nvSpPr>
        <p:spPr>
          <a:xfrm rot="0" flipH="0" flipV="0">
            <a:off x="7734300" y="2533650"/>
            <a:ext cx="3848100" cy="1123950"/>
          </a:xfrm>
          <a:prstGeom prst="roundRect">
            <a:avLst>
              <a:gd name="adj" fmla="val 847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7905750" y="2838450"/>
            <a:ext cx="3505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④ </a:t>
            </a: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数字带分母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7905750" y="3105150"/>
            <a:ext cx="35052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成功定义、任务数、运行数与比较条件。</a:t>
            </a:r>
            <a:endParaRPr/>
          </a:p>
        </p:txBody>
      </p:sp>
      <p:sp>
        <p:nvSpPr>
          <p:cNvPr id="287" name=""/>
          <p:cNvSpPr/>
          <p:nvPr/>
        </p:nvSpPr>
        <p:spPr>
          <a:xfrm rot="0" flipH="0" flipV="0">
            <a:off x="3771900" y="3771900"/>
            <a:ext cx="3848100" cy="1123950"/>
          </a:xfrm>
          <a:prstGeom prst="roundRect">
            <a:avLst>
              <a:gd name="adj" fmla="val 847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3943350" y="4076700"/>
            <a:ext cx="3505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⑤ </a:t>
            </a: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三句话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3943350" y="4343400"/>
            <a:ext cx="35052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观察、解释、下一步分开写，不一步跳到推广。</a:t>
            </a:r>
            <a:endParaRPr/>
          </a:p>
        </p:txBody>
      </p:sp>
      <p:sp>
        <p:nvSpPr>
          <p:cNvPr id="290" name=""/>
          <p:cNvSpPr/>
          <p:nvPr/>
        </p:nvSpPr>
        <p:spPr>
          <a:xfrm rot="0" flipH="0" flipV="0">
            <a:off x="7734300" y="3771900"/>
            <a:ext cx="3848100" cy="1123950"/>
          </a:xfrm>
          <a:prstGeom prst="roundRect">
            <a:avLst>
              <a:gd name="adj" fmla="val 847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7905750" y="4076700"/>
            <a:ext cx="3505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⑥ </a:t>
            </a: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五个问题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7905750" y="4343400"/>
            <a:ext cx="35052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评阅沿一条证据链往回走，就能找到缺口。</a:t>
            </a:r>
            <a:endParaRPr/>
          </a:p>
        </p:txBody>
      </p:sp>
      <p:sp>
        <p:nvSpPr>
          <p:cNvPr id="293" name=""/>
          <p:cNvSpPr/>
          <p:nvPr/>
        </p:nvSpPr>
        <p:spPr>
          <a:xfrm rot="0" flipH="0" flipV="0">
            <a:off x="3771900" y="5010150"/>
            <a:ext cx="3848100" cy="1123950"/>
          </a:xfrm>
          <a:prstGeom prst="roundRect">
            <a:avLst>
              <a:gd name="adj" fmla="val 847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3943350" y="5314950"/>
            <a:ext cx="3505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⑦ </a:t>
            </a: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同一份底稿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3943350" y="5581650"/>
            <a:ext cx="35052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材料可以长短不同，事实只能有一份。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汇报与质疑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02 / 26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465" name="" descr="&lt;Slide notes={`我们从最基础的一件事开始：先告诉听众，他们正在看哪一种材料。&#10;&#10;同一份讲义里可能同时出现需求表、作者空间草图、软件截图、已提交事件、人工算例和作者解释。它们看起来都很直观，可是证据作用完全不同。一张空间草图说明的是预期的布局和功能区域，一段回放片段说明的是某个已提交窗口里真实发生的变化，而第四章的三分之四只是人工判分练习。&#10;&#10;所以开场要先交代项目处于设计、运行还是交付阶段，再让每份材料保留自己的身份。先讲阶段，听众才知道后面听到的哪些是承诺、哪些是已经发生的事实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第五章　5.8　演示与评审&lt;/Text&gt;&#10;            &lt;Text style={{ fontSize: 34, fontWeight: 'bold', color: '#20344B' }}&gt;知识块 ①&lt;/Text&gt;&#10;        &lt;/Box&gt;&#10;    &lt;/Box&gt;&#10;&#10;    &lt;Box style={{ height: 540, flexDirection: 'column', justifyContent: 'center', gap: 18 }}&gt;&#10;&#10;        &lt;Text style={{ fontSize: 96, fontWeight: 'bold', color: '#276FBF', lineHeight: 1.0 }}&gt;①&lt;/Text&gt;&#10;&#10;        &lt;Text style={{ fontSize: 56, fontWeight: 'bold', color: '#20344B', lineHeight: 1.15 }}&gt;先告诉听众，他们在看哪一种材料&lt;/Text&gt;&#10;&#10;        &lt;Box style={{ width: 72, height: 4, background: '#276FBF' }} /&gt;&#10;&#10;        &lt;Text style={{ fontSize: 18, color: '#546779', lineHeight: 1.7, width: 940 }}&gt;需求表、作者空间草图、软件截图、已提交事件、人工算例和作者解释，看起来都很直观，证据作用却不同。&lt;/Text&gt;&#10;&#10;        &lt;Box style={{ flexDirection: 'row', alignItems: 'center', gap: 16, marginTop: 8 }}&gt;&#10;            &lt;Box style={{ width: 300, height: 64, background: '#F4F7FA', borderRadius: 8, justifyContent: 'center', alignItems: 'center' }}&gt;&#10;                &lt;Text style={{ fontSize: 18, color: '#20344B' }}&gt;设计阶段&lt;/Text&gt;&#10;            &lt;/Box&gt;&#10;            &lt;Box style={{ width: 300, height: 64, background: '#EDF4FC', borderRadius: 8, justifyContent: 'center', alignItems: 'center' }}&gt;&#10;                &lt;Text style={{ fontSize: 18, color: '#276FBF' }}&gt;运行阶段&lt;/Text&gt;&#10;            &lt;/Box&gt;&#10;            &lt;Box style={{ width: 300, height: 64, background: '#ECF7F2', borderRadius: 8, justifyContent: 'center', alignItems: 'center' }}&gt;&#10;                &lt;Text style={{ fontSize: 18, color: '#26816B' }}&gt;交付阶段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8 汇报与质疑&lt;/Text&gt;&#10;        &lt;Text style={{ fontSize: 14, color: '#546779' }}&gt;03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6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1524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第五章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5.8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演示与评审</a:t>
            </a:r>
            <a:endParaRPr/>
          </a:p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1524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知识块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①</a:t>
            </a:r>
            <a:endParaRPr/>
          </a:p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609600" y="1914525"/>
            <a:ext cx="109728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200" b="1">
                <a:solidFill>
                  <a:srgbClr val="276FBF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609600" y="31908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先告诉听众，他们在看哪一种材料</a:t>
            </a:r>
            <a:endParaRPr/>
          </a:p>
        </p:txBody>
      </p:sp>
      <p:sp>
        <p:nvSpPr>
          <p:cNvPr id="472" name=""/>
          <p:cNvSpPr/>
          <p:nvPr/>
        </p:nvSpPr>
        <p:spPr>
          <a:xfrm rot="0" flipH="0" flipV="0">
            <a:off x="609600" y="41052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609600" y="4314825"/>
            <a:ext cx="8953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需求表、作者空间草图、软件截图、已提交事件、人工算例和作者解释，看起来都很直观，证据作用却不同。</a:t>
            </a:r>
            <a:endParaRPr/>
          </a:p>
        </p:txBody>
      </p:sp>
      <p:sp>
        <p:nvSpPr>
          <p:cNvPr id="474" name=""/>
          <p:cNvSpPr/>
          <p:nvPr/>
        </p:nvSpPr>
        <p:spPr>
          <a:xfrm rot="0" flipH="0" flipV="0">
            <a:off x="609600" y="491490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1695450" y="511492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0344B"/>
                </a:solidFill>
                <a:latin typeface="Microsoft YaHei"/>
                <a:ea typeface="Microsoft YaHei"/>
              </a:rPr>
              <a:t>设计阶段</a:t>
            </a:r>
            <a:endParaRPr/>
          </a:p>
        </p:txBody>
      </p:sp>
      <p:sp>
        <p:nvSpPr>
          <p:cNvPr id="476" name=""/>
          <p:cNvSpPr/>
          <p:nvPr/>
        </p:nvSpPr>
        <p:spPr>
          <a:xfrm rot="0" flipH="0" flipV="0">
            <a:off x="3619500" y="491490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4705350" y="511492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运行阶段</a:t>
            </a:r>
            <a:endParaRPr/>
          </a:p>
        </p:txBody>
      </p:sp>
      <p:sp>
        <p:nvSpPr>
          <p:cNvPr id="478" name=""/>
          <p:cNvSpPr/>
          <p:nvPr/>
        </p:nvSpPr>
        <p:spPr>
          <a:xfrm rot="0" flipH="0" flipV="0">
            <a:off x="6629400" y="491490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7715250" y="511492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交付阶段</a:t>
            </a:r>
            <a:endParaRPr/>
          </a:p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汇报与质疑</a:t>
            </a:r>
            <a:endParaRPr/>
          </a:p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03 / 26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482" name="" descr="&lt;Slide notes={`接下来把六类材料摊开来看，每一类能说明什么，以及应该配什么样的标注。&#10;&#10;作者空间图说明的是预期的布局与功能区域，所以要注明「待制作草图，未验证系统寻路」。Skill 原文说明的是要求角色采用的方法，要标出文本来源、组别，以及是否与包内内容核对过。回放片段说明的是某个已提交窗口里实际发生的变化，必须写清 Run、Step 区间、虚拟时间和取材边界。&#10;&#10;调用记录是模型与工具的尝试、返回及错误，要标 Attempt、调用身份、有没有产生世界提交。人工算例只说明指标怎样计算，要标明「人工构造，无对应 Run」。分析结论比较特殊，它是我对证据的解释，那就必须写清支持它的记录、适用条件，以及仍然未知的地方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8.1　先告诉听众，他们正在看哪一种材料&lt;/Text&gt;&#10;            &lt;Text style={{ fontSize: 34, fontWeight: 'bold', color: '#20344B' }}&gt;六类材料，各自保留身份&lt;/Text&gt;&#10;        &lt;/Box&gt;&#10;    &lt;/Box&gt;&#10;&#10;    &lt;Box style={{ height: 540, flexDirection: 'row', alignItems: 'center', gap: 28 }}&gt;&#10;&#10;        &lt;Box style={{ width: 340, flexDirection: 'column', gap: 12 }}&gt;&#10;            &lt;Text style={{ fontSize: 22, fontWeight: 'bold', color: '#20344B', lineHeight: 1.4 }}&gt;先说明阶段，{'\n'}再让材料说自己是谁&lt;/Text&gt;&#10;            &lt;Box style={{ width: 72, height: 4, background: '#276FBF' }} /&gt;&#10;            &lt;Text style={{ fontSize: 16, color: '#546779', lineHeight: 1.7, width: 340 }}&gt;标注跟着材料走，读者在同一处就能看到来源。&lt;/Text&gt;&#10;            &lt;Box style={{ width: 340, height: 50, background: '#F4F7FA', borderRadius: 8, justifyContent: 'center', alignItems: 'center', marginTop: 6 }}&gt;&#10;                &lt;Text style={{ fontSize: 16, color: '#20344B' }}&gt;设计阶段&lt;/Text&gt;&#10;            &lt;/Box&gt;&#10;            &lt;Box style={{ width: 340, height: 32, justifyContent: 'center', alignItems: 'center' }}&gt;&#10;                &lt;Text style={{ fontSize: 20, color: '#276FBF' }}&gt;↓&lt;/Text&gt;&#10;            &lt;/Box&gt;&#10;            &lt;Box style={{ width: 340, height: 50, background: '#EDF4FC', borderRadius: 8, justifyContent: 'center', alignItems: 'center' }}&gt;&#10;                &lt;Text style={{ fontSize: 16, color: '#276FBF' }}&gt;运行阶段&lt;/Text&gt;&#10;            &lt;/Box&gt;&#10;            &lt;Box style={{ width: 340, height: 32, justifyContent: 'center', alignItems: 'center' }}&gt;&#10;                &lt;Text style={{ fontSize: 20, color: '#26816B' }}&gt;↓&lt;/Text&gt;&#10;            &lt;/Box&gt;&#10;            &lt;Box style={{ width: 340, height: 50, background: '#ECF7F2', borderRadius: 8, justifyContent: 'center', alignItems: 'center' }}&gt;&#10;                &lt;Text style={{ fontSize: 16, color: '#26816B' }}&gt;交付阶段&lt;/Text&gt;&#10;            &lt;/Box&gt;&#10;        &lt;/Box&gt;&#10;&#10;        &lt;Box style={{ width: 784, flexDirection: 'column', gap: 10 }}&gt;&#10;&#10;            &lt;Box style={{ height: 28, flexDirection: 'row', padding: '0 14px', alignItems: 'center', gap: 14 }}&gt;&#10;                &lt;Box style={{ width: 4 }} /&gt;&#10;                &lt;Box style={{ width: 170 }}&gt;&lt;Text style={{ fontSize: 13, color: '#546779' }}&gt;材料&lt;/Text&gt;&lt;/Box&gt;&#10;                &lt;Box style={{ flex: 1 }}&gt;&lt;Text style={{ fontSize: 13, color: '#546779' }}&gt;能说明什么&lt;/Text&gt;&lt;/Box&gt;&#10;                &lt;Box style={{ width: 240 }}&gt;&lt;Text style={{ fontSize: 13, color: '#546779' }}&gt;推荐标注&lt;/Text&gt;&lt;/Box&gt;&#10;            &lt;/Box&gt;&#10;&#10;            &lt;Box style={{ height: 68, background: '#F4F7FA', borderRadius: 8, flexDirection: 'row', padding: '0 14px', alignItems: 'center', gap: 14 }}&gt;&#10;                &lt;Box style={{ width: 4, height: 40, background: '#276FBF' }} /&gt;&#10;                &lt;Box style={{ width: 170 }}&gt;&lt;Text style={{ fontSize: 16, fontWeight: 'bold', color: '#20344B' }}&gt;作者空间图&lt;/Text&gt;&lt;/Box&gt;&#10;                &lt;Box style={{ flex: 1 }}&gt;&lt;Text style={{ fontSize: 15, color: '#20344B', lineHeight: 1.5 }}&gt;预期布局与功能区域&lt;/Text&gt;&lt;/Box&gt;&#10;                &lt;Box style={{ width: 240 }}&gt;&lt;Text style={{ fontSize: 13, color: '#546779', lineHeight: 1.45 }}&gt;待制作草图，未验证系统寻路&lt;/Text&gt;&lt;/Box&gt;&#10;            &lt;/Box&gt;&#10;&#10;            &lt;Box style={{ height: 68, background: '#FFFFFF', borderRadius: 8, flexDirection: 'row', padding: '0 14px', alignItems: 'center', gap: 14 }}&gt;&#10;                &lt;Box style={{ width: 4, height: 40, background: '#276FBF' }} /&gt;&#10;                &lt;Box style={{ width: 170 }}&gt;&lt;Text style={{ fontSize: 16, fontWeight: 'bold', color: '#20344B' }}&gt;Skill 原文&lt;/Text&gt;&lt;/Box&gt;&#10;                &lt;Box style={{ flex: 1 }}&gt;&lt;Text style={{ fontSize: 15, color: '#20344B', lineHeight: 1.5 }}&gt;要求角色采用的方法&lt;/Text&gt;&lt;/Box&gt;&#10;                &lt;Box style={{ width: 240 }}&gt;&lt;Text style={{ fontSize: 13, color: '#546779', lineHeight: 1.45 }}&gt;文本来源、组别、是否与包内核对&lt;/Text&gt;&lt;/Box&gt;&#10;            &lt;/Box&gt;&#10;&#10;            &lt;Box style={{ height: 68, background: '#F4F7FA', borderRadius: 8, flexDirection: 'row', padding: '0 14px', alignItems: 'center', gap: 14 }}&gt;&#10;                &lt;Box style={{ width: 4, height: 40, background: '#276FBF' }} /&gt;&#10;                &lt;Box style={{ width: 170 }}&gt;&lt;Text style={{ fontSize: 16, fontWeight: 'bold', color: '#20344B' }}&gt;回放片段&lt;/Text&gt;&lt;/Box&gt;&#10;                &lt;Box style={{ flex: 1 }}&gt;&lt;Text style={{ fontSize: 15, color: '#20344B', lineHeight: 1.5 }}&gt;已提交窗口中实际发生的变化&lt;/Text&gt;&lt;/Box&gt;&#10;                &lt;Box style={{ width: 240 }}&gt;&lt;Text style={{ fontSize: 13, color: '#546779', lineHeight: 1.45 }}&gt;Run、Step 区间、虚拟时间、取材边界&lt;/Text&gt;&lt;/Box&gt;&#10;            &lt;/Box&gt;&#10;&#10;            &lt;Box style={{ height: 68, background: '#FFFFFF', borderRadius: 8, flexDirection: 'row', padding: '0 14px', alignItems: 'center', gap: 14 }}&gt;&#10;                &lt;Box style={{ width: 4, height: 40, background: '#276FBF' }} /&gt;&#10;                &lt;Box style={{ width: 170 }}&gt;&lt;Text style={{ fontSize: 16, fontWeight: 'bold', color: '#20344B' }}&gt;调用记录&lt;/Text&gt;&lt;/Box&gt;&#10;                &lt;Box style={{ flex: 1 }}&gt;&lt;Text style={{ fontSize: 15, color: '#20344B', lineHeight: 1.5 }}&gt;模型与工具的尝试、返回及错误&lt;/Text&gt;&lt;/Box&gt;&#10;                &lt;Box style={{ width: 240 }}&gt;&lt;Text style={{ fontSize: 13, color: '#546779', lineHeight: 1.45 }}&gt;Attempt、调用身份、是否产生世界提交&lt;/Text&gt;&lt;/Box&gt;&#10;            &lt;/Box&gt;&#10;&#10;            &lt;Box style={{ height: 68, background: '#FFF4E6', borderRadius: 8, flexDirection: 'row', padding: '0 14px', alignItems: 'center', gap: 14 }}&gt;&#10;                &lt;Box style={{ width: 4, height: 40, background: '#CB6B28' }} /&gt;&#10;                &lt;Box style={{ width: 170 }}&gt;&lt;Text style={{ fontSize: 16, fontWeight: 'bold', color: '#CB6B28' }}&gt;人工算例&lt;/Text&gt;&lt;/Box&gt;&#10;                &lt;Box style={{ flex: 1 }}&gt;&lt;Text style={{ fontSize: 15, color: '#20344B', lineHeight: 1.5 }}&gt;指标如何计算&lt;/Text&gt;&lt;/Box&gt;&#10;                &lt;Box style={{ width: 240 }}&gt;&lt;Text style={{ fontSize: 13, color: '#CB6B28', lineHeight: 1.45 }}&gt;人工构造，无对应 Run&lt;/Text&gt;&lt;/Box&gt;&#10;            &lt;/Box&gt;&#10;&#10;            &lt;Box style={{ height: 68, background: '#F4F7FA', borderRadius: 8, flexDirection: 'row', padding: '0 14px', alignItems: 'center', gap: 14 }}&gt;&#10;                &lt;Box style={{ width: 4, height: 40, background: '#26816B' }} /&gt;&#10;                &lt;Box style={{ width: 170 }}&gt;&lt;Text style={{ fontSize: 16, fontWeight: 'bold', color: '#20344B' }}&gt;分析结论&lt;/Text&gt;&lt;/Box&gt;&#10;                &lt;Box style={{ flex: 1 }}&gt;&lt;Text style={{ fontSize: 15, color: '#20344B', lineHeight: 1.5 }}&gt;作者对证据的解释&lt;/Text&gt;&lt;/Box&gt;&#10;                &lt;Box style={{ width: 240 }}&gt;&lt;Text style={{ fontSize: 13, color: '#546779', lineHeight: 1.45 }}&gt;支持记录、适用条件和仍未知之处&lt;/Text&gt;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5.8 汇报与质疑&lt;/Text&gt;&#10;        &lt;Text style={{ fontSize: 14, color: '#546779' }}&gt;04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5.8.1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先告诉听众，他们正在看哪一种材料</a:t>
            </a:r>
            <a:endParaRPr/>
          </a:p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六类材料，各自保留身份</a:t>
            </a:r>
            <a:endParaRPr/>
          </a:p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609600" y="1743075"/>
            <a:ext cx="3238500" cy="704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先说明阶段，</a:t>
            </a:r>
            <a:endParaRPr/>
          </a:p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再让材料说自己是谁</a:t>
            </a:r>
            <a:endParaRPr/>
          </a:p>
        </p:txBody>
      </p:sp>
      <p:sp>
        <p:nvSpPr>
          <p:cNvPr id="488" name=""/>
          <p:cNvSpPr/>
          <p:nvPr/>
        </p:nvSpPr>
        <p:spPr>
          <a:xfrm rot="0" flipH="0" flipV="0">
            <a:off x="609600" y="256222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609600" y="2714625"/>
            <a:ext cx="3238500" cy="314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标注跟着材料走，读者在同一处就能看到来源。</a:t>
            </a:r>
            <a:endParaRPr/>
          </a:p>
        </p:txBody>
      </p:sp>
      <p:sp>
        <p:nvSpPr>
          <p:cNvPr id="490" name=""/>
          <p:cNvSpPr/>
          <p:nvPr/>
        </p:nvSpPr>
        <p:spPr>
          <a:xfrm rot="0" flipH="0" flipV="0">
            <a:off x="609600" y="3200400"/>
            <a:ext cx="3238500" cy="476250"/>
          </a:xfrm>
          <a:prstGeom prst="roundRect">
            <a:avLst>
              <a:gd name="adj" fmla="val 16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1924050" y="334327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设计阶段</a:t>
            </a:r>
            <a:endParaRPr/>
          </a:p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2181225" y="3829050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493" name=""/>
          <p:cNvSpPr/>
          <p:nvPr/>
        </p:nvSpPr>
        <p:spPr>
          <a:xfrm rot="0" flipH="0" flipV="0">
            <a:off x="609600" y="4210050"/>
            <a:ext cx="3238500" cy="476250"/>
          </a:xfrm>
          <a:prstGeom prst="roundRect">
            <a:avLst>
              <a:gd name="adj" fmla="val 16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1924050" y="435292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运行阶段</a:t>
            </a:r>
            <a:endParaRPr/>
          </a:p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2181225" y="4838700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496" name=""/>
          <p:cNvSpPr/>
          <p:nvPr/>
        </p:nvSpPr>
        <p:spPr>
          <a:xfrm rot="0" flipH="0" flipV="0">
            <a:off x="609600" y="5219700"/>
            <a:ext cx="3238500" cy="476250"/>
          </a:xfrm>
          <a:prstGeom prst="roundRect">
            <a:avLst>
              <a:gd name="adj" fmla="val 16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1924050" y="536257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6816B"/>
                </a:solidFill>
                <a:latin typeface="Microsoft YaHei"/>
                <a:ea typeface="Microsoft YaHei"/>
              </a:rPr>
              <a:t>交付阶段</a:t>
            </a:r>
            <a:endParaRPr/>
          </a:p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4419600" y="1409700"/>
            <a:ext cx="1619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材料</a:t>
            </a:r>
            <a:endParaRPr/>
          </a:p>
        </p:txBody>
      </p:sp>
      <p:sp>
        <p:nvSpPr>
          <p:cNvPr id="499" name="" descr="{&quot;isTemplate&quot;:true,&quot;type&quot;:&quot;text&quot;}"/>
          <p:cNvSpPr txBox="1"/>
          <p:nvPr/>
        </p:nvSpPr>
        <p:spPr>
          <a:xfrm rot="0" flipH="0" flipV="0">
            <a:off x="6172200" y="1409700"/>
            <a:ext cx="2857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能说明什么</a:t>
            </a:r>
            <a:endParaRPr/>
          </a:p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9163050" y="1409700"/>
            <a:ext cx="2286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推荐标注</a:t>
            </a:r>
            <a:endParaRPr/>
          </a:p>
        </p:txBody>
      </p:sp>
      <p:sp>
        <p:nvSpPr>
          <p:cNvPr id="501" name=""/>
          <p:cNvSpPr/>
          <p:nvPr/>
        </p:nvSpPr>
        <p:spPr>
          <a:xfrm rot="0" flipH="0" flipV="0">
            <a:off x="4114800" y="1714500"/>
            <a:ext cx="7467600" cy="647700"/>
          </a:xfrm>
          <a:prstGeom prst="roundRect">
            <a:avLst>
              <a:gd name="adj" fmla="val 1176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02" name=""/>
          <p:cNvSpPr/>
          <p:nvPr/>
        </p:nvSpPr>
        <p:spPr>
          <a:xfrm rot="0" flipH="0" flipV="0">
            <a:off x="4248150" y="1847850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4419600" y="1943100"/>
            <a:ext cx="1619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作者空间图</a:t>
            </a:r>
            <a:endParaRPr/>
          </a:p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6172200" y="1914525"/>
            <a:ext cx="2857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预期布局与功能区域</a:t>
            </a:r>
            <a:endParaRPr/>
          </a:p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9163050" y="1933575"/>
            <a:ext cx="228600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待制作草图，未验证系统寻路</a:t>
            </a:r>
            <a:endParaRPr/>
          </a:p>
        </p:txBody>
      </p:sp>
      <p:sp>
        <p:nvSpPr>
          <p:cNvPr id="506" name=""/>
          <p:cNvSpPr/>
          <p:nvPr/>
        </p:nvSpPr>
        <p:spPr>
          <a:xfrm rot="0" flipH="0" flipV="0">
            <a:off x="4114800" y="2457450"/>
            <a:ext cx="7467600" cy="6477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07" name=""/>
          <p:cNvSpPr/>
          <p:nvPr/>
        </p:nvSpPr>
        <p:spPr>
          <a:xfrm rot="0" flipH="0" flipV="0">
            <a:off x="4248150" y="2590800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4419600" y="2686050"/>
            <a:ext cx="1619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Skill </a:t>
            </a: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原文</a:t>
            </a:r>
            <a:endParaRPr/>
          </a:p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6172200" y="2657475"/>
            <a:ext cx="2857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要求角色采用的方法</a:t>
            </a:r>
            <a:endParaRPr/>
          </a:p>
        </p:txBody>
      </p:sp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9163050" y="2676525"/>
            <a:ext cx="228600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文本来源、组别、是否与包内核对</a:t>
            </a:r>
            <a:endParaRPr/>
          </a:p>
        </p:txBody>
      </p:sp>
      <p:sp>
        <p:nvSpPr>
          <p:cNvPr id="511" name=""/>
          <p:cNvSpPr/>
          <p:nvPr/>
        </p:nvSpPr>
        <p:spPr>
          <a:xfrm rot="0" flipH="0" flipV="0">
            <a:off x="4114800" y="3200400"/>
            <a:ext cx="7467600" cy="647700"/>
          </a:xfrm>
          <a:prstGeom prst="roundRect">
            <a:avLst>
              <a:gd name="adj" fmla="val 1176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12" name=""/>
          <p:cNvSpPr/>
          <p:nvPr/>
        </p:nvSpPr>
        <p:spPr>
          <a:xfrm rot="0" flipH="0" flipV="0">
            <a:off x="4248150" y="3333750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4419600" y="3429000"/>
            <a:ext cx="1619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回放片段</a:t>
            </a:r>
            <a:endParaRPr/>
          </a:p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6172200" y="3400425"/>
            <a:ext cx="2857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已提交窗口中实际发生的变化</a:t>
            </a:r>
            <a:endParaRPr/>
          </a:p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9163050" y="3419475"/>
            <a:ext cx="228600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Run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Step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区间、虚拟时间、取材边界</a:t>
            </a:r>
            <a:endParaRPr/>
          </a:p>
        </p:txBody>
      </p:sp>
      <p:sp>
        <p:nvSpPr>
          <p:cNvPr id="516" name=""/>
          <p:cNvSpPr/>
          <p:nvPr/>
        </p:nvSpPr>
        <p:spPr>
          <a:xfrm rot="0" flipH="0" flipV="0">
            <a:off x="4114800" y="3943350"/>
            <a:ext cx="7467600" cy="6477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17" name=""/>
          <p:cNvSpPr/>
          <p:nvPr/>
        </p:nvSpPr>
        <p:spPr>
          <a:xfrm rot="0" flipH="0" flipV="0">
            <a:off x="4248150" y="4076700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18" name="" descr="{&quot;isTemplate&quot;:true,&quot;type&quot;:&quot;text&quot;}"/>
          <p:cNvSpPr txBox="1"/>
          <p:nvPr/>
        </p:nvSpPr>
        <p:spPr>
          <a:xfrm rot="0" flipH="0" flipV="0">
            <a:off x="4419600" y="4171950"/>
            <a:ext cx="1619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调用记录</a:t>
            </a:r>
            <a:endParaRPr/>
          </a:p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6172200" y="4143375"/>
            <a:ext cx="2857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模型与工具的尝试、返回及错误</a:t>
            </a:r>
            <a:endParaRPr/>
          </a:p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9163050" y="4162425"/>
            <a:ext cx="228600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Attempt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、调用身份、是否产生世界提交</a:t>
            </a:r>
            <a:endParaRPr/>
          </a:p>
        </p:txBody>
      </p:sp>
      <p:sp>
        <p:nvSpPr>
          <p:cNvPr id="521" name=""/>
          <p:cNvSpPr/>
          <p:nvPr/>
        </p:nvSpPr>
        <p:spPr>
          <a:xfrm rot="0" flipH="0" flipV="0">
            <a:off x="4114800" y="4686300"/>
            <a:ext cx="7467600" cy="647700"/>
          </a:xfrm>
          <a:prstGeom prst="roundRect">
            <a:avLst>
              <a:gd name="adj" fmla="val 1176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22" name=""/>
          <p:cNvSpPr/>
          <p:nvPr/>
        </p:nvSpPr>
        <p:spPr>
          <a:xfrm rot="0" flipH="0" flipV="0">
            <a:off x="4248150" y="4819650"/>
            <a:ext cx="38100" cy="381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4419600" y="4914900"/>
            <a:ext cx="1619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人工算例</a:t>
            </a:r>
            <a:endParaRPr/>
          </a:p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6172200" y="4886325"/>
            <a:ext cx="2857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指标如何计算</a:t>
            </a:r>
            <a:endParaRPr/>
          </a:p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9163050" y="4905375"/>
            <a:ext cx="228600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CB6B28"/>
                </a:solidFill>
                <a:latin typeface="Microsoft YaHei"/>
                <a:ea typeface="Microsoft YaHei"/>
              </a:rPr>
              <a:t>人工构造，无对应</a:t>
            </a:r>
            <a:r>
              <a:rPr lang="en-US" sz="975">
                <a:solidFill>
                  <a:srgbClr val="CB6B28"/>
                </a:solidFill>
                <a:latin typeface="Microsoft YaHei"/>
                <a:ea typeface="Microsoft YaHei"/>
              </a:rPr>
              <a:t xml:space="preserve"> Run</a:t>
            </a:r>
            <a:endParaRPr/>
          </a:p>
        </p:txBody>
      </p:sp>
      <p:sp>
        <p:nvSpPr>
          <p:cNvPr id="526" name=""/>
          <p:cNvSpPr/>
          <p:nvPr/>
        </p:nvSpPr>
        <p:spPr>
          <a:xfrm rot="0" flipH="0" flipV="0">
            <a:off x="4114800" y="5429250"/>
            <a:ext cx="7467600" cy="647700"/>
          </a:xfrm>
          <a:prstGeom prst="roundRect">
            <a:avLst>
              <a:gd name="adj" fmla="val 1176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27" name=""/>
          <p:cNvSpPr/>
          <p:nvPr/>
        </p:nvSpPr>
        <p:spPr>
          <a:xfrm rot="0" flipH="0" flipV="0">
            <a:off x="4248150" y="5562600"/>
            <a:ext cx="38100" cy="3810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4419600" y="5657850"/>
            <a:ext cx="1619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分析结论</a:t>
            </a:r>
            <a:endParaRPr/>
          </a:p>
        </p:txBody>
      </p:sp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6172200" y="5629275"/>
            <a:ext cx="2857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作者对证据的解释</a:t>
            </a:r>
            <a:endParaRPr/>
          </a:p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9163050" y="5648325"/>
            <a:ext cx="228600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支持记录、适用条件和仍未知之处</a:t>
            </a:r>
            <a:endParaRPr/>
          </a:p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汇报与质疑</a:t>
            </a:r>
            <a:endParaRPr/>
          </a:p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04 / 26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533" name="" descr="&lt;Slide notes={`讲一下标注应该放在哪里。标注要贴近它说明的材料，图片旁边、表格旁边、片段旁边，读者在同一处就能看到来源，不必自己去猜。&#10;&#10;最容易出问题的是把来源说明挪到讲义最后一页，或者干脆放进附录。不了解材料的读者会默认前面看到的东西都是本案结果，于是把人工练习里算出来的三分之四当成模型能力。&#10;&#10;特别提醒课堂上出现的数字：第四章的人工判分练习给出三项闭环、四项任务，如果屏幕上出现四分之三等于百分之七十五，旁边就要写明它是人工判分练习、没有对应的运行记录。&#10;&#10;先说明项目处在设计、运行还是交付阶段，听众才知道哪些是承诺、哪些是事实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8.1　先告诉听众，他们正在看哪一种材料&lt;/Text&gt;&#10;            &lt;Text style={{ fontSize: 34, fontWeight: 'bold', color: '#20344B' }}&gt;标注要贴在材料旁边&lt;/Text&gt;&#10;        &lt;/Box&gt;&#10;    &lt;/Box&gt;&#10;&#10;    &lt;Box style={{ height: 540, flexDirection: 'column', gap: 20 }}&gt;&#10;&#10;        &lt;Box style={{ height: 350, flexDirection: 'row', gap: 24 }}&gt;&#10;&#10;            &lt;Box style={{ width: 700, height: 350, background: '#F4F7FA', borderRadius: 12, padding: '18px 20px', flexDirection: 'column', gap: 12 }}&gt;&#10;                &lt;Text style={{ fontSize: 15, color: '#546779' }}&gt;教学研讨讲义 · 第 7 页&lt;/Text&gt;&#10;                &lt;Box style={{ height: 170, flexDirection: 'row', gap: 16 }}&gt;&#10;                    &lt;Box style={{ width: 300, height: 170, background: '#EDF4FC', borderRadius: 8, flexDirection: 'column', gap: 6, justifyContent: 'center', alignItems: 'center' }}&gt;&#10;                        &lt;Text style={{ fontSize: 16, fontWeight: 'bold', color: '#276FBF' }}&gt;作者空间图&lt;/Text&gt;&#10;                        &lt;Text style={{ fontSize: 13, color: '#546779' }}&gt;待制作草图&lt;/Text&gt;&#10;                    &lt;/Box&gt;&#10;                    &lt;Box style={{ flex: 1, flexDirection: 'column', gap: 8, justifyContent: 'center' }}&gt;&#10;                        &lt;Text style={{ fontSize: 18, fontWeight: 'bold', color: '#20344B', lineHeight: 1.4 }}&gt;入口咨询的两轮询问路径&lt;/Text&gt;&#10;                        &lt;Text style={{ fontSize: 14, color: '#546779', lineHeight: 1.6 }}&gt;第一轮确认目的，第二轮给出适配窗口建议。&lt;/Text&gt;&#10;                        &lt;Text style={{ fontSize: 14, color: '#546779', lineHeight: 1.6 }}&gt;本页数字 3/4 = 75% 来自人工判分练习。&lt;/Text&gt;&#10;                    &lt;/Box&gt;&#10;                &lt;/Box&gt;&#10;                &lt;Box style={{ height: 34, background: '#F4F7FA', borderRadius: 6, justifyContent: 'center', padding: '0 14px' }}&gt;&#10;                    &lt;Text style={{ fontSize: 14, color: '#CB6B28' }}&gt;3/4 = 75%　人工判分练习，无对应 Run&lt;/Text&gt;&#10;                &lt;/Box&gt;&#10;                &lt;Box style={{ height: 46, background: '#FFF4E6', borderRadius: 8, flexDirection: 'row', alignItems: 'center', gap: 10, padding: '0 16px' }}&gt;&#10;                    &lt;Text style={{ fontSize: 14, fontWeight: 'bold', color: '#CB6B28' }}&gt;标注&lt;/Text&gt;&#10;                    &lt;Text style={{ fontSize: 14, color: '#20344B' }}&gt;待制作草图，未验证系统寻路&lt;/Text&gt;&#10;                &lt;/Box&gt;&#10;            &lt;/Box&gt;&#10;&#10;            &lt;Box style={{ width: 428, flexDirection: 'column', gap: 12 }}&gt;&#10;                &lt;Box style={{ height: 108, background: '#ECF7F2', borderRadius: 10, padding: '14px 18px', flexDirection: 'column', gap: 6, justifyContent: 'center' }}&gt;&#10;                    &lt;Text style={{ fontSize: 16, fontWeight: 'bold', color: '#26816B' }}&gt;标注贴近材料&lt;/Text&gt;&#10;                    &lt;Text style={{ fontSize: 14, color: '#546779', lineHeight: 1.6 }}&gt;标注跟着图片或片段走，读者在同一处就能看到来源。&lt;/Text&gt;&#10;                &lt;/Box&gt;&#10;                &lt;Box style={{ height: 108, background: '#FFF4E6', borderRadius: 10, padding: '14px 18px', flexDirection: 'column', gap: 6, justifyContent: 'center' }}&gt;&#10;                    &lt;Text style={{ fontSize: 16, fontWeight: 'bold', color: '#CB6B28' }}&gt;不能只藏在最后一页&lt;/Text&gt;&#10;                    &lt;Text style={{ fontSize: 14, color: '#546779', lineHeight: 1.6 }}&gt;移到附录，读者会误以为模型已经达到那个表现。&lt;/Text&gt;&#10;                &lt;/Box&gt;&#10;                &lt;Box style={{ height: 108, background: '#F4F7FA', borderRadius: 10, padding: '14px 18px', flexDirection: 'column', gap: 6, justifyContent: 'center' }}&gt;&#10;                    &lt;Text style={{ fontSize: 16, fontWeight: 'bold', color: '#20344B' }}&gt;先说明阶段&lt;/Text&gt;&#10;                    &lt;Text style={{ fontSize: 14, color: '#546779', lineHeight: 1.6 }}&gt;设计、运行还是交付，决定听众对每句话的期待。&lt;/Text&gt;&#10;                &lt;/Box&gt;&#10;            &lt;/Box&gt;&#10;&#10;        &lt;/Box&gt;&#10;&#10;        &lt;Box style={{ height: 130, flexDirection: 'row', gap: 20 }}&gt;&#10;            &lt;Box style={{ width: 566, height: 130, background: '#EDF4FC', borderRadius: 10, padding: '16px 20px', flexDirection: 'row', alignItems: 'center', gap: 14 }}&gt;&#10;                &lt;Box style={{ width: 4, height: 64, background: '#276FBF' }} /&gt;&#10;                &lt;Box style={{ flex: 1, flexDirection: 'column', gap: 6 }}&gt;&#10;                    &lt;Text style={{ fontSize: 16, fontWeight: 'bold', color: '#276FBF' }}&gt;每份材料有自己的身份&lt;/Text&gt;&#10;                    &lt;Text style={{ fontSize: 14, color: '#546779', lineHeight: 1.6 }}&gt;需求表、草图、截图、已提交事件、人工算例与作者解释的证据作用并不相同。&lt;/Text&gt;&#10;                &lt;/Box&gt;&#10;            &lt;/Box&gt;&#10;            &lt;Box style={{ width: 566, height: 130, background: '#F4F7FA', borderRadius: 10, padding: '16px 20px', flexDirection: 'row', alignItems: 'center', gap: 14 }}&gt;&#10;                &lt;Box style={{ width: 4, height: 64, background: '#26816B' }} /&gt;&#10;                &lt;Box style={{ flex: 1, flexDirection: 'column', gap: 6 }}&gt;&#10;                    &lt;Text style={{ fontSize: 16, fontWeight: 'bold', color: '#26816B' }}&gt;标注要能被单独读到&lt;/Text&gt;&#10;                    &lt;Text style={{ fontSize: 14, color: '#546779', lineHeight: 1.6 }}&gt;听众不需要翻到附录，就能判断眼前这一页的数字与画面从哪里来。&lt;/Text&gt;&#10;                &lt;/Box&gt;&#10;            &lt;/Box&gt;&#10;        &lt;/Box&gt;&#10;&#10;    &lt;/Box&gt;&#10;&#10;    &lt;Box style={{ height: 40, flexDirection: 'row', justifyContent: 'space-between', alignItems: 'center' }}&gt;&#10;        &lt;Text style={{ fontSize: 14, color: '#546779' }}&gt;5.8 汇报与质疑&lt;/Text&gt;&#10;        &lt;Text style={{ fontSize: 14, color: '#546779' }}&gt;05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5.8.1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先告诉听众，他们正在看哪一种材料</a:t>
            </a:r>
            <a:endParaRPr/>
          </a:p>
        </p:txBody>
      </p:sp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标注要贴在材料旁边</a:t>
            </a:r>
            <a:endParaRPr/>
          </a:p>
        </p:txBody>
      </p:sp>
      <p:sp>
        <p:nvSpPr>
          <p:cNvPr id="538" name=""/>
          <p:cNvSpPr/>
          <p:nvPr/>
        </p:nvSpPr>
        <p:spPr>
          <a:xfrm rot="0" flipH="0" flipV="0">
            <a:off x="609600" y="1143000"/>
            <a:ext cx="6667500" cy="3333750"/>
          </a:xfrm>
          <a:prstGeom prst="roundRect">
            <a:avLst>
              <a:gd name="adj" fmla="val 342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800100" y="1314450"/>
            <a:ext cx="6286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教学研讨讲义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第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7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页</a:t>
            </a:r>
            <a:endParaRPr/>
          </a:p>
        </p:txBody>
      </p:sp>
      <p:sp>
        <p:nvSpPr>
          <p:cNvPr id="540" name=""/>
          <p:cNvSpPr/>
          <p:nvPr/>
        </p:nvSpPr>
        <p:spPr>
          <a:xfrm rot="0" flipH="0" flipV="0">
            <a:off x="800100" y="1600200"/>
            <a:ext cx="2857500" cy="1619250"/>
          </a:xfrm>
          <a:prstGeom prst="roundRect">
            <a:avLst>
              <a:gd name="adj" fmla="val 470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1847850" y="2209800"/>
            <a:ext cx="76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作者空间图</a:t>
            </a:r>
            <a:endParaRPr/>
          </a:p>
        </p:txBody>
      </p:sp>
      <p:sp>
        <p:nvSpPr>
          <p:cNvPr id="542" name="" descr="{&quot;isTemplate&quot;:true,&quot;type&quot;:&quot;text&quot;}"/>
          <p:cNvSpPr txBox="1"/>
          <p:nvPr/>
        </p:nvSpPr>
        <p:spPr>
          <a:xfrm rot="0" flipH="0" flipV="0">
            <a:off x="1924050" y="2457450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待制作草图</a:t>
            </a:r>
            <a:endParaRPr/>
          </a:p>
        </p:txBody>
      </p:sp>
      <p:sp>
        <p:nvSpPr>
          <p:cNvPr id="543" name="" descr="{&quot;isTemplate&quot;:true,&quot;type&quot;:&quot;text&quot;}"/>
          <p:cNvSpPr txBox="1"/>
          <p:nvPr/>
        </p:nvSpPr>
        <p:spPr>
          <a:xfrm rot="0" flipH="0" flipV="0">
            <a:off x="3810000" y="1933575"/>
            <a:ext cx="3276600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入口咨询的两轮询问路径</a:t>
            </a:r>
            <a:endParaRPr/>
          </a:p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3810000" y="2305050"/>
            <a:ext cx="32766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第一轮确认目的，第二轮给出适配窗口建议。</a:t>
            </a:r>
            <a:endParaRPr/>
          </a:p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3810000" y="2638425"/>
            <a:ext cx="32766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本页数字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3/4 = 75%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来自人工判分练习。</a:t>
            </a:r>
            <a:endParaRPr/>
          </a:p>
        </p:txBody>
      </p:sp>
      <p:sp>
        <p:nvSpPr>
          <p:cNvPr id="546" name=""/>
          <p:cNvSpPr/>
          <p:nvPr/>
        </p:nvSpPr>
        <p:spPr>
          <a:xfrm rot="0" flipH="0" flipV="0">
            <a:off x="800100" y="3333750"/>
            <a:ext cx="6286500" cy="323850"/>
          </a:xfrm>
          <a:prstGeom prst="roundRect">
            <a:avLst>
              <a:gd name="adj" fmla="val 1764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933450" y="3419475"/>
            <a:ext cx="6019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CB6B28"/>
                </a:solidFill>
                <a:latin typeface="Microsoft YaHei"/>
                <a:ea typeface="Microsoft YaHei"/>
              </a:rPr>
              <a:t>3/4 = 75%</a:t>
            </a: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　人工判分练习，无对应</a:t>
            </a:r>
            <a:r>
              <a:rPr lang="en-US" sz="1050">
                <a:solidFill>
                  <a:srgbClr val="CB6B28"/>
                </a:solidFill>
                <a:latin typeface="Microsoft YaHei"/>
                <a:ea typeface="Microsoft YaHei"/>
              </a:rPr>
              <a:t xml:space="preserve"> Run</a:t>
            </a:r>
            <a:endParaRPr/>
          </a:p>
        </p:txBody>
      </p:sp>
      <p:sp>
        <p:nvSpPr>
          <p:cNvPr id="548" name=""/>
          <p:cNvSpPr/>
          <p:nvPr/>
        </p:nvSpPr>
        <p:spPr>
          <a:xfrm rot="0" flipH="0" flipV="0">
            <a:off x="800100" y="3771900"/>
            <a:ext cx="6286500" cy="438150"/>
          </a:xfrm>
          <a:prstGeom prst="roundRect">
            <a:avLst>
              <a:gd name="adj" fmla="val 1739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952500" y="3914775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B6B28"/>
                </a:solidFill>
                <a:latin typeface="Microsoft YaHei"/>
                <a:ea typeface="Microsoft YaHei"/>
              </a:rPr>
              <a:t>标注</a:t>
            </a:r>
            <a:endParaRPr/>
          </a:p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1314450" y="3914775"/>
            <a:ext cx="1733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待制作草图，未验证系统寻路</a:t>
            </a:r>
            <a:endParaRPr/>
          </a:p>
        </p:txBody>
      </p:sp>
      <p:sp>
        <p:nvSpPr>
          <p:cNvPr id="551" name=""/>
          <p:cNvSpPr/>
          <p:nvPr/>
        </p:nvSpPr>
        <p:spPr>
          <a:xfrm rot="0" flipH="0" flipV="0">
            <a:off x="7505700" y="1143000"/>
            <a:ext cx="4076700" cy="1028700"/>
          </a:xfrm>
          <a:prstGeom prst="roundRect">
            <a:avLst>
              <a:gd name="adj" fmla="val 925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7677150" y="1409700"/>
            <a:ext cx="3733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标注贴近材料</a:t>
            </a:r>
            <a:endParaRPr/>
          </a:p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7677150" y="1657350"/>
            <a:ext cx="37338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标注跟着图片或片段走，读者在同一处就能看到来源。</a:t>
            </a:r>
            <a:endParaRPr/>
          </a:p>
        </p:txBody>
      </p:sp>
      <p:sp>
        <p:nvSpPr>
          <p:cNvPr id="554" name=""/>
          <p:cNvSpPr/>
          <p:nvPr/>
        </p:nvSpPr>
        <p:spPr>
          <a:xfrm rot="0" flipH="0" flipV="0">
            <a:off x="7505700" y="2286000"/>
            <a:ext cx="4076700" cy="1028700"/>
          </a:xfrm>
          <a:prstGeom prst="roundRect">
            <a:avLst>
              <a:gd name="adj" fmla="val 925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7677150" y="2552700"/>
            <a:ext cx="3733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不能只藏在最后一页</a:t>
            </a:r>
            <a:endParaRPr/>
          </a:p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7677150" y="2800350"/>
            <a:ext cx="37338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移到附录，读者会误以为模型已经达到那个表现。</a:t>
            </a:r>
            <a:endParaRPr/>
          </a:p>
        </p:txBody>
      </p:sp>
      <p:sp>
        <p:nvSpPr>
          <p:cNvPr id="557" name=""/>
          <p:cNvSpPr/>
          <p:nvPr/>
        </p:nvSpPr>
        <p:spPr>
          <a:xfrm rot="0" flipH="0" flipV="0">
            <a:off x="7505700" y="3429000"/>
            <a:ext cx="4076700" cy="1028700"/>
          </a:xfrm>
          <a:prstGeom prst="roundRect">
            <a:avLst>
              <a:gd name="adj" fmla="val 925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7677150" y="3695700"/>
            <a:ext cx="3733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先说明阶段</a:t>
            </a:r>
            <a:endParaRPr/>
          </a:p>
        </p:txBody>
      </p:sp>
      <p:sp>
        <p:nvSpPr>
          <p:cNvPr id="559" name="" descr="{&quot;isTemplate&quot;:true,&quot;type&quot;:&quot;text&quot;}"/>
          <p:cNvSpPr txBox="1"/>
          <p:nvPr/>
        </p:nvSpPr>
        <p:spPr>
          <a:xfrm rot="0" flipH="0" flipV="0">
            <a:off x="7677150" y="3943350"/>
            <a:ext cx="37338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设计、运行还是交付，决定听众对每句话的期待。</a:t>
            </a:r>
            <a:endParaRPr/>
          </a:p>
        </p:txBody>
      </p:sp>
      <p:sp>
        <p:nvSpPr>
          <p:cNvPr id="560" name=""/>
          <p:cNvSpPr/>
          <p:nvPr/>
        </p:nvSpPr>
        <p:spPr>
          <a:xfrm rot="0" flipH="0" flipV="0">
            <a:off x="609600" y="4667250"/>
            <a:ext cx="5391150" cy="1238250"/>
          </a:xfrm>
          <a:prstGeom prst="roundRect">
            <a:avLst>
              <a:gd name="adj" fmla="val 769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61" name=""/>
          <p:cNvSpPr/>
          <p:nvPr/>
        </p:nvSpPr>
        <p:spPr>
          <a:xfrm rot="0" flipH="0" flipV="0">
            <a:off x="800100" y="4981575"/>
            <a:ext cx="38100" cy="6096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971550" y="5038725"/>
            <a:ext cx="4838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每份材料有自己的身份</a:t>
            </a:r>
            <a:endParaRPr/>
          </a:p>
        </p:txBody>
      </p:sp>
      <p:sp>
        <p:nvSpPr>
          <p:cNvPr id="563" name="" descr="{&quot;isTemplate&quot;:true,&quot;type&quot;:&quot;text&quot;}"/>
          <p:cNvSpPr txBox="1"/>
          <p:nvPr/>
        </p:nvSpPr>
        <p:spPr>
          <a:xfrm rot="0" flipH="0" flipV="0">
            <a:off x="971550" y="5286375"/>
            <a:ext cx="48387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需求表、草图、截图、已提交事件、人工算例与作者解释的证据作用并不相同。</a:t>
            </a:r>
            <a:endParaRPr/>
          </a:p>
        </p:txBody>
      </p:sp>
      <p:sp>
        <p:nvSpPr>
          <p:cNvPr id="564" name=""/>
          <p:cNvSpPr/>
          <p:nvPr/>
        </p:nvSpPr>
        <p:spPr>
          <a:xfrm rot="0" flipH="0" flipV="0">
            <a:off x="6191250" y="4667250"/>
            <a:ext cx="5391150" cy="1238250"/>
          </a:xfrm>
          <a:prstGeom prst="roundRect">
            <a:avLst>
              <a:gd name="adj" fmla="val 769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65" name=""/>
          <p:cNvSpPr/>
          <p:nvPr/>
        </p:nvSpPr>
        <p:spPr>
          <a:xfrm rot="0" flipH="0" flipV="0">
            <a:off x="6381750" y="4981575"/>
            <a:ext cx="38100" cy="6096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6553200" y="5038725"/>
            <a:ext cx="4838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标注要能被单独读到</a:t>
            </a:r>
            <a:endParaRPr/>
          </a:p>
        </p:txBody>
      </p:sp>
      <p:sp>
        <p:nvSpPr>
          <p:cNvPr id="567" name="" descr="{&quot;isTemplate&quot;:true,&quot;type&quot;:&quot;text&quot;}"/>
          <p:cNvSpPr txBox="1"/>
          <p:nvPr/>
        </p:nvSpPr>
        <p:spPr>
          <a:xfrm rot="0" flipH="0" flipV="0">
            <a:off x="6553200" y="5286375"/>
            <a:ext cx="48387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听众不需要翻到附录，就能判断眼前这一页的数字与画面从哪里来。</a:t>
            </a:r>
            <a:endParaRPr/>
          </a:p>
        </p:txBody>
      </p:sp>
      <p:sp>
        <p:nvSpPr>
          <p:cNvPr id="56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汇报与质疑</a:t>
            </a:r>
            <a:endParaRPr/>
          </a:p>
        </p:txBody>
      </p:sp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05 / 26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570" name="" descr="&lt;Slide notes={`第二个要讲清楚的是顺序。二十分钟的汇报，依次回答四个问题：研究什么、怎样比较、证据是什么、能解释到哪里。我用一条问题线把它们串起来，不让听众在中途失去线索。&#10;&#10;前四分钟讲问题，接着四分钟讲唯一差异，中间六分钟放证据，最后六分钟做解释与讨论。为什么证据和讨论各占六分钟？因为这两段最容易被挤掉，而它们恰恰是听众判断结果可信不可信的地方。&#10;&#10;这里要说清一件事：这个时间分配是汇报建议，不是系统运行耗时。虚拟时间、播放时长和运行耗时是三件不同的事，不能用同一串数字互相代替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第五章　5.8　演示与评审&lt;/Text&gt;&#10;            &lt;Text style={{ fontSize: 34, fontWeight: 'bold', color: '#20344B' }}&gt;知识块 ②&lt;/Text&gt;&#10;        &lt;/Box&gt;&#10;    &lt;/Box&gt;&#10;&#10;    &lt;Box style={{ height: 540, flexDirection: 'column', justifyContent: 'center', gap: 18 }}&gt;&#10;&#10;        &lt;Text style={{ fontSize: 96, fontWeight: 'bold', color: '#276FBF', lineHeight: 1.0 }}&gt;②&lt;/Text&gt;&#10;&#10;        &lt;Text style={{ fontSize: 56, fontWeight: 'bold', color: '#20344B', lineHeight: 1.15 }}&gt;用一条问题线组织二十分钟&lt;/Text&gt;&#10;&#10;        &lt;Box style={{ width: 72, height: 4, background: '#276FBF' }} /&gt;&#10;&#10;        &lt;Text style={{ fontSize: 18, color: '#546779', lineHeight: 1.7, width: 940 }}&gt;依次回答四个问题：研究什么、怎样比较、证据是什么、能解释到哪里。&lt;/Text&gt;&#10;&#10;        &lt;Box style={{ flexDirection: 'row', gap: 12, marginTop: 8 }}&gt;&#10;            &lt;Box style={{ width: 276, height: 56, background: '#EDF4FC', borderRadius: 8, justifyContent: 'center', alignItems: 'center' }}&gt;&#10;                &lt;Text style={{ fontSize: 16, color: '#276FBF' }}&gt;0—4　问题&lt;/Text&gt;&#10;            &lt;/Box&gt;&#10;            &lt;Box style={{ width: 276, height: 56, background: '#EDF4FC', borderRadius: 8, justifyContent: 'center', alignItems: 'center' }}&gt;&#10;                &lt;Text style={{ fontSize: 16, color: '#276FBF' }}&gt;4—8　唯一差异&lt;/Text&gt;&#10;            &lt;/Box&gt;&#10;            &lt;Box style={{ width: 276, height: 56, background: '#ECF7F2', borderRadius: 8, justifyContent: 'center', alignItems: 'center' }}&gt;&#10;                &lt;Text style={{ fontSize: 16, color: '#26816B' }}&gt;8—14　证据&lt;/Text&gt;&#10;            &lt;/Box&gt;&#10;            &lt;Box style={{ width: 276, height: 56, background: '#ECF7F2', borderRadius: 8, justifyContent: 'center', alignItems: 'center' }}&gt;&#10;                &lt;Text style={{ fontSize: 16, color: '#26816B' }}&gt;14—20　解释与讨论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8 汇报与质疑&lt;/Text&gt;&#10;        &lt;Text style={{ fontSize: 14, color: '#546779' }}&gt;06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7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1524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第五章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5.8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演示与评审</a:t>
            </a:r>
            <a:endParaRPr/>
          </a:p>
        </p:txBody>
      </p:sp>
      <p:sp>
        <p:nvSpPr>
          <p:cNvPr id="57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1524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知识块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②</a:t>
            </a:r>
            <a:endParaRPr/>
          </a:p>
        </p:txBody>
      </p:sp>
      <p:sp>
        <p:nvSpPr>
          <p:cNvPr id="575" name="" descr="{&quot;isTemplate&quot;:true,&quot;type&quot;:&quot;text&quot;}"/>
          <p:cNvSpPr txBox="1"/>
          <p:nvPr/>
        </p:nvSpPr>
        <p:spPr>
          <a:xfrm rot="0" flipH="0" flipV="0">
            <a:off x="609600" y="1952625"/>
            <a:ext cx="109728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200" b="1">
                <a:solidFill>
                  <a:srgbClr val="276FBF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609600" y="32289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用一条问题线组织二十分钟</a:t>
            </a:r>
            <a:endParaRPr/>
          </a:p>
        </p:txBody>
      </p:sp>
      <p:sp>
        <p:nvSpPr>
          <p:cNvPr id="577" name=""/>
          <p:cNvSpPr/>
          <p:nvPr/>
        </p:nvSpPr>
        <p:spPr>
          <a:xfrm rot="0" flipH="0" flipV="0">
            <a:off x="609600" y="41433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609600" y="4352925"/>
            <a:ext cx="8953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依次回答四个问题：研究什么、怎样比较、证据是什么、能解释到哪里。</a:t>
            </a:r>
            <a:endParaRPr/>
          </a:p>
        </p:txBody>
      </p:sp>
      <p:sp>
        <p:nvSpPr>
          <p:cNvPr id="579" name=""/>
          <p:cNvSpPr/>
          <p:nvPr/>
        </p:nvSpPr>
        <p:spPr>
          <a:xfrm rot="0" flipH="0" flipV="0">
            <a:off x="609600" y="4953000"/>
            <a:ext cx="262890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1524000" y="5124450"/>
            <a:ext cx="8096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76FBF"/>
                </a:solidFill>
                <a:latin typeface="Microsoft YaHei"/>
                <a:ea typeface="Microsoft YaHei"/>
              </a:rPr>
              <a:t>0—4</a:t>
            </a: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　问题</a:t>
            </a:r>
            <a:endParaRPr/>
          </a:p>
        </p:txBody>
      </p:sp>
      <p:sp>
        <p:nvSpPr>
          <p:cNvPr id="581" name=""/>
          <p:cNvSpPr/>
          <p:nvPr/>
        </p:nvSpPr>
        <p:spPr>
          <a:xfrm rot="0" flipH="0" flipV="0">
            <a:off x="3352800" y="4953000"/>
            <a:ext cx="262890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82" name="" descr="{&quot;isTemplate&quot;:true,&quot;type&quot;:&quot;text&quot;}"/>
          <p:cNvSpPr txBox="1"/>
          <p:nvPr/>
        </p:nvSpPr>
        <p:spPr>
          <a:xfrm rot="0" flipH="0" flipV="0">
            <a:off x="4114800" y="5124450"/>
            <a:ext cx="11144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76FBF"/>
                </a:solidFill>
                <a:latin typeface="Microsoft YaHei"/>
                <a:ea typeface="Microsoft YaHei"/>
              </a:rPr>
              <a:t>4—8</a:t>
            </a: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　唯一差异</a:t>
            </a:r>
            <a:endParaRPr/>
          </a:p>
        </p:txBody>
      </p:sp>
      <p:sp>
        <p:nvSpPr>
          <p:cNvPr id="583" name=""/>
          <p:cNvSpPr/>
          <p:nvPr/>
        </p:nvSpPr>
        <p:spPr>
          <a:xfrm rot="0" flipH="0" flipV="0">
            <a:off x="6096000" y="4953000"/>
            <a:ext cx="2628900" cy="533400"/>
          </a:xfrm>
          <a:prstGeom prst="roundRect">
            <a:avLst>
              <a:gd name="adj" fmla="val 1428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84" name="" descr="{&quot;isTemplate&quot;:true,&quot;type&quot;:&quot;text&quot;}"/>
          <p:cNvSpPr txBox="1"/>
          <p:nvPr/>
        </p:nvSpPr>
        <p:spPr>
          <a:xfrm rot="0" flipH="0" flipV="0">
            <a:off x="6962775" y="5124450"/>
            <a:ext cx="895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6816B"/>
                </a:solidFill>
                <a:latin typeface="Microsoft YaHei"/>
                <a:ea typeface="Microsoft YaHei"/>
              </a:rPr>
              <a:t>8—14</a:t>
            </a:r>
            <a:r>
              <a:rPr lang="zh-CN" sz="1200">
                <a:solidFill>
                  <a:srgbClr val="26816B"/>
                </a:solidFill>
                <a:latin typeface="Microsoft YaHei"/>
                <a:ea typeface="Microsoft YaHei"/>
              </a:rPr>
              <a:t>　证据</a:t>
            </a:r>
            <a:endParaRPr/>
          </a:p>
        </p:txBody>
      </p:sp>
      <p:sp>
        <p:nvSpPr>
          <p:cNvPr id="585" name=""/>
          <p:cNvSpPr/>
          <p:nvPr/>
        </p:nvSpPr>
        <p:spPr>
          <a:xfrm rot="0" flipH="0" flipV="0">
            <a:off x="8839200" y="4953000"/>
            <a:ext cx="2628900" cy="533400"/>
          </a:xfrm>
          <a:prstGeom prst="roundRect">
            <a:avLst>
              <a:gd name="adj" fmla="val 1428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9439275" y="5124450"/>
            <a:ext cx="1438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6816B"/>
                </a:solidFill>
                <a:latin typeface="Microsoft YaHei"/>
                <a:ea typeface="Microsoft YaHei"/>
              </a:rPr>
              <a:t>14—20</a:t>
            </a:r>
            <a:r>
              <a:rPr lang="zh-CN" sz="1200">
                <a:solidFill>
                  <a:srgbClr val="26816B"/>
                </a:solidFill>
                <a:latin typeface="Microsoft YaHei"/>
                <a:ea typeface="Microsoft YaHei"/>
              </a:rPr>
              <a:t>　解释与讨论</a:t>
            </a:r>
            <a:endParaRPr/>
          </a:p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汇报与质疑</a:t>
            </a:r>
            <a:endParaRPr/>
          </a:p>
        </p:txBody>
      </p:sp>
      <p:sp>
        <p:nvSpPr>
          <p:cNvPr id="58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06 / 26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589" name="" descr="&lt;Slide notes={`前八分钟要做两件事。前四分钟介绍四项任务和服务分工，重点是让听众看到：H1 与 H3、H2 与 H4 分别使用相同的首句，私人目的却各不相同。每项任务在基线组和澄清组里的设定完全一样，这一点必须先说清，否则后面的比较就不成立。&#10;&#10;这里可以问听众一句：如果不追问，咨询台凭什么区分 H1 和 H3？这个问题能帮他们理解干预的理由，但我不会预先告诉大家澄清一定有收益。&#10;&#10;接着四分钟只讲一件事变了，就是咨询台的决策段。直接展示这一段的前后差异，比铺满一页功能名清楚得多。还要补一句：窗口也会核实需求，所以入口分流错了有时能被下游纠正，这正是不能只看最终闭环率的原因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8.2　用一条问题线组织二十分钟&lt;/Text&gt;&#10;            &lt;Text style={{ fontSize: 34, fontWeight: 'bold', color: '#20344B' }}&gt;前八分钟：问题与唯一差异&lt;/Text&gt;&#10;        &lt;/Box&gt;&#10;    &lt;/Box&gt;&#10;&#10;    &lt;Box style={{ height: 540, flexDirection: 'row', alignItems: 'center', gap: 28 }}&gt;&#10;&#10;        &lt;Box style={{ width: 660, flexDirection: 'column', gap: 14 }}&gt;&#10;            &lt;Text style={{ fontSize: 22, fontWeight: 'bold', color: '#20344B', lineHeight: 1.4 }}&gt;先把问题和比较条件交代完整&lt;/Text&gt;&#10;            &lt;Box style={{ width: 72, height: 4, background: '#276FBF' }} /&gt;&#10;            &lt;Text style={{ fontSize: 16, color: '#546779', lineHeight: 1.75, width: 660 }}&gt;前四分钟介绍四项任务与服务分工，让听众看到 H1 与 H3、H2 与 H4 分别使用相同首句，却各有不同的私人目的。每项任务在基线组与澄清组中的设定完全相同。这样听众才知道后面比较的究竟是什么。&lt;/Text&gt;&#10;            &lt;Box style={{ height: 110, background: '#FFF4E6', borderRadius: 10, padding: '14px 18px', flexDirection: 'row', alignItems: 'center', gap: 14 }}&gt;&#10;                &lt;Box style={{ width: 4, height: 68, background: '#CB6B28' }} /&gt;&#10;                &lt;Box style={{ flex: 1, flexDirection: 'column', gap: 6 }}&gt;&#10;                    &lt;Text style={{ fontSize: 16, fontWeight: 'bold', color: '#CB6B28' }}&gt;可以在这里问一句&lt;/Text&gt;&#10;                    &lt;Text style={{ fontSize: 15, color: '#546779', lineHeight: 1.6 }}&gt;如果不追问，咨询台凭什么区分 H1 与 H3？这个问题有助于解释干预理由，但不预先告诉大家澄清一定有收益。&lt;/Text&gt;&#10;                &lt;/Box&gt;&#10;            &lt;/Box&gt;&#10;            &lt;Text style={{ fontSize: 16, color: '#546779', lineHeight: 1.75, width: 660 }}&gt;直接展示咨询台决策段的差异，比铺满一页功能名更清楚。窗口也会核实需求，入口分流错误有时能被下游纠正。&lt;/Text&gt;&#10;            &lt;Box style={{ height: 92, background: '#F4F7FA', borderRadius: 10, padding: '14px 18px', flexDirection: 'row', alignItems: 'center', gap: 14 }}&gt;&#10;                &lt;Box style={{ width: 4, height: 56, background: '#276FBF' }} /&gt;&#10;                &lt;Box style={{ flex: 1, flexDirection: 'column', gap: 6 }}&gt;&#10;                    &lt;Text style={{ fontSize: 16, fontWeight: 'bold', color: '#276FBF' }}&gt;所以不能只看最终闭环率&lt;/Text&gt;&#10;                    &lt;Text style={{ fontSize: 15, color: '#546779', lineHeight: 1.6 }}&gt;下游的核实会把一部分入口错误纠正回来，闭环率会把两种效应混在一起。&lt;/Text&gt;&#10;                &lt;/Box&gt;&#10;            &lt;/Box&gt;&#10;        &lt;/Box&gt;&#10;&#10;        &lt;Box style={{ width: 464, flexDirection: 'column', gap: 14 }}&gt;&#10;            &lt;Box style={{ height: 200, background: '#EDF4FC', borderRadius: 10, padding: '16px 20px', flexDirection: 'column', gap: 8, justifyContent: 'center' }}&gt;&#10;                &lt;Text style={{ fontSize: 18, fontWeight: 'bold', color: '#276FBF' }}&gt;0—4 分钟　问题&lt;/Text&gt;&#10;                &lt;Text style={{ fontSize: 15, color: '#546779', lineHeight: 1.7 }}&gt;四项任务与服务分工；H1 与 H3 首句相同、私人目的不同；基线组与澄清组的设定完全一致。&lt;/Text&gt;&#10;            &lt;/Box&gt;&#10;            &lt;Box style={{ height: 200, background: '#ECF7F2', borderRadius: 10, padding: '16px 20px', flexDirection: 'column', gap: 8, justifyContent: 'center' }}&gt;&#10;                &lt;Text style={{ fontSize: 18, fontWeight: 'bold', color: '#26816B' }}&gt;4—8 分钟　唯一差异&lt;/Text&gt;&#10;                &lt;Text style={{ fontSize: 15, color: '#546779', lineHeight: 1.7 }}&gt;只讲一件事变了：咨询台的决策段。直接展示差异，比罗列全部功能更清楚。&lt;/Text&gt;&#10;            &lt;/Box&gt;&#10;            &lt;Box style={{ height: 100, background: '#F4F7FA', borderRadius: 10, padding: '16px 20px', flexDirection: 'column', gap: 6, justifyContent: 'center' }}&gt;&#10;                &lt;Text style={{ fontSize: 15, color: '#546779', lineHeight: 1.6 }}&gt;时间分配是汇报建议，不是系统运行耗时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8 汇报与质疑&lt;/Text&gt;&#10;        &lt;Text style={{ fontSize: 14, color: '#546779' }}&gt;07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9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9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5.8.2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用一条问题线组织二十分钟</a:t>
            </a:r>
            <a:endParaRPr/>
          </a:p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前八分钟：问题与唯一差异</a:t>
            </a:r>
            <a:endParaRPr/>
          </a:p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609600" y="1419225"/>
            <a:ext cx="6286500" cy="3524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先把问题和比较条件交代完整</a:t>
            </a:r>
            <a:endParaRPr/>
          </a:p>
        </p:txBody>
      </p:sp>
      <p:sp>
        <p:nvSpPr>
          <p:cNvPr id="595" name=""/>
          <p:cNvSpPr/>
          <p:nvPr/>
        </p:nvSpPr>
        <p:spPr>
          <a:xfrm rot="0" flipH="0" flipV="0">
            <a:off x="609600" y="190500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96" name="" descr="{&quot;isTemplate&quot;:true,&quot;type&quot;:&quot;text&quot;}"/>
          <p:cNvSpPr txBox="1"/>
          <p:nvPr/>
        </p:nvSpPr>
        <p:spPr>
          <a:xfrm rot="0" flipH="0" flipV="0">
            <a:off x="609600" y="2076450"/>
            <a:ext cx="6286500" cy="962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前四分钟介绍四项任务与服务分工，让听众看到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H1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H3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H2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H4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分别使用相同首句，却各有不同的私人目的。每项任务在基线组与澄清组中的设定完全相同。这样听众才知道后面比较的究竟是什么。</a:t>
            </a:r>
            <a:endParaRPr/>
          </a:p>
        </p:txBody>
      </p:sp>
      <p:sp>
        <p:nvSpPr>
          <p:cNvPr id="597" name=""/>
          <p:cNvSpPr/>
          <p:nvPr/>
        </p:nvSpPr>
        <p:spPr>
          <a:xfrm rot="0" flipH="0" flipV="0">
            <a:off x="609600" y="3171825"/>
            <a:ext cx="6286500" cy="1047750"/>
          </a:xfrm>
          <a:prstGeom prst="roundRect">
            <a:avLst>
              <a:gd name="adj" fmla="val 909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98" name=""/>
          <p:cNvSpPr/>
          <p:nvPr/>
        </p:nvSpPr>
        <p:spPr>
          <a:xfrm rot="0" flipH="0" flipV="0">
            <a:off x="781050" y="3371850"/>
            <a:ext cx="38100" cy="6477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952500" y="3295650"/>
            <a:ext cx="5772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可以在这里问一句</a:t>
            </a:r>
            <a:endParaRPr/>
          </a:p>
        </p:txBody>
      </p:sp>
      <p:sp>
        <p:nvSpPr>
          <p:cNvPr id="600" name="" descr="{&quot;isTemplate&quot;:true,&quot;type&quot;:&quot;text&quot;}"/>
          <p:cNvSpPr txBox="1"/>
          <p:nvPr/>
        </p:nvSpPr>
        <p:spPr>
          <a:xfrm rot="0" flipH="0" flipV="0">
            <a:off x="952500" y="3543300"/>
            <a:ext cx="57721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如果不追问，咨询台凭什么区分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H1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H3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？这个问题有助于解释干预理由，但不预先告诉大家澄清一定有收益。</a:t>
            </a:r>
            <a:endParaRPr/>
          </a:p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609600" y="4352925"/>
            <a:ext cx="628650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直接展示咨询台决策段的差异，比铺满一页功能名更清楚。窗口也会核实需求，入口分流错误有时能被下游纠正。</a:t>
            </a:r>
            <a:endParaRPr/>
          </a:p>
        </p:txBody>
      </p:sp>
      <p:sp>
        <p:nvSpPr>
          <p:cNvPr id="602" name=""/>
          <p:cNvSpPr/>
          <p:nvPr/>
        </p:nvSpPr>
        <p:spPr>
          <a:xfrm rot="0" flipH="0" flipV="0">
            <a:off x="609600" y="5133975"/>
            <a:ext cx="6286500" cy="876300"/>
          </a:xfrm>
          <a:prstGeom prst="roundRect">
            <a:avLst>
              <a:gd name="adj" fmla="val 1087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03" name=""/>
          <p:cNvSpPr/>
          <p:nvPr/>
        </p:nvSpPr>
        <p:spPr>
          <a:xfrm rot="0" flipH="0" flipV="0">
            <a:off x="781050" y="5305425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952500" y="5314950"/>
            <a:ext cx="5772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所以不能只看最终闭环率</a:t>
            </a:r>
            <a:endParaRPr/>
          </a:p>
        </p:txBody>
      </p:sp>
      <p:sp>
        <p:nvSpPr>
          <p:cNvPr id="605" name="" descr="{&quot;isTemplate&quot;:true,&quot;type&quot;:&quot;text&quot;}"/>
          <p:cNvSpPr txBox="1"/>
          <p:nvPr/>
        </p:nvSpPr>
        <p:spPr>
          <a:xfrm rot="0" flipH="0" flipV="0">
            <a:off x="952500" y="5562600"/>
            <a:ext cx="57721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下游的核实会把一部分入口错误纠正回来，闭环率会把两种效应混在一起。</a:t>
            </a:r>
            <a:endParaRPr/>
          </a:p>
        </p:txBody>
      </p:sp>
      <p:sp>
        <p:nvSpPr>
          <p:cNvPr id="606" name=""/>
          <p:cNvSpPr/>
          <p:nvPr/>
        </p:nvSpPr>
        <p:spPr>
          <a:xfrm rot="0" flipH="0" flipV="0">
            <a:off x="7162800" y="1200150"/>
            <a:ext cx="4419600" cy="1905000"/>
          </a:xfrm>
          <a:prstGeom prst="roundRect">
            <a:avLst>
              <a:gd name="adj" fmla="val 5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07" name="" descr="{&quot;isTemplate&quot;:true,&quot;type&quot;:&quot;text&quot;}"/>
          <p:cNvSpPr txBox="1"/>
          <p:nvPr/>
        </p:nvSpPr>
        <p:spPr>
          <a:xfrm rot="0" flipH="0" flipV="0">
            <a:off x="7353300" y="1714500"/>
            <a:ext cx="4038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0—4 </a:t>
            </a: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分钟　问题</a:t>
            </a:r>
            <a:endParaRPr/>
          </a:p>
        </p:txBody>
      </p:sp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7353300" y="2000250"/>
            <a:ext cx="40386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四项任务与服务分工；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H1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H3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首句相同、私人目的不同；基线组与澄清组的设定完全一致。</a:t>
            </a:r>
            <a:endParaRPr/>
          </a:p>
        </p:txBody>
      </p:sp>
      <p:sp>
        <p:nvSpPr>
          <p:cNvPr id="609" name=""/>
          <p:cNvSpPr/>
          <p:nvPr/>
        </p:nvSpPr>
        <p:spPr>
          <a:xfrm rot="0" flipH="0" flipV="0">
            <a:off x="7162800" y="3238500"/>
            <a:ext cx="4419600" cy="1905000"/>
          </a:xfrm>
          <a:prstGeom prst="roundRect">
            <a:avLst>
              <a:gd name="adj" fmla="val 5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7353300" y="3752850"/>
            <a:ext cx="4038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4—8 </a:t>
            </a: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分钟　唯一差异</a:t>
            </a:r>
            <a:endParaRPr/>
          </a:p>
        </p:txBody>
      </p:sp>
      <p:sp>
        <p:nvSpPr>
          <p:cNvPr id="611" name="" descr="{&quot;isTemplate&quot;:true,&quot;type&quot;:&quot;text&quot;}"/>
          <p:cNvSpPr txBox="1"/>
          <p:nvPr/>
        </p:nvSpPr>
        <p:spPr>
          <a:xfrm rot="0" flipH="0" flipV="0">
            <a:off x="7353300" y="4038600"/>
            <a:ext cx="40386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只讲一件事变了：咨询台的决策段。直接展示差异，比罗列全部功能更清楚。</a:t>
            </a:r>
            <a:endParaRPr/>
          </a:p>
        </p:txBody>
      </p:sp>
      <p:sp>
        <p:nvSpPr>
          <p:cNvPr id="612" name=""/>
          <p:cNvSpPr/>
          <p:nvPr/>
        </p:nvSpPr>
        <p:spPr>
          <a:xfrm rot="0" flipH="0" flipV="0">
            <a:off x="7162800" y="5276850"/>
            <a:ext cx="441960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13" name="" descr="{&quot;isTemplate&quot;:true,&quot;type&quot;:&quot;text&quot;}"/>
          <p:cNvSpPr txBox="1"/>
          <p:nvPr/>
        </p:nvSpPr>
        <p:spPr>
          <a:xfrm rot="0" flipH="0" flipV="0">
            <a:off x="7353300" y="5619750"/>
            <a:ext cx="40386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时间分配是汇报建议，不是系统运行耗时。</a:t>
            </a:r>
            <a:endParaRPr/>
          </a:p>
        </p:txBody>
      </p:sp>
      <p:sp>
        <p:nvSpPr>
          <p:cNvPr id="61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汇报与质疑</a:t>
            </a:r>
            <a:endParaRPr/>
          </a:p>
        </p:txBody>
      </p:sp>
      <p:sp>
        <p:nvSpPr>
          <p:cNvPr id="61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07 / 26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616" name="" descr="&lt;Slide notes={`二十分钟的骨架可以用一条时间线来记。前四分钟讲研究什么，接着四分钟讲怎样比较，中间六分钟放证据，最后六分钟做解释与讨论。线段长度就是时间长度，一眼能看出哪一段最重。&#10;&#10;我想强调中间和后面这两段。证据段优先选一项闭环、一项未闭环的任务，把入口请求、建议、移动、窗口回复和实际确认逐个定位；某类样本不存在，就直接说未观察到，不要额外重跑来凑展示类别。汇总放在后面统一给。&#10;&#10;讨论段回答三个问题：澄清多花的轮次值不值得，失败可能来自消息截断还是模型偏离，还有哪些问题现有教案没有回答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8.2　用一条问题线组织二十分钟&lt;/Text&gt;&#10;            &lt;Text style={{ fontSize: 34, fontWeight: 'bold', color: '#20344B' }}&gt;二十分钟回答的四个问题&lt;/Text&gt;&#10;        &lt;/Box&gt;&#10;    &lt;/Box&gt;&#10;&#10;    &lt;Box style={{ height: 540, flexDirection: 'column', gap: 20 }}&gt;&#10;&#10;        &lt;Box style={{ height: 40, justifyContent: 'center' }}&gt;&#10;            &lt;Text style={{ fontSize: 16, color: '#546779' }}&gt;0—20 分钟：研究什么　›　怎样比较　›　证据是什么　›　能解释到哪里&lt;/Text&gt;&#10;        &lt;/Box&gt;&#10;&#10;        &lt;Box style={{ height: 320, flexDirection: 'row' }}&gt;&#10;&#10;            &lt;Box style={{ width: 230, flexDirection: 'column' }}&gt;&#10;                &lt;Box style={{ height: 52, background: '#276FBF', justifyContent: 'center', alignItems: 'center' }}&gt;&#10;                    &lt;Text style={{ fontSize: 16, fontWeight: 'bold', color: '#FFFFFF' }}&gt;0—4 分钟&lt;/Text&gt;&#10;                &lt;/Box&gt;&#10;                &lt;Box style={{ height: 268, background: '#EDF4FC', padding: '16px 18px', flexDirection: 'column', gap: 10 }}&gt;&#10;                    &lt;Text style={{ fontSize: 22, fontWeight: 'bold', color: '#276FBF' }}&gt;问题&lt;/Text&gt;&#10;                    &lt;Text style={{ fontSize: 14, color: '#546779', lineHeight: 1.65 }}&gt;研究什么：四项任务与服务分工，首句相同、私人目的不同。&lt;/Text&gt;&#10;                    &lt;Text style={{ fontSize: 14, color: '#26816B', lineHeight: 1.5 }}&gt;两组设定完全一致&lt;/Text&gt;&#10;                &lt;/Box&gt;&#10;            &lt;/Box&gt;&#10;&#10;            &lt;Box style={{ width: 230, flexDirection: 'column' }}&gt;&#10;                &lt;Box style={{ height: 52, background: '#276FBF', justifyContent: 'center', alignItems: 'center' }}&gt;&#10;                    &lt;Text style={{ fontSize: 16, fontWeight: 'bold', color: '#FFFFFF' }}&gt;4—8 分钟&lt;/Text&gt;&#10;                &lt;/Box&gt;&#10;                &lt;Box style={{ height: 268, background: '#EDF4FC', padding: '16px 18px', flexDirection: 'column', gap: 10 }}&gt;&#10;                    &lt;Text style={{ fontSize: 22, fontWeight: 'bold', color: '#276FBF' }}&gt;唯一差异&lt;/Text&gt;&#10;                    &lt;Text style={{ fontSize: 14, color: '#546779', lineHeight: 1.65 }}&gt;怎样比较：只改咨询台决策段，其余条件不动。&lt;/Text&gt;&#10;                    &lt;Text style={{ fontSize: 14, color: '#26816B', lineHeight: 1.5 }}&gt;直接展示差异段&lt;/Text&gt;&#10;                &lt;/Box&gt;&#10;            &lt;/Box&gt;&#10;&#10;            &lt;Box style={{ width: 346, flexDirection: 'column' }}&gt;&#10;                &lt;Box style={{ height: 52, background: '#26816B', justifyContent: 'center', alignItems: 'center' }}&gt;&#10;                    &lt;Text style={{ fontSize: 16, fontWeight: 'bold', color: '#FFFFFF' }}&gt;8—14 分钟&lt;/Text&gt;&#10;                &lt;/Box&gt;&#10;                &lt;Box style={{ height: 268, background: '#ECF7F2', padding: '16px 18px', flexDirection: 'column', gap: 10 }}&gt;&#10;                    &lt;Text style={{ fontSize: 22, fontWeight: 'bold', color: '#26816B' }}&gt;证据&lt;/Text&gt;&#10;                    &lt;Text style={{ fontSize: 14, color: '#546779', lineHeight: 1.65 }}&gt;一项闭环、一项未闭环，逐个定位入口请求、建议、移动、窗口回复与实际确认；再给全体任务汇总。&lt;/Text&gt;&#10;                    &lt;Text style={{ fontSize: 14, color: '#26816B', lineHeight: 1.5 }}&gt;尚无运行时按同样顺序列待采集证据&lt;/Text&gt;&#10;                &lt;/Box&gt;&#10;            &lt;/Box&gt;&#10;&#10;            &lt;Box style={{ width: 346, flexDirection: 'column' }}&gt;&#10;                &lt;Box style={{ height: 52, background: '#26816B', justifyContent: 'center', alignItems: 'center' }}&gt;&#10;                    &lt;Text style={{ fontSize: 16, fontWeight: 'bold', color: '#FFFFFF' }}&gt;14—20 分钟&lt;/Text&gt;&#10;                &lt;/Box&gt;&#10;                &lt;Box style={{ height: 268, background: '#ECF7F2', padding: '16px 18px', flexDirection: 'column', gap: 10 }}&gt;&#10;                    &lt;Text style={{ fontSize: 22, fontWeight: 'bold', color: '#26816B' }}&gt;解释与讨论&lt;/Text&gt;&#10;                    &lt;Text style={{ fontSize: 14, color: '#546779', lineHeight: 1.65 }}&gt;澄清的额外轮次是否值得；失败来自消息截断还是模型偏离；哪些问题现有教案没有回答。&lt;/Text&gt;&#10;                    &lt;Text style={{ fontSize: 14, color: '#26816B', lineHeight: 1.5 }}&gt;留下报告入口与接收检查范围&lt;/Text&gt;&#10;                &lt;/Box&gt;&#10;            &lt;/Box&gt;&#10;&#10;        &lt;/Box&gt;&#10;&#10;        &lt;Box style={{ height: 130, background: '#FFF4E6', borderRadius: 10, padding: '16px 20px', flexDirection: 'row', alignItems: 'center', gap: 14 }}&gt;&#10;            &lt;Box style={{ width: 4, height: 72, background: '#CB6B28' }} /&gt;&#10;            &lt;Box style={{ flex: 1, flexDirection: 'column', gap: 6 }}&gt;&#10;                &lt;Text style={{ fontSize: 18, fontWeight: 'bold', color: '#CB6B28' }}&gt;时间分配是汇报建议，不是系统运行耗时&lt;/Text&gt;&#10;                &lt;Text style={{ fontSize: 15, color: '#546779', lineHeight: 1.6 }}&gt;虚拟分钟、播放时长与运行耗时应分别标注；讲稿不必讲遍所有模块，第三章已有相应章节，可在附页给出定位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8 汇报与质疑&lt;/Text&gt;&#10;        &lt;Text style={{ fontSize: 14, color: '#546779' }}&gt;08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1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1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5.8.2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用一条问题线组织二十分钟</a:t>
            </a:r>
            <a:endParaRPr/>
          </a:p>
        </p:txBody>
      </p:sp>
      <p:sp>
        <p:nvSpPr>
          <p:cNvPr id="62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二十分钟回答的四个问题</a:t>
            </a:r>
            <a:endParaRPr/>
          </a:p>
        </p:txBody>
      </p:sp>
      <p:sp>
        <p:nvSpPr>
          <p:cNvPr id="621" name="" descr="{&quot;isTemplate&quot;:true,&quot;type&quot;:&quot;text&quot;}"/>
          <p:cNvSpPr txBox="1"/>
          <p:nvPr/>
        </p:nvSpPr>
        <p:spPr>
          <a:xfrm rot="0" flipH="0" flipV="0">
            <a:off x="609600" y="1238250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0—20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分钟：研究什么　›　怎样比较　›　证据是什么　›　能解释到哪里</a:t>
            </a:r>
            <a:endParaRPr/>
          </a:p>
        </p:txBody>
      </p:sp>
      <p:sp>
        <p:nvSpPr>
          <p:cNvPr id="622" name=""/>
          <p:cNvSpPr/>
          <p:nvPr/>
        </p:nvSpPr>
        <p:spPr>
          <a:xfrm rot="0" flipH="0" flipV="0">
            <a:off x="609600" y="1714500"/>
            <a:ext cx="2190750" cy="4953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23" name="" descr="{&quot;isTemplate&quot;:true,&quot;type&quot;:&quot;text&quot;}"/>
          <p:cNvSpPr txBox="1"/>
          <p:nvPr/>
        </p:nvSpPr>
        <p:spPr>
          <a:xfrm rot="0" flipH="0" flipV="0">
            <a:off x="1352550" y="1866900"/>
            <a:ext cx="704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0—4 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分钟</a:t>
            </a:r>
            <a:endParaRPr/>
          </a:p>
        </p:txBody>
      </p:sp>
      <p:sp>
        <p:nvSpPr>
          <p:cNvPr id="624" name=""/>
          <p:cNvSpPr/>
          <p:nvPr/>
        </p:nvSpPr>
        <p:spPr>
          <a:xfrm rot="0" flipH="0" flipV="0">
            <a:off x="609600" y="2209800"/>
            <a:ext cx="2190750" cy="2552700"/>
          </a:xfrm>
          <a:prstGeom prst="rect">
            <a:avLst/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25" name="" descr="{&quot;isTemplate&quot;:true,&quot;type&quot;:&quot;text&quot;}"/>
          <p:cNvSpPr txBox="1"/>
          <p:nvPr/>
        </p:nvSpPr>
        <p:spPr>
          <a:xfrm rot="0" flipH="0" flipV="0">
            <a:off x="781050" y="2362200"/>
            <a:ext cx="1847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问题</a:t>
            </a:r>
            <a:endParaRPr/>
          </a:p>
        </p:txBody>
      </p:sp>
      <p:sp>
        <p:nvSpPr>
          <p:cNvPr id="626" name="" descr="{&quot;isTemplate&quot;:true,&quot;type&quot;:&quot;text&quot;}"/>
          <p:cNvSpPr txBox="1"/>
          <p:nvPr/>
        </p:nvSpPr>
        <p:spPr>
          <a:xfrm rot="0" flipH="0" flipV="0">
            <a:off x="781050" y="2714625"/>
            <a:ext cx="1847850" cy="800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研究什么：四项任务与服务分工，首句相同、私人目的不同。</a:t>
            </a:r>
            <a:endParaRPr/>
          </a:p>
        </p:txBody>
      </p:sp>
      <p:sp>
        <p:nvSpPr>
          <p:cNvPr id="627" name="" descr="{&quot;isTemplate&quot;:true,&quot;type&quot;:&quot;text&quot;}"/>
          <p:cNvSpPr txBox="1"/>
          <p:nvPr/>
        </p:nvSpPr>
        <p:spPr>
          <a:xfrm rot="0" flipH="0" flipV="0">
            <a:off x="781050" y="3609975"/>
            <a:ext cx="18478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两组设定完全一致</a:t>
            </a:r>
            <a:endParaRPr/>
          </a:p>
        </p:txBody>
      </p:sp>
      <p:sp>
        <p:nvSpPr>
          <p:cNvPr id="628" name=""/>
          <p:cNvSpPr/>
          <p:nvPr/>
        </p:nvSpPr>
        <p:spPr>
          <a:xfrm rot="0" flipH="0" flipV="0">
            <a:off x="2800350" y="1714500"/>
            <a:ext cx="2190750" cy="4953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3543300" y="1866900"/>
            <a:ext cx="704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4—8 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分钟</a:t>
            </a:r>
            <a:endParaRPr/>
          </a:p>
        </p:txBody>
      </p:sp>
      <p:sp>
        <p:nvSpPr>
          <p:cNvPr id="630" name=""/>
          <p:cNvSpPr/>
          <p:nvPr/>
        </p:nvSpPr>
        <p:spPr>
          <a:xfrm rot="0" flipH="0" flipV="0">
            <a:off x="2800350" y="2209800"/>
            <a:ext cx="2190750" cy="2552700"/>
          </a:xfrm>
          <a:prstGeom prst="rect">
            <a:avLst/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31" name="" descr="{&quot;isTemplate&quot;:true,&quot;type&quot;:&quot;text&quot;}"/>
          <p:cNvSpPr txBox="1"/>
          <p:nvPr/>
        </p:nvSpPr>
        <p:spPr>
          <a:xfrm rot="0" flipH="0" flipV="0">
            <a:off x="2971800" y="2362200"/>
            <a:ext cx="1847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唯一差异</a:t>
            </a:r>
            <a:endParaRPr/>
          </a:p>
        </p:txBody>
      </p:sp>
      <p:sp>
        <p:nvSpPr>
          <p:cNvPr id="632" name="" descr="{&quot;isTemplate&quot;:true,&quot;type&quot;:&quot;text&quot;}"/>
          <p:cNvSpPr txBox="1"/>
          <p:nvPr/>
        </p:nvSpPr>
        <p:spPr>
          <a:xfrm rot="0" flipH="0" flipV="0">
            <a:off x="2971800" y="2714625"/>
            <a:ext cx="18478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怎样比较：只改咨询台决策段，其余条件不动。</a:t>
            </a:r>
            <a:endParaRPr/>
          </a:p>
        </p:txBody>
      </p:sp>
      <p:sp>
        <p:nvSpPr>
          <p:cNvPr id="633" name="" descr="{&quot;isTemplate&quot;:true,&quot;type&quot;:&quot;text&quot;}"/>
          <p:cNvSpPr txBox="1"/>
          <p:nvPr/>
        </p:nvSpPr>
        <p:spPr>
          <a:xfrm rot="0" flipH="0" flipV="0">
            <a:off x="2971800" y="3343275"/>
            <a:ext cx="18478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直接展示差异段</a:t>
            </a:r>
            <a:endParaRPr/>
          </a:p>
        </p:txBody>
      </p:sp>
      <p:sp>
        <p:nvSpPr>
          <p:cNvPr id="634" name=""/>
          <p:cNvSpPr/>
          <p:nvPr/>
        </p:nvSpPr>
        <p:spPr>
          <a:xfrm rot="0" flipH="0" flipV="0">
            <a:off x="4991100" y="1714500"/>
            <a:ext cx="3295650" cy="4953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6238875" y="1866900"/>
            <a:ext cx="800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8—14 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分钟</a:t>
            </a:r>
            <a:endParaRPr/>
          </a:p>
        </p:txBody>
      </p:sp>
      <p:sp>
        <p:nvSpPr>
          <p:cNvPr id="636" name=""/>
          <p:cNvSpPr/>
          <p:nvPr/>
        </p:nvSpPr>
        <p:spPr>
          <a:xfrm rot="0" flipH="0" flipV="0">
            <a:off x="4991100" y="2209800"/>
            <a:ext cx="3295650" cy="2552700"/>
          </a:xfrm>
          <a:prstGeom prst="rect">
            <a:avLst/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37" name="" descr="{&quot;isTemplate&quot;:true,&quot;type&quot;:&quot;text&quot;}"/>
          <p:cNvSpPr txBox="1"/>
          <p:nvPr/>
        </p:nvSpPr>
        <p:spPr>
          <a:xfrm rot="0" flipH="0" flipV="0">
            <a:off x="5162550" y="2362200"/>
            <a:ext cx="2952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6816B"/>
                </a:solidFill>
                <a:latin typeface="Microsoft YaHei"/>
                <a:ea typeface="Microsoft YaHei"/>
              </a:rPr>
              <a:t>证据</a:t>
            </a:r>
            <a:endParaRPr/>
          </a:p>
        </p:txBody>
      </p:sp>
      <p:sp>
        <p:nvSpPr>
          <p:cNvPr id="638" name="" descr="{&quot;isTemplate&quot;:true,&quot;type&quot;:&quot;text&quot;}"/>
          <p:cNvSpPr txBox="1"/>
          <p:nvPr/>
        </p:nvSpPr>
        <p:spPr>
          <a:xfrm rot="0" flipH="0" flipV="0">
            <a:off x="5162550" y="2714625"/>
            <a:ext cx="2952750" cy="800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一项闭环、一项未闭环，逐个定位入口请求、建议、移动、窗口回复与实际确认；再给全体任务汇总。</a:t>
            </a:r>
            <a:endParaRPr/>
          </a:p>
        </p:txBody>
      </p:sp>
      <p:sp>
        <p:nvSpPr>
          <p:cNvPr id="639" name="" descr="{&quot;isTemplate&quot;:true,&quot;type&quot;:&quot;text&quot;}"/>
          <p:cNvSpPr txBox="1"/>
          <p:nvPr/>
        </p:nvSpPr>
        <p:spPr>
          <a:xfrm rot="0" flipH="0" flipV="0">
            <a:off x="5162550" y="3609975"/>
            <a:ext cx="29527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尚无运行时按同样顺序列待采集证据</a:t>
            </a:r>
            <a:endParaRPr/>
          </a:p>
        </p:txBody>
      </p:sp>
      <p:sp>
        <p:nvSpPr>
          <p:cNvPr id="640" name=""/>
          <p:cNvSpPr/>
          <p:nvPr/>
        </p:nvSpPr>
        <p:spPr>
          <a:xfrm rot="0" flipH="0" flipV="0">
            <a:off x="8286750" y="1714500"/>
            <a:ext cx="3295650" cy="4953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41" name="" descr="{&quot;isTemplate&quot;:true,&quot;type&quot;:&quot;text&quot;}"/>
          <p:cNvSpPr txBox="1"/>
          <p:nvPr/>
        </p:nvSpPr>
        <p:spPr>
          <a:xfrm rot="0" flipH="0" flipV="0">
            <a:off x="9486900" y="1866900"/>
            <a:ext cx="895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14—20 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分钟</a:t>
            </a:r>
            <a:endParaRPr/>
          </a:p>
        </p:txBody>
      </p:sp>
      <p:sp>
        <p:nvSpPr>
          <p:cNvPr id="642" name=""/>
          <p:cNvSpPr/>
          <p:nvPr/>
        </p:nvSpPr>
        <p:spPr>
          <a:xfrm rot="0" flipH="0" flipV="0">
            <a:off x="8286750" y="2209800"/>
            <a:ext cx="3295650" cy="2552700"/>
          </a:xfrm>
          <a:prstGeom prst="rect">
            <a:avLst/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43" name="" descr="{&quot;isTemplate&quot;:true,&quot;type&quot;:&quot;text&quot;}"/>
          <p:cNvSpPr txBox="1"/>
          <p:nvPr/>
        </p:nvSpPr>
        <p:spPr>
          <a:xfrm rot="0" flipH="0" flipV="0">
            <a:off x="8458200" y="2362200"/>
            <a:ext cx="2952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6816B"/>
                </a:solidFill>
                <a:latin typeface="Microsoft YaHei"/>
                <a:ea typeface="Microsoft YaHei"/>
              </a:rPr>
              <a:t>解释与讨论</a:t>
            </a:r>
            <a:endParaRPr/>
          </a:p>
        </p:txBody>
      </p:sp>
      <p:sp>
        <p:nvSpPr>
          <p:cNvPr id="644" name="" descr="{&quot;isTemplate&quot;:true,&quot;type&quot;:&quot;text&quot;}"/>
          <p:cNvSpPr txBox="1"/>
          <p:nvPr/>
        </p:nvSpPr>
        <p:spPr>
          <a:xfrm rot="0" flipH="0" flipV="0">
            <a:off x="8458200" y="2714625"/>
            <a:ext cx="29527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澄清的额外轮次是否值得；失败来自消息截断还是模型偏离；哪些问题现有教案没有回答。</a:t>
            </a:r>
            <a:endParaRPr/>
          </a:p>
        </p:txBody>
      </p:sp>
      <p:sp>
        <p:nvSpPr>
          <p:cNvPr id="645" name="" descr="{&quot;isTemplate&quot;:true,&quot;type&quot;:&quot;text&quot;}"/>
          <p:cNvSpPr txBox="1"/>
          <p:nvPr/>
        </p:nvSpPr>
        <p:spPr>
          <a:xfrm rot="0" flipH="0" flipV="0">
            <a:off x="8458200" y="3343275"/>
            <a:ext cx="29527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留下报告入口与接收检查范围</a:t>
            </a:r>
            <a:endParaRPr/>
          </a:p>
        </p:txBody>
      </p:sp>
      <p:sp>
        <p:nvSpPr>
          <p:cNvPr id="646" name=""/>
          <p:cNvSpPr/>
          <p:nvPr/>
        </p:nvSpPr>
        <p:spPr>
          <a:xfrm rot="0" flipH="0" flipV="0">
            <a:off x="609600" y="4953000"/>
            <a:ext cx="10972800" cy="1238250"/>
          </a:xfrm>
          <a:prstGeom prst="roundRect">
            <a:avLst>
              <a:gd name="adj" fmla="val 769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47" name=""/>
          <p:cNvSpPr/>
          <p:nvPr/>
        </p:nvSpPr>
        <p:spPr>
          <a:xfrm rot="0" flipH="0" flipV="0">
            <a:off x="800100" y="5229225"/>
            <a:ext cx="38100" cy="6858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48" name="" descr="{&quot;isTemplate&quot;:true,&quot;type&quot;:&quot;text&quot;}"/>
          <p:cNvSpPr txBox="1"/>
          <p:nvPr/>
        </p:nvSpPr>
        <p:spPr>
          <a:xfrm rot="0" flipH="0" flipV="0">
            <a:off x="971550" y="5305425"/>
            <a:ext cx="10420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时间分配是汇报建议，不是系统运行耗时</a:t>
            </a:r>
            <a:endParaRPr/>
          </a:p>
        </p:txBody>
      </p:sp>
      <p:sp>
        <p:nvSpPr>
          <p:cNvPr id="649" name="" descr="{&quot;isTemplate&quot;:true,&quot;type&quot;:&quot;text&quot;}"/>
          <p:cNvSpPr txBox="1"/>
          <p:nvPr/>
        </p:nvSpPr>
        <p:spPr>
          <a:xfrm rot="0" flipH="0" flipV="0">
            <a:off x="971550" y="5572125"/>
            <a:ext cx="104203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虚拟分钟、播放时长与运行耗时应分别标注；讲稿不必讲遍所有模块，第三章已有相应章节，可在附页给出定位。</a:t>
            </a:r>
            <a:endParaRPr/>
          </a:p>
        </p:txBody>
      </p:sp>
      <p:sp>
        <p:nvSpPr>
          <p:cNvPr id="65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汇报与质疑</a:t>
            </a:r>
            <a:endParaRPr/>
          </a:p>
        </p:txBody>
      </p:sp>
      <p:sp>
        <p:nvSpPr>
          <p:cNvPr id="65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08 / 26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652" name="" descr="&lt;Slide notes={`证据段的六分钟怎么用，我给两个版本。&#10;&#10;如果已经有真实运行，优先挑一项闭环、一项未闭环的任务，分别定位入口请求、建议、移动、窗口回复和实际确认。某一类样本不存在，就明确说未观察到，不要额外重跑来凑展示类别，那会让听众误以为样本是自然出现的。两段片段讲完，再给全体任务的汇总，让局部和整体各归其位。&#10;&#10;如果还没有运行，就用完全相同的顺序展示待采集证据，用人工题演练判分，并且清楚说明没有结果。用同样的结构讲空状态，听众不会误以为漏讲了什么。&#10;&#10;最后六分钟交给解释与讨论，结束时留下报告入口和接收检查范围，让听众有机会自己回来核对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8.2　用一条问题线组织二十分钟&lt;/Text&gt;&#10;            &lt;Text style={{ fontSize: 34, fontWeight: 'bold', color: '#20344B' }}&gt;证据与讨论各占六分钟&lt;/Text&gt;&#10;        &lt;/Box&gt;&#10;    &lt;/Box&gt;&#10;&#10;    &lt;Box style={{ height: 540, flexDirection: 'row', alignItems: 'center', gap: 32 }}&gt;&#10;&#10;        &lt;Box style={{ width: 500, flexDirection: 'column', gap: 14 }}&gt;&#10;            &lt;Text style={{ fontSize: 22, fontWeight: 'bold', color: '#20344B', lineHeight: 1.4 }}&gt;这两段最容易被挤掉&lt;/Text&gt;&#10;            &lt;Box style={{ width: 72, height: 4, background: '#276FBF' }} /&gt;&#10;            &lt;Text style={{ fontSize: 16, color: '#546779', lineHeight: 1.75, width: 500 }}&gt;可它们恰恰决定听众信不信这个结果：证据决定他能看到什么，讨论决定他能追问到哪里。&lt;/Text&gt;&#10;            &lt;Box style={{ height: 140, background: '#FFF4E6', borderRadius: 10, padding: '14px 18px', flexDirection: 'column', gap: 6, justifyContent: 'center' }}&gt;&#10;                &lt;Text style={{ fontSize: 16, fontWeight: 'bold', color: '#CB6B28' }}&gt;样本不存在就说未观察到&lt;/Text&gt;&#10;                &lt;Text style={{ fontSize: 15, color: '#546779', lineHeight: 1.6 }}&gt;不额外重跑来凑展示类别，否则样本看起来像是自然出现的。&lt;/Text&gt;&#10;            &lt;/Box&gt;&#10;            &lt;Box style={{ height: 140, background: '#F4F7FA', borderRadius: 10, padding: '14px 18px', flexDirection: 'column', gap: 6, justifyContent: 'center' }}&gt;&#10;                &lt;Text style={{ fontSize: 16, fontWeight: 'bold', color: '#20344B' }}&gt;结束时留下入口&lt;/Text&gt;&#10;                &lt;Text style={{ fontSize: 15, color: '#546779', lineHeight: 1.6 }}&gt;给出报告入口与接收检查范围，让听众可以继续核对。&lt;/Text&gt;&#10;            &lt;/Box&gt;&#10;        &lt;/Box&gt;&#10;&#10;        &lt;Box style={{ width: 620, flexDirection: 'column', gap: 14 }}&gt;&#10;            &lt;Box style={{ height: 250, background: '#EDF4FC', borderRadius: 10, padding: '16px 20px', flexDirection: 'column', gap: 8, justifyContent: 'center' }}&gt;&#10;                &lt;Text style={{ fontSize: 18, fontWeight: 'bold', color: '#276FBF' }}&gt;8—14 分钟　证据&lt;/Text&gt;&#10;                &lt;Text style={{ fontSize: 15, color: '#546779', lineHeight: 1.7 }}&gt;已有真实运行：优先选择一项闭环和一项未闭环的任务，分别定位入口请求、建议、移动、窗口回复与实际确认，随后显示全体任务汇总。&lt;/Text&gt;&#10;                &lt;Text style={{ fontSize: 15, color: '#546779', lineHeight: 1.7 }}&gt;尚无运行：以相同顺序展示待采集证据，使用人工题演练判分，并清楚说明没有结果。&lt;/Text&gt;&#10;            &lt;/Box&gt;&#10;            &lt;Box style={{ height: 250, background: '#ECF7F2', borderRadius: 10, padding: '16px 20px', flexDirection: 'column', gap: 8, justifyContent: 'center' }}&gt;&#10;                &lt;Text style={{ fontSize: 18, fontWeight: 'bold', color: '#26816B' }}&gt;14—20 分钟　解释与讨论&lt;/Text&gt;&#10;                &lt;Text style={{ fontSize: 15, color: '#546779', lineHeight: 1.7 }}&gt;澄清多花的轮次是否值得；哪些失败可能来自消息截断或模型偏离；哪些问题现有教案没有回答。&lt;/Text&gt;&#10;                &lt;Text style={{ fontSize: 15, color: '#546779', lineHeight: 1.7 }}&gt;讲稿不需要讲遍所有模块，第三章已有相应章节，可在附页给出定位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8 汇报与质疑&lt;/Text&gt;&#10;        &lt;Text style={{ fontSize: 14, color: '#546779' }}&gt;09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5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5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5.8.2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用一条问题线组织二十分钟</a:t>
            </a:r>
            <a:endParaRPr/>
          </a:p>
        </p:txBody>
      </p:sp>
      <p:sp>
        <p:nvSpPr>
          <p:cNvPr id="65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证据与讨论各占六分钟</a:t>
            </a:r>
            <a:endParaRPr/>
          </a:p>
        </p:txBody>
      </p:sp>
      <p:sp>
        <p:nvSpPr>
          <p:cNvPr id="657" name="" descr="{&quot;isTemplate&quot;:true,&quot;type&quot;:&quot;text&quot;}"/>
          <p:cNvSpPr txBox="1"/>
          <p:nvPr/>
        </p:nvSpPr>
        <p:spPr>
          <a:xfrm rot="0" flipH="0" flipV="0">
            <a:off x="609600" y="1600200"/>
            <a:ext cx="4762500" cy="3524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这两段最容易被挤掉</a:t>
            </a:r>
            <a:endParaRPr/>
          </a:p>
        </p:txBody>
      </p:sp>
      <p:sp>
        <p:nvSpPr>
          <p:cNvPr id="658" name=""/>
          <p:cNvSpPr/>
          <p:nvPr/>
        </p:nvSpPr>
        <p:spPr>
          <a:xfrm rot="0" flipH="0" flipV="0">
            <a:off x="609600" y="20859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59" name="" descr="{&quot;isTemplate&quot;:true,&quot;type&quot;:&quot;text&quot;}"/>
          <p:cNvSpPr txBox="1"/>
          <p:nvPr/>
        </p:nvSpPr>
        <p:spPr>
          <a:xfrm rot="0" flipH="0" flipV="0">
            <a:off x="609600" y="2257425"/>
            <a:ext cx="476250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可它们恰恰决定听众信不信这个结果：证据决定他能看到什么，讨论决定他能追问到哪里。</a:t>
            </a:r>
            <a:endParaRPr/>
          </a:p>
        </p:txBody>
      </p:sp>
      <p:sp>
        <p:nvSpPr>
          <p:cNvPr id="660" name=""/>
          <p:cNvSpPr/>
          <p:nvPr/>
        </p:nvSpPr>
        <p:spPr>
          <a:xfrm rot="0" flipH="0" flipV="0">
            <a:off x="609600" y="3038475"/>
            <a:ext cx="4762500" cy="1333500"/>
          </a:xfrm>
          <a:prstGeom prst="roundRect">
            <a:avLst>
              <a:gd name="adj" fmla="val 714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61" name="" descr="{&quot;isTemplate&quot;:true,&quot;type&quot;:&quot;text&quot;}"/>
          <p:cNvSpPr txBox="1"/>
          <p:nvPr/>
        </p:nvSpPr>
        <p:spPr>
          <a:xfrm rot="0" flipH="0" flipV="0">
            <a:off x="781050" y="3448050"/>
            <a:ext cx="441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样本不存在就说未观察到</a:t>
            </a:r>
            <a:endParaRPr/>
          </a:p>
        </p:txBody>
      </p:sp>
      <p:sp>
        <p:nvSpPr>
          <p:cNvPr id="662" name="" descr="{&quot;isTemplate&quot;:true,&quot;type&quot;:&quot;text&quot;}"/>
          <p:cNvSpPr txBox="1"/>
          <p:nvPr/>
        </p:nvSpPr>
        <p:spPr>
          <a:xfrm rot="0" flipH="0" flipV="0">
            <a:off x="781050" y="3695700"/>
            <a:ext cx="44196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不额外重跑来凑展示类别，否则样本看起来像是自然出现的。</a:t>
            </a:r>
            <a:endParaRPr/>
          </a:p>
        </p:txBody>
      </p:sp>
      <p:sp>
        <p:nvSpPr>
          <p:cNvPr id="663" name=""/>
          <p:cNvSpPr/>
          <p:nvPr/>
        </p:nvSpPr>
        <p:spPr>
          <a:xfrm rot="0" flipH="0" flipV="0">
            <a:off x="609600" y="4505325"/>
            <a:ext cx="4762500" cy="1333500"/>
          </a:xfrm>
          <a:prstGeom prst="roundRect">
            <a:avLst>
              <a:gd name="adj" fmla="val 714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64" name="" descr="{&quot;isTemplate&quot;:true,&quot;type&quot;:&quot;text&quot;}"/>
          <p:cNvSpPr txBox="1"/>
          <p:nvPr/>
        </p:nvSpPr>
        <p:spPr>
          <a:xfrm rot="0" flipH="0" flipV="0">
            <a:off x="781050" y="4914900"/>
            <a:ext cx="441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结束时留下入口</a:t>
            </a:r>
            <a:endParaRPr/>
          </a:p>
        </p:txBody>
      </p:sp>
      <p:sp>
        <p:nvSpPr>
          <p:cNvPr id="665" name="" descr="{&quot;isTemplate&quot;:true,&quot;type&quot;:&quot;text&quot;}"/>
          <p:cNvSpPr txBox="1"/>
          <p:nvPr/>
        </p:nvSpPr>
        <p:spPr>
          <a:xfrm rot="0" flipH="0" flipV="0">
            <a:off x="781050" y="5162550"/>
            <a:ext cx="44196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给出报告入口与接收检查范围，让听众可以继续核对。</a:t>
            </a:r>
            <a:endParaRPr/>
          </a:p>
        </p:txBody>
      </p:sp>
      <p:sp>
        <p:nvSpPr>
          <p:cNvPr id="666" name=""/>
          <p:cNvSpPr/>
          <p:nvPr/>
        </p:nvSpPr>
        <p:spPr>
          <a:xfrm rot="0" flipH="0" flipV="0">
            <a:off x="5676900" y="1266825"/>
            <a:ext cx="5905500" cy="2381250"/>
          </a:xfrm>
          <a:prstGeom prst="roundRect">
            <a:avLst>
              <a:gd name="adj" fmla="val 4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67" name="" descr="{&quot;isTemplate&quot;:true,&quot;type&quot;:&quot;text&quot;}"/>
          <p:cNvSpPr txBox="1"/>
          <p:nvPr/>
        </p:nvSpPr>
        <p:spPr>
          <a:xfrm rot="0" flipH="0" flipV="0">
            <a:off x="5867400" y="1838325"/>
            <a:ext cx="5524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8—14 </a:t>
            </a: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分钟　证据</a:t>
            </a:r>
            <a:endParaRPr/>
          </a:p>
        </p:txBody>
      </p:sp>
      <p:sp>
        <p:nvSpPr>
          <p:cNvPr id="668" name="" descr="{&quot;isTemplate&quot;:true,&quot;type&quot;:&quot;text&quot;}"/>
          <p:cNvSpPr txBox="1"/>
          <p:nvPr/>
        </p:nvSpPr>
        <p:spPr>
          <a:xfrm rot="0" flipH="0" flipV="0">
            <a:off x="5867400" y="2124075"/>
            <a:ext cx="55245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已有真实运行：优先选择一项闭环和一项未闭环的任务，分别定位入口请求、建议、移动、窗口回复与实际确认，随后显示全体任务汇总。</a:t>
            </a:r>
            <a:endParaRPr/>
          </a:p>
        </p:txBody>
      </p:sp>
      <p:sp>
        <p:nvSpPr>
          <p:cNvPr id="669" name="" descr="{&quot;isTemplate&quot;:true,&quot;type&quot;:&quot;text&quot;}"/>
          <p:cNvSpPr txBox="1"/>
          <p:nvPr/>
        </p:nvSpPr>
        <p:spPr>
          <a:xfrm rot="0" flipH="0" flipV="0">
            <a:off x="5867400" y="2790825"/>
            <a:ext cx="5524500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尚无运行：以相同顺序展示待采集证据，使用人工题演练判分，并清楚说明没有结果。</a:t>
            </a:r>
            <a:endParaRPr/>
          </a:p>
        </p:txBody>
      </p:sp>
      <p:sp>
        <p:nvSpPr>
          <p:cNvPr id="670" name=""/>
          <p:cNvSpPr/>
          <p:nvPr/>
        </p:nvSpPr>
        <p:spPr>
          <a:xfrm rot="0" flipH="0" flipV="0">
            <a:off x="5676900" y="3781425"/>
            <a:ext cx="5905500" cy="2381250"/>
          </a:xfrm>
          <a:prstGeom prst="roundRect">
            <a:avLst>
              <a:gd name="adj" fmla="val 4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71" name="" descr="{&quot;isTemplate&quot;:true,&quot;type&quot;:&quot;text&quot;}"/>
          <p:cNvSpPr txBox="1"/>
          <p:nvPr/>
        </p:nvSpPr>
        <p:spPr>
          <a:xfrm rot="0" flipH="0" flipV="0">
            <a:off x="5867400" y="4352925"/>
            <a:ext cx="5524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14—20 </a:t>
            </a: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分钟　解释与讨论</a:t>
            </a:r>
            <a:endParaRPr/>
          </a:p>
        </p:txBody>
      </p:sp>
      <p:sp>
        <p:nvSpPr>
          <p:cNvPr id="672" name="" descr="{&quot;isTemplate&quot;:true,&quot;type&quot;:&quot;text&quot;}"/>
          <p:cNvSpPr txBox="1"/>
          <p:nvPr/>
        </p:nvSpPr>
        <p:spPr>
          <a:xfrm rot="0" flipH="0" flipV="0">
            <a:off x="5867400" y="4638675"/>
            <a:ext cx="55245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澄清多花的轮次是否值得；哪些失败可能来自消息截断或模型偏离；哪些问题现有教案没有回答。</a:t>
            </a:r>
            <a:endParaRPr/>
          </a:p>
        </p:txBody>
      </p:sp>
      <p:sp>
        <p:nvSpPr>
          <p:cNvPr id="673" name="" descr="{&quot;isTemplate&quot;:true,&quot;type&quot;:&quot;text&quot;}"/>
          <p:cNvSpPr txBox="1"/>
          <p:nvPr/>
        </p:nvSpPr>
        <p:spPr>
          <a:xfrm rot="0" flipH="0" flipV="0">
            <a:off x="5867400" y="5305425"/>
            <a:ext cx="5524500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讲稿不需要讲遍所有模块，第三章已有相应章节，可在附页给出定位。</a:t>
            </a:r>
            <a:endParaRPr/>
          </a:p>
        </p:txBody>
      </p:sp>
      <p:sp>
        <p:nvSpPr>
          <p:cNvPr id="67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汇报与质疑</a:t>
            </a:r>
            <a:endParaRPr/>
          </a:p>
        </p:txBody>
      </p:sp>
      <p:sp>
        <p:nvSpPr>
          <p:cNvPr id="67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09 / 26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31" name="" descr="&lt;Slide notes={`第三个问题跟演示片段有关：选择片段本身也需要规则。&#10;&#10;设想某次运行里 H1 一次就闭环，而 H2 在窗口截止之前没有收到答复。只播放 H1，整个过程会显得非常顺畅，可边界问题就被遮住了。听众看到的顺畅，其实是我挑出来的。&#10;&#10;所以只要有相应样本，就选一个典型闭环加一个未完成或者判分有争议的任务；确实不存在的类别，明确记为未观察到。同时要在报告里记下选择方法，并保留全体运行和任务索引，让后来的人能验证我是不是只挑了好看的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第五章　5.8　演示与评审&lt;/Text&gt;&#10;            &lt;Text style={{ fontSize: 34, fontWeight: 'bold', color: '#20344B' }}&gt;知识块 ③&lt;/Text&gt;&#10;        &lt;/Box&gt;&#10;    &lt;/Box&gt;&#10;&#10;    &lt;Box style={{ height: 540, flexDirection: 'column', justifyContent: 'center', gap: 18 }}&gt;&#10;&#10;        &lt;Text style={{ fontSize: 96, fontWeight: 'bold', color: '#276FBF', lineHeight: 1.0 }}&gt;③&lt;/Text&gt;&#10;&#10;        &lt;Text style={{ fontSize: 56, fontWeight: 'bold', color: '#20344B', lineHeight: 1.15 }}&gt;选择片段也需要规则&lt;/Text&gt;&#10;&#10;        &lt;Box style={{ width: 72, height: 4, background: '#276FBF' }} /&gt;&#10;&#10;        &lt;Text style={{ fontSize: 18, color: '#546779', lineHeight: 1.7, width: 940 }}&gt;某次运行里 H1 一次闭环、H2 在截止前没有收到答复，只播 H1 会显得顺畅，却遮住边界问题。&lt;/Text&gt;&#10;&#10;        &lt;Box style={{ flexDirection: 'row', gap: 32, marginTop: 8 }}&gt;&#10;            &lt;Box style={{ width: 560, height: 64, background: '#EDF4FC', borderRadius: 8, justifyContent: 'center', alignItems: 'center' }}&gt;&#10;                &lt;Text style={{ fontSize: 18, color: '#276FBF' }}&gt;一个典型闭环&lt;/Text&gt;&#10;            &lt;/Box&gt;&#10;            &lt;Box style={{ width: 560, height: 64, background: '#FFF4E6', borderRadius: 8, justifyContent: 'center', alignItems: 'center' }}&gt;&#10;                &lt;Text style={{ fontSize: 18, color: '#CB6B28' }}&gt;一个未完成或判分有争议的任务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8 汇报与质疑&lt;/Text&gt;&#10;        &lt;Text style={{ fontSize: 14, color: '#546779' }}&gt;10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1524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第五章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5.8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演示与评审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1524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知识块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③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609600" y="1914525"/>
            <a:ext cx="109728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200" b="1">
                <a:solidFill>
                  <a:srgbClr val="276FBF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609600" y="31908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选择片段也需要规则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609600" y="41052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609600" y="4314825"/>
            <a:ext cx="8953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某次运行里</a:t>
            </a:r>
            <a:r>
              <a:rPr lang="en-US" sz="1350">
                <a:solidFill>
                  <a:srgbClr val="546779"/>
                </a:solidFill>
                <a:latin typeface="Microsoft YaHei"/>
                <a:ea typeface="Microsoft YaHei"/>
              </a:rPr>
              <a:t xml:space="preserve"> H1 </a:t>
            </a: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一次闭环、</a:t>
            </a:r>
            <a:r>
              <a:rPr lang="en-US" sz="1350">
                <a:solidFill>
                  <a:srgbClr val="546779"/>
                </a:solidFill>
                <a:latin typeface="Microsoft YaHei"/>
                <a:ea typeface="Microsoft YaHei"/>
              </a:rPr>
              <a:t xml:space="preserve">H2 </a:t>
            </a: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在截止前没有收到答复，只播</a:t>
            </a:r>
            <a:r>
              <a:rPr lang="en-US" sz="1350">
                <a:solidFill>
                  <a:srgbClr val="546779"/>
                </a:solidFill>
                <a:latin typeface="Microsoft YaHei"/>
                <a:ea typeface="Microsoft YaHei"/>
              </a:rPr>
              <a:t xml:space="preserve"> H1 </a:t>
            </a: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会显得顺畅，却遮住边界问题。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609600" y="4914900"/>
            <a:ext cx="53340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2762250" y="5114925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一个典型闭环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6248400" y="4914900"/>
            <a:ext cx="5334000" cy="609600"/>
          </a:xfrm>
          <a:prstGeom prst="roundRect">
            <a:avLst>
              <a:gd name="adj" fmla="val 125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7715250" y="5114925"/>
            <a:ext cx="2400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CB6B28"/>
                </a:solidFill>
                <a:latin typeface="Microsoft YaHei"/>
                <a:ea typeface="Microsoft YaHei"/>
              </a:rPr>
              <a:t>一个未完成或判分有争议的任务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汇报与质疑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10 / 26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46" name="" descr="&lt;Slide notes={`我把两种做法并排放一下，你就能看出差别。&#10;&#10;只播放 H1 一次闭环，画面里每一步都通，过程显得顺畅；H2 没收到答复这件事根本不进画面，听众也就无法判断这个策略的边界在哪里。&#10;&#10;按规则选择就不同：一个典型闭环加一个未完成或者判分有争议的任务。如果某一类样本确实不存在，就明确记为未观察到，而不是找一个相似的 Run 来补位。还要在报告里写清选择方法，并保留全体运行和任务索引。&#10;&#10;理由很简单：我选片段的时候当然知道全部情况，但听众只看到我选出来的那两段。把选择过程写下来，他们的判断才跟我站在同一层信息上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8.3　选择片段也需要规则&lt;/Text&gt;&#10;            &lt;Text style={{ fontSize: 34, fontWeight: 'bold', color: '#20344B' }}&gt;只播顺利的一次，会遮住什么&lt;/Text&gt;&#10;        &lt;/Box&gt;&#10;    &lt;/Box&gt;&#10;&#10;    &lt;Box style={{ height: 540, flexDirection: 'column', gap: 16 }}&gt;&#10;&#10;        &lt;Box style={{ height: 32, justifyContent: 'center' }}&gt;&#10;            &lt;Text style={{ fontSize: 16, color: '#546779' }}&gt;同一个运行里的两段记录，摆在一起才看得出策略的边界。&lt;/Text&gt;&#10;        &lt;/Box&gt;&#10;&#10;        &lt;Box style={{ height: 312, flexDirection: 'row', gap: 48 }}&gt;&#10;&#10;            &lt;Box style={{ width: 552, height: 312, background: '#FFF4E6', borderRadius: 12, padding: '18px 22px', flexDirection: 'column', gap: 10 }}&gt;&#10;                &lt;Text style={{ fontSize: 20, fontWeight: 'bold', color: '#CB6B28' }}&gt;只播放 H1 一次闭环&lt;/Text&gt;&#10;                &lt;Box style={{ height: 72, background: '#FFFFFF', borderRadius: 8, padding: '0 16px', flexDirection: 'row', alignItems: 'center' }}&gt;&#10;                    &lt;Text style={{ fontSize: 15, color: '#20344B' }}&gt;画面里每一步都通，过程显得顺畅&lt;/Text&gt;&#10;                &lt;/Box&gt;&#10;                &lt;Box style={{ height: 72, background: '#FFFFFF', borderRadius: 8, padding: '0 16px', flexDirection: 'row', alignItems: 'center' }}&gt;&#10;                    &lt;Text style={{ fontSize: 15, color: '#20344B' }}&gt;H2 没收到答复，根本不进画面&lt;/Text&gt;&#10;                &lt;/Box&gt;&#10;                &lt;Box style={{ height: 72, background: '#FFFFFF', borderRadius: 8, padding: '0 16px', flexDirection: 'row', alignItems: 'center' }}&gt;&#10;                    &lt;Text style={{ fontSize: 15, color: '#CB6B28' }}&gt;听众无法判断策略的边界在哪里&lt;/Text&gt;&#10;                &lt;/Box&gt;&#10;            &lt;/Box&gt;&#10;&#10;            &lt;Box style={{ width: 552, height: 312, background: '#ECF7F2', borderRadius: 12, padding: '18px 22px', flexDirection: 'column', gap: 10 }}&gt;&#10;                &lt;Text style={{ fontSize: 20, fontWeight: 'bold', color: '#26816B' }}&gt;按规则选择片段&lt;/Text&gt;&#10;                &lt;Box style={{ height: 72, background: '#FFFFFF', borderRadius: 8, padding: '0 16px', flexDirection: 'row', alignItems: 'center' }}&gt;&#10;                    &lt;Text style={{ fontSize: 15, color: '#20344B' }}&gt;一个典型闭环&lt;/Text&gt;&#10;                &lt;/Box&gt;&#10;                &lt;Box style={{ height: 72, background: '#FFFFFF', borderRadius: 8, padding: '0 16px', flexDirection: 'row', alignItems: 'center' }}&gt;&#10;                    &lt;Text style={{ fontSize: 15, color: '#20344B' }}&gt;一个未完成或判分有争议的任务&lt;/Text&gt;&#10;                &lt;/Box&gt;&#10;                &lt;Box style={{ height: 72, background: '#FFFFFF', borderRadius: 8, padding: '0 16px', flexDirection: 'row', alignItems: 'center' }}&gt;&#10;                    &lt;Text style={{ fontSize: 15, color: '#26816B' }}&gt;类别不存在就记为未观察到&lt;/Text&gt;&#10;                &lt;/Box&gt;&#10;            &lt;/Box&gt;&#10;&#10;        &lt;/Box&gt;&#10;&#10;        &lt;Box style={{ height: 104, background: '#F4F7FA', borderRadius: 10, padding: '16px 20px', flexDirection: 'row', alignItems: 'center', gap: 14 }}&gt;&#10;            &lt;Box style={{ width: 4, height: 56, background: '#276FBF' }} /&gt;&#10;            &lt;Box style={{ flex: 1, flexDirection: 'column', gap: 6 }}&gt;&#10;                &lt;Text style={{ fontSize: 16, fontWeight: 'bold', color: '#276FBF' }}&gt;写下选择方法，保留全体运行与任务索引&lt;/Text&gt;&#10;                &lt;Text style={{ fontSize: 15, color: '#546779', lineHeight: 1.6 }}&gt;听众只看到选出来的片段，把选择过程写下来，他们的判断才与我站在同一层信息上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8 汇报与质疑&lt;/Text&gt;&#10;        &lt;Text style={{ fontSize: 14, color: '#546779' }}&gt;11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5.8.3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选择片段也需要规则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只播顺利的一次，会遮住什么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609600" y="1200150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同一个运行里的两段记录，摆在一起才看得出策略的边界。</a:t>
            </a:r>
            <a:endParaRPr/>
          </a:p>
        </p:txBody>
      </p:sp>
      <p:sp>
        <p:nvSpPr>
          <p:cNvPr id="52" name=""/>
          <p:cNvSpPr/>
          <p:nvPr/>
        </p:nvSpPr>
        <p:spPr>
          <a:xfrm rot="0" flipH="0" flipV="0">
            <a:off x="609600" y="1600200"/>
            <a:ext cx="5257800" cy="2971800"/>
          </a:xfrm>
          <a:prstGeom prst="roundRect">
            <a:avLst>
              <a:gd name="adj" fmla="val 384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819150" y="1771650"/>
            <a:ext cx="4838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只播放</a:t>
            </a:r>
            <a:r>
              <a:rPr lang="en-US" sz="150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H1 </a:t>
            </a: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一次闭环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819150" y="2095500"/>
            <a:ext cx="48387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971550" y="2352675"/>
            <a:ext cx="2143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画面里每一步都通，过程显得顺畅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819150" y="2876550"/>
            <a:ext cx="48387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971550" y="3133725"/>
            <a:ext cx="1952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H2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没收到答复，根本不进画面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819150" y="3657600"/>
            <a:ext cx="48387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971550" y="3914775"/>
            <a:ext cx="2000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听众无法判断策略的边界在哪里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6324600" y="1600200"/>
            <a:ext cx="5257800" cy="2971800"/>
          </a:xfrm>
          <a:prstGeom prst="roundRect">
            <a:avLst>
              <a:gd name="adj" fmla="val 384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6534150" y="1771650"/>
            <a:ext cx="4838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按规则选择片段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6534150" y="2095500"/>
            <a:ext cx="48387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6686550" y="2352675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一个典型闭环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6534150" y="2876550"/>
            <a:ext cx="48387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6686550" y="3133725"/>
            <a:ext cx="2000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一个未完成或判分有争议的任务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6534150" y="3657600"/>
            <a:ext cx="48387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6686550" y="3914775"/>
            <a:ext cx="1714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类别不存在就记为未观察到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609600" y="4724400"/>
            <a:ext cx="10972800" cy="990600"/>
          </a:xfrm>
          <a:prstGeom prst="roundRect">
            <a:avLst>
              <a:gd name="adj" fmla="val 961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9" name=""/>
          <p:cNvSpPr/>
          <p:nvPr/>
        </p:nvSpPr>
        <p:spPr>
          <a:xfrm rot="0" flipH="0" flipV="0">
            <a:off x="800100" y="4953000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971550" y="4962525"/>
            <a:ext cx="10420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写下选择方法，保留全体运行与任务索引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971550" y="5210175"/>
            <a:ext cx="104203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听众只看到选出来的片段，把选择过程写下来，他们的判断才与我站在同一层信息上。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汇报与质疑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11 / 26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74" name="" descr="&lt;Slide notes={`片段选好之后，还要注意上下文。同一段画面，截到哪一句、切在哪一刻，含义会变。&#10;&#10;如果只截出一句「请去 A 窗口」，就要说明在此之前是否已经澄清过目的。如果截出人物位于 A 服务区，就要说明这是实际坐标，还是仍在计划中的目标。最要避免的是把角色的行走计划剪接成已经发生的移动，或者把对象已生成的最后一轮回复剪成来访者已经收到——这两处差别，恰恰是判分的关键。&#10;&#10;展示可以加速播放、放大局部、隐藏与问题无关的面板，但需要保留原始文件并说明加工方式。为讲义裁剪的图片只是展示副本，不能替代 Run 导出；虚拟分钟、播放时长与运行耗时要分别标注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8.3　选择片段也需要规则&lt;/Text&gt;&#10;            &lt;Text style={{ fontSize: 34, fontWeight: 'bold', color: '#20344B' }}&gt;截出这一句，还要交代什么&lt;/Text&gt;&#10;        &lt;/Box&gt;&#10;    &lt;/Box&gt;&#10;&#10;    &lt;Box style={{ height: 540, flexDirection: 'row', alignItems: 'center', gap: 28 }}&gt;&#10;&#10;        &lt;Box style={{ width: 680, flexDirection: 'column', gap: 14 }}&gt;&#10;            &lt;Text style={{ fontSize: 22, fontWeight: 'bold', color: '#20344B', lineHeight: 1.4 }}&gt;同一任务，要保留足够上下文&lt;/Text&gt;&#10;            &lt;Box style={{ width: 72, height: 4, background: '#276FBF' }} /&gt;&#10;            &lt;Box style={{ height: 108, background: '#F4F7FA', borderRadius: 10, padding: '14px 18px', flexDirection: 'column', gap: 6, justifyContent: 'center' }}&gt;&#10;                &lt;Text style={{ fontSize: 16, fontWeight: 'bold', color: '#20344B' }}&gt;截出「请去 A 窗口」&lt;/Text&gt;&#10;                &lt;Text style={{ fontSize: 15, color: '#546779', lineHeight: 1.6 }}&gt;要说明之前是否已经澄清目的，否则听众不知道这句建议从何而来。&lt;/Text&gt;&#10;            &lt;/Box&gt;&#10;            &lt;Box style={{ height: 108, background: '#EDF4FC', borderRadius: 10, padding: '14px 18px', flexDirection: 'column', gap: 6, justifyContent: 'center' }}&gt;&#10;                &lt;Text style={{ fontSize: 16, fontWeight: 'bold', color: '#276FBF' }}&gt;截出人物位于 A 服务区&lt;/Text&gt;&#10;                &lt;Text style={{ fontSize: 15, color: '#546779', lineHeight: 1.6 }}&gt;要说明这是实际坐标，还是仍在计划中的目标。&lt;/Text&gt;&#10;            &lt;/Box&gt;&#10;            &lt;Box style={{ height: 130, background: '#FFF4E6', borderRadius: 10, padding: '14px 18px', flexDirection: 'column', gap: 6, justifyContent: 'center' }}&gt;&#10;                &lt;Text style={{ fontSize: 16, fontWeight: 'bold', color: '#CB6B28' }}&gt;不能把计划剪成已发生&lt;/Text&gt;&#10;                &lt;Text style={{ fontSize: 15, color: '#546779', lineHeight: 1.6 }}&gt;不能把行走计划剪成已经发生的移动，也不能把对象已生成的最后一轮回复剪成来访者已经收到。&lt;/Text&gt;&#10;            &lt;/Box&gt;&#10;        &lt;/Box&gt;&#10;&#10;        &lt;Box style={{ width: 444, height: 500, background: '#ECF7F2', borderRadius: 12, padding: '18px 20px', flexDirection: 'column', gap: 12, justifyContent: 'center' }}&gt;&#10;            &lt;Text style={{ fontSize: 20, fontWeight: 'bold', color: '#26816B' }}&gt;可以加工，但要留底&lt;/Text&gt;&#10;            &lt;Text style={{ fontSize: 15, color: '#546779', lineHeight: 1.7 }}&gt;展示可以加速播放、放大局部、隐藏与问题无关的面板。&lt;/Text&gt;&#10;            &lt;Box style={{ height: 74, background: '#FFFFFF', borderRadius: 8, padding: '0 14px', justifyContent: 'center' }}&gt;&#10;                &lt;Text style={{ fontSize: 14, color: '#546779', lineHeight: 1.5 }}&gt;裁剪的图片是展示副本，不替代 Run 导出。&lt;/Text&gt;&#10;            &lt;/Box&gt;&#10;            &lt;Box style={{ height: 74, background: '#FFFFFF', borderRadius: 8, padding: '0 14px', justifyContent: 'center' }}&gt;&#10;                &lt;Text style={{ fontSize: 14, color: '#546779', lineHeight: 1.5 }}&gt;隐藏面板不能改变所展示事实的身份与含义。&lt;/Text&gt;&#10;            &lt;/Box&gt;&#10;            &lt;Box style={{ height: 74, background: '#FFF4E6', borderRadius: 8, padding: '0 14px', justifyContent: 'center' }}&gt;&#10;                &lt;Text style={{ fontSize: 14, color: '#CB6B28', lineHeight: 1.5 }}&gt;虚拟分钟、播放时长与运行耗时应分别标注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8 汇报与质疑&lt;/Text&gt;&#10;        &lt;Text style={{ fontSize: 14, color: '#546779' }}&gt;12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5.8.3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选择片段也需要规则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截出这一句，还要交代什么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609600" y="1609725"/>
            <a:ext cx="6477000" cy="3524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同一任务，要保留足够上下文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609600" y="209550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1" name=""/>
          <p:cNvSpPr/>
          <p:nvPr/>
        </p:nvSpPr>
        <p:spPr>
          <a:xfrm rot="0" flipH="0" flipV="0">
            <a:off x="609600" y="2266950"/>
            <a:ext cx="6477000" cy="1028700"/>
          </a:xfrm>
          <a:prstGeom prst="roundRect">
            <a:avLst>
              <a:gd name="adj" fmla="val 925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781050" y="2524125"/>
            <a:ext cx="6134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截出「请去</a:t>
            </a: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A </a:t>
            </a: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窗口」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781050" y="2771775"/>
            <a:ext cx="61341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要说明之前是否已经澄清目的，否则听众不知道这句建议从何而来。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609600" y="3429000"/>
            <a:ext cx="6477000" cy="1028700"/>
          </a:xfrm>
          <a:prstGeom prst="roundRect">
            <a:avLst>
              <a:gd name="adj" fmla="val 925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781050" y="3686175"/>
            <a:ext cx="6134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截出人物位于</a:t>
            </a: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A </a:t>
            </a: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服务区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781050" y="3933825"/>
            <a:ext cx="61341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要说明这是实际坐标，还是仍在计划中的目标。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609600" y="4591050"/>
            <a:ext cx="6477000" cy="1238250"/>
          </a:xfrm>
          <a:prstGeom prst="roundRect">
            <a:avLst>
              <a:gd name="adj" fmla="val 769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781050" y="4810125"/>
            <a:ext cx="6134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不能把计划剪成已发生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781050" y="5057775"/>
            <a:ext cx="61341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不能把行走计划剪成已经发生的移动，也不能把对象已生成的最后一轮回复剪成来访者已经收到。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7353300" y="1333500"/>
            <a:ext cx="4229100" cy="4762500"/>
          </a:xfrm>
          <a:prstGeom prst="roundRect">
            <a:avLst>
              <a:gd name="adj" fmla="val 270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7543800" y="2171700"/>
            <a:ext cx="3848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可以加工，但要留底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7543800" y="2514600"/>
            <a:ext cx="3848100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展示可以加速播放、放大局部、隐藏与问题无关的面板。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7543800" y="2924175"/>
            <a:ext cx="3848100" cy="70485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7677150" y="3152775"/>
            <a:ext cx="35814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裁剪的图片是展示副本，不替代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导出。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7543800" y="3743325"/>
            <a:ext cx="3848100" cy="70485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7677150" y="3971925"/>
            <a:ext cx="35814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隐藏面板不能改变所展示事实的身份与含义。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7543800" y="4562475"/>
            <a:ext cx="3848100" cy="704850"/>
          </a:xfrm>
          <a:prstGeom prst="roundRect">
            <a:avLst>
              <a:gd name="adj" fmla="val 1081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7677150" y="4791075"/>
            <a:ext cx="35814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虚拟分钟、播放时长与运行耗时应分别标注。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汇报与质疑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12 / 26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01" name="" descr="&lt;Slide notes={`第四个问题落在数字上。「成功率提高了」这句话本身没有提供足够信息，听众不知道分母是什么，也不知道比较条件是什么。&#10;&#10;要让人听懂，至少要说清五件事：成功定义、任务数、运行数、未完成数、比较条件。以本案为例，正确咨询闭环必须包含适配窗口回复与实际确认；只是给出一次入口建议，还不满足这个条件。&#10;&#10;第四章的人工练习给出三项闭环、四项任务，另有一项已经拿到入口有效建议但没完成窗口闭环。合起来看，结论才有边界。数字不是装饰，它决定听众能把这句话相信到什么程度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第五章　5.8　演示与评审&lt;/Text&gt;&#10;            &lt;Text style={{ fontSize: 34, fontWeight: 'bold', color: '#20344B' }}&gt;知识块 ④&lt;/Text&gt;&#10;        &lt;/Box&gt;&#10;    &lt;/Box&gt;&#10;&#10;    &lt;Box style={{ height: 540, flexDirection: 'column', justifyContent: 'center', gap: 18 }}&gt;&#10;&#10;        &lt;Text style={{ fontSize: 96, fontWeight: 'bold', color: '#276FBF', lineHeight: 1.0 }}&gt;④&lt;/Text&gt;&#10;&#10;        &lt;Text style={{ fontSize: 56, fontWeight: 'bold', color: '#20344B', lineHeight: 1.15 }}&gt;让数字带着分母和条件出现&lt;/Text&gt;&#10;&#10;        &lt;Box style={{ width: 72, height: 4, background: '#276FBF' }} /&gt;&#10;&#10;        &lt;Text style={{ fontSize: 18, color: '#546779', lineHeight: 1.7, width: 940 }}&gt;「成功率提高了」没有提供足够信息：听众需要知道成功定义、任务数、运行数、未完成数和比较条件。&lt;/Text&gt;&#10;&#10;        &lt;Box style={{ flexDirection: 'row', gap: 16, marginTop: 8 }}&gt;&#10;            &lt;Box style={{ width: 368, height: 72, background: '#EDF4FC', borderRadius: 8, justifyContent: 'center', alignItems: 'center' }}&gt;&#10;                &lt;Text style={{ fontSize: 18, color: '#276FBF' }}&gt;分母：任务数与运行数&lt;/Text&gt;&#10;            &lt;/Box&gt;&#10;            &lt;Box style={{ width: 368, height: 72, background: '#EDF4FC', borderRadius: 8, justifyContent: 'center', alignItems: 'center' }}&gt;&#10;                &lt;Text style={{ fontSize: 18, color: '#276FBF' }}&gt;条件：成功定义与比较条件&lt;/Text&gt;&#10;            &lt;/Box&gt;&#10;            &lt;Box style={{ width: 368, height: 72, background: '#ECF7F2', borderRadius: 8, justifyContent: 'center', alignItems: 'center' }}&gt;&#10;                &lt;Text style={{ fontSize: 18, color: '#26816B' }}&gt;口径：主要结论与全体一致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8 汇报与质疑&lt;/Text&gt;&#10;        &lt;Text style={{ fontSize: 14, color: '#546779' }}&gt;13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1524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第五章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5.8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演示与评审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1524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知识块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④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609600" y="1876425"/>
            <a:ext cx="109728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200" b="1">
                <a:solidFill>
                  <a:srgbClr val="276FBF"/>
                </a:solidFill>
                <a:latin typeface="Microsoft YaHei"/>
                <a:ea typeface="Microsoft YaHei"/>
              </a:rPr>
              <a:t>④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609600" y="31527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让数字带着分母和条件出现</a:t>
            </a:r>
            <a:endParaRPr/>
          </a:p>
        </p:txBody>
      </p:sp>
      <p:sp>
        <p:nvSpPr>
          <p:cNvPr id="108" name=""/>
          <p:cNvSpPr/>
          <p:nvPr/>
        </p:nvSpPr>
        <p:spPr>
          <a:xfrm rot="0" flipH="0" flipV="0">
            <a:off x="609600" y="40671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609600" y="4276725"/>
            <a:ext cx="8953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「成功率提高了」没有提供足够信息：听众需要知道成功定义、任务数、运行数、未完成数和比较条件。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609600" y="4876800"/>
            <a:ext cx="3505200" cy="685800"/>
          </a:xfrm>
          <a:prstGeom prst="roundRect">
            <a:avLst>
              <a:gd name="adj" fmla="val 1111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1504950" y="5114925"/>
            <a:ext cx="1714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分母：任务数与运行数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4267200" y="4876800"/>
            <a:ext cx="3505200" cy="685800"/>
          </a:xfrm>
          <a:prstGeom prst="roundRect">
            <a:avLst>
              <a:gd name="adj" fmla="val 1111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4991100" y="5114925"/>
            <a:ext cx="2057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条件：成功定义与比较条件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7924800" y="4876800"/>
            <a:ext cx="3505200" cy="685800"/>
          </a:xfrm>
          <a:prstGeom prst="roundRect">
            <a:avLst>
              <a:gd name="adj" fmla="val 1111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8648700" y="5114925"/>
            <a:ext cx="2057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口径：主要结论与全体一致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汇报与质疑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13 / 26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18" name="" descr="&lt;Slide notes={`接着说数字要带的五项条件：成功定义、任务数、运行数、未完成数和比较条件。缺哪一项，听众就会自己脑补一项，而脑补的结果通常比事实更乐观。&#10;&#10;本案的闭环定义要写得像一条链：入口给出有效建议，窗口给出适配回复，来访者实际确认。三个环节都发生，才算闭环。只是给出一次入口建议，还不满足这个条件。&#10;&#10;第四章的人工练习里，四项任务中有三项闭环，另有一项已经拿到入口有效建议但没有完成窗口闭环，所以 H2 的首次有效回应已经发生，最终闭环仍未发生。把这两句一起说出来，听众才既看到亮点，也看到边界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8.4　让数字带着分母和条件出现&lt;/Text&gt;&#10;            &lt;Text style={{ fontSize: 34, fontWeight: 'bold', color: '#20344B' }}&gt;「提高了」缺了哪些条件&lt;/Text&gt;&#10;        &lt;/Box&gt;&#10;    &lt;/Box&gt;&#10;&#10;    &lt;Box style={{ height: 540, flexDirection: 'row', alignItems: 'center', gap: 28 }}&gt;&#10;&#10;        &lt;Box style={{ width: 690, flexDirection: 'column', gap: 12 }}&gt;&#10;            &lt;Text style={{ fontSize: 22, fontWeight: 'bold', color: '#20344B', lineHeight: 1.4 }}&gt;五件事，缺一件就会被听众自己补上&lt;/Text&gt;&#10;            &lt;Box style={{ width: 72, height: 4, background: '#276FBF' }} /&gt;&#10;            &lt;Box style={{ flexDirection: 'row', gap: 12 }}&gt;&#10;                &lt;Box style={{ width: 222, height: 96, background: '#EDF4FC', borderRadius: 10, padding: '14px 16px', flexDirection: 'column', gap: 6, justifyContent: 'center' }}&gt;&#10;                    &lt;Text style={{ fontSize: 16, fontWeight: 'bold', color: '#276FBF' }}&gt;成功定义&lt;/Text&gt;&#10;                    &lt;Text style={{ fontSize: 13, color: '#546779', lineHeight: 1.45 }}&gt;什么算成功&lt;/Text&gt;&#10;                &lt;/Box&gt;&#10;                &lt;Box style={{ width: 222, height: 96, background: '#EDF4FC', borderRadius: 10, padding: '14px 16px', flexDirection: 'column', gap: 6, justifyContent: 'center' }}&gt;&#10;                    &lt;Text style={{ fontSize: 16, fontWeight: 'bold', color: '#276FBF' }}&gt;任务数&lt;/Text&gt;&#10;                    &lt;Text style={{ fontSize: 13, color: '#546779', lineHeight: 1.45 }}&gt;四项教学任务&lt;/Text&gt;&#10;                &lt;/Box&gt;&#10;                &lt;Box style={{ width: 222, height: 96, background: '#FFF4E6', borderRadius: 10, padding: '14px 16px', flexDirection: 'column', gap: 6, justifyContent: 'center' }}&gt;&#10;                    &lt;Text style={{ fontSize: 16, fontWeight: 'bold', color: '#CB6B28' }}&gt;运行数&lt;/Text&gt;&#10;                    &lt;Text style={{ fontSize: 13, color: '#546779', lineHeight: 1.45 }}&gt;当前尚无真实运行&lt;/Text&gt;&#10;                &lt;/Box&gt;&#10;            &lt;/Box&gt;&#10;            &lt;Box style={{ flexDirection: 'row', gap: 12 }}&gt;&#10;                &lt;Box style={{ width: 339, height: 96, background: '#F4F7FA', borderRadius: 10, padding: '14px 16px', flexDirection: 'column', gap: 6, justifyContent: 'center' }}&gt;&#10;                    &lt;Text style={{ fontSize: 16, fontWeight: 'bold', color: '#20344B' }}&gt;未完成数&lt;/Text&gt;&#10;                    &lt;Text style={{ fontSize: 13, color: '#546779', lineHeight: 1.45 }}&gt;已获入口建议但未完成窗口闭环的任务&lt;/Text&gt;&#10;                &lt;/Box&gt;&#10;                &lt;Box style={{ width: 339, height: 96, background: '#F4F7FA', borderRadius: 10, padding: '14px 16px', flexDirection: 'column', gap: 6, justifyContent: 'center' }}&gt;&#10;                    &lt;Text style={{ fontSize: 16, fontWeight: 'bold', color: '#20344B' }}&gt;比较条件&lt;/Text&gt;&#10;                    &lt;Text style={{ fontSize: 13, color: '#546779', lineHeight: 1.45 }}&gt;基线组与澄清组，其余设定一致&lt;/Text&gt;&#10;                &lt;/Box&gt;&#10;            &lt;/Box&gt;&#10;            &lt;Text style={{ fontSize: 15, color: '#546779', lineHeight: 1.7, width: 690 }}&gt;第四章的人工练习给出三项闭环、四项任务，另有一项已获得入口有效建议却未完成窗口闭环。数字与它的判据要一起出现。&lt;/Text&gt;&#10;        &lt;/Box&gt;&#10;&#10;        &lt;Box style={{ width: 434, flexDirection: 'column', gap: 12 }}&gt;&#10;            &lt;Box style={{ height: 280, background: '#ECF7F2', borderRadius: 10, padding: '16px 20px', flexDirection: 'column', gap: 6, justifyContent: 'center' }}&gt;&#10;                &lt;Text style={{ fontSize: 18, fontWeight: 'bold', color: '#26816B' }}&gt;本案的闭环定义&lt;/Text&gt;&#10;                &lt;Box style={{ height: 40, justifyContent: 'center' }}&gt;&#10;                    &lt;Text style={{ fontSize: 15, color: '#20344B' }}&gt;入口给出有效建议&lt;/Text&gt;&#10;                &lt;/Box&gt;&#10;                &lt;Box style={{ height: 28, justifyContent: 'center' }}&gt;&#10;                    &lt;Text style={{ fontSize: 18, color: '#26816B' }}&gt;↓&lt;/Text&gt;&#10;                &lt;/Box&gt;&#10;                &lt;Box style={{ height: 40, justifyContent: 'center' }}&gt;&#10;                    &lt;Text style={{ fontSize: 15, color: '#20344B' }}&gt;窗口给出适配回复&lt;/Text&gt;&#10;                &lt;/Box&gt;&#10;                &lt;Box style={{ height: 28, justifyContent: 'center' }}&gt;&#10;                    &lt;Text style={{ fontSize: 18, color: '#26816B' }}&gt;↓&lt;/Text&gt;&#10;                &lt;/Box&gt;&#10;                &lt;Box style={{ height: 40, justifyContent: 'center' }}&gt;&#10;                    &lt;Text style={{ fontSize: 15, color: '#20344B' }}&gt;来访者实际确认&lt;/Text&gt;&#10;                &lt;/Box&gt;&#10;            &lt;/Box&gt;&#10;            &lt;Box style={{ height: 220, background: '#FFF4E6', borderRadius: 10, padding: '16px 20px', flexDirection: 'column', gap: 8, justifyContent: 'center' }}&gt;&#10;                &lt;Text style={{ fontSize: 16, fontWeight: 'bold', color: '#CB6B28' }}&gt;一次入口建议还不算闭环&lt;/Text&gt;&#10;                &lt;Text style={{ fontSize: 15, color: '#546779', lineHeight: 1.7 }}&gt;H2 的首次有效回应已经发生，最终闭环仍未发生。两句话要一起说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8 汇报与质疑&lt;/Text&gt;&#10;        &lt;Text style={{ fontSize: 14, color: '#546779' }}&gt;14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5.8.4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让数字带着分母和条件出现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「提高了」缺了哪些条件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609600" y="2085975"/>
            <a:ext cx="6572250" cy="3524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五件事，缺一件就会被听众自己补上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609600" y="255270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25" name=""/>
          <p:cNvSpPr/>
          <p:nvPr/>
        </p:nvSpPr>
        <p:spPr>
          <a:xfrm rot="0" flipH="0" flipV="0">
            <a:off x="609600" y="2705100"/>
            <a:ext cx="2114550" cy="914400"/>
          </a:xfrm>
          <a:prstGeom prst="roundRect">
            <a:avLst>
              <a:gd name="adj" fmla="val 1041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762000" y="2933700"/>
            <a:ext cx="1809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成功定义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762000" y="3181350"/>
            <a:ext cx="18097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什么算成功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2838450" y="2705100"/>
            <a:ext cx="2114550" cy="914400"/>
          </a:xfrm>
          <a:prstGeom prst="roundRect">
            <a:avLst>
              <a:gd name="adj" fmla="val 1041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2990850" y="2933700"/>
            <a:ext cx="1809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任务数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2990850" y="3181350"/>
            <a:ext cx="18097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四项教学任务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5067300" y="2705100"/>
            <a:ext cx="2114550" cy="914400"/>
          </a:xfrm>
          <a:prstGeom prst="roundRect">
            <a:avLst>
              <a:gd name="adj" fmla="val 1041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5219700" y="2933700"/>
            <a:ext cx="1809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运行数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5219700" y="3181350"/>
            <a:ext cx="18097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当前尚无真实运行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609600" y="3733800"/>
            <a:ext cx="3228975" cy="914400"/>
          </a:xfrm>
          <a:prstGeom prst="roundRect">
            <a:avLst>
              <a:gd name="adj" fmla="val 1041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762000" y="3962400"/>
            <a:ext cx="2924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未完成数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762000" y="4210050"/>
            <a:ext cx="2924175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已获入口建议但未完成窗口闭环的任务</a:t>
            </a:r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3952875" y="3733800"/>
            <a:ext cx="3228975" cy="914400"/>
          </a:xfrm>
          <a:prstGeom prst="roundRect">
            <a:avLst>
              <a:gd name="adj" fmla="val 1041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4105275" y="3962400"/>
            <a:ext cx="2924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比较条件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4105275" y="4210050"/>
            <a:ext cx="2924175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基线组与澄清组，其余设定一致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609600" y="4762500"/>
            <a:ext cx="65722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第四章的人工练习给出三项闭环、四项任务，另有一项已获得入口有效建议却未完成窗口闭环。数字与它的判据要一起出现。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7448550" y="1276350"/>
            <a:ext cx="4133850" cy="2667000"/>
          </a:xfrm>
          <a:prstGeom prst="roundRect">
            <a:avLst>
              <a:gd name="adj" fmla="val 357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7639050" y="1524000"/>
            <a:ext cx="3752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本案的闭环定义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7639050" y="1895475"/>
            <a:ext cx="3752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入口给出有效建议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7639050" y="2257425"/>
            <a:ext cx="3752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7639050" y="2657475"/>
            <a:ext cx="3752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窗口给出适配回复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7639050" y="3019425"/>
            <a:ext cx="3752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7639050" y="3419475"/>
            <a:ext cx="3752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来访者实际确认</a:t>
            </a:r>
            <a:endParaRPr/>
          </a:p>
        </p:txBody>
      </p:sp>
      <p:sp>
        <p:nvSpPr>
          <p:cNvPr id="148" name=""/>
          <p:cNvSpPr/>
          <p:nvPr/>
        </p:nvSpPr>
        <p:spPr>
          <a:xfrm rot="0" flipH="0" flipV="0">
            <a:off x="7448550" y="4057650"/>
            <a:ext cx="4133850" cy="2095500"/>
          </a:xfrm>
          <a:prstGeom prst="roundRect">
            <a:avLst>
              <a:gd name="adj" fmla="val 454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7639050" y="4676775"/>
            <a:ext cx="3752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一次入口建议还不算闭环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7639050" y="4943475"/>
            <a:ext cx="37528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H2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的首次有效回应已经发生，最终闭环仍未发生。两句话要一起说。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汇报与质疑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14 / 26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53" name="" descr="&lt;Slide notes={`同一个事实，可以说成一句合适的话，也可以说成一句站不住的话，差别就在数字有没有带着分母和条件。&#10;&#10;合适的表述是这样的：在这段人工材料中，按预先给出的判据，闭环为三项比四项；H2 的首次有效回应已经发生，最终闭环仍未发生。它交代了材料性质、判据来源和具体处境。&#10;&#10;不合适的说法是把三项比四项说成「模型有百分之七十五的办事能力」。这里既没有真实模型运行，也没有真实行政业务，把人工练习折算成能力百分比，是在替听众下一个我给不出的结论。&#10;&#10;所以先有判据，再有数字。判据要在观察结果之前定下来，改过的标准要说明为什么改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8.4　让数字带着分母和条件出现&lt;/Text&gt;&#10;            &lt;Text style={{ fontSize: 34, fontWeight: 'bold', color: '#20344B' }}&gt;3/4 可以说，75% 能力不能说&lt;/Text&gt;&#10;        &lt;/Box&gt;&#10;    &lt;/Box&gt;&#10;&#10;    &lt;Box style={{ height: 540, flexDirection: 'column', gap: 20 }}&gt;&#10;&#10;        &lt;Box style={{ height: 380, flexDirection: 'row', gap: 40 }}&gt;&#10;&#10;            &lt;Box style={{ width: 556, height: 380, background: '#EDF4FC', borderRadius: 12, padding: '20px 24px', flexDirection: 'column', gap: 10, justifyContent: 'center' }}&gt;&#10;                &lt;Text style={{ fontSize: 15, color: '#546779' }}&gt;合适的教学表述&lt;/Text&gt;&#10;                &lt;Text style={{ fontSize: 72, fontWeight: 'bold', color: '#276FBF', lineHeight: 1.0 }}&gt;3 / 4&lt;/Text&gt;&#10;                &lt;Text style={{ fontSize: 17, color: '#20344B', lineHeight: 1.75 }}&gt;在这段人工材料中，按预先给出的判据，闭环为 3/4；H2 的首次有效回应已经发生，最终闭环仍未发生。&lt;/Text&gt;&#10;                &lt;Text style={{ fontSize: 14, color: '#546779', lineHeight: 1.5 }}&gt;材料性质 · 判据来源 · 具体处境，三样都在句子里。&lt;/Text&gt;&#10;            &lt;/Box&gt;&#10;&#10;            &lt;Box style={{ width: 556, height: 380, background: '#FFF4E6', borderRadius: 12, padding: '20px 24px', flexDirection: 'column', gap: 10, justifyContent: 'center' }}&gt;&#10;                &lt;Text style={{ fontSize: 15, color: '#546779' }}&gt;不合适的说法&lt;/Text&gt;&#10;                &lt;Text style={{ fontSize: 72, fontWeight: 'bold', color: '#CB6B28', lineHeight: 1.0 }}&gt;75%&lt;/Text&gt;&#10;                &lt;Text style={{ fontSize: 17, color: '#CB6B28', lineHeight: 1.75 }}&gt;模型有 75% 的办事能力。&lt;/Text&gt;&#10;                &lt;Text style={{ fontSize: 14, color: '#546779', lineHeight: 1.5 }}&gt;这里既没有真实模型运行，也没有真实行政业务，等于替听众下了一个给不出的结论。&lt;/Text&gt;&#10;            &lt;/Box&gt;&#10;&#10;        &lt;/Box&gt;&#10;&#10;        &lt;Box style={{ height: 120, background: '#F4F7FA', borderRadius: 10, padding: '16px 20px', flexDirection: 'row', alignItems: 'center', gap: 14 }}&gt;&#10;            &lt;Box style={{ width: 4, height: 64, background: '#276FBF' }} /&gt;&#10;            &lt;Box style={{ flex: 1, flexDirection: 'column', gap: 6 }}&gt;&#10;                &lt;Text style={{ fontSize: 16, fontWeight: 'bold', color: '#276FBF' }}&gt;先有判据，再有数字&lt;/Text&gt;&#10;                &lt;Text style={{ fontSize: 15, color: '#546779', lineHeight: 1.6 }}&gt;判分标准要在观察结果之前确定；改过的标准要说明改动，否则听众无法判断这个数字到底测到了什么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8 汇报与质疑&lt;/Text&gt;&#10;        &lt;Text style={{ fontSize: 14, color: '#546779' }}&gt;15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36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5.8.4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让数字带着分母和条件出现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3624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3/4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可以说，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75%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能力不能说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609600" y="1143000"/>
            <a:ext cx="5295900" cy="3619500"/>
          </a:xfrm>
          <a:prstGeom prst="roundRect">
            <a:avLst>
              <a:gd name="adj" fmla="val 315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838200" y="1847850"/>
            <a:ext cx="4838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合适的教学表述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838200" y="2114550"/>
            <a:ext cx="483870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276FBF"/>
                </a:solidFill>
                <a:latin typeface="Microsoft YaHei"/>
                <a:ea typeface="Microsoft YaHei"/>
              </a:rPr>
              <a:t>3 / 4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838200" y="3038475"/>
            <a:ext cx="48387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在这段人工材料中，按预先给出的判据，闭环为</a:t>
            </a:r>
            <a:r>
              <a:rPr lang="en-US" sz="1275">
                <a:solidFill>
                  <a:srgbClr val="20344B"/>
                </a:solidFill>
                <a:latin typeface="Microsoft YaHei"/>
                <a:ea typeface="Microsoft YaHei"/>
              </a:rPr>
              <a:t xml:space="preserve"> 3/4</a:t>
            </a: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；</a:t>
            </a:r>
            <a:r>
              <a:rPr lang="en-US" sz="1275">
                <a:solidFill>
                  <a:srgbClr val="20344B"/>
                </a:solidFill>
                <a:latin typeface="Microsoft YaHei"/>
                <a:ea typeface="Microsoft YaHei"/>
              </a:rPr>
              <a:t xml:space="preserve">H2 </a:t>
            </a: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的首次有效回应已经发生，最终闭环仍未发生。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838200" y="3819525"/>
            <a:ext cx="48387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材料性质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判据来源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具体处境，三样都在句子里。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6286500" y="1143000"/>
            <a:ext cx="5295900" cy="3619500"/>
          </a:xfrm>
          <a:prstGeom prst="roundRect">
            <a:avLst>
              <a:gd name="adj" fmla="val 315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6515100" y="1895475"/>
            <a:ext cx="4838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不合适的说法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6515100" y="2162175"/>
            <a:ext cx="483870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CB6B28"/>
                </a:solidFill>
                <a:latin typeface="Microsoft YaHei"/>
                <a:ea typeface="Microsoft YaHei"/>
              </a:rPr>
              <a:t>75%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6515100" y="3086100"/>
            <a:ext cx="4838700" cy="3429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275">
                <a:solidFill>
                  <a:srgbClr val="CB6B28"/>
                </a:solidFill>
                <a:latin typeface="Microsoft YaHei"/>
                <a:ea typeface="Microsoft YaHei"/>
              </a:rPr>
              <a:t>模型有</a:t>
            </a:r>
            <a:r>
              <a:rPr lang="en-US" sz="1275">
                <a:solidFill>
                  <a:srgbClr val="CB6B28"/>
                </a:solidFill>
                <a:latin typeface="Microsoft YaHei"/>
                <a:ea typeface="Microsoft YaHei"/>
              </a:rPr>
              <a:t xml:space="preserve"> 75% </a:t>
            </a:r>
            <a:r>
              <a:rPr lang="zh-CN" sz="1275">
                <a:solidFill>
                  <a:srgbClr val="CB6B28"/>
                </a:solidFill>
                <a:latin typeface="Microsoft YaHei"/>
                <a:ea typeface="Microsoft YaHei"/>
              </a:rPr>
              <a:t>的办事能力。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6515100" y="3524250"/>
            <a:ext cx="48387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这里既没有真实模型运行，也没有真实行政业务，等于替听众下了一个给不出的结论。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609600" y="4953000"/>
            <a:ext cx="10972800" cy="114300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69" name=""/>
          <p:cNvSpPr/>
          <p:nvPr/>
        </p:nvSpPr>
        <p:spPr>
          <a:xfrm rot="0" flipH="0" flipV="0">
            <a:off x="800100" y="5219700"/>
            <a:ext cx="38100" cy="6096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971550" y="5267325"/>
            <a:ext cx="10420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先有判据，再有数字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971550" y="5514975"/>
            <a:ext cx="104203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判分标准要在观察结果之前确定；改过的标准要说明改动，否则听众无法判断这个数字到底测到了什么。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汇报与质疑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15 / 26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74" name="" descr="&lt;Slide notes={`费用也要说明来源，这一点经常被忽略。Token 数不会自动等于账单金额，估算用的单价也不等于实际价格；更要提醒的是，没有提交成功的调用仍然可能产生费用。如果只能拿到部分用量，就写清可观测的部分和缺失的范围，不要用一个精确的小数掩盖信息不全。&#10;&#10;将来取得重复运行之后，报告还要说明各个运行之间的分布和汇总方式。有一条底线：主要结论必须与全体样本一致。不能先用全部任务计算闭环率，再只对最快几个成功任务计算平均耗时，然后把两个数字并排放在一起，暗示这是一次全面改进。具体的计算口径沿用第四节的分析方法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8.4　让数字带着分母和条件出现&lt;/Text&gt;&#10;            &lt;Text style={{ fontSize: 34, fontWeight: 'bold', color: '#20344B' }}&gt;费用与汇总口径也要写在旁边&lt;/Text&gt;&#10;        &lt;/Box&gt;&#10;    &lt;/Box&gt;&#10;&#10;    &lt;Box style={{ height: 540, flexDirection: 'row', alignItems: 'center', gap: 28 }}&gt;&#10;&#10;        &lt;Box style={{ width: 500, flexDirection: 'column', gap: 12 }}&gt;&#10;            &lt;Box style={{ height: 148, background: '#F4F7FA', borderRadius: 10, padding: '14px 18px', flexDirection: 'column', gap: 6, justifyContent: 'center' }}&gt;&#10;                &lt;Text style={{ fontSize: 16, fontWeight: 'bold', color: '#20344B' }}&gt;Token 数不等于账单金额&lt;/Text&gt;&#10;                &lt;Text style={{ fontSize: 15, color: '#546779', lineHeight: 1.6 }}&gt;用量与计费是两件事，报告里要写清口径。&lt;/Text&gt;&#10;            &lt;/Box&gt;&#10;            &lt;Box style={{ height: 148, background: '#F4F7FA', borderRadius: 10, padding: '14px 18px', flexDirection: 'column', gap: 6, justifyContent: 'center' }}&gt;&#10;                &lt;Text style={{ fontSize: 16, fontWeight: 'bold', color: '#20344B' }}&gt;估算单价不等于实际价格&lt;/Text&gt;&#10;                &lt;Text style={{ fontSize: 15, color: '#546779', lineHeight: 1.6 }}&gt;假设单价只能作为教学估算，不能当作账单。&lt;/Text&gt;&#10;            &lt;/Box&gt;&#10;            &lt;Box style={{ height: 148, background: '#FFF4E6', borderRadius: 10, padding: '14px 18px', flexDirection: 'column', gap: 6, justifyContent: 'center' }}&gt;&#10;                &lt;Text style={{ fontSize: 16, fontWeight: 'bold', color: '#CB6B28' }}&gt;未提交的调用仍可能产生费用&lt;/Text&gt;&#10;                &lt;Text style={{ fontSize: 15, color: '#546779', lineHeight: 1.6 }}&gt;失败与重试都会留下成本，不能只统计成功调用。&lt;/Text&gt;&#10;            &lt;/Box&gt;&#10;        &lt;/Box&gt;&#10;&#10;        &lt;Box style={{ width: 624, flexDirection: 'column', gap: 12 }}&gt;&#10;            &lt;Box style={{ height: 300, background: '#EDF4FC', borderRadius: 10, padding: '16px 20px', flexDirection: 'column', gap: 8, justifyContent: 'center' }}&gt;&#10;                &lt;Text style={{ fontSize: 18, fontWeight: 'bold', color: '#276FBF' }}&gt;只能获得部分用量时&lt;/Text&gt;&#10;                &lt;Text style={{ fontSize: 15, color: '#546779', lineHeight: 1.7 }}&gt;写清可观测部分与缺失范围，不要用一个精确小数掩盖信息不全。费用说明不足，会让听众误以为总成本已经被完整核对。&lt;/Text&gt;&#10;            &lt;/Box&gt;&#10;            &lt;Box style={{ height: 200, background: '#ECF7F2', borderRadius: 10, padding: '16px 20px', flexDirection: 'column', gap: 8, justifyContent: 'center' }}&gt;&#10;                &lt;Text style={{ fontSize: 18, fontWeight: 'bold', color: '#26816B' }}&gt;取得重复运行之后&lt;/Text&gt;&#10;                &lt;Text style={{ fontSize: 15, color: '#546779', lineHeight: 1.7 }}&gt;报告需说明各 Run 的分布与汇总方式；主要结论应与全体样本一致。计算口径沿用 4.9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8 汇报与质疑&lt;/Text&gt;&#10;        &lt;Text style={{ fontSize: 14, color: '#546779' }}&gt;16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5.8.4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让数字带着分母和条件出现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费用与汇总口径也要写在旁边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609600" y="1485900"/>
            <a:ext cx="4762500" cy="1409700"/>
          </a:xfrm>
          <a:prstGeom prst="roundRect">
            <a:avLst>
              <a:gd name="adj" fmla="val 675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781050" y="1933575"/>
            <a:ext cx="441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Token </a:t>
            </a: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数不等于账单金额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781050" y="2181225"/>
            <a:ext cx="44196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用量与计费是两件事，报告里要写清口径。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609600" y="3009900"/>
            <a:ext cx="4762500" cy="1409700"/>
          </a:xfrm>
          <a:prstGeom prst="roundRect">
            <a:avLst>
              <a:gd name="adj" fmla="val 675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781050" y="3457575"/>
            <a:ext cx="441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估算单价不等于实际价格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781050" y="3705225"/>
            <a:ext cx="44196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假设单价只能作为教学估算，不能当作账单。</a:t>
            </a:r>
            <a:endParaRPr/>
          </a:p>
        </p:txBody>
      </p:sp>
      <p:sp>
        <p:nvSpPr>
          <p:cNvPr id="185" name=""/>
          <p:cNvSpPr/>
          <p:nvPr/>
        </p:nvSpPr>
        <p:spPr>
          <a:xfrm rot="0" flipH="0" flipV="0">
            <a:off x="609600" y="4533900"/>
            <a:ext cx="4762500" cy="1409700"/>
          </a:xfrm>
          <a:prstGeom prst="roundRect">
            <a:avLst>
              <a:gd name="adj" fmla="val 675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781050" y="4981575"/>
            <a:ext cx="441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未提交的调用仍可能产生费用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781050" y="5229225"/>
            <a:ext cx="44196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失败与重试都会留下成本，不能只统计成功调用。</a:t>
            </a:r>
            <a:endParaRPr/>
          </a:p>
        </p:txBody>
      </p:sp>
      <p:sp>
        <p:nvSpPr>
          <p:cNvPr id="188" name=""/>
          <p:cNvSpPr/>
          <p:nvPr/>
        </p:nvSpPr>
        <p:spPr>
          <a:xfrm rot="0" flipH="0" flipV="0">
            <a:off x="5638800" y="1276350"/>
            <a:ext cx="5943600" cy="2857500"/>
          </a:xfrm>
          <a:prstGeom prst="roundRect">
            <a:avLst>
              <a:gd name="adj" fmla="val 3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5829300" y="2266950"/>
            <a:ext cx="5562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只能获得部分用量时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5829300" y="2552700"/>
            <a:ext cx="55626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写清可观测部分与缺失范围，不要用一个精确小数掩盖信息不全。费用说明不足，会让听众误以为总成本已经被完整核对。</a:t>
            </a:r>
            <a:endParaRPr/>
          </a:p>
        </p:txBody>
      </p:sp>
      <p:sp>
        <p:nvSpPr>
          <p:cNvPr id="191" name=""/>
          <p:cNvSpPr/>
          <p:nvPr/>
        </p:nvSpPr>
        <p:spPr>
          <a:xfrm rot="0" flipH="0" flipV="0">
            <a:off x="5638800" y="4248150"/>
            <a:ext cx="5943600" cy="1905000"/>
          </a:xfrm>
          <a:prstGeom prst="roundRect">
            <a:avLst>
              <a:gd name="adj" fmla="val 5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5829300" y="4762500"/>
            <a:ext cx="5562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取得重复运行之后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5829300" y="5048250"/>
            <a:ext cx="55626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报告需说明各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的分布与汇总方式；主要结论应与全体样本一致。计算口径沿用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4.9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汇报与质疑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16 / 26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96" name="" descr="&lt;Slide notes={`接下来讲最容易出问题的一处表达：报告里的因果跳跃。&#10;&#10;最常发生的跳跃是从「看见一次」直接到「应该推广」。我在一条记录里看到咨询台收到补充目的后给出了适配窗口建议，就顺手写成澄清策略有效、可以推广到其他任务。这一步跨得太大了。&#10;&#10;约束的方法就是把推理拆成三句话：第一句只描述观察，第二句提出解释，第三句说明还需要什么检验。同一条咨询记录可以写成「记录里给出了适配建议」「这与澄清补齐分类字段的机制相符」「仍需检查其他任务和重复运行，判断收益是否抵偿额外轮次」。三句话各就各位，推广这一步就不会被偷偷塞进来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第五章　5.8　演示与评审&lt;/Text&gt;&#10;            &lt;Text style={{ fontSize: 34, fontWeight: 'bold', color: '#20344B' }}&gt;知识块 ⑤&lt;/Text&gt;&#10;        &lt;/Box&gt;&#10;    &lt;/Box&gt;&#10;&#10;    &lt;Box style={{ height: 540, flexDirection: 'column', justifyContent: 'center', gap: 18 }}&gt;&#10;&#10;        &lt;Text style={{ fontSize: 96, fontWeight: 'bold', color: '#276FBF', lineHeight: 1.0 }}&gt;⑤&lt;/Text&gt;&#10;&#10;        &lt;Text style={{ fontSize: 56, fontWeight: 'bold', color: '#20344B', lineHeight: 1.15 }}&gt;观察、解释、下一步分成三句话&lt;/Text&gt;&#10;&#10;        &lt;Box style={{ width: 72, height: 4, background: '#276FBF' }} /&gt;&#10;&#10;        &lt;Text style={{ fontSize: 18, color: '#546779', lineHeight: 1.7, width: 940 }}&gt;报告最容易发生的跳跃，是从「看见一次」直接到「应该推广」。&lt;/Text&gt;&#10;&#10;        &lt;Box style={{ flexDirection: 'row', alignItems: 'center', gap: 0, marginTop: 8 }}&gt;&#10;            &lt;Box style={{ width: 340, height: 64, background: '#EDF4FC', borderRadius: 8, justifyContent: 'center', alignItems: 'center' }}&gt;&#10;                &lt;Text style={{ fontSize: 18, color: '#276FBF' }}&gt;观察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340, height: 64, background: '#ECF7F2', borderRadius: 8, justifyContent: 'center', alignItems: 'center' }}&gt;&#10;                &lt;Text style={{ fontSize: 18, color: '#26816B' }}&gt;解释&lt;/Text&gt;&#10;            &lt;/Box&gt;&#10;            &lt;Box style={{ width: 44, height: 64, justifyContent: 'center', alignItems: 'center' }}&gt;&#10;                &lt;Text style={{ fontSize: 26, color: '#26816B' }}&gt;›&lt;/Text&gt;&#10;            &lt;/Box&gt;&#10;            &lt;Box style={{ width: 340, height: 64, background: '#F4F7FA', borderRadius: 8, justifyContent: 'center', alignItems: 'center' }}&gt;&#10;                &lt;Text style={{ fontSize: 18, color: '#20344B' }}&gt;下一步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8 汇报与质疑&lt;/Text&gt;&#10;        &lt;Text style={{ fontSize: 14, color: '#546779' }}&gt;17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1524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第五章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5.8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演示与评审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1524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知识块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⑤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609600" y="1914525"/>
            <a:ext cx="109728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200" b="1">
                <a:solidFill>
                  <a:srgbClr val="276FBF"/>
                </a:solidFill>
                <a:latin typeface="Microsoft YaHei"/>
                <a:ea typeface="Microsoft YaHei"/>
              </a:rPr>
              <a:t>⑤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609600" y="31908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观察、解释、下一步分成三句话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609600" y="41052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609600" y="4314825"/>
            <a:ext cx="8953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报告最容易发生的跳跃，是从「看见一次」直接到「应该推广」。</a:t>
            </a:r>
            <a:endParaRPr/>
          </a:p>
        </p:txBody>
      </p:sp>
      <p:sp>
        <p:nvSpPr>
          <p:cNvPr id="205" name=""/>
          <p:cNvSpPr/>
          <p:nvPr/>
        </p:nvSpPr>
        <p:spPr>
          <a:xfrm rot="0" flipH="0" flipV="0">
            <a:off x="609600" y="4914900"/>
            <a:ext cx="3238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2057400" y="5114925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观察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4019550" y="50673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4267200" y="4914900"/>
            <a:ext cx="32385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5715000" y="5114925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解释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7677150" y="50673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11" name=""/>
          <p:cNvSpPr/>
          <p:nvPr/>
        </p:nvSpPr>
        <p:spPr>
          <a:xfrm rot="0" flipH="0" flipV="0">
            <a:off x="7924800" y="4914900"/>
            <a:ext cx="3238500" cy="6096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9286875" y="5114925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0344B"/>
                </a:solidFill>
                <a:latin typeface="Microsoft YaHei"/>
                <a:ea typeface="Microsoft YaHei"/>
              </a:rPr>
              <a:t>下一步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汇报与质疑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17 / 26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215" name="" descr="&lt;Slide notes={`我把同一条咨询记录写成三个连续句子，你可以照着改自己的报告。&#10;&#10;第一句只描述观察：这条任务记录中，咨询台收到补充目的后给出了适配窗口建议。它只陈述记录里发生的事，需要实际记录支持。&#10;&#10;第二句提出解释：这一过程与澄清有助于补齐分类字段的机制相符。注意用词是「与机制相符」，不是「因此证明」。&#10;&#10;第三句说明下一步：仍需检查其他任务和重复运行，判断收益是否抵偿额外轮次。检验方向明确写出来，推广这一步就有了入口。&#10;&#10;这三句是写作示范，不能在没有记录的时候当成本案结果使用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8.5　将观察、解释和下一步分成三句话&lt;/Text&gt;&#10;            &lt;Text style={{ fontSize: 34, fontWeight: 'bold', color: '#20344B' }}&gt;三句话约束一次推理&lt;/Text&gt;&#10;        &lt;/Box&gt;&#10;    &lt;/Box&gt;&#10;&#10;    &lt;Box style={{ height: 540, flexDirection: 'column', gap: 20 }}&gt;&#10;&#10;        &lt;Box style={{ height: 340, flexDirection: 'row', alignItems: 'stretch' }}&gt;&#10;&#10;            &lt;Box style={{ width: 344, height: 340, background: '#EDF4FC', borderRadius: 12, padding: '18px 20px', flexDirection: 'column', gap: 10 }}&gt;&#10;                &lt;Text style={{ fontSize: 15, color: '#546779' }}&gt;第一句 · 观察&lt;/Text&gt;&#10;                &lt;Text style={{ fontSize: 20, fontWeight: 'bold', color: '#276FBF', lineHeight: 1.4 }}&gt;只描述记录里发生的事&lt;/Text&gt;&#10;                &lt;Text style={{ fontSize: 15, color: '#20344B', lineHeight: 1.75 }}&gt;这条任务记录中，咨询台收到补充目的后给出了适配窗口建议。&lt;/Text&gt;&#10;                &lt;Text style={{ fontSize: 14, color: '#546779', lineHeight: 1.5 }}&gt;需实际记录支持&lt;/Text&gt;&#10;            &lt;/Box&gt;&#10;&#10;            &lt;Box style={{ width: 44, height: 340, justifyContent: 'center', alignItems: 'center' }}&gt;&#10;                &lt;Text style={{ fontSize: 26, color: '#276FBF' }}&gt;›&lt;/Text&gt;&#10;            &lt;/Box&gt;&#10;&#10;            &lt;Box style={{ width: 344, height: 340, background: '#ECF7F2', borderRadius: 12, padding: '18px 20px', flexDirection: 'column', gap: 10 }}&gt;&#10;                &lt;Text style={{ fontSize: 15, color: '#546779' }}&gt;第二句 · 解释&lt;/Text&gt;&#10;                &lt;Text style={{ fontSize: 20, fontWeight: 'bold', color: '#26816B', lineHeight: 1.4 }}&gt;提出与机制相符的说法&lt;/Text&gt;&#10;                &lt;Text style={{ fontSize: 15, color: '#20344B', lineHeight: 1.75 }}&gt;这一过程与澄清有助于补齐分类字段的机制相符。&lt;/Text&gt;&#10;                &lt;Text style={{ fontSize: 14, color: '#546779', lineHeight: 1.5 }}&gt;与机制相符，不是结论&lt;/Text&gt;&#10;            &lt;/Box&gt;&#10;&#10;            &lt;Box style={{ width: 44, height: 340, justifyContent: 'center', alignItems: 'center' }}&gt;&#10;                &lt;Text style={{ fontSize: 26, color: '#26816B' }}&gt;›&lt;/Text&gt;&#10;            &lt;/Box&gt;&#10;&#10;            &lt;Box style={{ width: 344, height: 340, background: '#F4F7FA', borderRadius: 12, padding: '18px 20px', flexDirection: 'column', gap: 10 }}&gt;&#10;                &lt;Text style={{ fontSize: 15, color: '#546779' }}&gt;第三句 · 下一步&lt;/Text&gt;&#10;                &lt;Text style={{ fontSize: 20, fontWeight: 'bold', color: '#20344B', lineHeight: 1.4 }}&gt;说明还需要什么检验&lt;/Text&gt;&#10;                &lt;Text style={{ fontSize: 15, color: '#20344B', lineHeight: 1.75 }}&gt;仍需检查其他任务和重复运行，判断收益是否抵偿额外轮次。&lt;/Text&gt;&#10;                &lt;Text style={{ fontSize: 14, color: '#546779', lineHeight: 1.5 }}&gt;仍需检验，不能直接推广&lt;/Text&gt;&#10;            &lt;/Box&gt;&#10;&#10;        &lt;/Box&gt;&#10;&#10;        &lt;Box style={{ height: 130, background: '#FFF4E6', borderRadius: 10, padding: '16px 20px', flexDirection: 'row', alignItems: 'center', gap: 14 }}&gt;&#10;            &lt;Box style={{ width: 4, height: 72, background: '#CB6B28' }} /&gt;&#10;            &lt;Box style={{ flex: 1, flexDirection: 'column', gap: 6 }}&gt;&#10;                &lt;Text style={{ fontSize: 16, fontWeight: 'bold', color: '#CB6B28' }}&gt;这三句是写作示范&lt;/Text&gt;&#10;                &lt;Text style={{ fontSize: 15, color: '#546779', lineHeight: 1.6 }}&gt;不能在没有记录时当成本案结果使用；示例句不充当真实结果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8 汇报与质疑&lt;/Text&gt;&#10;        &lt;Text style={{ fontSize: 14, color: '#546779' }}&gt;18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5.8.5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将观察、解释和下一步分成三句话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三句话约束一次推理</a:t>
            </a:r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609600" y="1143000"/>
            <a:ext cx="3276600" cy="3238500"/>
          </a:xfrm>
          <a:prstGeom prst="roundRect">
            <a:avLst>
              <a:gd name="adj" fmla="val 352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800100" y="1314450"/>
            <a:ext cx="2895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第一句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观察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800100" y="1581150"/>
            <a:ext cx="2895600" cy="323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只描述记录里发生的事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800100" y="2000250"/>
            <a:ext cx="289560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这条任务记录中，咨询台收到补充目的后给出了适配窗口建议。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800100" y="2695575"/>
            <a:ext cx="28956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需实际记录支持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4057650" y="26098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26" name=""/>
          <p:cNvSpPr/>
          <p:nvPr/>
        </p:nvSpPr>
        <p:spPr>
          <a:xfrm rot="0" flipH="0" flipV="0">
            <a:off x="4305300" y="1143000"/>
            <a:ext cx="3276600" cy="3238500"/>
          </a:xfrm>
          <a:prstGeom prst="roundRect">
            <a:avLst>
              <a:gd name="adj" fmla="val 352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4495800" y="1314450"/>
            <a:ext cx="2895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第二句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解释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4495800" y="1581150"/>
            <a:ext cx="2895600" cy="323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提出与机制相符的说法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4495800" y="2000250"/>
            <a:ext cx="289560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这一过程与澄清有助于补齐分类字段的机制相符。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4495800" y="2695575"/>
            <a:ext cx="28956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与机制相符，不是结论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7753350" y="26098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32" name=""/>
          <p:cNvSpPr/>
          <p:nvPr/>
        </p:nvSpPr>
        <p:spPr>
          <a:xfrm rot="0" flipH="0" flipV="0">
            <a:off x="8001000" y="1143000"/>
            <a:ext cx="3276600" cy="3238500"/>
          </a:xfrm>
          <a:prstGeom prst="roundRect">
            <a:avLst>
              <a:gd name="adj" fmla="val 352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8191500" y="1314450"/>
            <a:ext cx="2895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第三句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下一步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8191500" y="1581150"/>
            <a:ext cx="2895600" cy="323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说明还需要什么检验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8191500" y="2000250"/>
            <a:ext cx="289560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仍需检查其他任务和重复运行，判断收益是否抵偿额外轮次。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8191500" y="2695575"/>
            <a:ext cx="28956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仍需检验，不能直接推广</a:t>
            </a:r>
            <a:endParaRPr/>
          </a:p>
        </p:txBody>
      </p:sp>
      <p:sp>
        <p:nvSpPr>
          <p:cNvPr id="237" name=""/>
          <p:cNvSpPr/>
          <p:nvPr/>
        </p:nvSpPr>
        <p:spPr>
          <a:xfrm rot="0" flipH="0" flipV="0">
            <a:off x="609600" y="4572000"/>
            <a:ext cx="10972800" cy="1238250"/>
          </a:xfrm>
          <a:prstGeom prst="roundRect">
            <a:avLst>
              <a:gd name="adj" fmla="val 769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38" name=""/>
          <p:cNvSpPr/>
          <p:nvPr/>
        </p:nvSpPr>
        <p:spPr>
          <a:xfrm rot="0" flipH="0" flipV="0">
            <a:off x="800100" y="4848225"/>
            <a:ext cx="38100" cy="6858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971550" y="4933950"/>
            <a:ext cx="10420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这三句是写作示范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971550" y="5181600"/>
            <a:ext cx="104203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不能在没有记录时当成本案结果使用；示例句不充当真实结果。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汇报与质疑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18 / 26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243" name="" descr="&lt;Slide notes={`结论不顺的时候，同样的三句话结构反而更重要。&#10;&#10;比如观察是「已经收到补充，却仍然建议了错误窗口」。这时候解释候选有好几个：角色对规则的理解、记忆检索的结果、或者执行文本前后不一致。下一步就很具体：定位当时的输入，再对照包内的 Skill 文本，看到底是哪一环断了。&#10;&#10;最后提醒两句反向的毛病。不要每次模型行为偏离就归为系统 bug，那会把设计问题藏起来；也不要把工具的正确拒绝包装成策略失败，那是把好事说成坏事。两种包装都会让后来的接手者找不到真正的原因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8.5　将观察、解释和下一步分成三句话&lt;/Text&gt;&#10;            &lt;Text style={{ fontSize: 34, fontWeight: 'bold', color: '#20344B' }}&gt;证据不符合预期时，用同一结构&lt;/Text&gt;&#10;        &lt;/Box&gt;&#10;    &lt;/Box&gt;&#10;&#10;    &lt;Box style={{ height: 540, flexDirection: 'row', alignItems: 'center', gap: 28 }}&gt;&#10;&#10;        &lt;Box style={{ width: 460, flexDirection: 'column', gap: 14 }}&gt;&#10;            &lt;Text style={{ fontSize: 22, fontWeight: 'bold', color: '#20344B', lineHeight: 1.4 }}&gt;结论不顺时，更需要把三层分开&lt;/Text&gt;&#10;            &lt;Box style={{ width: 72, height: 4, background: '#276FBF' }} /&gt;&#10;            &lt;Text style={{ fontSize: 16, color: '#546779', lineHeight: 1.75, width: 460 }}&gt;否则很容易一步滑向归因：把设计问题说成系统故障，或者把正确行为说成策略失败。&lt;/Text&gt;&#10;            &lt;Box style={{ height: 170, background: '#FFF4E6', borderRadius: 10, padding: '14px 18px', flexDirection: 'column', gap: 8, justifyContent: 'center' }}&gt;&#10;                &lt;Text style={{ fontSize: 16, fontWeight: 'bold', color: '#CB6B28' }}&gt;两种包装都要避免&lt;/Text&gt;&#10;                &lt;Text style={{ fontSize: 15, color: '#546779', lineHeight: 1.6 }}&gt;不要把每次模型行为偏离都归为系统 bug，也不要把工具的正确拒绝包装成策略失败。&lt;/Text&gt;&#10;            &lt;/Box&gt;&#10;        &lt;/Box&gt;&#10;&#10;        &lt;Box style={{ width: 664, flexDirection: 'column', gap: 12 }}&gt;&#10;            &lt;Box style={{ height: 148, background: '#F4F7FA', borderRadius: 10, padding: '16px 22px', flexDirection: 'column', gap: 8, justifyContent: 'center' }}&gt;&#10;                &lt;Text style={{ fontSize: 15, color: '#546779' }}&gt;观察&lt;/Text&gt;&#10;                &lt;Text style={{ fontSize: 18, fontWeight: 'bold', color: '#20344B', lineHeight: 1.5 }}&gt;已收到补充，却仍建议错误窗口&lt;/Text&gt;&#10;            &lt;/Box&gt;&#10;            &lt;Box style={{ height: 148, background: '#EDF4FC', borderRadius: 10, padding: '16px 22px', flexDirection: 'column', gap: 8, justifyContent: 'center' }}&gt;&#10;                &lt;Text style={{ fontSize: 15, color: '#546779' }}&gt;解释候选&lt;/Text&gt;&#10;                &lt;Text style={{ fontSize: 18, fontWeight: 'bold', color: '#276FBF', lineHeight: 1.5 }}&gt;规则理解、记忆检索或执行文本不一致&lt;/Text&gt;&#10;            &lt;/Box&gt;&#10;            &lt;Box style={{ height: 148, background: '#ECF7F2', borderRadius: 10, padding: '16px 22px', flexDirection: 'column', gap: 8, justifyContent: 'center' }}&gt;&#10;                &lt;Text style={{ fontSize: 15, color: '#546779' }}&gt;下一步&lt;/Text&gt;&#10;                &lt;Text style={{ fontSize: 18, fontWeight: 'bold', color: '#26816B', lineHeight: 1.5 }}&gt;定位具体输入与包内 Skill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8 汇报与质疑&lt;/Text&gt;&#10;        &lt;Text style={{ fontSize: 14, color: '#546779' }}&gt;19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53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5.8.5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将观察、解释和下一步分成三句话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53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证据不符合预期时，用同一结构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609600" y="2190750"/>
            <a:ext cx="4381500" cy="3524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结论不顺时，更需要把三层分开</a:t>
            </a:r>
            <a:endParaRPr/>
          </a:p>
        </p:txBody>
      </p:sp>
      <p:sp>
        <p:nvSpPr>
          <p:cNvPr id="249" name=""/>
          <p:cNvSpPr/>
          <p:nvPr/>
        </p:nvSpPr>
        <p:spPr>
          <a:xfrm rot="0" flipH="0" flipV="0">
            <a:off x="609600" y="267652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609600" y="2847975"/>
            <a:ext cx="438150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否则很容易一步滑向归因：把设计问题说成系统故障，或者把正确行为说成策略失败。</a:t>
            </a:r>
            <a:endParaRPr/>
          </a:p>
        </p:txBody>
      </p:sp>
      <p:sp>
        <p:nvSpPr>
          <p:cNvPr id="251" name=""/>
          <p:cNvSpPr/>
          <p:nvPr/>
        </p:nvSpPr>
        <p:spPr>
          <a:xfrm rot="0" flipH="0" flipV="0">
            <a:off x="609600" y="3629025"/>
            <a:ext cx="4381500" cy="1619250"/>
          </a:xfrm>
          <a:prstGeom prst="roundRect">
            <a:avLst>
              <a:gd name="adj" fmla="val 588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781050" y="4029075"/>
            <a:ext cx="4038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两种包装都要避免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781050" y="4295775"/>
            <a:ext cx="40386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不要把每次模型行为偏离都归为系统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bug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，也不要把工具的正确拒绝包装成策略失败。</a:t>
            </a:r>
            <a:endParaRPr/>
          </a:p>
        </p:txBody>
      </p:sp>
      <p:sp>
        <p:nvSpPr>
          <p:cNvPr id="254" name=""/>
          <p:cNvSpPr/>
          <p:nvPr/>
        </p:nvSpPr>
        <p:spPr>
          <a:xfrm rot="0" flipH="0" flipV="0">
            <a:off x="5257800" y="1485900"/>
            <a:ext cx="6324600" cy="1409700"/>
          </a:xfrm>
          <a:prstGeom prst="roundRect">
            <a:avLst>
              <a:gd name="adj" fmla="val 675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5467350" y="1914525"/>
            <a:ext cx="5905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观察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5467350" y="2162175"/>
            <a:ext cx="59055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已收到补充，却仍建议错误窗口</a:t>
            </a:r>
            <a:endParaRPr/>
          </a:p>
        </p:txBody>
      </p:sp>
      <p:sp>
        <p:nvSpPr>
          <p:cNvPr id="257" name=""/>
          <p:cNvSpPr/>
          <p:nvPr/>
        </p:nvSpPr>
        <p:spPr>
          <a:xfrm rot="0" flipH="0" flipV="0">
            <a:off x="5257800" y="3009900"/>
            <a:ext cx="6324600" cy="1409700"/>
          </a:xfrm>
          <a:prstGeom prst="roundRect">
            <a:avLst>
              <a:gd name="adj" fmla="val 675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5467350" y="3438525"/>
            <a:ext cx="5905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解释候选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5467350" y="3686175"/>
            <a:ext cx="59055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规则理解、记忆检索或执行文本不一致</a:t>
            </a:r>
            <a:endParaRPr/>
          </a:p>
        </p:txBody>
      </p:sp>
      <p:sp>
        <p:nvSpPr>
          <p:cNvPr id="260" name=""/>
          <p:cNvSpPr/>
          <p:nvPr/>
        </p:nvSpPr>
        <p:spPr>
          <a:xfrm rot="0" flipH="0" flipV="0">
            <a:off x="5257800" y="4533900"/>
            <a:ext cx="6324600" cy="1409700"/>
          </a:xfrm>
          <a:prstGeom prst="roundRect">
            <a:avLst>
              <a:gd name="adj" fmla="val 675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5467350" y="4962525"/>
            <a:ext cx="5905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下一步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5467350" y="5210175"/>
            <a:ext cx="59055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定位具体输入与包内</a:t>
            </a:r>
            <a:r>
              <a:rPr lang="en-US" sz="135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Skill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汇报与质疑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19 / 26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298" name="" descr="&lt;Slide notes={`现在换到评阅者这一侧。评阅一份报告，不需要逐行审查所有文件，那样既慢又抓不到重点。&#10;&#10;比较有效的做法是：先挑一个主要结论，然后沿着它的证据链往回走。从这句话出发，找到它引用的记录，再找到记录对应的运行与提交边界。往回走的过程中，通常会立刻暴露关键缺口——比如结论说闭环，记录里却只有一条建议。&#10;&#10;我准备用五个问题做这件事，它们分别针对比较对象、判分标准、证据定位、不利样本和结论范围。这五个问题覆盖的是一条证据链最容易断掉的几个位置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第五章　5.8　演示与评审&lt;/Text&gt;&#10;            &lt;Text style={{ fontSize: 34, fontWeight: 'bold', color: '#20344B' }}&gt;知识块 ⑥&lt;/Text&gt;&#10;        &lt;/Box&gt;&#10;    &lt;/Box&gt;&#10;&#10;    &lt;Box style={{ height: 540, flexDirection: 'column', justifyContent: 'center', gap: 18 }}&gt;&#10;&#10;        &lt;Text style={{ fontSize: 96, fontWeight: 'bold', color: '#276FBF', lineHeight: 1.0 }}&gt;⑥&lt;/Text&gt;&#10;&#10;        &lt;Text style={{ fontSize: 56, fontWeight: 'bold', color: '#20344B', lineHeight: 1.15 }}&gt;评阅者可以从五个问题开始&lt;/Text&gt;&#10;&#10;        &lt;Box style={{ width: 72, height: 4, background: '#276FBF' }} /&gt;&#10;&#10;        &lt;Text style={{ fontSize: 18, color: '#546779', lineHeight: 1.7, width: 940 }}&gt;先挑一个主要结论，沿它的证据链往回走，通常就能暴露关键缺口。&lt;/Text&gt;&#10;&#10;        &lt;Box style={{ flexDirection: 'row', gap: 12, marginTop: 8 }}&gt;&#10;            &lt;Box style={{ width: 216, height: 72, background: '#EDF4FC', borderRadius: 8, justifyContent: 'center', alignItems: 'center' }}&gt;&#10;                &lt;Text style={{ fontSize: 17, color: '#276FBF' }}&gt;比较对象&lt;/Text&gt;&#10;            &lt;/Box&gt;&#10;            &lt;Box style={{ width: 216, height: 72, background: '#EDF4FC', borderRadius: 8, justifyContent: 'center', alignItems: 'center' }}&gt;&#10;                &lt;Text style={{ fontSize: 17, color: '#276FBF' }}&gt;判分标准&lt;/Text&gt;&#10;            &lt;/Box&gt;&#10;            &lt;Box style={{ width: 216, height: 72, background: '#ECF7F2', borderRadius: 8, justifyContent: 'center', alignItems: 'center' }}&gt;&#10;                &lt;Text style={{ fontSize: 17, color: '#26816B' }}&gt;证据定位&lt;/Text&gt;&#10;            &lt;/Box&gt;&#10;            &lt;Box style={{ width: 216, height: 72, background: '#ECF7F2', borderRadius: 8, justifyContent: 'center', alignItems: 'center' }}&gt;&#10;                &lt;Text style={{ fontSize: 17, color: '#26816B' }}&gt;不利样本&lt;/Text&gt;&#10;            &lt;/Box&gt;&#10;            &lt;Box style={{ width: 216, height: 72, background: '#F4F7FA', borderRadius: 8, justifyContent: 'center', alignItems: 'center' }}&gt;&#10;                &lt;Text style={{ fontSize: 17, color: '#20344B' }}&gt;结论范围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8 汇报与质疑&lt;/Text&gt;&#10;        &lt;Text style={{ fontSize: 14, color: '#546779' }}&gt;20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1524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第五章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5.8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演示与评审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1524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知识块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⑥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609600" y="1876425"/>
            <a:ext cx="109728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200" b="1">
                <a:solidFill>
                  <a:srgbClr val="276FBF"/>
                </a:solidFill>
                <a:latin typeface="Microsoft YaHei"/>
                <a:ea typeface="Microsoft YaHei"/>
              </a:rPr>
              <a:t>⑥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609600" y="31527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评阅者可以从五个问题开始</a:t>
            </a:r>
            <a:endParaRPr/>
          </a:p>
        </p:txBody>
      </p:sp>
      <p:sp>
        <p:nvSpPr>
          <p:cNvPr id="305" name=""/>
          <p:cNvSpPr/>
          <p:nvPr/>
        </p:nvSpPr>
        <p:spPr>
          <a:xfrm rot="0" flipH="0" flipV="0">
            <a:off x="609600" y="40671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609600" y="4276725"/>
            <a:ext cx="8953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先挑一个主要结论，沿它的证据链往回走，通常就能暴露关键缺口。</a:t>
            </a:r>
            <a:endParaRPr/>
          </a:p>
        </p:txBody>
      </p:sp>
      <p:sp>
        <p:nvSpPr>
          <p:cNvPr id="307" name=""/>
          <p:cNvSpPr/>
          <p:nvPr/>
        </p:nvSpPr>
        <p:spPr>
          <a:xfrm rot="0" flipH="0" flipV="0">
            <a:off x="609600" y="4876800"/>
            <a:ext cx="2057400" cy="685800"/>
          </a:xfrm>
          <a:prstGeom prst="roundRect">
            <a:avLst>
              <a:gd name="adj" fmla="val 1111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1314450" y="512445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76FBF"/>
                </a:solidFill>
                <a:latin typeface="Microsoft YaHei"/>
                <a:ea typeface="Microsoft YaHei"/>
              </a:rPr>
              <a:t>比较对象</a:t>
            </a:r>
            <a:endParaRPr/>
          </a:p>
        </p:txBody>
      </p:sp>
      <p:sp>
        <p:nvSpPr>
          <p:cNvPr id="309" name=""/>
          <p:cNvSpPr/>
          <p:nvPr/>
        </p:nvSpPr>
        <p:spPr>
          <a:xfrm rot="0" flipH="0" flipV="0">
            <a:off x="2781300" y="4876800"/>
            <a:ext cx="2057400" cy="685800"/>
          </a:xfrm>
          <a:prstGeom prst="roundRect">
            <a:avLst>
              <a:gd name="adj" fmla="val 1111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3486150" y="512445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76FBF"/>
                </a:solidFill>
                <a:latin typeface="Microsoft YaHei"/>
                <a:ea typeface="Microsoft YaHei"/>
              </a:rPr>
              <a:t>判分标准</a:t>
            </a:r>
            <a:endParaRPr/>
          </a:p>
        </p:txBody>
      </p:sp>
      <p:sp>
        <p:nvSpPr>
          <p:cNvPr id="311" name=""/>
          <p:cNvSpPr/>
          <p:nvPr/>
        </p:nvSpPr>
        <p:spPr>
          <a:xfrm rot="0" flipH="0" flipV="0">
            <a:off x="4953000" y="4876800"/>
            <a:ext cx="2057400" cy="685800"/>
          </a:xfrm>
          <a:prstGeom prst="roundRect">
            <a:avLst>
              <a:gd name="adj" fmla="val 1111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5657850" y="512445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6816B"/>
                </a:solidFill>
                <a:latin typeface="Microsoft YaHei"/>
                <a:ea typeface="Microsoft YaHei"/>
              </a:rPr>
              <a:t>证据定位</a:t>
            </a:r>
            <a:endParaRPr/>
          </a:p>
        </p:txBody>
      </p:sp>
      <p:sp>
        <p:nvSpPr>
          <p:cNvPr id="313" name=""/>
          <p:cNvSpPr/>
          <p:nvPr/>
        </p:nvSpPr>
        <p:spPr>
          <a:xfrm rot="0" flipH="0" flipV="0">
            <a:off x="7124700" y="4876800"/>
            <a:ext cx="2057400" cy="685800"/>
          </a:xfrm>
          <a:prstGeom prst="roundRect">
            <a:avLst>
              <a:gd name="adj" fmla="val 1111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7829550" y="512445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6816B"/>
                </a:solidFill>
                <a:latin typeface="Microsoft YaHei"/>
                <a:ea typeface="Microsoft YaHei"/>
              </a:rPr>
              <a:t>不利样本</a:t>
            </a:r>
            <a:endParaRPr/>
          </a:p>
        </p:txBody>
      </p:sp>
      <p:sp>
        <p:nvSpPr>
          <p:cNvPr id="315" name=""/>
          <p:cNvSpPr/>
          <p:nvPr/>
        </p:nvSpPr>
        <p:spPr>
          <a:xfrm rot="0" flipH="0" flipV="0">
            <a:off x="9296400" y="4876800"/>
            <a:ext cx="2057400" cy="68580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10001250" y="512445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结论范围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汇报与质疑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20 / 26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319" name="" descr="&lt;Slide notes={`这五个问题我按顺序念一遍，你可以拿自己的报告对照。&#10;&#10;第一，这句话比较的究竟是什么，能不能在委托书里找到对应的问题？很多主张在措辞上很好听，回到委托书就找不到出处。&#10;&#10;第二，判分标准是在观察结果之前确定的吗？如果标准改过，有没有说明为什么改？&#10;&#10;第三，被引用的证据来自哪一次运行、哪个提交边界，别人能不能重新定位到同一段记录？&#10;&#10;第四，失败、没有回应和不利样本，有没有进入同一份结果表？只统计成功的那部分，结论一定会偏。&#10;&#10;第五，结论有没有超出材料、系统机制或接收验证的范围？&#10;&#10;这五问不需要逐行读文件，沿着一条证据链走一遍就够了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8.6　评阅者可以从五个问题开始&lt;/Text&gt;&#10;            &lt;Text style={{ fontSize: 34, fontWeight: 'bold', color: '#20344B' }}&gt;沿一条证据链往回走&lt;/Text&gt;&#10;        &lt;/Box&gt;&#10;    &lt;/Box&gt;&#10;&#10;    &lt;Box style={{ height: 540, flexDirection: 'row', alignItems: 'center', gap: 28 }}&gt;&#10;&#10;        &lt;Box style={{ width: 430, flexDirection: 'column', gap: 14 }}&gt;&#10;            &lt;Text style={{ fontSize: 22, fontWeight: 'bold', color: '#20344B', lineHeight: 1.4 }}&gt;不必逐行审查所有文件&lt;/Text&gt;&#10;            &lt;Box style={{ width: 72, height: 4, background: '#276FBF' }} /&gt;&#10;            &lt;Text style={{ fontSize: 16, color: '#546779', lineHeight: 1.75, width: 430 }}&gt;挑一个主要结论，沿它的证据链往回走一遍，通常就能暴露关键缺口。&lt;/Text&gt;&#10;            &lt;Box style={{ height: 120, background: '#F4F7FA', borderRadius: 10, padding: '14px 18px', flexDirection: 'column', gap: 6, justifyContent: 'center' }}&gt;&#10;                &lt;Text style={{ fontSize: 15, color: '#546779', lineHeight: 1.6 }}&gt;从结论出发，找到引用的记录，再找到记录对应的运行与提交边界。&lt;/Text&gt;&#10;            &lt;/Box&gt;&#10;        &lt;/Box&gt;&#10;&#10;        &lt;Box style={{ width: 694, flexDirection: 'column', gap: 10 }}&gt;&#10;&#10;            &lt;Box style={{ height: 94, background: '#EDF4FC', borderRadius: 10, padding: '0 18px', flexDirection: 'row', alignItems: 'center', gap: 16 }}&gt;&#10;                &lt;Box style={{ width: 44, height: 44, background: '#FFFFFF', borderRadius: 8, justifyContent: 'center', alignItems: 'center' }}&gt;&#10;                    &lt;Text style={{ fontSize: 18, fontWeight: 'bold', color: '#276FBF' }}&gt;1&lt;/Text&gt;&#10;                &lt;/Box&gt;&#10;                &lt;Box style={{ flex: 1 }}&gt;&lt;Text style={{ fontSize: 15, color: '#20344B', lineHeight: 1.55 }}&gt;这句话比较的究竟是什么，能否在委托书中找到对应问题？&lt;/Text&gt;&lt;/Box&gt;&#10;            &lt;/Box&gt;&#10;&#10;            &lt;Box style={{ height: 94, background: '#EDF4FC', borderRadius: 10, padding: '0 18px', flexDirection: 'row', alignItems: 'center', gap: 16 }}&gt;&#10;                &lt;Box style={{ width: 44, height: 44, background: '#FFFFFF', borderRadius: 8, justifyContent: 'center', alignItems: 'center' }}&gt;&#10;                    &lt;Text style={{ fontSize: 18, fontWeight: 'bold', color: '#276FBF' }}&gt;2&lt;/Text&gt;&#10;                &lt;/Box&gt;&#10;                &lt;Box style={{ flex: 1 }}&gt;&lt;Text style={{ fontSize: 15, color: '#20344B', lineHeight: 1.55 }}&gt;判分标准是在观察结果前确定的吗，修改过的标准是否有说明？&lt;/Text&gt;&lt;/Box&gt;&#10;            &lt;/Box&gt;&#10;&#10;            &lt;Box style={{ height: 94, background: '#ECF7F2', borderRadius: 10, padding: '0 18px', flexDirection: 'row', alignItems: 'center', gap: 16 }}&gt;&#10;                &lt;Box style={{ width: 44, height: 44, background: '#FFFFFF', borderRadius: 8, justifyContent: 'center', alignItems: 'center' }}&gt;&#10;                    &lt;Text style={{ fontSize: 18, fontWeight: 'bold', color: '#26816B' }}&gt;3&lt;/Text&gt;&#10;                &lt;/Box&gt;&#10;                &lt;Box style={{ flex: 1 }}&gt;&lt;Text style={{ fontSize: 15, color: '#20344B', lineHeight: 1.55 }}&gt;被引用的证据来自哪次 Run、哪个提交边界，能否重新定位？&lt;/Text&gt;&lt;/Box&gt;&#10;            &lt;/Box&gt;&#10;&#10;            &lt;Box style={{ height: 94, background: '#ECF7F2', borderRadius: 10, padding: '0 18px', flexDirection: 'row', alignItems: 'center', gap: 16 }}&gt;&#10;                &lt;Box style={{ width: 44, height: 44, background: '#FFFFFF', borderRadius: 8, justifyContent: 'center', alignItems: 'center' }}&gt;&#10;                    &lt;Text style={{ fontSize: 18, fontWeight: 'bold', color: '#26816B' }}&gt;4&lt;/Text&gt;&#10;                &lt;/Box&gt;&#10;                &lt;Box style={{ flex: 1 }}&gt;&lt;Text style={{ fontSize: 15, color: '#20344B', lineHeight: 1.55 }}&gt;失败、没有回应和不利样本是否进入同一份结果表？&lt;/Text&gt;&lt;/Box&gt;&#10;            &lt;/Box&gt;&#10;&#10;            &lt;Box style={{ height: 94, background: '#F4F7FA', borderRadius: 10, padding: '0 18px', flexDirection: 'row', alignItems: 'center', gap: 16 }}&gt;&#10;                &lt;Box style={{ width: 44, height: 44, background: '#FFFFFF', borderRadius: 8, justifyContent: 'center', alignItems: 'center' }}&gt;&#10;                    &lt;Text style={{ fontSize: 18, fontWeight: 'bold', color: '#20344B' }}&gt;5&lt;/Text&gt;&#10;                &lt;/Box&gt;&#10;                &lt;Box style={{ flex: 1 }}&gt;&lt;Text style={{ fontSize: 15, color: '#20344B', lineHeight: 1.55 }}&gt;结论是否超出了材料、系统机制或接收验证的范围？&lt;/Text&gt;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5.8 汇报与质疑&lt;/Text&gt;&#10;        &lt;Text style={{ fontSize: 14, color: '#546779' }}&gt;21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5.8.6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评阅者可以从五个问题开始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沿一条证据链往回走</a:t>
            </a:r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609600" y="2428875"/>
            <a:ext cx="4095750" cy="3524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不必逐行审查所有文件</a:t>
            </a:r>
            <a:endParaRPr/>
          </a:p>
        </p:txBody>
      </p:sp>
      <p:sp>
        <p:nvSpPr>
          <p:cNvPr id="325" name=""/>
          <p:cNvSpPr/>
          <p:nvPr/>
        </p:nvSpPr>
        <p:spPr>
          <a:xfrm rot="0" flipH="0" flipV="0">
            <a:off x="609600" y="291465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609600" y="3086100"/>
            <a:ext cx="409575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挑一个主要结论，沿它的证据链往回走一遍，通常就能暴露关键缺口。</a:t>
            </a:r>
            <a:endParaRPr/>
          </a:p>
        </p:txBody>
      </p:sp>
      <p:sp>
        <p:nvSpPr>
          <p:cNvPr id="327" name=""/>
          <p:cNvSpPr/>
          <p:nvPr/>
        </p:nvSpPr>
        <p:spPr>
          <a:xfrm rot="0" flipH="0" flipV="0">
            <a:off x="609600" y="3867150"/>
            <a:ext cx="4095750" cy="114300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781050" y="4162425"/>
            <a:ext cx="37528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从结论出发，找到引用的记录，再找到记录对应的运行与提交边界。</a:t>
            </a:r>
            <a:endParaRPr/>
          </a:p>
        </p:txBody>
      </p:sp>
      <p:sp>
        <p:nvSpPr>
          <p:cNvPr id="329" name=""/>
          <p:cNvSpPr/>
          <p:nvPr/>
        </p:nvSpPr>
        <p:spPr>
          <a:xfrm rot="0" flipH="0" flipV="0">
            <a:off x="4972050" y="1285875"/>
            <a:ext cx="6610350" cy="895350"/>
          </a:xfrm>
          <a:prstGeom prst="roundRect">
            <a:avLst>
              <a:gd name="adj" fmla="val 1063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30" name=""/>
          <p:cNvSpPr/>
          <p:nvPr/>
        </p:nvSpPr>
        <p:spPr>
          <a:xfrm rot="0" flipH="0" flipV="0">
            <a:off x="5143500" y="15240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5295900" y="1628775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76FB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5715000" y="1600200"/>
            <a:ext cx="56959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这句话比较的究竟是什么，能否在委托书中找到对应问题？</a:t>
            </a:r>
            <a:endParaRPr/>
          </a:p>
        </p:txBody>
      </p:sp>
      <p:sp>
        <p:nvSpPr>
          <p:cNvPr id="333" name=""/>
          <p:cNvSpPr/>
          <p:nvPr/>
        </p:nvSpPr>
        <p:spPr>
          <a:xfrm rot="0" flipH="0" flipV="0">
            <a:off x="4972050" y="2276475"/>
            <a:ext cx="6610350" cy="895350"/>
          </a:xfrm>
          <a:prstGeom prst="roundRect">
            <a:avLst>
              <a:gd name="adj" fmla="val 1063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34" name=""/>
          <p:cNvSpPr/>
          <p:nvPr/>
        </p:nvSpPr>
        <p:spPr>
          <a:xfrm rot="0" flipH="0" flipV="0">
            <a:off x="5143500" y="25146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5295900" y="2619375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76FB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5715000" y="2590800"/>
            <a:ext cx="56959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判分标准是在观察结果前确定的吗，修改过的标准是否有说明？</a:t>
            </a:r>
            <a:endParaRPr/>
          </a:p>
        </p:txBody>
      </p:sp>
      <p:sp>
        <p:nvSpPr>
          <p:cNvPr id="337" name=""/>
          <p:cNvSpPr/>
          <p:nvPr/>
        </p:nvSpPr>
        <p:spPr>
          <a:xfrm rot="0" flipH="0" flipV="0">
            <a:off x="4972050" y="3267075"/>
            <a:ext cx="6610350" cy="895350"/>
          </a:xfrm>
          <a:prstGeom prst="roundRect">
            <a:avLst>
              <a:gd name="adj" fmla="val 10638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38" name=""/>
          <p:cNvSpPr/>
          <p:nvPr/>
        </p:nvSpPr>
        <p:spPr>
          <a:xfrm rot="0" flipH="0" flipV="0">
            <a:off x="5143500" y="35052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5295900" y="3609975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6816B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5715000" y="3581400"/>
            <a:ext cx="56959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被引用的证据来自哪次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Run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、哪个提交边界，能否重新定位？</a:t>
            </a:r>
            <a:endParaRPr/>
          </a:p>
        </p:txBody>
      </p:sp>
      <p:sp>
        <p:nvSpPr>
          <p:cNvPr id="341" name=""/>
          <p:cNvSpPr/>
          <p:nvPr/>
        </p:nvSpPr>
        <p:spPr>
          <a:xfrm rot="0" flipH="0" flipV="0">
            <a:off x="4972050" y="4257675"/>
            <a:ext cx="6610350" cy="895350"/>
          </a:xfrm>
          <a:prstGeom prst="roundRect">
            <a:avLst>
              <a:gd name="adj" fmla="val 10638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42" name=""/>
          <p:cNvSpPr/>
          <p:nvPr/>
        </p:nvSpPr>
        <p:spPr>
          <a:xfrm rot="0" flipH="0" flipV="0">
            <a:off x="5143500" y="44958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5295900" y="4600575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6816B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5715000" y="4572000"/>
            <a:ext cx="56959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失败、没有回应和不利样本是否进入同一份结果表？</a:t>
            </a:r>
            <a:endParaRPr/>
          </a:p>
        </p:txBody>
      </p:sp>
      <p:sp>
        <p:nvSpPr>
          <p:cNvPr id="345" name=""/>
          <p:cNvSpPr/>
          <p:nvPr/>
        </p:nvSpPr>
        <p:spPr>
          <a:xfrm rot="0" flipH="0" flipV="0">
            <a:off x="4972050" y="5248275"/>
            <a:ext cx="6610350" cy="895350"/>
          </a:xfrm>
          <a:prstGeom prst="roundRect">
            <a:avLst>
              <a:gd name="adj" fmla="val 1063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46" name=""/>
          <p:cNvSpPr/>
          <p:nvPr/>
        </p:nvSpPr>
        <p:spPr>
          <a:xfrm rot="0" flipH="0" flipV="0">
            <a:off x="5143500" y="54864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5295900" y="5591175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5715000" y="5562600"/>
            <a:ext cx="56959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结论是否超出了材料、系统机制或接收验证的范围？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汇报与质疑</a:t>
            </a:r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21 / 26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351" name="" descr="&lt;Slide notes={`发现问题之后，评阅意见怎么写才真正有用？我的建议是写成「主张—缺口—所需处理」三段。&#10;&#10;比如报告里称 H2 闭环，但附上的记录只有一条入口建议。第一部分是主张：报告称 H2 闭环。第二部分是缺口：所附记录只有入口建议。第三部分是所需处理：请补充定位适配窗口回复以及实际确认，否则就把这一项改为未闭环。&#10;&#10;这样的意见允许作者依据事实回应，比一句「感觉不可信」有帮助得多。&#10;&#10;处理意见也要留下结果。补充定位、改判、缩小主张、暂时无法解决，都可以成为明确结局；只写「已沟通」，后来者不知道证据到底发生了什么。如果原始记录本身无法支持判断，就保留未知，不要请模型补一个听起来合理的故事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8.6　评阅者可以从五个问题开始&lt;/Text&gt;&#10;            &lt;Text style={{ fontSize: 34, fontWeight: 'bold', color: '#20344B' }}&gt;评阅意见写成主张—缺口—处理&lt;/Text&gt;&#10;        &lt;/Box&gt;&#10;    &lt;/Box&gt;&#10;&#10;    &lt;Box style={{ height: 540, flexDirection: 'column', gap: 14 }}&gt;&#10;&#10;        &lt;Box style={{ height: 30, justifyContent: 'center' }}&gt;&#10;            &lt;Text style={{ fontSize: 16, color: '#546779' }}&gt;例句：报告称 H2 闭环，但所附记录只有入口建议。&lt;/Text&gt;&#10;        &lt;/Box&gt;&#10;&#10;        &lt;Box style={{ height: 100, background: '#F4F7FA', borderRadius: 10, padding: '0 20px', flexDirection: 'row', alignItems: 'center', gap: 20 }}&gt;&#10;            &lt;Box style={{ width: 140 }}&gt;&lt;Text style={{ fontSize: 20, fontWeight: 'bold', color: '#20344B' }}&gt;主张&lt;/Text&gt;&lt;/Box&gt;&#10;            &lt;Box style={{ flex: 1 }}&gt;&lt;Text style={{ fontSize: 16, color: '#20344B', lineHeight: 1.6 }}&gt;报告称 H2 闭环&lt;/Text&gt;&lt;/Box&gt;&#10;        &lt;/Box&gt;&#10;&#10;        &lt;Box style={{ height: 100, background: '#FFF4E6', borderRadius: 10, padding: '0 20px', flexDirection: 'row', alignItems: 'center', gap: 20 }}&gt;&#10;            &lt;Box style={{ width: 140 }}&gt;&lt;Text style={{ fontSize: 20, fontWeight: 'bold', color: '#CB6B28' }}&gt;缺口&lt;/Text&gt;&lt;/Box&gt;&#10;            &lt;Box style={{ flex: 1 }}&gt;&lt;Text style={{ fontSize: 16, color: '#20344B', lineHeight: 1.6 }}&gt;所附记录只有入口建议，没有窗口回复与确认&lt;/Text&gt;&lt;/Box&gt;&#10;        &lt;/Box&gt;&#10;&#10;        &lt;Box style={{ height: 100, background: '#ECF7F2', borderRadius: 10, padding: '0 20px', flexDirection: 'row', alignItems: 'center', gap: 20 }}&gt;&#10;            &lt;Box style={{ width: 140 }}&gt;&lt;Text style={{ fontSize: 20, fontWeight: 'bold', color: '#26816B' }}&gt;所需处理&lt;/Text&gt;&lt;/Box&gt;&#10;            &lt;Box style={{ flex: 1 }}&gt;&lt;Text style={{ fontSize: 16, color: '#20344B', lineHeight: 1.6 }}&gt;补定位适配窗口回复及确认，否则将其改为未闭环&lt;/Text&gt;&lt;/Box&gt;&#10;        &lt;/Box&gt;&#10;&#10;        &lt;Box style={{ height: 148, background: '#EDF4FC', borderRadius: 10, padding: '16px 20px', flexDirection: 'row', alignItems: 'center', gap: 14 }}&gt;&#10;            &lt;Box style={{ width: 4, height: 84, background: '#276FBF' }} /&gt;&#10;            &lt;Box style={{ flex: 1, flexDirection: 'column', gap: 6 }}&gt;&#10;                &lt;Text style={{ fontSize: 16, fontWeight: 'bold', color: '#276FBF' }}&gt;处理评阅意见也要留下结果&lt;/Text&gt;&#10;                &lt;Text style={{ fontSize: 15, color: '#546779', lineHeight: 1.6 }}&gt;补充定位、改判、缩小主张和暂时无法解决，都可以成为明确结局；「已沟通」不能告诉后来者证据发生了什么。若原始记录无法支持判断，就保留未知，不请求模型代填一个合理故事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8 汇报与质疑&lt;/Text&gt;&#10;        &lt;Text style={{ fontSize: 14, color: '#546779' }}&gt;22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591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5.8.6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评阅者可以从五个问题开始</a:t>
            </a:r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591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评阅意见写成主张—缺口—处理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609600" y="1190625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例句：报告称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H2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闭环，但所附记录只有入口建议。</a:t>
            </a:r>
            <a:endParaRPr/>
          </a:p>
        </p:txBody>
      </p:sp>
      <p:sp>
        <p:nvSpPr>
          <p:cNvPr id="357" name=""/>
          <p:cNvSpPr/>
          <p:nvPr/>
        </p:nvSpPr>
        <p:spPr>
          <a:xfrm rot="0" flipH="0" flipV="0">
            <a:off x="609600" y="1562100"/>
            <a:ext cx="1097280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800100" y="1924050"/>
            <a:ext cx="1333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主张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2324100" y="1895475"/>
            <a:ext cx="90678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报告称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H2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闭环</a:t>
            </a:r>
            <a:endParaRPr/>
          </a:p>
        </p:txBody>
      </p:sp>
      <p:sp>
        <p:nvSpPr>
          <p:cNvPr id="360" name=""/>
          <p:cNvSpPr/>
          <p:nvPr/>
        </p:nvSpPr>
        <p:spPr>
          <a:xfrm rot="0" flipH="0" flipV="0">
            <a:off x="609600" y="2647950"/>
            <a:ext cx="10972800" cy="952500"/>
          </a:xfrm>
          <a:prstGeom prst="roundRect">
            <a:avLst>
              <a:gd name="adj" fmla="val 10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800100" y="3009900"/>
            <a:ext cx="1333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缺口</a:t>
            </a:r>
            <a:endParaRPr/>
          </a:p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2324100" y="2981325"/>
            <a:ext cx="90678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所附记录只有入口建议，没有窗口回复与确认</a:t>
            </a:r>
            <a:endParaRPr/>
          </a:p>
        </p:txBody>
      </p:sp>
      <p:sp>
        <p:nvSpPr>
          <p:cNvPr id="363" name=""/>
          <p:cNvSpPr/>
          <p:nvPr/>
        </p:nvSpPr>
        <p:spPr>
          <a:xfrm rot="0" flipH="0" flipV="0">
            <a:off x="609600" y="3733800"/>
            <a:ext cx="10972800" cy="952500"/>
          </a:xfrm>
          <a:prstGeom prst="roundRect">
            <a:avLst>
              <a:gd name="adj" fmla="val 10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800100" y="4095750"/>
            <a:ext cx="1333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所需处理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2324100" y="4067175"/>
            <a:ext cx="90678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补定位适配窗口回复及确认，否则将其改为未闭环</a:t>
            </a:r>
            <a:endParaRPr/>
          </a:p>
        </p:txBody>
      </p:sp>
      <p:sp>
        <p:nvSpPr>
          <p:cNvPr id="366" name=""/>
          <p:cNvSpPr/>
          <p:nvPr/>
        </p:nvSpPr>
        <p:spPr>
          <a:xfrm rot="0" flipH="0" flipV="0">
            <a:off x="609600" y="4819650"/>
            <a:ext cx="10972800" cy="1409700"/>
          </a:xfrm>
          <a:prstGeom prst="roundRect">
            <a:avLst>
              <a:gd name="adj" fmla="val 675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67" name=""/>
          <p:cNvSpPr/>
          <p:nvPr/>
        </p:nvSpPr>
        <p:spPr>
          <a:xfrm rot="0" flipH="0" flipV="0">
            <a:off x="800100" y="5124450"/>
            <a:ext cx="38100" cy="800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971550" y="5124450"/>
            <a:ext cx="10420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处理评阅意见也要留下结果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971550" y="5372100"/>
            <a:ext cx="104203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补充定位、改判、缩小主张和暂时无法解决，都可以成为明确结局；「已沟通」不能告诉后来者证据发生了什么。若原始记录无法支持判断，就保留未知，不请求模型代填一个合理故事。</a:t>
            </a:r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汇报与质疑</a:t>
            </a:r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22 / 26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372" name="" descr="&lt;Slide notes={`最后一个知识块跟交付的可复用性有关。&#10;&#10;讲师需要一页问题和讨论提示，操作者需要环境和接收说明，研究读者需要全体结果和判分记录。这三种材料长短不同、重点不同，但它们应该引用同一份事实底稿。摘要更新之后，要回头检查图注、讲稿和报告里的数字是否同步，避免一份材料还写着三项成功，另一份已经改成两项。&#10;&#10;项目资料能不能被别人再用，还取决于来源、内容说明和访问方式。FAIR 原则强调数字资料应当便于寻找、访问、互操作与再利用，并要求说明来源；它也允许必要的认证与授权，并不意味着所有资料必须公开。本章借鉴这些原则组织交付入口，但我不声称获得了任何认证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第五章　5.8　演示与评审&lt;/Text&gt;&#10;            &lt;Text style={{ fontSize: 34, fontWeight: 'bold', color: '#20344B' }}&gt;知识块 ⑦&lt;/Text&gt;&#10;        &lt;/Box&gt;&#10;    &lt;/Box&gt;&#10;&#10;    &lt;Box style={{ height: 540, flexDirection: 'column', justifyContent: 'center', gap: 18 }}&gt;&#10;&#10;        &lt;Text style={{ fontSize: 96, fontWeight: 'bold', color: '#276FBF', lineHeight: 1.0 }}&gt;⑦&lt;/Text&gt;&#10;&#10;        &lt;Text style={{ fontSize: 56, fontWeight: 'bold', color: '#20344B', lineHeight: 1.15 }}&gt;为不同听众保留同一事实底稿&lt;/Text&gt;&#10;&#10;        &lt;Box style={{ width: 72, height: 4, background: '#276FBF' }} /&gt;&#10;&#10;        &lt;Text style={{ fontSize: 18, color: '#546779', lineHeight: 1.7, width: 940 }}&gt;材料可以长短不同，事实只能有一份。&lt;/Text&gt;&#10;&#10;        &lt;Box style={{ flexDirection: 'row', alignItems: 'center', justifyContent: 'center', gap: 0, marginTop: 8 }}&gt;&#10;            &lt;Box style={{ width: 400, height: 110, background: '#F7F3E8', borderRadius: 10, flexDirection: 'column', gap: 6, justifyContent: 'center', alignItems: 'center' }}&gt;&#10;                &lt;Text style={{ fontSize: 20, fontWeight: 'bold', color: '#20344B' }}&gt;同一份事实底稿&lt;/Text&gt;&#10;                &lt;Text style={{ fontSize: 14, color: '#546779' }}&gt;全体结果与判分记录&lt;/Text&gt;&#10;            &lt;/Box&gt;&#10;            &lt;Box style={{ width: 44, height: 110, justifyContent: 'center', alignItems: 'center' }}&gt;&#10;                &lt;Text style={{ fontSize: 26, color: '#276FBF' }}&gt;›&lt;/Text&gt;&#10;            &lt;/Box&gt;&#10;            &lt;Box style={{ width: 400, flexDirection: 'column', gap: 10, justifyContent: 'center' }}&gt;&#10;                &lt;Box style={{ height: 30, background: '#EDF4FC', borderRadius: 6, justifyContent: 'center', alignItems: 'center' }}&gt;&#10;                    &lt;Text style={{ fontSize: 14, color: '#276FBF' }}&gt;讲师：问题与讨论提示&lt;/Text&gt;&#10;                &lt;/Box&gt;&#10;                &lt;Box style={{ height: 30, background: '#ECF7F2', borderRadius: 6, justifyContent: 'center', alignItems: 'center' }}&gt;&#10;                    &lt;Text style={{ fontSize: 14, color: '#26816B' }}&gt;操作者：环境与接收说明&lt;/Text&gt;&#10;                &lt;/Box&gt;&#10;                &lt;Box style={{ height: 30, background: '#F4F7FA', borderRadius: 6, justifyContent: 'center', alignItems: 'center' }}&gt;&#10;                    &lt;Text style={{ fontSize: 14, color: '#20344B' }}&gt;研究读者：全体结果与判分记录&lt;/Text&gt;&#10;                &lt;/Box&gt;&#10;            &lt;/Box&gt;&#10;        &lt;/Box&gt;&#10;&#10;    &lt;/Box&gt;&#10;&#10;    &lt;Box style={{ height: 40, flexDirection: 'row', justifyContent: 'space-between', alignItems: 'center' }}&gt;&#10;        &lt;Text style={{ fontSize: 14, color: '#546779' }}&gt;5.8 汇报与质疑&lt;/Text&gt;&#10;        &lt;Text style={{ fontSize: 14, color: '#546779' }}&gt;23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1524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第五章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5.8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演示与评审</a:t>
            </a:r>
            <a:endParaRPr/>
          </a:p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1524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知识块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⑦</a:t>
            </a:r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609600" y="1695450"/>
            <a:ext cx="109728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200" b="1">
                <a:solidFill>
                  <a:srgbClr val="276FBF"/>
                </a:solidFill>
                <a:latin typeface="Microsoft YaHei"/>
                <a:ea typeface="Microsoft YaHei"/>
              </a:rPr>
              <a:t>⑦</a:t>
            </a:r>
            <a:endParaRPr/>
          </a:p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609600" y="297180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为不同听众保留同一事实底稿</a:t>
            </a:r>
            <a:endParaRPr/>
          </a:p>
        </p:txBody>
      </p:sp>
      <p:sp>
        <p:nvSpPr>
          <p:cNvPr id="379" name=""/>
          <p:cNvSpPr/>
          <p:nvPr/>
        </p:nvSpPr>
        <p:spPr>
          <a:xfrm rot="0" flipH="0" flipV="0">
            <a:off x="609600" y="388620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609600" y="4095750"/>
            <a:ext cx="8953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材料可以长短不同，事实只能有一份。</a:t>
            </a:r>
            <a:endParaRPr/>
          </a:p>
        </p:txBody>
      </p:sp>
      <p:sp>
        <p:nvSpPr>
          <p:cNvPr id="381" name=""/>
          <p:cNvSpPr/>
          <p:nvPr/>
        </p:nvSpPr>
        <p:spPr>
          <a:xfrm rot="0" flipH="0" flipV="0">
            <a:off x="2076450" y="4695825"/>
            <a:ext cx="3810000" cy="1047750"/>
          </a:xfrm>
          <a:prstGeom prst="roundRect">
            <a:avLst>
              <a:gd name="adj" fmla="val 9091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3314700" y="5000625"/>
            <a:ext cx="1333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同一份事实底稿</a:t>
            </a:r>
            <a:endParaRPr/>
          </a:p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3381375" y="5286375"/>
            <a:ext cx="1200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全体结果与判分记录</a:t>
            </a:r>
            <a:endParaRPr/>
          </a:p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6057900" y="50673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85" name=""/>
          <p:cNvSpPr/>
          <p:nvPr/>
        </p:nvSpPr>
        <p:spPr>
          <a:xfrm rot="0" flipH="0" flipV="0">
            <a:off x="6305550" y="4695825"/>
            <a:ext cx="3810000" cy="285750"/>
          </a:xfrm>
          <a:prstGeom prst="roundRect">
            <a:avLst>
              <a:gd name="adj" fmla="val 2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7543800" y="476250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讲师：问题与讨论提示</a:t>
            </a:r>
            <a:endParaRPr/>
          </a:p>
        </p:txBody>
      </p:sp>
      <p:sp>
        <p:nvSpPr>
          <p:cNvPr id="387" name=""/>
          <p:cNvSpPr/>
          <p:nvPr/>
        </p:nvSpPr>
        <p:spPr>
          <a:xfrm rot="0" flipH="0" flipV="0">
            <a:off x="6305550" y="5076825"/>
            <a:ext cx="3810000" cy="285750"/>
          </a:xfrm>
          <a:prstGeom prst="roundRect">
            <a:avLst>
              <a:gd name="adj" fmla="val 20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7477125" y="5143500"/>
            <a:ext cx="1466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操作者：环境与接收说明</a:t>
            </a:r>
            <a:endParaRPr/>
          </a:p>
        </p:txBody>
      </p:sp>
      <p:sp>
        <p:nvSpPr>
          <p:cNvPr id="389" name=""/>
          <p:cNvSpPr/>
          <p:nvPr/>
        </p:nvSpPr>
        <p:spPr>
          <a:xfrm rot="0" flipH="0" flipV="0">
            <a:off x="6305550" y="5457825"/>
            <a:ext cx="3810000" cy="285750"/>
          </a:xfrm>
          <a:prstGeom prst="roundRect">
            <a:avLst>
              <a:gd name="adj" fmla="val 2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7277100" y="5524500"/>
            <a:ext cx="1866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研究读者：全体结果与判分记录</a:t>
            </a:r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汇报与质疑</a:t>
            </a:r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23 / 26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393" name="" descr="&lt;Slide notes={`同一份底稿，面对三种读者会变成三种材料。&#10;&#10;讲师需要一页问题和讨论提示，能在二十分钟里把这件事讲清楚。操作者需要环境和接收说明，知道怎样把这份教案在自己的环境里跑起来。研究读者需要全体结果和判分记录，方便自己复算。&#10;&#10;材料可以长短不同，引用的事实只能有一份。这里最容易出的错是摘要更新不同步：报告里已经改成两项成功，图注和讲稿还写着三项，听众一眼就看出这不是同一套事实。&#10;&#10;所以摘要更新之后，要回头检查图注、讲稿和报告中的数字是否同步。这个动作很小，但它决定别人相不相信我的整套材料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8.7　为不同听众保留同一事实底稿&lt;/Text&gt;&#10;            &lt;Text style={{ fontSize: 34, fontWeight: 'bold', color: '#20344B' }}&gt;三种读者，一份底稿&lt;/Text&gt;&#10;        &lt;/Box&gt;&#10;    &lt;/Box&gt;&#10;&#10;    &lt;Box style={{ height: 540, flexDirection: 'row', alignItems: 'center', gap: 32 }}&gt;&#10;&#10;        &lt;Box style={{ width: 500, flexDirection: 'column', gap: 14 }}&gt;&#10;            &lt;Text style={{ fontSize: 22, fontWeight: 'bold', color: '#20344B', lineHeight: 1.4 }}&gt;长短可以不同，事实只能一份&lt;/Text&gt;&#10;            &lt;Box style={{ width: 72, height: 4, background: '#276FBF' }} /&gt;&#10;            &lt;Text style={{ fontSize: 16, color: '#546779', lineHeight: 1.75, width: 500 }}&gt;三类材料引用同一份事实底稿，摘要更新后一起检查，才不会出现两套数字。&lt;/Text&gt;&#10;            &lt;Box style={{ height: 170, background: '#FFF4E6', borderRadius: 10, padding: '14px 18px', flexDirection: 'column', gap: 8, justifyContent: 'center' }}&gt;&#10;                &lt;Text style={{ fontSize: 16, fontWeight: 'bold', color: '#CB6B28' }}&gt;摘要更新后要同步核对&lt;/Text&gt;&#10;                &lt;Text style={{ fontSize: 15, color: '#546779', lineHeight: 1.6 }}&gt;检查图注、讲稿和报告中的数字是否同步，避免一份仍写三项成功、另一份已改成两项。&lt;/Text&gt;&#10;            &lt;/Box&gt;&#10;        &lt;/Box&gt;&#10;&#10;        &lt;Box style={{ width: 620, flexDirection: 'column', gap: 12 }}&gt;&#10;            &lt;Box style={{ height: 160, background: '#EDF4FC', borderRadius: 10, padding: '16px 22px', flexDirection: 'column', gap: 8, justifyContent: 'center' }}&gt;&#10;                &lt;Text style={{ fontSize: 18, fontWeight: 'bold', color: '#276FBF' }}&gt;讲师&lt;/Text&gt;&#10;                &lt;Text style={{ fontSize: 15, color: '#546779', lineHeight: 1.7 }}&gt;需要一页问题与讨论提示，能在二十分钟里把这件事讲清楚。&lt;/Text&gt;&#10;            &lt;/Box&gt;&#10;            &lt;Box style={{ height: 160, background: '#ECF7F2', borderRadius: 10, padding: '16px 22px', flexDirection: 'column', gap: 8, justifyContent: 'center' }}&gt;&#10;                &lt;Text style={{ fontSize: 18, fontWeight: 'bold', color: '#26816B' }}&gt;操作者&lt;/Text&gt;&#10;                &lt;Text style={{ fontSize: 15, color: '#546779', lineHeight: 1.7 }}&gt;需要环境与接收说明，知道怎样在自己的环境里把这份教案跑起来。&lt;/Text&gt;&#10;            &lt;/Box&gt;&#10;            &lt;Box style={{ height: 160, background: '#F7F3E8', borderRadius: 10, padding: '16px 22px', flexDirection: 'column', gap: 8, justifyContent: 'center' }}&gt;&#10;                &lt;Text style={{ fontSize: 18, fontWeight: 'bold', color: '#20344B' }}&gt;研究读者&lt;/Text&gt;&#10;                &lt;Text style={{ fontSize: 15, color: '#546779', lineHeight: 1.7 }}&gt;需要全体结果和判分记录，方便自己复算与核对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8 汇报与质疑&lt;/Text&gt;&#10;        &lt;Text style={{ fontSize: 14, color: '#546779' }}&gt;24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5.8.7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为不同听众保留同一事实底稿</a:t>
            </a:r>
            <a:endParaRPr/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三种读者，一份底稿</a:t>
            </a:r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609600" y="2190750"/>
            <a:ext cx="4762500" cy="3524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长短可以不同，事实只能一份</a:t>
            </a:r>
            <a:endParaRPr/>
          </a:p>
        </p:txBody>
      </p:sp>
      <p:sp>
        <p:nvSpPr>
          <p:cNvPr id="399" name=""/>
          <p:cNvSpPr/>
          <p:nvPr/>
        </p:nvSpPr>
        <p:spPr>
          <a:xfrm rot="0" flipH="0" flipV="0">
            <a:off x="609600" y="267652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609600" y="2847975"/>
            <a:ext cx="476250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三类材料引用同一份事实底稿，摘要更新后一起检查，才不会出现两套数字。</a:t>
            </a:r>
            <a:endParaRPr/>
          </a:p>
        </p:txBody>
      </p:sp>
      <p:sp>
        <p:nvSpPr>
          <p:cNvPr id="401" name=""/>
          <p:cNvSpPr/>
          <p:nvPr/>
        </p:nvSpPr>
        <p:spPr>
          <a:xfrm rot="0" flipH="0" flipV="0">
            <a:off x="609600" y="3629025"/>
            <a:ext cx="4762500" cy="1619250"/>
          </a:xfrm>
          <a:prstGeom prst="roundRect">
            <a:avLst>
              <a:gd name="adj" fmla="val 588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781050" y="4029075"/>
            <a:ext cx="441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摘要更新后要同步核对</a:t>
            </a:r>
            <a:endParaRPr/>
          </a:p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781050" y="4295775"/>
            <a:ext cx="44196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检查图注、讲稿和报告中的数字是否同步，避免一份仍写三项成功、另一份已改成两项。</a:t>
            </a:r>
            <a:endParaRPr/>
          </a:p>
        </p:txBody>
      </p:sp>
      <p:sp>
        <p:nvSpPr>
          <p:cNvPr id="404" name=""/>
          <p:cNvSpPr/>
          <p:nvPr/>
        </p:nvSpPr>
        <p:spPr>
          <a:xfrm rot="0" flipH="0" flipV="0">
            <a:off x="5676900" y="1314450"/>
            <a:ext cx="5905500" cy="1524000"/>
          </a:xfrm>
          <a:prstGeom prst="roundRect">
            <a:avLst>
              <a:gd name="adj" fmla="val 625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5886450" y="1790700"/>
            <a:ext cx="5486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讲师</a:t>
            </a:r>
            <a:endParaRPr/>
          </a:p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5886450" y="2076450"/>
            <a:ext cx="5486400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需要一页问题与讨论提示，能在二十分钟里把这件事讲清楚。</a:t>
            </a:r>
            <a:endParaRPr/>
          </a:p>
        </p:txBody>
      </p:sp>
      <p:sp>
        <p:nvSpPr>
          <p:cNvPr id="407" name=""/>
          <p:cNvSpPr/>
          <p:nvPr/>
        </p:nvSpPr>
        <p:spPr>
          <a:xfrm rot="0" flipH="0" flipV="0">
            <a:off x="5676900" y="2952750"/>
            <a:ext cx="5905500" cy="1524000"/>
          </a:xfrm>
          <a:prstGeom prst="roundRect">
            <a:avLst>
              <a:gd name="adj" fmla="val 625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5886450" y="3429000"/>
            <a:ext cx="5486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操作者</a:t>
            </a:r>
            <a:endParaRPr/>
          </a:p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5886450" y="3714750"/>
            <a:ext cx="5486400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需要环境与接收说明，知道怎样在自己的环境里把这份教案跑起来。</a:t>
            </a:r>
            <a:endParaRPr/>
          </a:p>
        </p:txBody>
      </p:sp>
      <p:sp>
        <p:nvSpPr>
          <p:cNvPr id="410" name=""/>
          <p:cNvSpPr/>
          <p:nvPr/>
        </p:nvSpPr>
        <p:spPr>
          <a:xfrm rot="0" flipH="0" flipV="0">
            <a:off x="5676900" y="4591050"/>
            <a:ext cx="5905500" cy="1524000"/>
          </a:xfrm>
          <a:prstGeom prst="roundRect">
            <a:avLst>
              <a:gd name="adj" fmla="val 6250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5886450" y="5067300"/>
            <a:ext cx="5486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研究读者</a:t>
            </a:r>
            <a:endParaRPr/>
          </a:p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5886450" y="5353050"/>
            <a:ext cx="5486400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需要全体结果和判分记录，方便自己复算与核对。</a:t>
            </a:r>
            <a:endParaRPr/>
          </a:p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汇报与质疑</a:t>
            </a:r>
            <a:endParaRPr/>
          </a:p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24 / 26</a:t>
            </a:r>
            <a:endParaRPr/>
          </a:p>
        </p:txBody>
      </p:sp>
    </p:spTree>
  </p:cSld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415" name="" descr="&lt;Slide notes={`项目资料的可复用性还依赖三件事：来源、内容说明和访问方式。别人能不能用，往往不取决于材料多漂亮，而取决于这三件事有没有写清。&#10;&#10;这里可以参考 FAIR 原则。它强调数字资料应当便于寻找、访问、互操作与再利用，并要求说明来源。要注意两点：第一，它允许必要的认证与授权，并不意味着所有资料必须公开；第二，这一章只是借鉴这些原则来组织交付入口，我不声称获得了任何认证。&#10;&#10;所以我在交付清单里给每一项都留下来源说明和取用方式，别人拿到材料时既不缺上下文，也知道哪些部分需要申请权限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8.7　为不同听众保留同一事实底稿&lt;/Text&gt;&#10;            &lt;Text style={{ fontSize: 34, fontWeight: 'bold', color: '#20344B' }}&gt;来源、说明与访问方式&lt;/Text&gt;&#10;        &lt;/Box&gt;&#10;    &lt;/Box&gt;&#10;&#10;    &lt;Box style={{ height: 540, flexDirection: 'row', alignItems: 'center', gap: 40 }}&gt;&#10;&#10;        &lt;Box style={{ width: 400, flexDirection: 'column', gap: 14 }}&gt;&#10;            &lt;Text style={{ fontSize: 22, fontWeight: 'bold', color: '#20344B', lineHeight: 1.4 }}&gt;资料可复用的三件事&lt;/Text&gt;&#10;            &lt;Box style={{ width: 72, height: 4, background: '#276FBF' }} /&gt;&#10;            &lt;Text style={{ fontSize: 16, color: '#546779', lineHeight: 1.75, width: 400 }}&gt;来源、内容说明和访问方式。别人能不能用一份材料，往往取决于这三件事有没有写清。&lt;/Text&gt;&#10;            &lt;Box style={{ height: 130, background: '#FFF4E6', borderRadius: 10, padding: '14px 18px', flexDirection: 'column', gap: 6, justifyContent: 'center' }}&gt;&#10;                &lt;Text style={{ fontSize: 16, fontWeight: 'bold', color: '#CB6B28' }}&gt;借鉴，不等于获得认证&lt;/Text&gt;&#10;                &lt;Text style={{ fontSize: 15, color: '#546779', lineHeight: 1.6 }}&gt;本章借鉴 FAIR 原则组织交付入口，不声称获得了任何认证。&lt;/Text&gt;&#10;            &lt;/Box&gt;&#10;        &lt;/Box&gt;&#10;&#10;        &lt;Box style={{ width: 712, flexDirection: 'column', gap: 12 }}&gt;&#10;&#10;            &lt;Box style={{ height: 96, background: '#EDF4FC', borderRadius: 10, padding: '0 20px', flexDirection: 'row', alignItems: 'center', gap: 20 }}&gt;&#10;                &lt;Box style={{ width: 130 }}&gt;&lt;Text style={{ fontSize: 17, fontWeight: 'bold', color: '#276FBF' }}&gt;可发现&lt;/Text&gt;&lt;/Box&gt;&#10;                &lt;Box style={{ flex: 1 }}&gt;&lt;Text style={{ fontSize: 14, color: '#20344B', lineHeight: 1.5 }}&gt;能被检索到，有清楚的名称与位置&lt;/Text&gt;&lt;/Box&gt;&#10;                &lt;Box style={{ width: 120 }}&gt;&lt;Text style={{ fontSize: 14, color: '#546779' }}&gt;Findable&lt;/Text&gt;&lt;/Box&gt;&#10;            &lt;/Box&gt;&#10;&#10;            &lt;Box style={{ height: 96, background: '#EDF4FC', borderRadius: 10, padding: '0 20px', flexDirection: 'row', alignItems: 'center', gap: 20 }}&gt;&#10;                &lt;Box style={{ width: 130 }}&gt;&lt;Text style={{ fontSize: 17, fontWeight: 'bold', color: '#276FBF' }}&gt;可访问&lt;/Text&gt;&lt;/Box&gt;&#10;                &lt;Box style={{ flex: 1 }}&gt;&lt;Text style={{ fontSize: 14, color: '#20344B', lineHeight: 1.5 }}&gt;说明在哪里取、以什么方式取&lt;/Text&gt;&lt;/Box&gt;&#10;                &lt;Box style={{ width: 120 }}&gt;&lt;Text style={{ fontSize: 14, color: '#546779' }}&gt;Accessible&lt;/Text&gt;&lt;/Box&gt;&#10;            &lt;/Box&gt;&#10;&#10;            &lt;Box style={{ height: 96, background: '#ECF7F2', borderRadius: 10, padding: '0 20px', flexDirection: 'row', alignItems: 'center', gap: 20 }}&gt;&#10;                &lt;Box style={{ width: 130 }}&gt;&lt;Text style={{ fontSize: 17, fontWeight: 'bold', color: '#26816B' }}&gt;可互操作&lt;/Text&gt;&lt;/Box&gt;&#10;                &lt;Box style={{ flex: 1 }}&gt;&lt;Text style={{ fontSize: 14, color: '#20344B', lineHeight: 1.5 }}&gt;格式与他人工具可以对接&lt;/Text&gt;&lt;/Box&gt;&#10;                &lt;Box style={{ width: 120 }}&gt;&lt;Text style={{ fontSize: 14, color: '#546779' }}&gt;Interoperable&lt;/Text&gt;&lt;/Box&gt;&#10;            &lt;/Box&gt;&#10;&#10;            &lt;Box style={{ height: 96, background: '#ECF7F2', borderRadius: 10, padding: '0 20px', flexDirection: 'row', alignItems: 'center', gap: 20 }}&gt;&#10;                &lt;Box style={{ width: 130 }}&gt;&lt;Text style={{ fontSize: 17, fontWeight: 'bold', color: '#26816B' }}&gt;可复用&lt;/Text&gt;&lt;/Box&gt;&#10;                &lt;Box style={{ flex: 1 }}&gt;&lt;Text style={{ fontSize: 14, color: '#20344B', lineHeight: 1.5 }}&gt;说明来源与条件，别人能再次使用&lt;/Text&gt;&lt;/Box&gt;&#10;                &lt;Box style={{ width: 120 }}&gt;&lt;Text style={{ fontSize: 14, color: '#546779' }}&gt;Reusable&lt;/Text&gt;&lt;/Box&gt;&#10;            &lt;/Box&gt;&#10;&#10;            &lt;Box style={{ height: 100, background: '#F4F7FA', borderRadius: 10, padding: '0 20px', flexDirection: 'row', alignItems: 'center', gap: 14 }}&gt;&#10;                &lt;Box style={{ width: 4, height: 56, background: '#276FBF' }} /&gt;&#10;                &lt;Box style={{ flex: 1 }}&gt;&lt;Text style={{ fontSize: 15, color: '#546779', lineHeight: 1.6 }}&gt;FAIR 原则允许必要的认证与授权，并不意味着所有资料必须公开。&lt;/Text&gt;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5.8 汇报与质疑&lt;/Text&gt;&#10;        &lt;Text style={{ fontSize: 14, color: '#546779' }}&gt;25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5.8.7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为不同听众保留同一事实底稿</a:t>
            </a:r>
            <a:endParaRPr/>
          </a:p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来源、说明与访问方式</a:t>
            </a:r>
            <a:endParaRPr/>
          </a:p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609600" y="2381250"/>
            <a:ext cx="3810000" cy="3524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资料可复用的三件事</a:t>
            </a:r>
            <a:endParaRPr/>
          </a:p>
        </p:txBody>
      </p:sp>
      <p:sp>
        <p:nvSpPr>
          <p:cNvPr id="421" name=""/>
          <p:cNvSpPr/>
          <p:nvPr/>
        </p:nvSpPr>
        <p:spPr>
          <a:xfrm rot="0" flipH="0" flipV="0">
            <a:off x="609600" y="286702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609600" y="3038475"/>
            <a:ext cx="381000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来源、内容说明和访问方式。别人能不能用一份材料，往往取决于这三件事有没有写清。</a:t>
            </a:r>
            <a:endParaRPr/>
          </a:p>
        </p:txBody>
      </p:sp>
      <p:sp>
        <p:nvSpPr>
          <p:cNvPr id="423" name=""/>
          <p:cNvSpPr/>
          <p:nvPr/>
        </p:nvSpPr>
        <p:spPr>
          <a:xfrm rot="0" flipH="0" flipV="0">
            <a:off x="609600" y="3819525"/>
            <a:ext cx="3810000" cy="1238250"/>
          </a:xfrm>
          <a:prstGeom prst="roundRect">
            <a:avLst>
              <a:gd name="adj" fmla="val 769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781050" y="4038600"/>
            <a:ext cx="3467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借鉴，不等于获得认证</a:t>
            </a:r>
            <a:endParaRPr/>
          </a:p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781050" y="4286250"/>
            <a:ext cx="34671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本章借鉴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FAIR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原则组织交付入口，不声称获得了任何认证。</a:t>
            </a:r>
            <a:endParaRPr/>
          </a:p>
        </p:txBody>
      </p:sp>
      <p:sp>
        <p:nvSpPr>
          <p:cNvPr id="426" name=""/>
          <p:cNvSpPr/>
          <p:nvPr/>
        </p:nvSpPr>
        <p:spPr>
          <a:xfrm rot="0" flipH="0" flipV="0">
            <a:off x="4800600" y="1181100"/>
            <a:ext cx="6781800" cy="914400"/>
          </a:xfrm>
          <a:prstGeom prst="roundRect">
            <a:avLst>
              <a:gd name="adj" fmla="val 1041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4991100" y="1543050"/>
            <a:ext cx="1238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可发现</a:t>
            </a:r>
            <a:endParaRPr/>
          </a:p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6419850" y="1514475"/>
            <a:ext cx="36385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能被检索到，有清楚的名称与位置</a:t>
            </a:r>
            <a:endParaRPr/>
          </a:p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10248900" y="1562100"/>
            <a:ext cx="114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Findable</a:t>
            </a:r>
            <a:endParaRPr/>
          </a:p>
        </p:txBody>
      </p:sp>
      <p:sp>
        <p:nvSpPr>
          <p:cNvPr id="430" name=""/>
          <p:cNvSpPr/>
          <p:nvPr/>
        </p:nvSpPr>
        <p:spPr>
          <a:xfrm rot="0" flipH="0" flipV="0">
            <a:off x="4800600" y="2209800"/>
            <a:ext cx="6781800" cy="914400"/>
          </a:xfrm>
          <a:prstGeom prst="roundRect">
            <a:avLst>
              <a:gd name="adj" fmla="val 1041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4991100" y="2571750"/>
            <a:ext cx="1238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可访问</a:t>
            </a:r>
            <a:endParaRPr/>
          </a:p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6419850" y="2543175"/>
            <a:ext cx="36385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说明在哪里取、以什么方式取</a:t>
            </a:r>
            <a:endParaRPr/>
          </a:p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10248900" y="2590800"/>
            <a:ext cx="114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Accessible</a:t>
            </a:r>
            <a:endParaRPr/>
          </a:p>
        </p:txBody>
      </p:sp>
      <p:sp>
        <p:nvSpPr>
          <p:cNvPr id="434" name=""/>
          <p:cNvSpPr/>
          <p:nvPr/>
        </p:nvSpPr>
        <p:spPr>
          <a:xfrm rot="0" flipH="0" flipV="0">
            <a:off x="4800600" y="3238500"/>
            <a:ext cx="6781800" cy="914400"/>
          </a:xfrm>
          <a:prstGeom prst="roundRect">
            <a:avLst>
              <a:gd name="adj" fmla="val 1041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4991100" y="3600450"/>
            <a:ext cx="1238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可互操作</a:t>
            </a:r>
            <a:endParaRPr/>
          </a:p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6419850" y="3571875"/>
            <a:ext cx="36385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格式与他人工具可以对接</a:t>
            </a:r>
            <a:endParaRPr/>
          </a:p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10248900" y="3619500"/>
            <a:ext cx="114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Interoperable</a:t>
            </a:r>
            <a:endParaRPr/>
          </a:p>
        </p:txBody>
      </p:sp>
      <p:sp>
        <p:nvSpPr>
          <p:cNvPr id="438" name=""/>
          <p:cNvSpPr/>
          <p:nvPr/>
        </p:nvSpPr>
        <p:spPr>
          <a:xfrm rot="0" flipH="0" flipV="0">
            <a:off x="4800600" y="4267200"/>
            <a:ext cx="6781800" cy="914400"/>
          </a:xfrm>
          <a:prstGeom prst="roundRect">
            <a:avLst>
              <a:gd name="adj" fmla="val 1041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4991100" y="4629150"/>
            <a:ext cx="1238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可复用</a:t>
            </a:r>
            <a:endParaRPr/>
          </a:p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6419850" y="4600575"/>
            <a:ext cx="36385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说明来源与条件，别人能再次使用</a:t>
            </a:r>
            <a:endParaRPr/>
          </a:p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10248900" y="4648200"/>
            <a:ext cx="114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Reusable</a:t>
            </a:r>
            <a:endParaRPr/>
          </a:p>
        </p:txBody>
      </p:sp>
      <p:sp>
        <p:nvSpPr>
          <p:cNvPr id="442" name=""/>
          <p:cNvSpPr/>
          <p:nvPr/>
        </p:nvSpPr>
        <p:spPr>
          <a:xfrm rot="0" flipH="0" flipV="0">
            <a:off x="4800600" y="5295900"/>
            <a:ext cx="678180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43" name=""/>
          <p:cNvSpPr/>
          <p:nvPr/>
        </p:nvSpPr>
        <p:spPr>
          <a:xfrm rot="0" flipH="0" flipV="0">
            <a:off x="4991100" y="5505450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5162550" y="5638800"/>
            <a:ext cx="62293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FAIR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原则允许必要的认证与授权，并不意味着所有资料必须公开。</a:t>
            </a:r>
            <a:endParaRPr/>
          </a:p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汇报与质疑</a:t>
            </a:r>
            <a:endParaRPr/>
          </a:p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25 / 26</a:t>
            </a:r>
            <a:endParaRPr/>
          </a:p>
        </p:txBody>
      </p:sp>
    </p:spTree>
  </p:cSld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447" name="" descr="&lt;Slide notes={`最后留一个练习，也是这一节想达到的效果。请把这句话改写一遍：「我们已验证咨询台显著提高社区服务效率，可直接推广。」&#10;&#10;这句话的问题不在语气，而在于它同时承诺了三件我没有的东西：真实验证、真实提升和可推广性。&#10;&#10;与当前书稿相符的开场是这样的：我们设计了一项虚构咨询实验，用于比较立即建议与先澄清的取舍；当前交付是教案和验收方法，尚无运行结果。今天先讨论信息分配和判分规则是否足以回答这个问题。&#10;&#10;它把材料性质、交付状态和讨论目标都交代了，也把判断的依据交到听众手上。将来取得证据，再据其强度更新这段话。让别人听懂，也让别人能够质疑，这两件事其实是同一件事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第五章　5.8　演示与评审　·　本节练习&lt;/Text&gt;&#10;            &lt;Text style={{ fontSize: 34, fontWeight: 'bold', color: '#20344B' }}&gt;把开场改成站得住的说法&lt;/Text&gt;&#10;        &lt;/Box&gt;&#10;    &lt;/Box&gt;&#10;&#10;    &lt;Box style={{ height: 540, flexDirection: 'column', justifyContent: 'center', gap: 18 }}&gt;&#10;&#10;        &lt;Box style={{ height: 130, background: '#FFF4E6', borderRadius: 12, padding: '16px 22px', flexDirection: 'column', gap: 8, justifyContent: 'center' }}&gt;&#10;            &lt;Text style={{ fontSize: 15, color: '#546779' }}&gt;原来的说法&lt;/Text&gt;&#10;            &lt;Text style={{ fontSize: 20, fontWeight: 'bold', color: '#CB6B28', lineHeight: 1.5 }}&gt;我们已验证咨询台显著提高社区服务效率，可直接推广。&lt;/Text&gt;&#10;        &lt;/Box&gt;&#10;&#10;        &lt;Box style={{ height: 32, justifyContent: 'center', alignItems: 'center' }}&gt;&#10;            &lt;Text style={{ fontSize: 24, color: '#26816B' }}&gt;↓&lt;/Text&gt;&#10;        &lt;/Box&gt;&#10;&#10;        &lt;Box style={{ height: 220, background: '#ECF7F2', borderRadius: 12, padding: '16px 22px', flexDirection: 'column', gap: 8, justifyContent: 'center' }}&gt;&#10;            &lt;Text style={{ fontSize: 15, color: '#546779' }}&gt;与当前书稿相符的开场&lt;/Text&gt;&#10;            &lt;Text style={{ fontSize: 18, color: '#20344B', lineHeight: 1.7 }}&gt;我们设计了一项虚构咨询实验，用于比较立即建议与先澄清的取舍；当前交付是教案和验收方法，尚无运行结果。今天先讨论信息分配和判分规则是否足以回答这个问题。&lt;/Text&gt;&#10;        &lt;/Box&gt;&#10;&#10;        &lt;Box style={{ height: 100, background: '#F4F7FA', borderRadius: 10, padding: '16px 22px', flexDirection: 'row', alignItems: 'center', gap: 14 }}&gt;&#10;            &lt;Box style={{ width: 4, height: 56, background: '#276FBF' }} /&gt;&#10;            &lt;Box style={{ flex: 1, flexDirection: 'column', gap: 6 }}&gt;&#10;                &lt;Text style={{ fontSize: 16, fontWeight: 'bold', color: '#276FBF' }}&gt;将来取得证据，再据其强度更新这段话&lt;/Text&gt;&#10;                &lt;Text style={{ fontSize: 14, color: '#546779' }}&gt;5.8 汇报与质疑　·　让别人听懂，也让别人能够质疑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8 汇报与质疑&lt;/Text&gt;&#10;        &lt;Text style={{ fontSize: 14, color: '#546779' }}&gt;26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第五章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5.8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演示与评审　·　本节练习</a:t>
            </a:r>
            <a:endParaRPr/>
          </a:p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把开场改成站得住的说法</a:t>
            </a:r>
            <a:endParaRPr/>
          </a:p>
        </p:txBody>
      </p:sp>
      <p:sp>
        <p:nvSpPr>
          <p:cNvPr id="452" name=""/>
          <p:cNvSpPr/>
          <p:nvPr/>
        </p:nvSpPr>
        <p:spPr>
          <a:xfrm rot="0" flipH="0" flipV="0">
            <a:off x="609600" y="1162050"/>
            <a:ext cx="10972800" cy="1238250"/>
          </a:xfrm>
          <a:prstGeom prst="roundRect">
            <a:avLst>
              <a:gd name="adj" fmla="val 923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819150" y="1485900"/>
            <a:ext cx="10553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原来的说法</a:t>
            </a:r>
            <a:endParaRPr/>
          </a:p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819150" y="1733550"/>
            <a:ext cx="1055370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我们已验证咨询台显著提高社区服务效率，可直接推广。</a:t>
            </a:r>
            <a:endParaRPr/>
          </a:p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6038850" y="2590800"/>
            <a:ext cx="1143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456" name=""/>
          <p:cNvSpPr/>
          <p:nvPr/>
        </p:nvSpPr>
        <p:spPr>
          <a:xfrm rot="0" flipH="0" flipV="0">
            <a:off x="609600" y="3048000"/>
            <a:ext cx="10972800" cy="2095500"/>
          </a:xfrm>
          <a:prstGeom prst="roundRect">
            <a:avLst>
              <a:gd name="adj" fmla="val 545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819150" y="3619500"/>
            <a:ext cx="10553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与当前书稿相符的开场</a:t>
            </a:r>
            <a:endParaRPr/>
          </a:p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819150" y="3867150"/>
            <a:ext cx="105537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20344B"/>
                </a:solidFill>
                <a:latin typeface="Microsoft YaHei"/>
                <a:ea typeface="Microsoft YaHei"/>
              </a:rPr>
              <a:t>我们设计了一项虚构咨询实验，用于比较立即建议与先澄清的取舍；当前交付是教案和验收方法，尚无运行结果。今天先讨论信息分配和判分规则是否足以回答这个问题。</a:t>
            </a:r>
            <a:endParaRPr/>
          </a:p>
        </p:txBody>
      </p:sp>
      <p:sp>
        <p:nvSpPr>
          <p:cNvPr id="459" name=""/>
          <p:cNvSpPr/>
          <p:nvPr/>
        </p:nvSpPr>
        <p:spPr>
          <a:xfrm rot="0" flipH="0" flipV="0">
            <a:off x="609600" y="5314950"/>
            <a:ext cx="1097280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60" name=""/>
          <p:cNvSpPr/>
          <p:nvPr/>
        </p:nvSpPr>
        <p:spPr>
          <a:xfrm rot="0" flipH="0" flipV="0">
            <a:off x="819150" y="5524500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990600" y="5591175"/>
            <a:ext cx="10382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将来取得证据，再据其强度更新这段话</a:t>
            </a:r>
            <a:endParaRPr/>
          </a:p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990600" y="5838825"/>
            <a:ext cx="10382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汇报与质疑　·　让别人听懂，也让别人能够质疑</a:t>
            </a:r>
            <a:endParaRPr/>
          </a:p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汇报与质疑</a:t>
            </a:r>
            <a:endParaRPr/>
          </a:p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26 / 26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2026-09-29T10:57:04Z</dcterms:created>
  <dcterms:modified xsi:type="dcterms:W3CDTF">2026-09-29T10:57:04Z</dcterms:modified>
</cp:coreProperties>
</file>