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25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2" Type="http://schemas.openxmlformats.org/officeDocument/2006/relationships/slide" Target="slides/slide2.xml" /><Relationship Id="rId10" Type="http://schemas.openxmlformats.org/officeDocument/2006/relationships/slide" Target="slides/slide10.xml" /><Relationship Id="rId5" Type="http://schemas.openxmlformats.org/officeDocument/2006/relationships/slide" Target="slides/slide5.xml" /><Relationship Id="rId11" Type="http://schemas.openxmlformats.org/officeDocument/2006/relationships/slide" Target="slides/slide11.xml" /><Relationship Id="rId22" Type="http://schemas.openxmlformats.org/officeDocument/2006/relationships/slide" Target="slides/slide22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29" Type="http://schemas.openxmlformats.org/officeDocument/2006/relationships/presProps" Target="presProps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6" Type="http://schemas.openxmlformats.org/officeDocument/2006/relationships/slide" Target="slides/slide6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28" Type="http://schemas.openxmlformats.org/officeDocument/2006/relationships/notesMaster" Target="notesMasters/notesMaster1.xml" /><Relationship Id="rId3" Type="http://schemas.openxmlformats.org/officeDocument/2006/relationships/slide" Target="slides/slide3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Relationship Id="rId4" Type="http://schemas.openxmlformats.org/officeDocument/2006/relationships/slide" Target="slides/slide4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交付以后，真正的维护工作往往和直觉不一样。很多人一听到反馈，第一反应是回去把提示词再优化一遍，把所有问题都归到同一个原因上。这样做的直接后果，是实验条件、历史证据和真实的软件故障混在一起，谁也说不清哪一次结果对应哪一版输入。</a:t>
            </a:r>
          </a:p>
          <a:p>
            <a:r>
              <a:rPr lang="zh-CN" dirty="0"/>
              <a:t>所以这一节要分开两件事：下一次要用的输入可以改，而这一次已经发生过的证据必须原样留下。</a:t>
            </a:r>
          </a:p>
          <a:p>
            <a:r>
              <a:rPr lang="zh-CN" dirty="0"/>
              <a:t>服务大厅项目此刻还没有真实运行结果，所以我用明确标为假设的情形来演示方法：先根据证据提出变更，把影响交代给接手者，再在新的独立输入上验证。这里不提供一份已经改善效果的维护报告。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这一节要看清四件事，它们是一条链，不是四份清单。</a:t>
            </a:r>
          </a:p>
          <a:p>
            <a:r>
              <a:rPr lang="zh-CN" dirty="0"/>
              <a:t>第一件，先写问题再写修改。观察到一个失败结果，先把它写成别人能查的问题单，而不是立刻决定要给谁加什么内容。</a:t>
            </a:r>
          </a:p>
          <a:p>
            <a:r>
              <a:rPr lang="zh-CN" dirty="0"/>
              <a:t>第二件，不同变更需要不同的验证。改一句说明、改评分口径、改行为输入、换模型环境，复查范围差别很大，重跑不是唯一的动作。</a:t>
            </a:r>
          </a:p>
          <a:p>
            <a:r>
              <a:rPr lang="zh-CN" dirty="0"/>
              <a:t>第三件，选对副本才能改对地方。公共资源、实验草稿、封存实验和 Run 各自保存自己的内容，改错一份等于白改，还会让新结果挂到旧结论上。</a:t>
            </a:r>
          </a:p>
          <a:p>
            <a:r>
              <a:rPr lang="zh-CN" dirty="0"/>
              <a:t>第四件，维护说明和历史事实分开保存。环境变化以后，接手的人还要能找回原始证据。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修改之前，先把现象写成别人能查的问题。假设未来观察到孟川 H3 最终没有完成 B 窗口咨询，这个结果本身只说明有一项需求没有达到事前判据。</a:t>
            </a:r>
          </a:p>
          <a:p>
            <a:r>
              <a:rPr lang="zh-CN" dirty="0"/>
              <a:t>它背后可能是三件不同的事：他没有补充私人目的；咨询台没有使用真实补充；或者建议本身正确，但路径、回复、确认中的某一环没有走完。</a:t>
            </a:r>
          </a:p>
          <a:p>
            <a:r>
              <a:rPr lang="zh-CN" dirty="0"/>
              <a:t>仅凭一个失败结果，不能直接决定给所有角色增加完整任务答案。那等于用一次观察换一条规则，既没有定位到原因，也没有可检验的验收条件。</a:t>
            </a:r>
          </a:p>
          <a:p>
            <a:r>
              <a:rPr lang="zh-CN" dirty="0"/>
              <a:t>把现象、位置、证据、解释、修改建议和验收条件写在同一个地方，接手的人才有继续往下的入口。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假设有一天我们看到孟川 H3 最终没有完成 B 窗口咨询。这个观察很具体，但它只告诉我们一件事：有一项需求没有达到事前判据。</a:t>
            </a:r>
          </a:p>
          <a:p>
            <a:r>
              <a:rPr lang="zh-CN" dirty="0"/>
              <a:t>它不能告诉我们原因。至少有三种情形会走到同一个结果。第一，来访者本人没有补充私人目的，请求里缺了这项信息。第二，补充真实存在，但咨询台没有使用，仍旧凭印象猜成预约使用。第三，建议本身正确，路径、回复、确认这三个执行环节里的某一个没有走完。</a:t>
            </a:r>
          </a:p>
          <a:p>
            <a:r>
              <a:rPr lang="zh-CN" dirty="0"/>
              <a:t>这三条的修复方向完全不同：补提示、改检索、查执行。所以这时候正确的话不是"把提示词再优化一下"，而是先把可能性分开列出，各配一份证据去查。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一张可交接的问题单要回答六个字段。</a:t>
            </a:r>
          </a:p>
          <a:p>
            <a:r>
              <a:rPr lang="zh-CN" dirty="0"/>
              <a:t>现象，写明哪项需求没有达到哪个事前判据，不要写"效果不好"。</a:t>
            </a:r>
          </a:p>
          <a:p>
            <a:r>
              <a:rPr lang="zh-CN" dirty="0"/>
              <a:t>位置，落到实际的实验、Run、Attempt、Step，以及相关的人物与对象。</a:t>
            </a:r>
          </a:p>
          <a:p>
            <a:r>
              <a:rPr lang="zh-CN" dirty="0"/>
              <a:t>证据，写出请求、回复、记忆、路径或页面记录的具体出处。</a:t>
            </a:r>
          </a:p>
          <a:p>
            <a:r>
              <a:rPr lang="zh-CN" dirty="0"/>
              <a:t>解释，把已经证实的原因和仍待排查的假设分开写。</a:t>
            </a:r>
          </a:p>
          <a:p>
            <a:r>
              <a:rPr lang="zh-CN" dirty="0"/>
              <a:t>修改建议，说清准备改变什么，以及为什么针对这个原因。</a:t>
            </a:r>
          </a:p>
          <a:p>
            <a:r>
              <a:rPr lang="zh-CN" dirty="0"/>
              <a:t>验收条件，说明下一次应该看见哪些事实，怎样才算仍然没解决。</a:t>
            </a:r>
          </a:p>
          <a:p>
            <a:r>
              <a:rPr lang="zh-CN" dirty="0"/>
              <a:t>只写"咨询台好像忘了"，原因还是未知，接手的人只能把整个过程重走一遍。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如果手上只有"咨询台好像忘了"这句话，原因仍然未知。要把它查成事实，至少要问三个问题。</a:t>
            </a:r>
          </a:p>
          <a:p>
            <a:r>
              <a:rPr lang="zh-CN" dirty="0"/>
              <a:t>第一，补充是否真正投递过：来访者的请求里到底有没有出现那项私人目的。</a:t>
            </a:r>
          </a:p>
          <a:p>
            <a:r>
              <a:rPr lang="zh-CN" dirty="0"/>
              <a:t>第二，后续请求有没有带来新事实：如果补充晚了一轮才到，咨询台在当时确实无从使用。</a:t>
            </a:r>
          </a:p>
          <a:p>
            <a:r>
              <a:rPr lang="zh-CN" dirty="0"/>
              <a:t>第三，对象有没有检索自己的记忆：系统里存过什么，不等于判断的时候用过什么。</a:t>
            </a:r>
          </a:p>
          <a:p>
            <a:r>
              <a:rPr lang="zh-CN" dirty="0"/>
              <a:t>三条分别查完，才谈得上修改建议。建议本身也可以是暂不改动、先补齐缺失的证据。在没有依据时把问题保持开放，比写成"已修复"更负责。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评阅意见很少会告诉你它改的是哪一层。它可能只是一句"这里的说法不够清楚"，也可能要求改评分口径，甚至可能提到某个操作会让系统重复回复。</a:t>
            </a:r>
          </a:p>
          <a:p>
            <a:r>
              <a:rPr lang="zh-CN" dirty="0"/>
              <a:t>这些意见落在不同的层：说明材料、评分口径、行为输入、空间与人物、模型与环境，还有真实的系统问题。</a:t>
            </a:r>
          </a:p>
          <a:p>
            <a:r>
              <a:rPr lang="zh-CN" dirty="0"/>
              <a:t>先选修改层，再按层确定复查范围，这是维护里最重要的一次判断。改说明可以只复查文档；改行为输入就一定要做新的独立实验；碰到系统问题，要停止相应验收并留证。</a:t>
            </a:r>
          </a:p>
          <a:p>
            <a:r>
              <a:rPr lang="zh-CN" dirty="0"/>
              <a:t>跳过这一步，后面的复查范围就只能靠感觉，做多做少都没有依据。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评阅意见落到哪一层，复查范围就跟着到哪一层。</a:t>
            </a:r>
          </a:p>
          <a:p>
            <a:r>
              <a:rPr lang="zh-CN" dirty="0"/>
              <a:t>改说明材料，比如修正交付清单里的错别字、补上证据链接，只需要核对引用是否准确、有没有改变原结论的含义。</a:t>
            </a:r>
          </a:p>
          <a:p>
            <a:r>
              <a:rPr lang="zh-CN" dirty="0"/>
              <a:t>改评分口径，例如明确"确认下一步"需要哪些实际内容，要保留原来的评分，同时说明新规则的适用范围和重新评分依据。</a:t>
            </a:r>
          </a:p>
          <a:p>
            <a:r>
              <a:rPr lang="zh-CN" dirty="0"/>
              <a:t>改行为输入，比如咨询台的澄清措辞或记忆处理方法，就必须做新的独立实验，并给出与旧版的精确 Skill 差异。</a:t>
            </a:r>
          </a:p>
          <a:p>
            <a:r>
              <a:rPr lang="zh-CN" dirty="0"/>
              <a:t>移动窗口、改出生点、增大视野，要复查语义、碰撞、导航、知识与比较条件。</a:t>
            </a:r>
          </a:p>
          <a:p>
            <a:r>
              <a:rPr lang="zh-CN" dirty="0"/>
              <a:t>更换模型配置或程序版本，要复查接口、限制、成本与读取兼容。</a:t>
            </a:r>
          </a:p>
          <a:p>
            <a:r>
              <a:rPr lang="zh-CN" dirty="0"/>
              <a:t>碰到回复重复、帧身份不符这类真实系统问题，要停止相应验收，留证并报告。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每一类变更要查什么，可以逐行对照。</a:t>
            </a:r>
          </a:p>
          <a:p>
            <a:r>
              <a:rPr lang="zh-CN" dirty="0"/>
              <a:t>说明材料，比如修正交付清单里的错别字、补上证据链接，复查重点是引用是否准确、有没有改变原结论的含义。</a:t>
            </a:r>
          </a:p>
          <a:p>
            <a:r>
              <a:rPr lang="zh-CN" dirty="0"/>
              <a:t>评分口径，比如明确"确认下一步"需要哪些实际内容，要保留原评分，说明新规则适用范围与重新评分依据。</a:t>
            </a:r>
          </a:p>
          <a:p>
            <a:r>
              <a:rPr lang="zh-CN" dirty="0"/>
              <a:t>行为输入，比如改咨询台的澄清措辞或记忆处理方法，需要新独立实验、精确差异、对应行为与消耗。</a:t>
            </a:r>
          </a:p>
          <a:p>
            <a:r>
              <a:rPr lang="zh-CN" dirty="0"/>
              <a:t>空间与人物，移动窗口、改出生点、增大视野，要复查语义、碰撞、导航、知识与比较条件。</a:t>
            </a:r>
          </a:p>
          <a:p>
            <a:r>
              <a:rPr lang="zh-CN" dirty="0"/>
              <a:t>模型与环境，更换模型配置或程序版本，要复查接口、限制、成本与读取兼容。</a:t>
            </a:r>
          </a:p>
          <a:p>
            <a:r>
              <a:rPr lang="zh-CN" dirty="0"/>
              <a:t>实际系统问题，例如回复重复、帧身份不符、页面选错 Run，要停止相应验收并留证报告。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维护不只有重跑，但有些改动确实必须重跑。</a:t>
            </a:r>
          </a:p>
          <a:p>
            <a:r>
              <a:rPr lang="zh-CN" dirty="0"/>
              <a:t>如果改的是书稿排版、错别字或者证据链接的位置，这些不进入模型输入，复查范围就是文档本身：引用是否准确，有没有改变原来的结论。</a:t>
            </a:r>
          </a:p>
          <a:p>
            <a:r>
              <a:rPr lang="zh-CN" dirty="0"/>
              <a:t>只要碰到已经执行过的精确 Skill 文本，哪怕只改一个词，也不能悄悄替换之后继续拿旧 Run 说它有效。旧 Run 是用旧文本跑出来的，改完就必须有新的对应证据。</a:t>
            </a:r>
          </a:p>
          <a:p>
            <a:r>
              <a:rPr lang="zh-CN" dirty="0"/>
              <a:t>评分口径的变化同样要留记录：原来的结果仍然可以复核，新的评分作为有出处的分析材料保存。它不能写回历史 Run，冒充系统当时的评价。</a:t>
            </a:r>
          </a:p>
          <a:p>
            <a:r>
              <a:rPr lang="zh-CN" dirty="0"/>
              <a:t>这两类改动的区别其实很简单：一个改的是别人怎么读，一个改的是系统怎么跑。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评分口径的变化和系统故障是两种完全不同的情况。</a:t>
            </a:r>
          </a:p>
          <a:p>
            <a:r>
              <a:rPr lang="zh-CN" dirty="0"/>
              <a:t>先说评分口径。如果只是明确了"确认下一步"需要哪些实际内容，原来的结果仍然可以复核，不需要抹掉。新评分要作为有出处的分析材料保存，写清新规则的适用范围和重新评分依据。它不能写回历史 Run，冒充系统当时的评价。</a:t>
            </a:r>
          </a:p>
          <a:p>
            <a:r>
              <a:rPr lang="zh-CN" dirty="0"/>
              <a:t>再说系统问题。如果发现对象回复重复、帧身份不一致或者页面选错了 Run，这些属于软件故障，要停止相应案例的验收并报告，修复必须得到针对这个问题的明确决定。</a:t>
            </a:r>
          </a:p>
          <a:p>
            <a:r>
              <a:rPr lang="zh-CN" dirty="0"/>
              <a:t>这里有一条底线：不能靠改人物目标绕开故障，也不能拿一次新运行成功，就宣布原来的问题已经解决。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5.4 的原文已经允许"需要时"检索记忆。如果证据显示，咨询台曾经保存过"报告今天已有故障"这条信息，后续却没有检索，又一次猜成预约使用，那么一项候选修改就是把可选检索改成判断前必做。</a:t>
            </a:r>
          </a:p>
          <a:p>
            <a:r>
              <a:rPr lang="zh-CN" dirty="0"/>
              <a:t>精确差异可以写成这样一句：每次为真实请求者判断窗口前，先检索自己此前为该请求者保存的明确目的；不存在就保持未知，再按原决策段处理。</a:t>
            </a:r>
          </a:p>
          <a:p>
            <a:r>
              <a:rPr lang="zh-CN" dirty="0"/>
              <a:t>写这么细是有原因的。改动的作用范围必须收窄到这一项检索条件，不能顺手换地图、放宽视野，或者把私人目的泄漏给引导员。两项改动同时做，新结果就说不清是哪一项起的作用。</a:t>
            </a:r>
          </a:p>
          <a:p>
            <a:r>
              <a:rPr lang="zh-CN" dirty="0"/>
              <a:t>也要承认成本：多一次检索就多一次调用，值不值得还得比较。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这两种情况必须分成两张问题单，不能让一个模糊的"优化咨询"把原因全都盖住。</a:t>
            </a:r>
          </a:p>
          <a:p>
            <a:r>
              <a:rPr lang="zh-CN" dirty="0"/>
              <a:t>第一种，补充从未到达。这时候首先要确认来访者是否真的提交了、对象是否回复了、消息有没有进入下一轮。如果这三条都不成立，那么增加对象记忆检索可能完全无效。</a:t>
            </a:r>
          </a:p>
          <a:p>
            <a:r>
              <a:rPr lang="zh-CN" dirty="0"/>
              <a:t>第二种，补充到达了但没有被使用。证据是咨询台保存过那条目的，而后续判断前没有检索。这时候候选修改才是把检索改成判断前必做，验收条件也很明确：下一次应该看到那条目的被真正引用。</a:t>
            </a:r>
          </a:p>
          <a:p>
            <a:r>
              <a:rPr lang="zh-CN" dirty="0"/>
              <a:t>记录用变更影响表，写清原内容、拟改内容、支持证据、受影响材料、验证方法和仍不能解决的情况。它是资料管理用的记录，不是系统内新增的发布流程或资源 Revision。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要改对地方，先得看清一份内容被复制成了几份。</a:t>
            </a:r>
          </a:p>
          <a:p>
            <a:r>
              <a:rPr lang="zh-CN" dirty="0"/>
              <a:t>公共作者资源在选入实验的时候，内容及其依赖被完整复制。也就是说，后来修改公共咨询台 Skill，不会自动更新已经存在的实验。</a:t>
            </a:r>
          </a:p>
          <a:p>
            <a:r>
              <a:rPr lang="zh-CN" dirty="0"/>
              <a:t>实验封存以后，当前输入不可修改。Run 启动时又把当次实验完整嵌入，之后不再读取当前的公共资源或实验目录。</a:t>
            </a:r>
          </a:p>
          <a:p>
            <a:r>
              <a:rPr lang="zh-CN" dirty="0"/>
              <a:t>这条复制隔离保证旧结果始终对应固定的输入，同时也要求维护者明确自己的编辑范围：我改的到底是公共资源、某个草稿，还是某一次运行的输入？</a:t>
            </a:r>
          </a:p>
          <a:p>
            <a:r>
              <a:rPr lang="zh-CN" dirty="0"/>
              <a:t>这里没有 Revision，没有自动跟随，也没有运行期的外部活引用。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公共作者资源在选入实验的时候，内容及依赖会被物理复制一份。</a:t>
            </a:r>
          </a:p>
          <a:p>
            <a:r>
              <a:rPr lang="zh-CN" dirty="0"/>
              <a:t>所以后来修改公共咨询台 Skill，不会自动更新既有实验。Run 启动时，又把当次实验完整嵌入，之后不再读取当前的公共资源或实验目录。</a:t>
            </a:r>
          </a:p>
          <a:p>
            <a:r>
              <a:rPr lang="zh-CN" dirty="0"/>
              <a:t>这三层复制带来两个方向的结果。向下看，公共资源的修改不会自动流进旧实验，旧 Run 和原始导出保留原样，历史事实不会被后来的编辑悄悄改写。向上看，维护者必须明确自己改的是哪一份内容：改公共资源，影响的是未来新选入的项目；改实验草稿，影响的才是这一轮的执行输入。</a:t>
            </a:r>
          </a:p>
          <a:p>
            <a:r>
              <a:rPr lang="zh-CN" dirty="0"/>
              <a:t>这里有三个"没有"：没有 Revision，没有自动跟随，也没有运行期的外部活引用。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同样是改咨询台的目的检索，实验处在不同状态，做法完全不同。</a:t>
            </a:r>
          </a:p>
          <a:p>
            <a:r>
              <a:rPr lang="zh-CN" dirty="0"/>
              <a:t>如果这个实验还是 DRAFT，你可以在它自己的包内副本上编辑，改完保存、重新打开核对一遍，再跑预检。改的还是同一个实验草稿。</a:t>
            </a:r>
          </a:p>
          <a:p>
            <a:r>
              <a:rPr lang="zh-CN" dirty="0"/>
              <a:t>如果实验已经 SEALED，情况就变了。封存意味着当前输入不可修改，原件不会解锁。你要做的是把它复制成一个新的独立草稿，在新草稿里改内容，并记录新的实验身份和这次人工变更的说明。</a:t>
            </a:r>
          </a:p>
          <a:p>
            <a:r>
              <a:rPr lang="zh-CN" dirty="0"/>
              <a:t>两种做法都不能建立"自动跟随最新版"的关系。旧实验继续对应它自己的旧输入，新草稿是另一件材料。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可以把下一轮工作写成一段具体的交接文字，让接手的人照着做。</a:t>
            </a:r>
          </a:p>
          <a:p>
            <a:r>
              <a:rPr lang="zh-CN" dirty="0"/>
              <a:t>写法是这样的：复制原封存实验为独立草稿；只把咨询台目的检索从"需要时"改为"每次判断前"，保留其原有澄清决策；保留四名来访者的初始话语、窗口规则和全部运行参数；保存后复核差异，再执行。</a:t>
            </a:r>
          </a:p>
          <a:p>
            <a:r>
              <a:rPr lang="zh-CN" dirty="0"/>
              <a:t>这段话里有两组信息。一组是改什么，只改检索条件；另一组是不动什么，澄清决策、初始话语、窗口规则、运行参数全部保留。只写第一组，接手的人很容易顺手多改。</a:t>
            </a:r>
          </a:p>
          <a:p>
            <a:r>
              <a:rPr lang="zh-CN" dirty="0"/>
              <a:t>原实验和 Run 的真实 ID 在操作完成之后登记，书里不预先填写这些编号。还要提醒一句：这时候研究的是检索条件的变化，不能把新结果仍然归到最初那次建议与先澄清的对照上。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调整公共资源和修改实验内的副本，是两项不同的决定，目的也不同。</a:t>
            </a:r>
          </a:p>
          <a:p>
            <a:r>
              <a:rPr lang="zh-CN" dirty="0"/>
              <a:t>改公共资源，目的是让未来新项目能选到新材料，它影响的是以后。</a:t>
            </a:r>
          </a:p>
          <a:p>
            <a:r>
              <a:rPr lang="zh-CN" dirty="0"/>
              <a:t>改实验里的那一份副本，目的是让这一轮的执行用上新的输入，它影响的是当下。</a:t>
            </a:r>
          </a:p>
          <a:p>
            <a:r>
              <a:rPr lang="zh-CN" dirty="0"/>
              <a:t>两处可以都改，但必须分别确认：哪一个草稿已经采用了新内容，哪些旧实验仍然保留旧内容。只确认一处，就会出现"我以为都更新了"的错位。</a:t>
            </a:r>
          </a:p>
          <a:p>
            <a:r>
              <a:rPr lang="zh-CN" dirty="0"/>
              <a:t>还有一种情况要提前想好。Skill 出现同 key 不同内容时，导入会产生冲突。这时候应该明确处理内容选择，不按名字静默覆盖，也不手工改包绕过校验。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继续、再做和改后再做，说的是不同的动作，必须用正确的身份去描述。</a:t>
            </a:r>
          </a:p>
          <a:p>
            <a:r>
              <a:rPr lang="zh-CN" dirty="0"/>
              <a:t>第一种，原运行暂停后继续：还是同一个 Run，增加一个新的 Attempt，从完整的已提交边界的下一个 Step 开始。</a:t>
            </a:r>
          </a:p>
          <a:p>
            <a:r>
              <a:rPr lang="zh-CN" dirty="0"/>
              <a:t>第二种，从旧 Run 重跑：读取旧 Run 内嵌的实验，创建新的 Run；公共资源的新改动不会自动进入。</a:t>
            </a:r>
          </a:p>
          <a:p>
            <a:r>
              <a:rPr lang="zh-CN" dirty="0"/>
              <a:t>第三种，修改咨询策略之后执行：这是一份新的独立实验输入，然后才产生新的 Run。</a:t>
            </a:r>
          </a:p>
          <a:p>
            <a:r>
              <a:rPr lang="zh-CN" dirty="0"/>
              <a:t>还有一种不算执行的动作，重新评阅已有事实：引用同一个 Run，新增一份独立的评分说明，不制造新的执行事实。</a:t>
            </a:r>
          </a:p>
          <a:p>
            <a:r>
              <a:rPr lang="zh-CN" dirty="0"/>
              <a:t>这张表要和交付索引保持一致。Attempt 的增加说明执行尝试变了，不是模型策略产生了一个业务版本。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有三种说法听起来很顺，实际上会掩盖关键事实。</a:t>
            </a:r>
          </a:p>
          <a:p>
            <a:r>
              <a:rPr lang="zh-CN" dirty="0"/>
              <a:t>第一句，"续跑修好了问题"。续跑只是从已提交边界继续往下执行，它不说明旧状态被真正恢复，也不说明问题被修好。</a:t>
            </a:r>
          </a:p>
          <a:p>
            <a:r>
              <a:rPr lang="zh-CN" dirty="0"/>
              <a:t>第二句，"原方案又试一次"。如果输入已经改过，这就不是原来的方案，而是新的研究条件，结果不能归到旧的对照上。</a:t>
            </a:r>
          </a:p>
          <a:p>
            <a:r>
              <a:rPr lang="zh-CN" dirty="0"/>
              <a:t>第三句，"Attempt 增加了，所以策略出了新版本"。Attempt 说明的是执行尝试变了，不是模型策略产生了一个业务版本。</a:t>
            </a:r>
          </a:p>
          <a:p>
            <a:r>
              <a:rPr lang="zh-CN" dirty="0"/>
              <a:t>另外，新尝试也不会抹去旧尝试的成本和质量明细。旧 Run 如果没有闭环，它仍然留在原批次里；新增的 Run 单独登记来源和目的。不能把原来的停止条件改写成"其实原本就准备一直跑到成功"。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维护到最后，要保证项目入口始终能回答三个问题：当前建议使用哪一份设计，历史结论对应哪一批输入，还有哪些事项没有验证。</a:t>
            </a:r>
          </a:p>
          <a:p>
            <a:r>
              <a:rPr lang="zh-CN" dirty="0"/>
              <a:t>这三句话听起来简单，做起来要求材料分层保存：当前项目说明一类，变更与验证记录一类，精确输入与原始导出又是一类，解释与出版材料是第四类。</a:t>
            </a:r>
          </a:p>
          <a:p>
            <a:r>
              <a:rPr lang="zh-CN" dirty="0"/>
              <a:t>人工文档可以用变更日期和问题单号来组织，但要记住，这些只是资料管理的标签，不是系统新增的 Revision，也不是一个新的包身份。</a:t>
            </a:r>
          </a:p>
          <a:p>
            <a:r>
              <a:rPr lang="zh-CN" dirty="0"/>
              <a:t>分层的意义在于，改一层不会牵动另一层。更新当前说明，不会让历史结论跟着变；补一段解释，也不会让原始输入发生变化。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四层资料各记各的，不要混在一份文档里。</a:t>
            </a:r>
          </a:p>
          <a:p>
            <a:r>
              <a:rPr lang="zh-CN" dirty="0"/>
              <a:t>当前项目说明，记接手任务、负责人、状态和推荐材料的位置，它是给下一个人看的入口。</a:t>
            </a:r>
          </a:p>
          <a:p>
            <a:r>
              <a:rPr lang="zh-CN" dirty="0"/>
              <a:t>变更与验证记录，追加理由、影响、检查方法和真实结论，未解决的事项也要保留在这一层。</a:t>
            </a:r>
          </a:p>
          <a:p>
            <a:r>
              <a:rPr lang="zh-CN" dirty="0"/>
              <a:t>精确输入与原始导出，保持当时的内容和摘要，只引用它的原始位置，不搬动、不改写。</a:t>
            </a:r>
          </a:p>
          <a:p>
            <a:r>
              <a:rPr lang="zh-CN" dirty="0"/>
              <a:t>解释与出版材料，可以修订文字或增补图表，但要注明依据和适用批次。</a:t>
            </a:r>
          </a:p>
          <a:p>
            <a:r>
              <a:rPr lang="zh-CN" dirty="0"/>
              <a:t>这样分层以后，文档里可以用变更日期和问题单号来组织，但它们只是资料管理的标签，不是系统新增的 Revision，也不是新的包身份。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更正历史材料的时候，有几条边界要守住。</a:t>
            </a:r>
          </a:p>
          <a:p>
            <a:r>
              <a:rPr lang="zh-CN" dirty="0"/>
              <a:t>第一，如果发现旧报告里有算术错误，可以发布更正说明并重新计算。原始输入和事实本身不必改变，改的只是解释那一层。</a:t>
            </a:r>
          </a:p>
          <a:p>
            <a:r>
              <a:rPr lang="zh-CN" dirty="0"/>
              <a:t>第二，如果截图上的标签写错了，应该修正讲义里的说明文字。不能反过来改历史时间或者事件，让那张截图看起来是合理的。</a:t>
            </a:r>
          </a:p>
          <a:p>
            <a:r>
              <a:rPr lang="zh-CN" dirty="0"/>
              <a:t>第三，如果一份文件的来源不明，就继续把它标成未知。不要根据目录的修改时间，猜一个 Run 身份填上去。</a:t>
            </a:r>
          </a:p>
          <a:p>
            <a:r>
              <a:rPr lang="zh-CN" dirty="0"/>
              <a:t>这三条其实是同一条原则：材料层可以修订，事实层不迁就。分不清这两层，更正就会变成篡改。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程序升级、模型服务下线、文件位置变化，这些都可能发生在项目交付之后。</a:t>
            </a:r>
          </a:p>
          <a:p>
            <a:r>
              <a:rPr lang="zh-CN" dirty="0"/>
              <a:t>维护说明应该记下哪个环境曾经完成过哪一级验证：是文件字节核对，是协议读取，是离线回放，还是续跑与重跑。级别不同，能支持的结论强弱也不同。</a:t>
            </a:r>
          </a:p>
          <a:p>
            <a:r>
              <a:rPr lang="zh-CN" dirty="0"/>
              <a:t>只要包身份和内容没有改变，改文件名或者换存放位置，就不应该被描述成创建了新的实验。业务身份仍然来自清单，不来自它所在的文件夹。</a:t>
            </a:r>
          </a:p>
          <a:p>
            <a:r>
              <a:rPr lang="zh-CN" dirty="0"/>
              <a:t>旧材料在新环境里读不出来时，先保留原件和错误，不要自动改写证据。然后区分是协议不受支持、文件损坏、素材缺失，还是执行依赖变化，再决定下一步。</a:t>
            </a:r>
          </a:p>
          <a:p>
            <a:r>
              <a:rPr lang="zh-CN" dirty="0"/>
              <a:t>旧模型不可用时，换模型可以形成新条件，但不能承诺它复现原来的消息或行为。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归档和删除都会被当成"整理材料"，但它们的后果完全不同。</a:t>
            </a:r>
          </a:p>
          <a:p>
            <a:r>
              <a:rPr lang="zh-CN" dirty="0"/>
              <a:t>归档用于整理展示或者标记资料状态，它和实验封存不是一回事，也不会让 Run 自动完成。这里要提醒一句：当前各类资源页面的归档入口并不完全相同，所以我不能把它写成一个已经统一存在的按钮流程。</a:t>
            </a:r>
          </a:p>
          <a:p>
            <a:r>
              <a:rPr lang="zh-CN" dirty="0"/>
              <a:t>删除要谨慎得多，它可能让材料无法再次读取。所以在删除之前，必须先明确保留需求，并确认已经有独立副本。</a:t>
            </a:r>
          </a:p>
          <a:p>
            <a:r>
              <a:rPr lang="zh-CN" dirty="0"/>
              <a:t>还有一条很实际的建议：不要拿删除正式证据来演示资源隔离。演示的代价太大，一旦删掉，历史事实就真的没了。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最后留一个练习：写一条真正可接手的维护任务。</a:t>
            </a:r>
          </a:p>
          <a:p>
            <a:r>
              <a:rPr lang="zh-CN" dirty="0"/>
              <a:t>它要求以一个有出处的现象开头，说明准备修改哪份独立材料，需要验证什么，以及原证据放在哪里。</a:t>
            </a:r>
          </a:p>
          <a:p>
            <a:r>
              <a:rPr lang="zh-CN" dirty="0"/>
              <a:t>判断标准其实很简单：接手的人读完这条任务，应该能够完成它，或者明确地把它退回来说明理由，而不需要靠猜测去重建项目历史。如果一条维护任务必须让别人先考古一遍，那它就不是交接，只是把问题转手。</a:t>
            </a:r>
          </a:p>
          <a:p>
            <a:r>
              <a:rPr lang="zh-CN" dirty="0"/>
              <a:t>写的时候可以自问四句：现象有没有出处？改的是哪一份材料？验证什么才算通过？原证据在哪？四个问题都有答案，这条任务才算立得住。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这一节要带走三句话。</a:t>
            </a:r>
          </a:p>
          <a:p>
            <a:r>
              <a:rPr lang="zh-CN" dirty="0"/>
              <a:t>第一句，先写问题。收到一句反馈，先把它写成现象、位置、证据、解释、建议和验收条件齐全的问题单，再谈修改。仅凭一个失败结果就定方案，等于用一次观察换一条规则。</a:t>
            </a:r>
          </a:p>
          <a:p>
            <a:r>
              <a:rPr lang="zh-CN" dirty="0"/>
              <a:t>第二句，只改一处。改动要收窄到一层：改说明就只复查文档，改行为输入就做新的独立实验。同时动两个因素，下一轮结果就说不清来源。</a:t>
            </a:r>
          </a:p>
          <a:p>
            <a:r>
              <a:rPr lang="zh-CN" dirty="0"/>
              <a:t>第三句，分开保存。维护说明和历史事实各归其位，旧输入和原始结果原样留着，新的一轮用新的身份登记。</a:t>
            </a:r>
          </a:p>
          <a:p>
            <a:r>
              <a:rPr lang="zh-CN" dirty="0"/>
              <a:t>不管以后遇到什么评阅意见，只要这三句话还在，你就不会把"再优化一下"变成一次没有依据的改动。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项目交付以后，真正的维护工作往往和直觉不一样。很多人一听到反馈，第一反应是回去把提示词再优化一遍，把所有问题都归到同一个原因上。这样做的直接后果，是实验条件、历史证据和真实的软件故障混在一起，谁也说不清哪一次结果对应哪一版输入。&#10;&#10;所以这一节要分开两件事：下一次要用的输入可以改，而这一次已经发生过的证据必须原样留下。&#10;&#10;服务大厅项目此刻还没有真实运行结果，所以我用明确标为假设的情形来演示方法：先根据证据提出变更，把影响交代给接手者，再在新的独立输入上验证。这里不提供一份已经改善效果的维护报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综合实战与交付　·　5.9　迭代与维护&lt;/Text&gt;&#10;            &lt;Text style={{ fontSize: 34, fontWeight: 'bold', color: '#20344B' }}&gt;改变下一次输入，保留这一次证据&lt;/Text&gt;&#10;        &lt;/Box&gt;&#10;    &lt;/Box&gt;&#10;&#10;    &lt;Box style={{ height: 540, flexDirection: 'row', alignItems: 'center', gap: 36 }}&gt;&#10;&#10;        &lt;Box style={{ width: 516, flexDirection: 'column', gap: 14 }}&gt;&#10;            &lt;Text style={{ fontSize: 52, fontWeight: 'bold', color: '#20344B', lineHeight: 1.2 }}&gt;改变下一次输入{'\n'}保留这一次证据&lt;/Text&gt;&#10;            &lt;Box style={{ width: 72, height: 4, background: '#276FBF' }} /&gt;&#10;            &lt;Text style={{ fontSize: 17, color: '#546779', lineHeight: 1.7, width: 516 }}&gt;收到评阅意见时，先判断修改落在哪一层。改动可以进入下一轮，旧输入的原始结果不动。&lt;/Text&gt;&#10;            &lt;Box style={{ flexDirection: 'row', gap: 12, marginTop: 4 }}&gt;&#10;                &lt;Box style={{ width: 164, height: 42, background: '#EDF4FC', borderRadius: 8, justifyContent: 'center', alignItems: 'center' }}&gt;&#10;                    &lt;Text style={{ fontSize: 15, color: '#276FBF' }}&gt;先写问题单&lt;/Text&gt;&#10;                &lt;/Box&gt;&#10;                &lt;Box style={{ width: 164, height: 42, background: '#ECF7F2', borderRadius: 8, justifyContent: 'center', alignItems: 'center' }}&gt;&#10;                    &lt;Text style={{ fontSize: 15, color: '#26816B' }}&gt;再定修改层&lt;/Text&gt;&#10;                &lt;/Box&gt;&#10;                &lt;Box style={{ width: 164, height: 42, background: '#FFF4E6', borderRadius: 8, justifyContent: 'center', alignItems: 'center' }}&gt;&#10;                    &lt;Text style={{ fontSize: 15, color: '#CB6B28' }}&gt;只改一处&lt;/Text&gt;&#10;                &lt;/Box&gt;&#10;            &lt;/Box&gt;&#10;        &lt;/Box&gt;&#10;&#10;        &lt;Box style={{ width: 600, flexDirection: 'column', gap: 14 }}&gt;&#10;            &lt;Box style={{ width: 600, flexDirection: 'row', gap: 28 }}&gt;&#10;&#10;                &lt;Box style={{ width: 286, height: 316, background: '#ECF7F2', borderRadius: 12, padding: 18, flexDirection: 'column', gap: 10 }}&gt;&#10;                    &lt;Text style={{ fontSize: 14, color: '#26816B' }}&gt;这一次&lt;/Text&gt;&#10;                    &lt;Text style={{ fontSize: 24, fontWeight: 'bold', color: '#26816B' }}&gt;证据保留原样&lt;/Text&gt;&#10;                    &lt;Box style={{ width: 250, height: 44, background: '#FFFFFF', borderRadius: 8, padding: '0 12px', justifyContent: 'center' }}&gt;&#10;                        &lt;Text style={{ fontSize: 14, color: '#20344B' }}&gt;原始输入与导出&lt;/Text&gt;&#10;                    &lt;/Box&gt;&#10;                    &lt;Box style={{ width: 250, height: 44, background: '#FFFFFF', borderRadius: 8, padding: '0 12px', justifyContent: 'center' }}&gt;&#10;                        &lt;Text style={{ fontSize: 14, color: '#20344B' }}&gt;已提交的对话事实&lt;/Text&gt;&#10;                    &lt;/Box&gt;&#10;                    &lt;Box style={{ width: 250, height: 44, background: '#FFFFFF', borderRadius: 8, padding: '0 12px', justifyContent: 'center' }}&gt;&#10;                        &lt;Text style={{ fontSize: 14, color: '#20344B' }}&gt;运行与评分记录&lt;/Text&gt;&#10;                    &lt;/Box&gt;&#10;                    &lt;Text style={{ fontSize: 13, color: '#546779', lineHeight: 1.45, width: 250 }}&gt;旧结果仍对应旧输入，不能写回覆盖。&lt;/Text&gt;&#10;                &lt;/Box&gt;&#10;&#10;                &lt;Box style={{ width: 286, height: 316, background: '#EDF4FC', borderRadius: 12, padding: 18, flexDirection: 'column', gap: 10 }}&gt;&#10;                    &lt;Text style={{ fontSize: 14, color: '#276FBF' }}&gt;下一次&lt;/Text&gt;&#10;                    &lt;Text style={{ fontSize: 24, fontWeight: 'bold', color: '#276FBF' }}&gt;输入可以修改&lt;/Text&gt;&#10;                    &lt;Box style={{ width: 250, height: 44, background: '#FFFFFF', borderRadius: 8, padding: '0 12px', justifyContent: 'center' }}&gt;&#10;                        &lt;Text style={{ fontSize: 14, color: '#20344B' }}&gt;精确 Skill 文本&lt;/Text&gt;&#10;                    &lt;/Box&gt;&#10;                    &lt;Box style={{ width: 250, height: 44, background: '#FFFFFF', borderRadius: 8, padding: '0 12px', justifyContent: 'center' }}&gt;&#10;                        &lt;Text style={{ fontSize: 14, color: '#20344B' }}&gt;记忆检索条件&lt;/Text&gt;&#10;                    &lt;/Box&gt;&#10;                    &lt;Box style={{ width: 250, height: 44, background: '#FFF4E6', borderRadius: 8, padding: '0 12px', justifyContent: 'center' }}&gt;&#10;                        &lt;Text style={{ fontSize: 14, color: '#CB6B28' }}&gt;改完必须重新验证&lt;/Text&gt;&#10;                    &lt;/Box&gt;&#10;                    &lt;Text style={{ fontSize: 13, color: '#546779', lineHeight: 1.45, width: 250 }}&gt;新结果不再属于原来那次对照。&lt;/Text&gt;&#10;                &lt;/Box&gt;&#10;&#10;            &lt;/Box&gt;&#10;        &lt;/Box&gt;&#10;&#10;    &lt;/Box&gt;&#10;&#10;    &lt;Box style={{ height: 40, flexDirection: 'row', justifyContent: 'space-between', alignItems: 'center' }}&gt;&#10;        &lt;Text style={{ fontSize: 14, color: '#546779' }}&gt;5.9 迭代与维护&lt;/Text&gt;&#10;        &lt;Text style={{ fontSize: 14, color: '#546779' }}&gt;01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综合实战与交付　·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迭代与维护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改变下一次输入，保留这一次证据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49149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改变下一次输入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保留这一次证据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49149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收到评阅意见时，先判断修改落在哪一层。改动可以进入下一轮，旧输入的原始结果不动。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4800600"/>
            <a:ext cx="15621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038225" y="49149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先写问题单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2286000" y="4800600"/>
            <a:ext cx="156210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714625" y="49149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再定修改层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3962400" y="4800600"/>
            <a:ext cx="156210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45770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只改一处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5867400" y="2209800"/>
            <a:ext cx="2724150" cy="3009900"/>
          </a:xfrm>
          <a:prstGeom prst="roundRect">
            <a:avLst>
              <a:gd name="adj" fmla="val 419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038850" y="2381250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这一次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38850" y="2638425"/>
            <a:ext cx="2381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6816B"/>
                </a:solidFill>
                <a:latin typeface="Microsoft YaHei"/>
                <a:ea typeface="Microsoft YaHei"/>
              </a:rPr>
              <a:t>证据保留原样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038850" y="3009900"/>
            <a:ext cx="2381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153150" y="3143250"/>
            <a:ext cx="2152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原始输入与导出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038850" y="3524250"/>
            <a:ext cx="2381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153150" y="3657600"/>
            <a:ext cx="2152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已提交的对话事实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038850" y="4038600"/>
            <a:ext cx="2381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153150" y="4171950"/>
            <a:ext cx="2152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运行与评分记录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38850" y="4552950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旧结果仍对应旧输入，不能写回覆盖。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8858250" y="2209800"/>
            <a:ext cx="2724150" cy="3009900"/>
          </a:xfrm>
          <a:prstGeom prst="roundRect">
            <a:avLst>
              <a:gd name="adj" fmla="val 419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9029700" y="2381250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下一次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9029700" y="2638425"/>
            <a:ext cx="2381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输入可以修改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9029700" y="3009900"/>
            <a:ext cx="2381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9144000" y="3143250"/>
            <a:ext cx="2152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文本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9029700" y="3524250"/>
            <a:ext cx="2381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9144000" y="3657600"/>
            <a:ext cx="2152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记忆检索条件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9029700" y="4038600"/>
            <a:ext cx="2381250" cy="419100"/>
          </a:xfrm>
          <a:prstGeom prst="roundRect">
            <a:avLst>
              <a:gd name="adj" fmla="val 181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9144000" y="4171950"/>
            <a:ext cx="2152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改完必须重新验证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9029700" y="4552950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新结果不再属于原来那次对照。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27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44" name="" descr="&lt;Slide notes={`这一节要看清四件事，它们是一条链，不是四份清单。&#10;&#10;第一件，先写问题再写修改。观察到一个失败结果，先把它写成别人能查的问题单，而不是立刻决定要给谁加什么内容。&#10;&#10;第二件，不同变更需要不同的验证。改一句说明、改评分口径、改行为输入、换模型环境，复查范围差别很大，重跑不是唯一的动作。&#10;&#10;第三件，选对副本才能改对地方。公共资源、实验草稿、封存实验和 Run 各自保存自己的内容，改错一份等于白改，还会让新结果挂到旧结论上。&#10;&#10;第四件，维护说明和历史事实分开保存。环境变化以后，接手的人还要能找回原始证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9　本节地图&lt;/Text&gt;&#10;            &lt;Text style={{ fontSize: 34, fontWeight: 'bold', color: '#20344B' }}&gt;本节要看清的四件事&lt;/Text&gt;&#10;        &lt;/Box&gt;&#10;    &lt;/Box&gt;&#10;&#10;    &lt;Box style={{ height: 540, flexDirection: 'row', alignItems: 'center', gap: 32 }}&gt;&#10;&#10;        &lt;Box style={{ width: 360, flexDirection: 'column', justifyContent: 'center', gap: 16 }}&gt;&#10;            &lt;Text style={{ fontSize: 16, color: '#546779', lineHeight: 1.75 }}&gt;把一句笼统的&quot;再优化一下&quot;，拆成可核对的问题、可界定的修改范围和一个可交接的下一轮。&lt;/Text&gt;&#10;            &lt;Box style={{ width: 360, height: 52, background: '#F4F7FA', borderRadius: 8, justifyContent: 'center', alignItems: 'center' }}&gt;&#10;                &lt;Text style={{ fontSize: 17, color: '#20344B' }}&gt;一句模糊的反馈&lt;/Text&gt;&#10;            &lt;/Box&gt;&#10;            &lt;Box style={{ width: 360, height: 32, justifyContent: 'center', alignItems: 'center' }}&gt;&#10;                &lt;Text style={{ fontSize: 20, color: '#276FBF' }}&gt;↓&lt;/Text&gt;&#10;            &lt;/Box&gt;&#10;            &lt;Box style={{ width: 360, height: 52, background: '#EDF4FC', borderRadius: 8, justifyContent: 'center', alignItems: 'center' }}&gt;&#10;                &lt;Text style={{ fontSize: 17, color: '#276FBF' }}&gt;问题单与变更层&lt;/Text&gt;&#10;            &lt;/Box&gt;&#10;            &lt;Box style={{ width: 360, height: 32, justifyContent: 'center', alignItems: 'center' }}&gt;&#10;                &lt;Text style={{ fontSize: 20, color: '#26816B' }}&gt;↓&lt;/Text&gt;&#10;            &lt;/Box&gt;&#10;            &lt;Box style={{ width: 360, height: 52, background: '#ECF7F2', borderRadius: 8, justifyContent: 'center', alignItems: 'center' }}&gt;&#10;                &lt;Text style={{ fontSize: 17, color: '#26816B' }}&gt;可交接的下一轮&lt;/Text&gt;&#10;            &lt;/Box&gt;&#10;        &lt;/Box&gt;&#10;&#10;        &lt;Box style={{ width: 760, flexDirection: 'column', justifyContent: 'center', gap: 14 }}&gt;&#10;&#10;            &lt;Box style={{ width: 760, height: 106, background: '#F4F7FA', borderRadius: 10, padding: '0 20px', flexDirection: 'row', alignItems: 'center', gap: 18 }}&gt;&#10;                &lt;Box style={{ width: 48, height: 48, borderRadius: 8, background: '#276FBF', justifyContent: 'center', alignItems: 'center' }}&gt;&#10;                    &lt;Text style={{ fontSize: 22, fontWeight: 'bold', color: '#FFFFFF' }}&gt;①&lt;/Text&gt;&#10;                &lt;/Box&gt;&#10;                &lt;Box style={{ flexDirection: 'column', gap: 4, width: 654 }}&gt;&#10;                    &lt;Text style={{ fontSize: 20, fontWeight: 'bold', color: '#20344B' }}&gt;先写问题，再写修改&lt;/Text&gt;&#10;                    &lt;Text style={{ fontSize: 15, color: '#546779', lineHeight: 1.45 }}&gt;现象、位置、证据、解释、修改建议、验收条件，六项写全才叫问题单&lt;/Text&gt;&#10;                &lt;/Box&gt;&#10;            &lt;/Box&gt;&#10;&#10;            &lt;Box style={{ width: 760, height: 106, background: '#F4F7FA', borderRadius: 10, padding: '0 20px', flexDirection: 'row', alignItems: 'center', gap: 18 }}&gt;&#10;                &lt;Box style={{ width: 48, height: 48, borderRadius: 8, background: '#26816B', justifyContent: 'center', alignItems: 'center' }}&gt;&#10;                    &lt;Text style={{ fontSize: 22, fontWeight: 'bold', color: '#FFFFFF' }}&gt;②&lt;/Text&gt;&#10;                &lt;/Box&gt;&#10;                &lt;Box style={{ flexDirection: 'column', gap: 4, width: 654 }}&gt;&#10;                    &lt;Text style={{ fontSize: 20, fontWeight: 'bold', color: '#20344B' }}&gt;不同变更，需要不同的验证&lt;/Text&gt;&#10;                    &lt;Text style={{ fontSize: 15, color: '#546779', lineHeight: 1.45 }}&gt;先选修改层，再决定是只复查文档，还是必须做新实验、留新证据&lt;/Text&gt;&#10;                &lt;/Box&gt;&#10;            &lt;/Box&gt;&#10;&#10;            &lt;Box style={{ width: 760, height: 106, background: '#F4F7FA', borderRadius: 10, padding: '0 20px', flexDirection: 'row', alignItems: 'center', gap: 18 }}&gt;&#10;                &lt;Box style={{ width: 48, height: 48, borderRadius: 8, background: '#276FBF', justifyContent: 'center', alignItems: 'center' }}&gt;&#10;                    &lt;Text style={{ fontSize: 22, fontWeight: 'bold', color: '#FFFFFF' }}&gt;③&lt;/Text&gt;&#10;                &lt;/Box&gt;&#10;                &lt;Box style={{ flexDirection: 'column', gap: 4, width: 654 }}&gt;&#10;                    &lt;Text style={{ fontSize: 20, fontWeight: 'bold', color: '#20344B' }}&gt;选对副本，写清身份&lt;/Text&gt;&#10;                    &lt;Text style={{ fontSize: 15, color: '#546779', lineHeight: 1.45 }}&gt;公共资源与实验各自保存内容；续跑、重跑、改后再做是三种不同身份&lt;/Text&gt;&#10;                &lt;/Box&gt;&#10;            &lt;/Box&gt;&#10;&#10;            &lt;Box style={{ width: 760, height: 106, background: '#F4F7FA', borderRadius: 10, padding: '0 20px', flexDirection: 'row', alignItems: 'center', gap: 18 }}&gt;&#10;                &lt;Box style={{ width: 48, height: 48, borderRadius: 8, background: '#26816B', justifyContent: 'center', alignItems: 'center' }}&gt;&#10;                    &lt;Text style={{ fontSize: 22, fontWeight: 'bold', color: '#FFFFFF' }}&gt;④&lt;/Text&gt;&#10;                &lt;/Box&gt;&#10;                &lt;Box style={{ flexDirection: 'column', gap: 4, width: 654 }}&gt;&#10;                    &lt;Text style={{ fontSize: 20, fontWeight: 'bold', color: '#20344B' }}&gt;维护说明与历史事实分别保存&lt;/Text&gt;&#10;                    &lt;Text style={{ fontSize: 15, color: '#546779', lineHeight: 1.45 }}&gt;当前建议、历史结论与未验证事项分开存放，环境变化后仍可接手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9 迭代与维护&lt;/Text&gt;&#10;        &lt;Text style={{ fontSize: 14, color: '#546779' }}&gt;0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本节地图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09600" y="1962150"/>
            <a:ext cx="34290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把一句笼统的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再优化一下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，拆成可核对的问题、可界定的修改范围和一个可交接的下一轮。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609600" y="2762250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762125" y="291465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一句模糊的反馈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2276475" y="34480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609600" y="3867150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762125" y="401955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问题单与变更层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2276475" y="45529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609600" y="4972050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762125" y="512445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可交接的下一轮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4343400" y="1495425"/>
            <a:ext cx="72390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9" name=""/>
          <p:cNvSpPr/>
          <p:nvPr/>
        </p:nvSpPr>
        <p:spPr>
          <a:xfrm rot="0" flipH="0" flipV="0">
            <a:off x="4533900" y="17716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657725" y="18764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5162550" y="1743075"/>
            <a:ext cx="622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先写问题，再写修改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5162550" y="2009775"/>
            <a:ext cx="6229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现象、位置、证据、解释、修改建议、验收条件，六项写全才叫问题单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4343400" y="2638425"/>
            <a:ext cx="72390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4" name=""/>
          <p:cNvSpPr/>
          <p:nvPr/>
        </p:nvSpPr>
        <p:spPr>
          <a:xfrm rot="0" flipH="0" flipV="0">
            <a:off x="4533900" y="29146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657725" y="30194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162550" y="2886075"/>
            <a:ext cx="622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不同变更，需要不同的验证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162550" y="3152775"/>
            <a:ext cx="6229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先选修改层，再决定是只复查文档，还是必须做新实验、留新证据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4343400" y="3781425"/>
            <a:ext cx="72390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9" name=""/>
          <p:cNvSpPr/>
          <p:nvPr/>
        </p:nvSpPr>
        <p:spPr>
          <a:xfrm rot="0" flipH="0" flipV="0">
            <a:off x="4533900" y="40576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4657725" y="41624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5162550" y="4029075"/>
            <a:ext cx="622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选对副本，写清身份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5162550" y="4295775"/>
            <a:ext cx="6229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公共资源与实验各自保存内容；续跑、重跑、改后再做是三种不同身份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4343400" y="4924425"/>
            <a:ext cx="72390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4" name=""/>
          <p:cNvSpPr/>
          <p:nvPr/>
        </p:nvSpPr>
        <p:spPr>
          <a:xfrm rot="0" flipH="0" flipV="0">
            <a:off x="4533900" y="52006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4657725" y="53054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5162550" y="5172075"/>
            <a:ext cx="622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维护说明与历史事实分别保存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5162550" y="5438775"/>
            <a:ext cx="6229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当前建议、历史结论与未验证事项分开存放，环境变化后仍可接手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27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99" name="" descr="&lt;Slide notes={`修改之前，先把现象写成别人能查的问题。假设未来观察到孟川 H3 最终没有完成 B 窗口咨询，这个结果本身只说明有一项需求没有达到事前判据。&#10;&#10;它背后可能是三件不同的事：他没有补充私人目的；咨询台没有使用真实补充；或者建议本身正确，但路径、回复、确认中的某一环没有走完。&#10;&#10;仅凭一个失败结果，不能直接决定给所有角色增加完整任务答案。那等于用一次观察换一条规则，既没有定位到原因，也没有可检验的验收条件。&#10;&#10;把现象、位置、证据、解释、修改建议和验收条件写在同一个地方，接手的人才有继续往下的入口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9　迭代与维护&lt;/Text&gt;&#10;            &lt;Text style={{ fontSize: 34, fontWeight: 'bold', color: '#20344B' }}&gt;知识块 ①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①&lt;/Text&gt;&#10;&#10;        &lt;Text style={{ fontSize: 56, fontWeight: 'bold', color: '#20344B', lineHeight: 1.15 }}&gt;先写问题，再写修改&lt;/Text&gt;&#10;&#10;        &lt;Box style={{ width: 72, height: 4, background: '#276FBF' }} /&gt;&#10;&#10;        &lt;Text style={{ fontSize: 18, color: '#546779', lineHeight: 1.7, width: 900 }}&gt;一个失败结果说明不了要改什么。先把观察到的事实写成可交接的问题，再决定动哪里。&lt;/Text&gt;&#10;&#10;        &lt;Box style={{ flexDirection: 'row', alignItems: 'center', marginTop: 10 }}&gt;&#10;            &lt;Box style={{ width: 300, height: 64, background: '#F4F7FA', borderRadius: 8, justifyContent: 'center', alignItems: 'center' }}&gt;&#10;                &lt;Text style={{ fontSize: 18, color: '#20344B' }}&gt;一个失败结果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六个字段的问题单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一项有限修改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9 迭代与维护&lt;/Text&gt;&#10;        &lt;Text style={{ fontSize: 14, color: '#546779' }}&gt;03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迭代与维护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①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609600" y="190500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先写问题，再写修改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609600" y="40957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一个失败结果说明不了要改什么。先把观察到的事实写成可交接的问题，再决定动哪里。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6096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1524000" y="51244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一个失败结果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36385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38862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4629150" y="51244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六个字段的问题单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69151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71628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8077200" y="51244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一项有限修改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618" name="" descr="&lt;Slide notes={`假设有一天我们看到孟川 H3 最终没有完成 B 窗口咨询。这个观察很具体，但它只告诉我们一件事：有一项需求没有达到事前判据。&#10;&#10;它不能告诉我们原因。至少有三种情形会走到同一个结果。第一，来访者本人没有补充私人目的，请求里缺了这项信息。第二，补充真实存在，但咨询台没有使用，仍旧凭印象猜成预约使用。第三，建议本身正确，路径、回复、确认这三个执行环节里的某一个没有走完。&#10;&#10;这三条的修复方向完全不同：补提示、改检索、查执行。所以这时候正确的话不是&quot;把提示词再优化一下&quot;，而是先把可能性分开列出，各配一份证据去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9.1　先写问题，再写修改&lt;/Text&gt;&#10;            &lt;Text style={{ fontSize: 34, fontWeight: 'bold', color: '#20344B' }}&gt;一个失败结果说明不了改什么&lt;/Text&gt;&#10;        &lt;/Box&gt;&#10;    &lt;/Box&gt;&#10;&#10;    &lt;Box style={{ height: 540, flexDirection: 'column', justifyContent: 'center', gap: 16 }}&gt;&#10;&#10;        &lt;Box style={{ width: 1152, height: 76, background: '#FFF4E6', borderRadius: 10, padding: '0 22px', flexDirection: 'row', alignItems: 'center', gap: 16 }}&gt;&#10;            &lt;Box style={{ width: 4, height: 40, background: '#CB6B28' }} /&gt;&#10;            &lt;Box style={{ flexDirection: 'column', gap: 4 }}&gt;&#10;                &lt;Text style={{ fontSize: 14, color: '#546779' }}&gt;观察到的现象&lt;/Text&gt;&#10;                &lt;Text style={{ fontSize: 19, fontWeight: 'bold', color: '#CB6B28' }}&gt;孟川 H3 最终没有完成 B 窗口咨询&lt;/Text&gt;&#10;            &lt;/Box&gt;&#10;            &lt;Box style={{ flex: 1 }} /&gt;&#10;            &lt;Text style={{ fontSize: 15, color: '#546779', width: 420, lineHeight: 1.45 }}&gt;这只说明：有一项需求没有达到事前判据。&lt;/Text&gt;&#10;        &lt;/Box&gt;&#10;&#10;        &lt;Box style={{ width: 1152, height: 34, justifyContent: 'center', alignItems: 'center' }}&gt;&#10;            &lt;Text style={{ fontSize: 22, color: '#276FBF' }}&gt;↓&lt;/Text&gt;&#10;        &lt;/Box&gt;&#10;&#10;        &lt;Box style={{ width: 1152, flexDirection: 'row', gap: 24 }}&gt;&#10;&#10;            &lt;Box style={{ width: 368, height: 208, background: '#EDF4FC', borderRadius: 10, padding: '18px 20px', flexDirection: 'column', gap: 8 }}&gt;&#10;                &lt;Text style={{ fontSize: 14, color: '#546779' }}&gt;可能原因 一&lt;/Text&gt;&#10;                &lt;Text style={{ fontSize: 21, fontWeight: 'bold', color: '#276FBF' }}&gt;补充环节&lt;/Text&gt;&#10;                &lt;Text style={{ fontSize: 15, color: '#546779', lineHeight: 1.55 }}&gt;他没有补充私人目的，请求里本来就缺这项信息。&lt;/Text&gt;&#10;                &lt;Box style={{ flex: 1 }} /&gt;&#10;                &lt;Text style={{ fontSize: 13, color: '#546779' }}&gt;要查：请求里有没有&lt;/Text&gt;&#10;            &lt;/Box&gt;&#10;&#10;            &lt;Box style={{ width: 368, height: 208, background: '#ECF7F2', borderRadius: 10, padding: '18px 20px', flexDirection: 'column', gap: 8 }}&gt;&#10;                &lt;Text style={{ fontSize: 14, color: '#546779' }}&gt;可能原因 二&lt;/Text&gt;&#10;                &lt;Text style={{ fontSize: 21, fontWeight: 'bold', color: '#26816B' }}&gt;使用环节&lt;/Text&gt;&#10;                &lt;Text style={{ fontSize: 15, color: '#546779', lineHeight: 1.55 }}&gt;补充真实存在，咨询台却没有使用，仍旧猜成预约使用。&lt;/Text&gt;&#10;                &lt;Box style={{ flex: 1 }} /&gt;&#10;                &lt;Text style={{ fontSize: 13, color: '#546779' }}&gt;要查：后续请求是否带来新事实&lt;/Text&gt;&#10;            &lt;/Box&gt;&#10;&#10;            &lt;Box style={{ width: 368, height: 208, background: '#FFF4E6', borderRadius: 10, padding: '18px 20px', flexDirection: 'column', gap: 8 }}&gt;&#10;                &lt;Text style={{ fontSize: 14, color: '#546779' }}&gt;可能原因 三&lt;/Text&gt;&#10;                &lt;Text style={{ fontSize: 21, fontWeight: 'bold', color: '#CB6B28' }}&gt;执行环节&lt;/Text&gt;&#10;                &lt;Text style={{ fontSize: 15, color: '#546779', lineHeight: 1.55 }}&gt;建议正确，但路径、回复、确认中的某一环没有走完。&lt;/Text&gt;&#10;                &lt;Box style={{ flex: 1 }} /&gt;&#10;                &lt;Text style={{ fontSize: 13, color: '#546779' }}&gt;要查：对象是否检索了自己的记忆&lt;/Text&gt;&#10;            &lt;/Box&gt;&#10;&#10;        &lt;/Box&gt;&#10;&#10;        &lt;Box style={{ width: 1152, height: 72, background: '#F4F7FA', borderRadius: 10, padding: '0 22px', flexDirection: 'row', alignItems: 'center', gap: 16 }}&gt;&#10;            &lt;Box style={{ width: 4, height: 40, background: '#CB6B28' }} /&gt;&#10;            &lt;Text style={{ fontSize: 17, color: '#20344B', lineHeight: 1.5 }}&gt;仅凭一个失败结果，不能直接决定给所有角色增加完整任务答案；那既没有定位，也没有验收条件。&lt;/Text&gt;&#10;        &lt;/Box&gt;&#10;&#10;    &lt;/Box&gt;&#10;&#10;    &lt;Box style={{ height: 40, flexDirection: 'row', justifyContent: 'space-between', alignItems: 'center' }}&gt;&#10;        &lt;Text style={{ fontSize: 14, color: '#546779' }}&gt;5.9 迭代与维护&lt;/Text&gt;&#10;        &lt;Text style={{ fontSize: 14, color: '#546779' }}&gt;0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先写问题，再写修改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一个失败结果说明不了改什么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609600" y="162877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24" name=""/>
          <p:cNvSpPr/>
          <p:nvPr/>
        </p:nvSpPr>
        <p:spPr>
          <a:xfrm rot="0" flipH="0" flipV="0">
            <a:off x="819150" y="180022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1009650" y="1781175"/>
            <a:ext cx="2771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观察到的现象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1009650" y="1981200"/>
            <a:ext cx="2771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孟川</a:t>
            </a:r>
            <a:r>
              <a:rPr lang="en-US" sz="14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H3 </a:t>
            </a: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最终没有完成</a:t>
            </a:r>
            <a:r>
              <a:rPr lang="en-US" sz="14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窗口咨询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7372350" y="1866900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这只说明：有一项需求没有达到事前判据。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6048375" y="25431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29" name=""/>
          <p:cNvSpPr/>
          <p:nvPr/>
        </p:nvSpPr>
        <p:spPr>
          <a:xfrm rot="0" flipH="0" flipV="0">
            <a:off x="609600" y="2981325"/>
            <a:ext cx="3505200" cy="1981200"/>
          </a:xfrm>
          <a:prstGeom prst="roundRect">
            <a:avLst>
              <a:gd name="adj" fmla="val 480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800100" y="3152775"/>
            <a:ext cx="312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可能原因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800100" y="3390900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76FBF"/>
                </a:solidFill>
                <a:latin typeface="Microsoft YaHei"/>
                <a:ea typeface="Microsoft YaHei"/>
              </a:rPr>
              <a:t>补充环节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800100" y="3714750"/>
            <a:ext cx="31242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他没有补充私人目的，请求里本来就缺这项信息。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800100" y="4638675"/>
            <a:ext cx="312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要查：请求里有没有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4343400" y="2981325"/>
            <a:ext cx="3505200" cy="1981200"/>
          </a:xfrm>
          <a:prstGeom prst="roundRect">
            <a:avLst>
              <a:gd name="adj" fmla="val 480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4533900" y="3152775"/>
            <a:ext cx="312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可能原因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4533900" y="3390900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6816B"/>
                </a:solidFill>
                <a:latin typeface="Microsoft YaHei"/>
                <a:ea typeface="Microsoft YaHei"/>
              </a:rPr>
              <a:t>使用环节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4533900" y="3714750"/>
            <a:ext cx="31242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补充真实存在，咨询台却没有使用，仍旧猜成预约使用。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4533900" y="4638675"/>
            <a:ext cx="312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要查：后续请求是否带来新事实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8077200" y="2981325"/>
            <a:ext cx="3505200" cy="1981200"/>
          </a:xfrm>
          <a:prstGeom prst="roundRect">
            <a:avLst>
              <a:gd name="adj" fmla="val 480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8267700" y="3152775"/>
            <a:ext cx="312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可能原因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8267700" y="3390900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CB6B28"/>
                </a:solidFill>
                <a:latin typeface="Microsoft YaHei"/>
                <a:ea typeface="Microsoft YaHei"/>
              </a:rPr>
              <a:t>执行环节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8267700" y="3714750"/>
            <a:ext cx="31242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建议正确，但路径、回复、确认中的某一环没有走完。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8267700" y="4638675"/>
            <a:ext cx="312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要查：对象是否检索了自己的记忆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609600" y="511492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5" name=""/>
          <p:cNvSpPr/>
          <p:nvPr/>
        </p:nvSpPr>
        <p:spPr>
          <a:xfrm rot="0" flipH="0" flipV="0">
            <a:off x="819150" y="526732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1009650" y="5314950"/>
            <a:ext cx="71247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仅凭一个失败结果，不能直接决定给所有角色增加完整任务答案；那既没有定位，也没有验收条件。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27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49" name="" descr="&lt;Slide notes={`一张可交接的问题单要回答六个字段。&#10;&#10;现象，写明哪项需求没有达到哪个事前判据，不要写&quot;效果不好&quot;。&#10;位置，落到实际的实验、Run、Attempt、Step，以及相关的人物与对象。&#10;证据，写出请求、回复、记忆、路径或页面记录的具体出处。&#10;解释，把已经证实的原因和仍待排查的假设分开写。&#10;修改建议，说清准备改变什么，以及为什么针对这个原因。&#10;验收条件，说明下一次应该看见哪些事实，怎样才算仍然没解决。&#10;&#10;只写&quot;咨询台好像忘了&quot;，原因还是未知，接手的人只能把整个过程重走一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9.1　先写问题，再写修改&lt;/Text&gt;&#10;            &lt;Text style={{ fontSize: 34, fontWeight: 'bold', color: '#20344B' }}&gt;一张可交接的问题单&lt;/Text&gt;&#10;        &lt;/Box&gt;&#10;    &lt;/Box&gt;&#10;&#10;    &lt;Box style={{ height: 540, flexDirection: 'row', alignItems: 'center', gap: 32 }}&gt;&#10;&#10;        &lt;Box style={{ width: 440, flexDirection: 'column', gap: 16 }}&gt;&#10;            &lt;Text style={{ fontSize: 22, fontWeight: 'bold', color: '#20344B' }}&gt;问题单要回答的六件事&lt;/Text&gt;&#10;            &lt;Box style={{ width: 64, height: 4, background: '#276FBF' }} /&gt;&#10;            &lt;Text style={{ fontSize: 16, color: '#546779', lineHeight: 1.7 }}&gt;问题单不是抱怨，也不是承诺。它把现象、位置、证据、解释、建议和验收条件写在一处，别人拿到就能接着往下查。&lt;/Text&gt;&#10;            &lt;Box style={{ width: 440, height: 116, background: '#FFF4E6', borderRadius: 10, padding: '16px 20px', flexDirection: 'column', gap: 6, justifyContent: 'center' }}&gt;&#10;                &lt;Text style={{ fontSize: 17, fontWeight: 'bold', color: '#CB6B28' }}&gt;猜测不等于原因&lt;/Text&gt;&#10;                &lt;Text style={{ fontSize: 14, color: '#546779', lineHeight: 1.5 }}&gt;&quot;咨询台好像忘了&quot;只是一个人的印象。没有出处，就没有下一步。&lt;/Text&gt;&#10;            &lt;/Box&gt;&#10;            &lt;Box style={{ width: 440, height: 108, background: '#F4F7FA', borderRadius: 10, padding: '16px 20px', flexDirection: 'column', gap: 6, justifyContent: 'center' }}&gt;&#10;                &lt;Text style={{ fontSize: 17, fontWeight: 'bold', color: '#20344B' }}&gt;问题单也允许空着&lt;/Text&gt;&#10;                &lt;Text style={{ fontSize: 14, color: '#546779', lineHeight: 1.5 }}&gt;未证实的部分保持开放，比写成&quot;已修复&quot;更便于别人接手。&lt;/Text&gt;&#10;            &lt;/Box&gt;&#10;        &lt;/Box&gt;&#10;&#10;        &lt;Box style={{ width: 680, flexDirection: 'column', gap: 10 }}&gt;&#10;&#10;            &lt;Box style={{ width: 680, height: 36, background: '#F4F7FA', borderRadius: 8, padding: '0 18px', flexDirection: 'row', alignItems: 'center', gap: 14 }}&gt;&#10;                &lt;Box style={{ width: 108 }} /&gt;&#10;                &lt;Text style={{ fontSize: 14, color: '#546779' }}&gt;应记录的内容&lt;/Text&gt;&#10;            &lt;/Box&gt;&#10;&#10;            &lt;Box style={{ width: 680, height: 72, background: '#FFFFFF', borderRadius: 8, padding: '0 18px', flexDirection: 'row', alignItems: 'center', gap: 14 }}&gt;&#10;                &lt;Box style={{ width: 4, height: 40, background: '#276FBF' }} /&gt;&#10;                &lt;Text style={{ fontSize: 17, fontWeight: 'bold', color: '#20344B', width: 108 }}&gt;现象&lt;/Text&gt;&#10;                &lt;Text style={{ fontSize: 15, color: '#546779', width: 502 }}&gt;哪项需求没有达到哪个事前判据&lt;/Text&gt;&#10;            &lt;/Box&gt;&#10;&#10;            &lt;Box style={{ width: 680, height: 72, background: '#FFFFFF', borderRadius: 8, padding: '0 18px', flexDirection: 'row', alignItems: 'center', gap: 14 }}&gt;&#10;                &lt;Box style={{ width: 4, height: 40, background: '#276FBF' }} /&gt;&#10;                &lt;Text style={{ fontSize: 17, fontWeight: 'bold', color: '#20344B', width: 108 }}&gt;位置&lt;/Text&gt;&#10;                &lt;Text style={{ fontSize: 15, color: '#546779', width: 502 }}&gt;实际实验、Run、Attempt、Step 及相关人物／对象&lt;/Text&gt;&#10;            &lt;/Box&gt;&#10;&#10;            &lt;Box style={{ width: 680, height: 72, background: '#FFFFFF', borderRadius: 8, padding: '0 18px', flexDirection: 'row', alignItems: 'center', gap: 14 }}&gt;&#10;                &lt;Box style={{ width: 4, height: 40, background: '#276FBF' }} /&gt;&#10;                &lt;Text style={{ fontSize: 17, fontWeight: 'bold', color: '#20344B', width: 108 }}&gt;证据&lt;/Text&gt;&#10;                &lt;Text style={{ fontSize: 15, color: '#546779', width: 502 }}&gt;请求、回复、记忆、路径或页面记录的具体出处&lt;/Text&gt;&#10;            &lt;/Box&gt;&#10;&#10;            &lt;Box style={{ width: 680, height: 72, background: '#FFFFFF', borderRadius: 8, padding: '0 18px', flexDirection: 'row', alignItems: 'center', gap: 14 }}&gt;&#10;                &lt;Box style={{ width: 4, height: 40, background: '#26816B' }} /&gt;&#10;                &lt;Text style={{ fontSize: 17, fontWeight: 'bold', color: '#20344B', width: 108 }}&gt;解释&lt;/Text&gt;&#10;                &lt;Text style={{ fontSize: 15, color: '#546779', width: 502 }}&gt;已证实原因、仍待排查的假设分别是什么&lt;/Text&gt;&#10;            &lt;/Box&gt;&#10;&#10;            &lt;Box style={{ width: 680, height: 72, background: '#FFFFFF', borderRadius: 8, padding: '0 18px', flexDirection: 'row', alignItems: 'center', gap: 14 }}&gt;&#10;                &lt;Box style={{ width: 4, height: 40, background: '#26816B' }} /&gt;&#10;                &lt;Text style={{ fontSize: 17, fontWeight: 'bold', color: '#20344B', width: 108 }}&gt;修改建议&lt;/Text&gt;&#10;                &lt;Text style={{ fontSize: 15, color: '#546779', width: 502 }}&gt;准备改变什么，为什么针对这个原因&lt;/Text&gt;&#10;            &lt;/Box&gt;&#10;&#10;            &lt;Box style={{ width: 680, height: 72, background: '#FFFFFF', borderRadius: 8, padding: '0 18px', flexDirection: 'row', alignItems: 'center', gap: 14 }}&gt;&#10;                &lt;Box style={{ width: 4, height: 40, background: '#CB6B28' }} /&gt;&#10;                &lt;Text style={{ fontSize: 17, fontWeight: 'bold', color: '#CB6B28', width: 108 }}&gt;验收条件&lt;/Text&gt;&#10;                &lt;Text style={{ fontSize: 15, color: '#546779', width: 502 }}&gt;下一次应看见哪些事实，怎样判断仍未解决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9 迭代与维护&lt;/Text&gt;&#10;        &lt;Text style={{ fontSize: 14, color: '#546779' }}&gt;05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先写问题，再写修改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一张可交接的问题单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609600" y="1885950"/>
            <a:ext cx="4191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问题单要回答的六件事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609600" y="2295525"/>
            <a:ext cx="6096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609600" y="2486025"/>
            <a:ext cx="4191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问题单不是抱怨，也不是承诺。它把现象、位置、证据、解释、建议和验收条件写在一处，别人拿到就能接着往下查。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609600" y="3267075"/>
            <a:ext cx="4191000" cy="1104900"/>
          </a:xfrm>
          <a:prstGeom prst="roundRect">
            <a:avLst>
              <a:gd name="adj" fmla="val 86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800100" y="3448050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猜测不等于原因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800100" y="3705225"/>
            <a:ext cx="3810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咨询台好像忘了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只是一个人的印象。没有出处，就没有下一步。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609600" y="4524375"/>
            <a:ext cx="41910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800100" y="4791075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问题单也允许空着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800100" y="5048250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未证实的部分保持开放，比写成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已修复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更便于别人接手。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5105400" y="1200150"/>
            <a:ext cx="6477000" cy="342900"/>
          </a:xfrm>
          <a:prstGeom prst="roundRect">
            <a:avLst>
              <a:gd name="adj" fmla="val 2222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6438900" y="12954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应记录的内容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5105400" y="1638300"/>
            <a:ext cx="64770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6" name=""/>
          <p:cNvSpPr/>
          <p:nvPr/>
        </p:nvSpPr>
        <p:spPr>
          <a:xfrm rot="0" flipH="0" flipV="0">
            <a:off x="5276850" y="179070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5448300" y="1885950"/>
            <a:ext cx="1028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现象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6610350" y="1895475"/>
            <a:ext cx="4781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哪项需求没有达到哪个事前判据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5105400" y="2419350"/>
            <a:ext cx="64770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0" name=""/>
          <p:cNvSpPr/>
          <p:nvPr/>
        </p:nvSpPr>
        <p:spPr>
          <a:xfrm rot="0" flipH="0" flipV="0">
            <a:off x="5276850" y="25717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5448300" y="2667000"/>
            <a:ext cx="1028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位置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6610350" y="2676525"/>
            <a:ext cx="4781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实际实验、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Run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Attempt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Step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及相关人物／对象</a:t>
            </a:r>
            <a:endParaRPr/>
          </a:p>
        </p:txBody>
      </p:sp>
      <p:sp>
        <p:nvSpPr>
          <p:cNvPr id="673" name=""/>
          <p:cNvSpPr/>
          <p:nvPr/>
        </p:nvSpPr>
        <p:spPr>
          <a:xfrm rot="0" flipH="0" flipV="0">
            <a:off x="5105400" y="3200400"/>
            <a:ext cx="64770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4" name=""/>
          <p:cNvSpPr/>
          <p:nvPr/>
        </p:nvSpPr>
        <p:spPr>
          <a:xfrm rot="0" flipH="0" flipV="0">
            <a:off x="5276850" y="335280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5448300" y="3448050"/>
            <a:ext cx="1028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证据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6610350" y="3457575"/>
            <a:ext cx="4781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请求、回复、记忆、路径或页面记录的具体出处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5105400" y="3981450"/>
            <a:ext cx="64770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8" name=""/>
          <p:cNvSpPr/>
          <p:nvPr/>
        </p:nvSpPr>
        <p:spPr>
          <a:xfrm rot="0" flipH="0" flipV="0">
            <a:off x="5276850" y="4133850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5448300" y="4229100"/>
            <a:ext cx="1028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解释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6610350" y="4238625"/>
            <a:ext cx="4781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已证实原因、仍待排查的假设分别是什么</a:t>
            </a:r>
            <a:endParaRPr/>
          </a:p>
        </p:txBody>
      </p:sp>
      <p:sp>
        <p:nvSpPr>
          <p:cNvPr id="681" name=""/>
          <p:cNvSpPr/>
          <p:nvPr/>
        </p:nvSpPr>
        <p:spPr>
          <a:xfrm rot="0" flipH="0" flipV="0">
            <a:off x="5105400" y="4762500"/>
            <a:ext cx="64770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2" name=""/>
          <p:cNvSpPr/>
          <p:nvPr/>
        </p:nvSpPr>
        <p:spPr>
          <a:xfrm rot="0" flipH="0" flipV="0">
            <a:off x="5276850" y="4914900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5448300" y="5010150"/>
            <a:ext cx="1028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修改建议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6610350" y="5019675"/>
            <a:ext cx="4781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准备改变什么，为什么针对这个原因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5105400" y="5543550"/>
            <a:ext cx="64770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6" name=""/>
          <p:cNvSpPr/>
          <p:nvPr/>
        </p:nvSpPr>
        <p:spPr>
          <a:xfrm rot="0" flipH="0" flipV="0">
            <a:off x="5276850" y="569595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5448300" y="5791200"/>
            <a:ext cx="1028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验收条件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6610350" y="5800725"/>
            <a:ext cx="4781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下一次应看见哪些事实，怎样判断仍未解决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27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91" name="" descr="&lt;Slide notes={`如果手上只有&quot;咨询台好像忘了&quot;这句话，原因仍然未知。要把它查成事实，至少要问三个问题。&#10;&#10;第一，补充是否真正投递过：来访者的请求里到底有没有出现那项私人目的。&#10;第二，后续请求有没有带来新事实：如果补充晚了一轮才到，咨询台在当时确实无从使用。&#10;第三，对象有没有检索自己的记忆：系统里存过什么，不等于判断的时候用过什么。&#10;&#10;三条分别查完，才谈得上修改建议。建议本身也可以是暂不改动、先补齐缺失的证据。在没有依据时把问题保持开放，比写成&quot;已修复&quot;更负责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9.1　先写问题，再写修改&lt;/Text&gt;&#10;            &lt;Text style={{ fontSize: 34, fontWeight: 'bold', color: '#20344B' }}&gt;原因未知时，把问题保持开放&lt;/Text&gt;&#10;        &lt;/Box&gt;&#10;    &lt;/Box&gt;&#10;&#10;    &lt;Box style={{ height: 540, flexDirection: 'row', alignItems: 'center', gap: 32 }}&gt;&#10;&#10;        &lt;Box style={{ width: 660, flexDirection: 'column', gap: 14 }}&gt;&#10;            &lt;Text style={{ fontSize: 22, fontWeight: 'bold', color: '#20344B' }}&gt;把猜测查成事实的三条路&lt;/Text&gt;&#10;            &lt;Box style={{ width: 64, height: 4, background: '#276FBF' }} /&gt;&#10;            &lt;Text style={{ fontSize: 16, color: '#546779', lineHeight: 1.7 }}&gt;&quot;咨询台好像忘了&quot;不是原因，是一个待验证的假设。它要拆成三条可以分别查证的问题。&lt;/Text&gt;&#10;&#10;            &lt;Box style={{ width: 660, height: 88, background: '#EDF4FC', borderRadius: 10, padding: '0 20px', flexDirection: 'row', alignItems: 'center', gap: 16, marginTop: 6 }}&gt;&#10;                &lt;Box style={{ width: 36, height: 36, borderRadius: 8, background: '#276FBF', justifyContent: 'center', alignItems: 'center' }}&gt;&#10;                    &lt;Text style={{ fontSize: 17, fontWeight: 'bold', color: '#FFFFFF' }}&gt;1&lt;/Text&gt;&#10;                &lt;/Box&gt;&#10;                &lt;Box style={{ flexDirection: 'column', gap: 4, width: 566 }}&gt;&#10;                    &lt;Text style={{ fontSize: 18, fontWeight: 'bold', color: '#276FBF' }}&gt;补充是否真正投递&lt;/Text&gt;&#10;                    &lt;Text style={{ fontSize: 14, color: '#546779' }}&gt;来访者的请求里到底有没有出现那项私人目的&lt;/Text&gt;&#10;                &lt;/Box&gt;&#10;            &lt;/Box&gt;&#10;&#10;            &lt;Box style={{ width: 660, height: 88, background: '#EDF4FC', borderRadius: 10, padding: '0 20px', flexDirection: 'row', alignItems: 'center', gap: 16 }}&gt;&#10;                &lt;Box style={{ width: 36, height: 36, borderRadius: 8, background: '#276FBF', justifyContent: 'center', alignItems: 'center' }}&gt;&#10;                    &lt;Text style={{ fontSize: 17, fontWeight: 'bold', color: '#FFFFFF' }}&gt;2&lt;/Text&gt;&#10;                &lt;/Box&gt;&#10;                &lt;Box style={{ flexDirection: 'column', gap: 4, width: 566 }}&gt;&#10;                    &lt;Text style={{ fontSize: 18, fontWeight: 'bold', color: '#276FBF' }}&gt;后续请求是否带来新事实&lt;/Text&gt;&#10;                    &lt;Text style={{ fontSize: 14, color: '#546779' }}&gt;补充晚了一轮才到，当时确实无从使用&lt;/Text&gt;&#10;                &lt;/Box&gt;&#10;            &lt;/Box&gt;&#10;&#10;            &lt;Box style={{ width: 660, height: 88, background: '#EDF4FC', borderRadius: 10, padding: '0 20px', flexDirection: 'row', alignItems: 'center', gap: 16 }}&gt;&#10;                &lt;Box style={{ width: 36, height: 36, borderRadius: 8, background: '#276FBF', justifyContent: 'center', alignItems: 'center' }}&gt;&#10;                    &lt;Text style={{ fontSize: 17, fontWeight: 'bold', color: '#FFFFFF' }}&gt;3&lt;/Text&gt;&#10;                &lt;/Box&gt;&#10;                &lt;Box style={{ flexDirection: 'column', gap: 4, width: 566 }}&gt;&#10;                    &lt;Text style={{ fontSize: 18, fontWeight: 'bold', color: '#276FBF' }}&gt;对象是否检索了自己的记忆&lt;/Text&gt;&#10;                    &lt;Text style={{ fontSize: 14, color: '#546779' }}&gt;系统里存过什么，不等于判断时用过什么&lt;/Text&gt;&#10;                &lt;/Box&gt;&#10;            &lt;/Box&gt;&#10;        &lt;/Box&gt;&#10;&#10;        &lt;Box style={{ width: 460, flexDirection: 'column', gap: 16 }}&gt;&#10;            &lt;Box style={{ width: 460, height: 232, background: '#FFF4E6', borderRadius: 10, padding: '20px 22px', flexDirection: 'column', gap: 10, justifyContent: 'center' }}&gt;&#10;                &lt;Text style={{ fontSize: 19, fontWeight: 'bold', color: '#CB6B28' }}&gt;暂不改动也是建议&lt;/Text&gt;&#10;                &lt;Text style={{ fontSize: 15, color: '#546779', lineHeight: 1.6 }}&gt;问题单里的修改建议，可以写&quot;先补齐缺失的证据&quot;。没有依据时保持问题开放，比把猜测写成已修复更便于别人接手。&lt;/Text&gt;&#10;            &lt;/Box&gt;&#10;            &lt;Box style={{ width: 460, height: 156, background: '#F4F7FA', borderRadius: 10, padding: '20px 22px', flexDirection: 'column', gap: 10, justifyContent: 'center' }}&gt;&#10;                &lt;Text style={{ fontSize: 19, fontWeight: 'bold', color: '#20344B' }}&gt;一个现象，可能几张单子&lt;/Text&gt;&#10;                &lt;Text style={{ fontSize: 15, color: '#546779', lineHeight: 1.6 }}&gt;三条路查出来的结论不同，就不该合并成一条修改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9 迭代与维护&lt;/Text&gt;&#10;        &lt;Text style={{ fontSize: 14, color: '#546779' }}&gt;0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先写问题，再写修改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原因未知时，把问题保持开放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609600" y="1790700"/>
            <a:ext cx="628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把猜测查成事实的三条路</a:t>
            </a:r>
            <a:endParaRPr/>
          </a:p>
        </p:txBody>
      </p:sp>
      <p:sp>
        <p:nvSpPr>
          <p:cNvPr id="697" name=""/>
          <p:cNvSpPr/>
          <p:nvPr/>
        </p:nvSpPr>
        <p:spPr>
          <a:xfrm rot="0" flipH="0" flipV="0">
            <a:off x="609600" y="2181225"/>
            <a:ext cx="6096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609600" y="2352675"/>
            <a:ext cx="62865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咨询台好像忘了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不是原因，是一个待验证的假设。它要拆成三条可以分别查证的问题。</a:t>
            </a:r>
            <a:endParaRPr/>
          </a:p>
        </p:txBody>
      </p:sp>
      <p:sp>
        <p:nvSpPr>
          <p:cNvPr id="699" name=""/>
          <p:cNvSpPr/>
          <p:nvPr/>
        </p:nvSpPr>
        <p:spPr>
          <a:xfrm rot="0" flipH="0" flipV="0">
            <a:off x="609600" y="2857500"/>
            <a:ext cx="62865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00" name=""/>
          <p:cNvSpPr/>
          <p:nvPr/>
        </p:nvSpPr>
        <p:spPr>
          <a:xfrm rot="0" flipH="0" flipV="0">
            <a:off x="800100" y="31051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923925" y="31813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1295400" y="3076575"/>
            <a:ext cx="5391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补充是否真正投递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1295400" y="3324225"/>
            <a:ext cx="539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来访者的请求里到底有没有出现那项私人目的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609600" y="3829050"/>
            <a:ext cx="62865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05" name=""/>
          <p:cNvSpPr/>
          <p:nvPr/>
        </p:nvSpPr>
        <p:spPr>
          <a:xfrm rot="0" flipH="0" flipV="0">
            <a:off x="800100" y="40767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923925" y="41529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1295400" y="4048125"/>
            <a:ext cx="5391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后续请求是否带来新事实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1295400" y="4295775"/>
            <a:ext cx="539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补充晚了一轮才到，当时确实无从使用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609600" y="4800600"/>
            <a:ext cx="62865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10" name=""/>
          <p:cNvSpPr/>
          <p:nvPr/>
        </p:nvSpPr>
        <p:spPr>
          <a:xfrm rot="0" flipH="0" flipV="0">
            <a:off x="800100" y="50482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923925" y="51244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1295400" y="5019675"/>
            <a:ext cx="5391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对象是否检索了自己的记忆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1295400" y="5267325"/>
            <a:ext cx="539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系统里存过什么，不等于判断时用过什么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7200900" y="1790700"/>
            <a:ext cx="4381500" cy="2209800"/>
          </a:xfrm>
          <a:prstGeom prst="roundRect">
            <a:avLst>
              <a:gd name="adj" fmla="val 431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7410450" y="2466975"/>
            <a:ext cx="3962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暂不改动也是建议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7410450" y="2781300"/>
            <a:ext cx="3962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问题单里的修改建议，可以写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先补齐缺失的证据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。没有依据时保持问题开放，比把猜测写成已修复更便于别人接手。</a:t>
            </a:r>
            <a:endParaRPr/>
          </a:p>
        </p:txBody>
      </p:sp>
      <p:sp>
        <p:nvSpPr>
          <p:cNvPr id="717" name=""/>
          <p:cNvSpPr/>
          <p:nvPr/>
        </p:nvSpPr>
        <p:spPr>
          <a:xfrm rot="0" flipH="0" flipV="0">
            <a:off x="7200900" y="4152900"/>
            <a:ext cx="4381500" cy="1485900"/>
          </a:xfrm>
          <a:prstGeom prst="roundRect">
            <a:avLst>
              <a:gd name="adj" fmla="val 641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7410450" y="4600575"/>
            <a:ext cx="3962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一个现象，可能几张单子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7410450" y="4914900"/>
            <a:ext cx="39624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三条路查出来的结论不同，就不该合并成一条修改。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27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722" name="" descr="&lt;Slide notes={`评阅意见很少会告诉你它改的是哪一层。它可能只是一句&quot;这里的说法不够清楚&quot;，也可能要求改评分口径，甚至可能提到某个操作会让系统重复回复。&#10;&#10;这些意见落在不同的层：说明材料、评分口径、行为输入、空间与人物、模型与环境，还有真实的系统问题。&#10;&#10;先选修改层，再按层确定复查范围，这是维护里最重要的一次判断。改说明可以只复查文档；改行为输入就一定要做新的独立实验；碰到系统问题，要停止相应验收并留证。&#10;&#10;跳过这一步，后面的复查范围就只能靠感觉，做多做少都没有依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9　迭代与维护&lt;/Text&gt;&#10;            &lt;Text style={{ fontSize: 34, fontWeight: 'bold', color: '#20344B' }}&gt;知识块 ②&lt;/Text&gt;&#10;        &lt;/Box&gt;&#10;    &lt;/Box&gt;&#10;&#10;    &lt;Box style={{ height: 540, flexDirection: 'column', justifyContent: 'center', gap: 16 }}&gt;&#10;&#10;        &lt;Text style={{ fontSize: 96, fontWeight: 'bold', color: '#276FBF', lineHeight: 1.0 }}&gt;②&lt;/Text&gt;&#10;&#10;        &lt;Text style={{ fontSize: 56, fontWeight: 'bold', color: '#20344B', lineHeight: 1.15 }}&gt;不同变更，需要不同的验证&lt;/Text&gt;&#10;&#10;        &lt;Box style={{ width: 72, height: 4, background: '#276FBF' }} /&gt;&#10;&#10;        &lt;Text style={{ fontSize: 18, color: '#546779', lineHeight: 1.7, width: 940 }}&gt;维护不只有重跑。先判断修改对象，才能选择验证范围；改说明可以只复查文档，改行为输入必须拿出新的对应证据。&lt;/Text&gt;&#10;&#10;        &lt;Text style={{ fontSize: 15, color: '#546779', marginTop: 8 }}&gt;评阅意见可能改的是——&lt;/Text&gt;&#10;&#10;        &lt;Box style={{ flexDirection: 'row', gap: 12, marginTop: 2 }}&gt;&#10;            &lt;Box style={{ width: 168, height: 64, background: '#EDF4FC', borderRadius: 8, justifyContent: 'center', alignItems: 'center' }}&gt;&#10;                &lt;Text style={{ fontSize: 15, color: '#276FBF' }}&gt;说明材料&lt;/Text&gt;&#10;            &lt;/Box&gt;&#10;            &lt;Box style={{ width: 168, height: 64, background: '#EDF4FC', borderRadius: 8, justifyContent: 'center', alignItems: 'center' }}&gt;&#10;                &lt;Text style={{ fontSize: 15, color: '#276FBF' }}&gt;评分口径&lt;/Text&gt;&#10;            &lt;/Box&gt;&#10;            &lt;Box style={{ width: 168, height: 64, background: '#EDF4FC', borderRadius: 8, justifyContent: 'center', alignItems: 'center' }}&gt;&#10;                &lt;Text style={{ fontSize: 15, color: '#276FBF' }}&gt;行为输入&lt;/Text&gt;&#10;            &lt;/Box&gt;&#10;            &lt;Box style={{ width: 168, height: 64, background: '#ECF7F2', borderRadius: 8, justifyContent: 'center', alignItems: 'center' }}&gt;&#10;                &lt;Text style={{ fontSize: 15, color: '#26816B' }}&gt;空间与人物&lt;/Text&gt;&#10;            &lt;/Box&gt;&#10;            &lt;Box style={{ width: 168, height: 64, background: '#ECF7F2', borderRadius: 8, justifyContent: 'center', alignItems: 'center' }}&gt;&#10;                &lt;Text style={{ fontSize: 15, color: '#26816B' }}&gt;模型与环境&lt;/Text&gt;&#10;            &lt;/Box&gt;&#10;            &lt;Box style={{ width: 168, height: 64, background: '#FFF4E6', borderRadius: 8, justifyContent: 'center', alignItems: 'center' }}&gt;&#10;                &lt;Text style={{ fontSize: 15, color: '#CB6B28' }}&gt;实际系统问题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9 迭代与维护&lt;/Text&gt;&#10;        &lt;Text style={{ fontSize: 14, color: '#546779' }}&gt;07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迭代与维护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②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609600" y="1781175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609600" y="30384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不同变更，需要不同的验证</a:t>
            </a:r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609600" y="39338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609600" y="4124325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维护不只有重跑。先判断修改对象，才能选择验证范围；改说明可以只复查文档，改行为输入必须拿出新的对应证据。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609600" y="47053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评阅意见可能改的是——</a:t>
            </a:r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609600" y="5048250"/>
            <a:ext cx="16002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1123950" y="52673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说明材料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2324100" y="5048250"/>
            <a:ext cx="16002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2838450" y="52673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评分口径</a:t>
            </a:r>
            <a:endParaRPr/>
          </a:p>
        </p:txBody>
      </p:sp>
      <p:sp>
        <p:nvSpPr>
          <p:cNvPr id="736" name=""/>
          <p:cNvSpPr/>
          <p:nvPr/>
        </p:nvSpPr>
        <p:spPr>
          <a:xfrm rot="0" flipH="0" flipV="0">
            <a:off x="4038600" y="5048250"/>
            <a:ext cx="16002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4552950" y="52673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行为输入</a:t>
            </a:r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5753100" y="5048250"/>
            <a:ext cx="16002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6200775" y="52673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空间与人物</a:t>
            </a:r>
            <a:endParaRPr/>
          </a:p>
        </p:txBody>
      </p:sp>
      <p:sp>
        <p:nvSpPr>
          <p:cNvPr id="740" name=""/>
          <p:cNvSpPr/>
          <p:nvPr/>
        </p:nvSpPr>
        <p:spPr>
          <a:xfrm rot="0" flipH="0" flipV="0">
            <a:off x="7467600" y="5048250"/>
            <a:ext cx="16002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7915275" y="52673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模型与环境</a:t>
            </a:r>
            <a:endParaRPr/>
          </a:p>
        </p:txBody>
      </p:sp>
      <p:sp>
        <p:nvSpPr>
          <p:cNvPr id="742" name=""/>
          <p:cNvSpPr/>
          <p:nvPr/>
        </p:nvSpPr>
        <p:spPr>
          <a:xfrm rot="0" flipH="0" flipV="0">
            <a:off x="9182100" y="5048250"/>
            <a:ext cx="16002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9553575" y="52673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实际系统问题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27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746" name="" descr="&lt;Slide notes={`评阅意见落到哪一层，复查范围就跟着到哪一层。&#13;&#10;&#13;&#10;改说明材料，比如修正交付清单里的错别字、补上证据链接，只需要核对引用是否准确、有没有改变原结论的含义。&#13;&#10;改评分口径，例如明确&quot;确认下一步&quot;需要哪些实际内容，要保留原来的评分，同时说明新规则的适用范围和重新评分依据。&#13;&#10;改行为输入，比如咨询台的澄清措辞或记忆处理方法，就必须做新的独立实验，并给出与旧版的精确 Skill 差异。&#13;&#10;移动窗口、改出生点、增大视野，要复查语义、碰撞、导航、知识与比较条件。&#13;&#10;更换模型配置或程序版本，要复查接口、限制、成本与读取兼容。&#13;&#10;碰到回复重复、帧身份不符这类真实系统问题，要停止相应验收，留证并报告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9.2　不同变更需要不同的验证&lt;/Text&gt;&#13;&#10;            &lt;Text style={{ fontSize: 34, fontWeight: 'bold', color: '#20344B' }}&gt;改了什么，决定要复查什么&lt;/Text&gt;&#13;&#10;        &lt;/Box&gt;&#13;&#10;    &lt;/Box&gt;&#13;&#10;&#13;&#10;    &lt;Box style={{ height: 540, flexDirection: 'row', alignItems: 'center', gap: 24 }}&gt;&#13;&#10;&#13;&#10;        &lt;Box style={{ width: 300, height: 472, background: '#F4F7FA', borderRadius: 12, padding: '28px 24px', flexDirection: 'column', justifyContent: 'center', gap: 14 }}&gt;&#13;&#10;            &lt;Text style={{ fontSize: 14, color: '#546779' }}&gt;判断的起点&lt;/Text&gt;&#13;&#10;            &lt;Text style={{ fontSize: 26, fontWeight: 'bold', color: '#20344B', lineHeight: 1.35 }}&gt;评阅意见{'\n'}修改了什么&lt;/Text&gt;&#13;&#10;            &lt;Box style={{ width: 56, height: 4, background: '#276FBF' }} /&gt;&#13;&#10;            &lt;Text style={{ fontSize: 14, color: '#546779', lineHeight: 1.55 }}&gt;先选修改层，再决定复查范围。六类变更的处理方式互不替代。&lt;/Text&gt;&#13;&#10;            &lt;Box style={{ flex: 1 }} /&gt;&#13;&#10;            &lt;Box style={{ width: 252, height: 56, background: '#EDF4FC', borderRadius: 8, justifyContent: 'center', alignItems: 'center' }}&gt;&#13;&#10;                &lt;Text style={{ fontSize: 15, color: '#276FBF' }}&gt;改一层，查一层&lt;/Text&gt;&#13;&#10;            &lt;/Box&gt;&#13;&#10;        &lt;/Box&gt;&#13;&#10;&#13;&#10;        &lt;Box style={{ width: 44, height: 472, justifyContent: 'center', alignItems: 'center' }}&gt;&#13;&#10;            &lt;Text style={{ fontSize: 30, color: '#276FBF' }}&gt;›&lt;/Text&gt;&#13;&#10;        &lt;/Box&gt;&#13;&#10;&#13;&#10;        &lt;Box style={{ width: 760, flexDirection: 'column', justifyContent: 'center', gap: 8 }}&gt;&#13;&#10;&#13;&#10;            &lt;Box style={{ width: 760, height: 72, background: '#EDF4FC', borderRadius: 8, padding: '0 18px', flexDirection: 'row', alignItems: 'center', gap: 14 }}&gt;&#13;&#10;                &lt;Box style={{ width: 4, height: 40, background: '#276FBF' }} /&gt;&#13;&#10;                &lt;Text style={{ fontSize: 17, fontWeight: 'bold', color: '#20344B', width: 116 }}&gt;说明材料&lt;/Text&gt;&#13;&#10;                &lt;Text style={{ fontSize: 15, color: '#546779', width: 570 }}&gt;核对文字、标签和证据链接&lt;/Text&gt;&#13;&#10;            &lt;/Box&gt;&#13;&#10;&#13;&#10;            &lt;Box style={{ width: 760, height: 72, background: '#EDF4FC', borderRadius: 8, padding: '0 18px', flexDirection: 'row', alignItems: 'center', gap: 14 }}&gt;&#13;&#10;                &lt;Box style={{ width: 4, height: 40, background: '#276FBF' }} /&gt;&#13;&#10;                &lt;Text style={{ fontSize: 17, fontWeight: 'bold', color: '#20344B', width: 116 }}&gt;评分口径&lt;/Text&gt;&#13;&#10;                &lt;Text style={{ fontSize: 15, color: '#546779', width: 570 }}&gt;保留原评分，说明复核依据&lt;/Text&gt;&#13;&#10;            &lt;/Box&gt;&#13;&#10;&#13;&#10;            &lt;Box style={{ width: 760, height: 72, background: '#EDF4FC', borderRadius: 8, padding: '0 18px', flexDirection: 'row', alignItems: 'center', gap: 14 }}&gt;&#13;&#10;                &lt;Box style={{ width: 4, height: 40, background: '#276FBF' }} /&gt;&#13;&#10;                &lt;Text style={{ fontSize: 17, fontWeight: 'bold', color: '#20344B', width: 116 }}&gt;行为输入&lt;/Text&gt;&#13;&#10;                &lt;Text style={{ fontSize: 15, color: '#546779', width: 570 }}&gt;新独立实验与精确 Skill 差异&lt;/Text&gt;&#13;&#10;            &lt;/Box&gt;&#13;&#10;&#13;&#10;            &lt;Box style={{ width: 760, height: 72, background: '#ECF7F2', borderRadius: 8, padding: '0 18px', flexDirection: 'row', alignItems: 'center', gap: 14 }}&gt;&#13;&#10;                &lt;Box style={{ width: 4, height: 40, background: '#26816B' }} /&gt;&#13;&#10;                &lt;Text style={{ fontSize: 17, fontWeight: 'bold', color: '#20344B', width: 116 }}&gt;空间与人物&lt;/Text&gt;&#13;&#10;                &lt;Text style={{ fontSize: 15, color: '#546779', width: 570 }}&gt;复查语义、导航与比较条件&lt;/Text&gt;&#13;&#10;            &lt;/Box&gt;&#13;&#10;&#13;&#10;            &lt;Box style={{ width: 760, height: 72, background: '#ECF7F2', borderRadius: 8, padding: '0 18px', flexDirection: 'row', alignItems: 'center', gap: 14 }}&gt;&#13;&#10;                &lt;Box style={{ width: 4, height: 40, background: '#26816B' }} /&gt;&#13;&#10;                &lt;Text style={{ fontSize: 17, fontWeight: 'bold', color: '#20344B', width: 116 }}&gt;模型与环境&lt;/Text&gt;&#13;&#10;                &lt;Text style={{ fontSize: 15, color: '#546779', width: 570 }}&gt;复查接口、限制、成本和执行范围&lt;/Text&gt;&#13;&#10;            &lt;/Box&gt;&#13;&#10;&#13;&#10;            &lt;Box style={{ width: 760, height: 72, background: '#FFF4E6', borderRadius: 8, padding: '0 18px', flexDirection: 'row', alignItems: 'center', gap: 14 }}&gt;&#13;&#10;                &lt;Box style={{ width: 4, height: 40, background: '#CB6B28' }} /&gt;&#13;&#10;                &lt;Text style={{ fontSize: 17, fontWeight: 'bold', color: '#CB6B28', width: 116 }}&gt;实际系统问题&lt;/Text&gt;&#13;&#10;                &lt;Text style={{ fontSize: 15, color: '#546779', width: 570 }}&gt;留证、停止相应验收并报告&lt;/Text&gt;&#13;&#10;            &lt;/Box&gt;&#13;&#10;&#13;&#10;        &lt;/Box&gt;&#13;&#10;&#13;&#10;    &lt;/Box&gt;&#13;&#10;&#13;&#10;    &lt;Box style={{ height: 40, flexDirection: 'row', justifyContent: 'space-between', alignItems: 'center' }}&gt;&#13;&#10;        &lt;Text style={{ fontSize: 14, color: '#546779' }}&gt;5.9 迭代与维护&lt;/Text&gt;&#13;&#10;        &lt;Text style={{ fontSize: 14, color: '#546779' }}&gt;08 / 27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不同变更需要不同的验证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改了什么，决定要复查什么</a:t>
            </a:r>
            <a:endParaRPr/>
          </a:p>
        </p:txBody>
      </p:sp>
      <p:sp>
        <p:nvSpPr>
          <p:cNvPr id="751" name=""/>
          <p:cNvSpPr/>
          <p:nvPr/>
        </p:nvSpPr>
        <p:spPr>
          <a:xfrm rot="0" flipH="0" flipV="0">
            <a:off x="609600" y="1466850"/>
            <a:ext cx="2857500" cy="4495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838200" y="173355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判断的起点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838200" y="2028825"/>
            <a:ext cx="2400300" cy="8096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评阅意见</a:t>
            </a:r>
            <a:endParaRPr/>
          </a:p>
          <a:p>
            <a:pPr>
              <a:lnSpc>
                <a:spcPct val="135000"/>
              </a:lnSpc>
            </a:pP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修改了什么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838200" y="2971800"/>
            <a:ext cx="5334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838200" y="3143250"/>
            <a:ext cx="24003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先选修改层，再决定复查范围。六类变更的处理方式互不替代。</a:t>
            </a:r>
            <a:endParaRPr/>
          </a:p>
        </p:txBody>
      </p:sp>
      <p:sp>
        <p:nvSpPr>
          <p:cNvPr id="756" name=""/>
          <p:cNvSpPr/>
          <p:nvPr/>
        </p:nvSpPr>
        <p:spPr>
          <a:xfrm rot="0" flipH="0" flipV="0">
            <a:off x="838200" y="5162550"/>
            <a:ext cx="24003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1543050" y="53435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改一层，查一层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3857625" y="354330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59" name=""/>
          <p:cNvSpPr/>
          <p:nvPr/>
        </p:nvSpPr>
        <p:spPr>
          <a:xfrm rot="0" flipH="0" flipV="0">
            <a:off x="4343400" y="1466850"/>
            <a:ext cx="72390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60" name=""/>
          <p:cNvSpPr/>
          <p:nvPr/>
        </p:nvSpPr>
        <p:spPr>
          <a:xfrm rot="0" flipH="0" flipV="0">
            <a:off x="4514850" y="16192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4686300" y="1714500"/>
            <a:ext cx="1104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说明材料</a:t>
            </a:r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5924550" y="1724025"/>
            <a:ext cx="542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核对文字、标签和证据链接</a:t>
            </a:r>
            <a:endParaRPr/>
          </a:p>
        </p:txBody>
      </p:sp>
      <p:sp>
        <p:nvSpPr>
          <p:cNvPr id="763" name=""/>
          <p:cNvSpPr/>
          <p:nvPr/>
        </p:nvSpPr>
        <p:spPr>
          <a:xfrm rot="0" flipH="0" flipV="0">
            <a:off x="4343400" y="2228850"/>
            <a:ext cx="72390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64" name=""/>
          <p:cNvSpPr/>
          <p:nvPr/>
        </p:nvSpPr>
        <p:spPr>
          <a:xfrm rot="0" flipH="0" flipV="0">
            <a:off x="4514850" y="23812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4686300" y="2476500"/>
            <a:ext cx="1104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评分口径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5924550" y="2486025"/>
            <a:ext cx="542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保留原评分，说明复核依据</a:t>
            </a:r>
            <a:endParaRPr/>
          </a:p>
        </p:txBody>
      </p:sp>
      <p:sp>
        <p:nvSpPr>
          <p:cNvPr id="767" name=""/>
          <p:cNvSpPr/>
          <p:nvPr/>
        </p:nvSpPr>
        <p:spPr>
          <a:xfrm rot="0" flipH="0" flipV="0">
            <a:off x="4343400" y="2990850"/>
            <a:ext cx="72390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68" name=""/>
          <p:cNvSpPr/>
          <p:nvPr/>
        </p:nvSpPr>
        <p:spPr>
          <a:xfrm rot="0" flipH="0" flipV="0">
            <a:off x="4514850" y="31432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4686300" y="3238500"/>
            <a:ext cx="1104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行为输入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5924550" y="3248025"/>
            <a:ext cx="542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新独立实验与精确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差异</a:t>
            </a:r>
            <a:endParaRPr/>
          </a:p>
        </p:txBody>
      </p:sp>
      <p:sp>
        <p:nvSpPr>
          <p:cNvPr id="771" name=""/>
          <p:cNvSpPr/>
          <p:nvPr/>
        </p:nvSpPr>
        <p:spPr>
          <a:xfrm rot="0" flipH="0" flipV="0">
            <a:off x="4343400" y="3752850"/>
            <a:ext cx="72390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72" name=""/>
          <p:cNvSpPr/>
          <p:nvPr/>
        </p:nvSpPr>
        <p:spPr>
          <a:xfrm rot="0" flipH="0" flipV="0">
            <a:off x="4514850" y="3905250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4686300" y="4000500"/>
            <a:ext cx="1104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空间与人物</a:t>
            </a:r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5924550" y="4010025"/>
            <a:ext cx="542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复查语义、导航与比较条件</a:t>
            </a:r>
            <a:endParaRPr/>
          </a:p>
        </p:txBody>
      </p:sp>
      <p:sp>
        <p:nvSpPr>
          <p:cNvPr id="775" name=""/>
          <p:cNvSpPr/>
          <p:nvPr/>
        </p:nvSpPr>
        <p:spPr>
          <a:xfrm rot="0" flipH="0" flipV="0">
            <a:off x="4343400" y="4514850"/>
            <a:ext cx="72390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76" name=""/>
          <p:cNvSpPr/>
          <p:nvPr/>
        </p:nvSpPr>
        <p:spPr>
          <a:xfrm rot="0" flipH="0" flipV="0">
            <a:off x="4514850" y="4667250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4686300" y="4762500"/>
            <a:ext cx="1104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模型与环境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5924550" y="4772025"/>
            <a:ext cx="542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复查接口、限制、成本和执行范围</a:t>
            </a:r>
            <a:endParaRPr/>
          </a:p>
        </p:txBody>
      </p:sp>
      <p:sp>
        <p:nvSpPr>
          <p:cNvPr id="779" name=""/>
          <p:cNvSpPr/>
          <p:nvPr/>
        </p:nvSpPr>
        <p:spPr>
          <a:xfrm rot="0" flipH="0" flipV="0">
            <a:off x="4343400" y="5276850"/>
            <a:ext cx="72390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80" name=""/>
          <p:cNvSpPr/>
          <p:nvPr/>
        </p:nvSpPr>
        <p:spPr>
          <a:xfrm rot="0" flipH="0" flipV="0">
            <a:off x="4514850" y="542925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4686300" y="5524500"/>
            <a:ext cx="1104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实际系统问题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5924550" y="5534025"/>
            <a:ext cx="542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留证、停止相应验收并报告</a:t>
            </a:r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27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785" name="" descr="&lt;Slide notes={`每一类变更要查什么，可以逐行对照。&#13;&#10;&#13;&#10;说明材料，比如修正交付清单里的错别字、补上证据链接，复查重点是引用是否准确、有没有改变原结论的含义。&#13;&#10;评分口径，比如明确&quot;确认下一步&quot;需要哪些实际内容，要保留原评分，说明新规则适用范围与重新评分依据。&#13;&#10;行为输入，比如改咨询台的澄清措辞或记忆处理方法，需要新独立实验、精确差异、对应行为与消耗。&#13;&#10;空间与人物，移动窗口、改出生点、增大视野，要复查语义、碰撞、导航、知识与比较条件。&#13;&#10;模型与环境，更换模型配置或程序版本，要复查接口、限制、成本与读取兼容。&#13;&#10;实际系统问题，例如回复重复、帧身份不符、页面选错 Run，要停止相应验收并留证报告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9.2　不同变更需要不同的验证&lt;/Text&gt;&#13;&#10;            &lt;Text style={{ fontSize: 34, fontWeight: 'bold', color: '#20344B' }}&gt;六类变更的复查重点&lt;/Text&gt;&#13;&#10;        &lt;/Box&gt;&#13;&#10;    &lt;/Box&gt;&#13;&#10;&#13;&#10;    &lt;Box style={{ height: 540, flexDirection: 'column', justifyContent: 'center', gap: 8 }}&gt;&#13;&#10;&#13;&#10;        &lt;Box style={{ width: 1152, height: 40, background: '#F4F7FA', borderRadius: 8, padding: '0 20px', flexDirection: 'row', alignItems: 'center', gap: 16 }}&gt;&#13;&#10;            &lt;Text style={{ fontSize: 14, color: '#546779', width: 108 }}&gt;变更类型&lt;/Text&gt;&#13;&#10;            &lt;Text style={{ fontSize: 14, color: '#546779', width: 400 }}&gt;示例&lt;/Text&gt;&#13;&#10;            &lt;Text style={{ fontSize: 14, color: '#546779' }}&gt;需要重新检查的重点&lt;/Text&gt;&#13;&#10;        &lt;/Box&gt;&#13;&#10;&#13;&#10;        &lt;Box style={{ width: 1152, height: 72, background: '#FFFFFF', borderRadius: 8, padding: '0 20px', flexDirection: 'row', alignItems: 'center', gap: 16 }}&gt;&#13;&#10;            &lt;Box style={{ width: 4, height: 44, background: '#276FBF' }} /&gt;&#13;&#10;            &lt;Text style={{ fontSize: 17, fontWeight: 'bold', color: '#20344B', width: 108 }}&gt;说明材料&lt;/Text&gt;&#13;&#10;            &lt;Text style={{ fontSize: 15, color: '#546779', width: 400 }}&gt;修正交付清单中的错别字、补上证据链接&lt;/Text&gt;&#13;&#10;            &lt;Text style={{ fontSize: 15, color: '#546779', width: 554 }}&gt;引用是否准确，是否改变了原结论含义&lt;/Text&gt;&#13;&#10;        &lt;/Box&gt;&#13;&#10;&#13;&#10;        &lt;Box style={{ width: 1152, height: 72, background: '#FFFFFF', borderRadius: 8, padding: '0 20px', flexDirection: 'row', alignItems: 'center', gap: 16 }}&gt;&#13;&#10;            &lt;Box style={{ width: 4, height: 44, background: '#276FBF' }} /&gt;&#13;&#10;            &lt;Text style={{ fontSize: 17, fontWeight: 'bold', color: '#20344B', width: 108 }}&gt;评分口径&lt;/Text&gt;&#13;&#10;            &lt;Text style={{ fontSize: 15, color: '#546779', width: 400 }}&gt;明确&quot;确认下一步&quot;需要哪些实际内容&lt;/Text&gt;&#13;&#10;            &lt;Text style={{ fontSize: 15, color: '#546779', width: 554 }}&gt;保留原评分，说明新规则适用范围与重新评分依据&lt;/Text&gt;&#13;&#10;        &lt;/Box&gt;&#13;&#10;&#13;&#10;        &lt;Box style={{ width: 1152, height: 72, background: '#FFFFFF', borderRadius: 8, padding: '0 20px', flexDirection: 'row', alignItems: 'center', gap: 16 }}&gt;&#13;&#10;            &lt;Box style={{ width: 4, height: 44, background: '#276FBF' }} /&gt;&#13;&#10;            &lt;Text style={{ fontSize: 17, fontWeight: 'bold', color: '#20344B', width: 108 }}&gt;行为输入&lt;/Text&gt;&#13;&#10;            &lt;Text style={{ fontSize: 15, color: '#546779', width: 400 }}&gt;改咨询台澄清措辞或记忆处理方法&lt;/Text&gt;&#13;&#10;            &lt;Text style={{ fontSize: 15, color: '#546779', width: 554 }}&gt;新独立实验、精确差异、对应行为与消耗&lt;/Text&gt;&#13;&#10;        &lt;/Box&gt;&#13;&#10;&#13;&#10;        &lt;Box style={{ width: 1152, height: 72, background: '#FFFFFF', borderRadius: 8, padding: '0 20px', flexDirection: 'row', alignItems: 'center', gap: 16 }}&gt;&#13;&#10;            &lt;Box style={{ width: 4, height: 44, background: '#26816B' }} /&gt;&#13;&#10;            &lt;Text style={{ fontSize: 17, fontWeight: 'bold', color: '#20344B', width: 108 }}&gt;空间与人物&lt;/Text&gt;&#13;&#10;            &lt;Text style={{ fontSize: 15, color: '#546779', width: 400 }}&gt;移动窗口、改出生点、增大视野&lt;/Text&gt;&#13;&#10;            &lt;Text style={{ fontSize: 15, color: '#546779', width: 554 }}&gt;语义、碰撞、导航、知识与比较条件&lt;/Text&gt;&#13;&#10;        &lt;/Box&gt;&#13;&#10;&#13;&#10;        &lt;Box style={{ width: 1152, height: 72, background: '#FFFFFF', borderRadius: 8, padding: '0 20px', flexDirection: 'row', alignItems: 'center', gap: 16 }}&gt;&#13;&#10;            &lt;Box style={{ width: 4, height: 44, background: '#26816B' }} /&gt;&#13;&#10;            &lt;Text style={{ fontSize: 17, fontWeight: 'bold', color: '#20344B', width: 108 }}&gt;模型与环境&lt;/Text&gt;&#13;&#10;            &lt;Text style={{ fontSize: 15, color: '#546779', width: 400 }}&gt;更换模型配置或程序版本&lt;/Text&gt;&#13;&#10;            &lt;Text style={{ fontSize: 15, color: '#546779', width: 554 }}&gt;接口、限制、成本、读取兼容及实际执行范围&lt;/Text&gt;&#13;&#10;        &lt;/Box&gt;&#13;&#10;&#13;&#10;        &lt;Box style={{ width: 1152, height: 72, background: '#FFF4E6', borderRadius: 8, padding: '0 20px', flexDirection: 'row', alignItems: 'center', gap: 16 }}&gt;&#13;&#10;            &lt;Box style={{ width: 4, height: 44, background: '#CB6B28' }} /&gt;&#13;&#10;            &lt;Text style={{ fontSize: 17, fontWeight: 'bold', color: '#CB6B28', width: 108 }}&gt;实际系统问题&lt;/Text&gt;&#13;&#10;            &lt;Text style={{ fontSize: 15, color: '#546779', width: 400 }}&gt;回复重复、帧身份不符、页面选错 Run&lt;/Text&gt;&#13;&#10;            &lt;Text style={{ fontSize: 15, color: '#546779', width: 554 }}&gt;停止相应验收并留证报告，按该问题的明确决定处理&lt;/Text&gt;&#13;&#10;        &lt;/Box&gt;&#13;&#10;&#13;&#10;    &lt;/Box&gt;&#13;&#10;&#13;&#10;    &lt;Box style={{ height: 40, flexDirection: 'row', justifyContent: 'space-between', alignItems: 'center' }}&gt;&#13;&#10;        &lt;Text style={{ fontSize: 14, color: '#546779' }}&gt;5.9 迭代与维护&lt;/Text&gt;&#13;&#10;        &lt;Text style={{ fontSize: 14, color: '#546779' }}&gt;09 / 27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不同变更需要不同的验证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六类变更的复查重点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609600" y="1238250"/>
            <a:ext cx="10972800" cy="381000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800100" y="135255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变更类型</a:t>
            </a:r>
            <a:endParaRPr/>
          </a:p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1981200" y="1352550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示例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5943600" y="135255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需要重新检查的重点</a:t>
            </a:r>
            <a:endParaRPr/>
          </a:p>
        </p:txBody>
      </p:sp>
      <p:sp>
        <p:nvSpPr>
          <p:cNvPr id="794" name=""/>
          <p:cNvSpPr/>
          <p:nvPr/>
        </p:nvSpPr>
        <p:spPr>
          <a:xfrm rot="0" flipH="0" flipV="0">
            <a:off x="609600" y="169545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5" name=""/>
          <p:cNvSpPr/>
          <p:nvPr/>
        </p:nvSpPr>
        <p:spPr>
          <a:xfrm rot="0" flipH="0" flipV="0">
            <a:off x="800100" y="18288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990600" y="1943100"/>
            <a:ext cx="1028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说明材料</a:t>
            </a:r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2171700" y="1952625"/>
            <a:ext cx="3800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修正交付清单中的错别字、补上证据链接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6124575" y="1952625"/>
            <a:ext cx="5267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引用是否准确，是否改变了原结论含义</a:t>
            </a:r>
            <a:endParaRPr/>
          </a:p>
        </p:txBody>
      </p:sp>
      <p:sp>
        <p:nvSpPr>
          <p:cNvPr id="799" name=""/>
          <p:cNvSpPr/>
          <p:nvPr/>
        </p:nvSpPr>
        <p:spPr>
          <a:xfrm rot="0" flipH="0" flipV="0">
            <a:off x="609600" y="245745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0" name=""/>
          <p:cNvSpPr/>
          <p:nvPr/>
        </p:nvSpPr>
        <p:spPr>
          <a:xfrm rot="0" flipH="0" flipV="0">
            <a:off x="800100" y="25908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990600" y="2705100"/>
            <a:ext cx="1028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评分口径</a:t>
            </a:r>
            <a:endParaRPr/>
          </a:p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2171700" y="2714625"/>
            <a:ext cx="3800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明确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确认下一步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需要哪些实际内容</a:t>
            </a:r>
            <a:endParaRPr/>
          </a:p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6124575" y="2714625"/>
            <a:ext cx="5267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保留原评分，说明新规则适用范围与重新评分依据</a:t>
            </a:r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609600" y="321945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5" name=""/>
          <p:cNvSpPr/>
          <p:nvPr/>
        </p:nvSpPr>
        <p:spPr>
          <a:xfrm rot="0" flipH="0" flipV="0">
            <a:off x="800100" y="33528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990600" y="3467100"/>
            <a:ext cx="1028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行为输入</a:t>
            </a:r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2171700" y="3476625"/>
            <a:ext cx="3800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改咨询台澄清措辞或记忆处理方法</a:t>
            </a:r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6124575" y="3476625"/>
            <a:ext cx="5267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新独立实验、精确差异、对应行为与消耗</a:t>
            </a:r>
            <a:endParaRPr/>
          </a:p>
        </p:txBody>
      </p:sp>
      <p:sp>
        <p:nvSpPr>
          <p:cNvPr id="809" name=""/>
          <p:cNvSpPr/>
          <p:nvPr/>
        </p:nvSpPr>
        <p:spPr>
          <a:xfrm rot="0" flipH="0" flipV="0">
            <a:off x="609600" y="398145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0" name=""/>
          <p:cNvSpPr/>
          <p:nvPr/>
        </p:nvSpPr>
        <p:spPr>
          <a:xfrm rot="0" flipH="0" flipV="0">
            <a:off x="800100" y="411480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990600" y="4229100"/>
            <a:ext cx="1028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空间与人物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2171700" y="4238625"/>
            <a:ext cx="3800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移动窗口、改出生点、增大视野</a:t>
            </a:r>
            <a:endParaRPr/>
          </a:p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6124575" y="4238625"/>
            <a:ext cx="5267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语义、碰撞、导航、知识与比较条件</a:t>
            </a:r>
            <a:endParaRPr/>
          </a:p>
        </p:txBody>
      </p:sp>
      <p:sp>
        <p:nvSpPr>
          <p:cNvPr id="814" name=""/>
          <p:cNvSpPr/>
          <p:nvPr/>
        </p:nvSpPr>
        <p:spPr>
          <a:xfrm rot="0" flipH="0" flipV="0">
            <a:off x="609600" y="474345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5" name=""/>
          <p:cNvSpPr/>
          <p:nvPr/>
        </p:nvSpPr>
        <p:spPr>
          <a:xfrm rot="0" flipH="0" flipV="0">
            <a:off x="800100" y="487680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990600" y="4991100"/>
            <a:ext cx="1028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模型与环境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2171700" y="5000625"/>
            <a:ext cx="3800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更换模型配置或程序版本</a:t>
            </a:r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6124575" y="5000625"/>
            <a:ext cx="5267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接口、限制、成本、读取兼容及实际执行范围</a:t>
            </a:r>
            <a:endParaRPr/>
          </a:p>
        </p:txBody>
      </p:sp>
      <p:sp>
        <p:nvSpPr>
          <p:cNvPr id="819" name=""/>
          <p:cNvSpPr/>
          <p:nvPr/>
        </p:nvSpPr>
        <p:spPr>
          <a:xfrm rot="0" flipH="0" flipV="0">
            <a:off x="609600" y="550545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20" name=""/>
          <p:cNvSpPr/>
          <p:nvPr/>
        </p:nvSpPr>
        <p:spPr>
          <a:xfrm rot="0" flipH="0" flipV="0">
            <a:off x="800100" y="56388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990600" y="5753100"/>
            <a:ext cx="1028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实际系统问题</a:t>
            </a:r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2171700" y="5762625"/>
            <a:ext cx="3800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回复重复、帧身份不符、页面选错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6124575" y="5762625"/>
            <a:ext cx="5267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停止相应验收并留证报告，按该问题的明确决定处理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27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7" name="" descr="&lt;Slide notes={`维护不只有重跑，但有些改动确实必须重跑。&#10;&#10;如果改的是书稿排版、错别字或者证据链接的位置，这些不进入模型输入，复查范围就是文档本身：引用是否准确，有没有改变原来的结论。&#10;&#10;只要碰到已经执行过的精确 Skill 文本，哪怕只改一个词，也不能悄悄替换之后继续拿旧 Run 说它有效。旧 Run 是用旧文本跑出来的，改完就必须有新的对应证据。&#10;&#10;评分口径的变化同样要留记录：原来的结果仍然可以复核，新的评分作为有出处的分析材料保存。它不能写回历史 Run，冒充系统当时的评价。&#10;&#10;这两类改动的区别其实很简单：一个改的是别人怎么读，一个改的是系统怎么跑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9.2　不同变更需要不同的验证&lt;/Text&gt;&#10;            &lt;Text style={{ fontSize: 34, fontWeight: 'bold', color: '#20344B' }}&gt;文档可以只改字，行为输入必须留新证据&lt;/Text&gt;&#10;        &lt;/Box&gt;&#10;    &lt;/Box&gt;&#10;&#10;    &lt;Box style={{ height: 540, flexDirection: 'row', alignItems: 'center', gap: 32 }}&gt;&#10;&#10;        &lt;Box style={{ width: 560, flexDirection: 'column', gap: 10 }}&gt;&#10;            &lt;Box style={{ width: 560, height: 64, background: '#EDF4FC', borderRadius: 10, padding: '0 20px', flexDirection: 'column', justifyContent: 'center', gap: 2 }}&gt;&#10;                &lt;Text style={{ fontSize: 20, fontWeight: 'bold', color: '#276FBF' }}&gt;只复查文档&lt;/Text&gt;&#10;                &lt;Text style={{ fontSize: 13, color: '#546779' }}&gt;改动不进入模型输入&lt;/Text&gt;&#10;            &lt;/Box&gt;&#10;            &lt;Box style={{ width: 560, height: 76, background: '#F4F7FA', borderRadius: 8, padding: '0 20px', justifyContent: 'center' }}&gt;&#10;                &lt;Text style={{ fontSize: 16, color: '#20344B' }}&gt;修正交付清单中的错别字&lt;/Text&gt;&#10;            &lt;/Box&gt;&#10;            &lt;Box style={{ width: 560, height: 76, background: '#F4F7FA', borderRadius: 8, padding: '0 20px', justifyContent: 'center' }}&gt;&#10;                &lt;Text style={{ fontSize: 16, color: '#20344B' }}&gt;补齐缺失的证据链接&lt;/Text&gt;&#10;            &lt;/Box&gt;&#10;            &lt;Box style={{ width: 560, height: 76, background: '#F4F7FA', borderRadius: 8, padding: '0 20px', justifyContent: 'center' }}&gt;&#10;                &lt;Text style={{ fontSize: 16, color: '#20344B' }}&gt;核对引用是否准确、含义未变&lt;/Text&gt;&#10;            &lt;/Box&gt;&#10;            &lt;Box style={{ width: 560, height: 82, background: '#FFFFFF', borderRadius: 8, padding: '0 20px', justifyContent: 'center' }}&gt;&#10;                &lt;Text style={{ fontSize: 15, color: '#546779', lineHeight: 1.5 }}&gt;书稿排版修改不一定需要模型运行，也不必新开实验。&lt;/Text&gt;&#10;            &lt;/Box&gt;&#10;        &lt;/Box&gt;&#10;&#10;        &lt;Box style={{ width: 560, flexDirection: 'column', gap: 10 }}&gt;&#10;            &lt;Box style={{ width: 560, height: 64, background: '#ECF7F2', borderRadius: 10, padding: '0 20px', flexDirection: 'column', justifyContent: 'center', gap: 2 }}&gt;&#10;                &lt;Text style={{ fontSize: 20, fontWeight: 'bold', color: '#26816B' }}&gt;必须有新的对应证据&lt;/Text&gt;&#10;                &lt;Text style={{ fontSize: 13, color: '#546779' }}&gt;改动进入模型或评分&lt;/Text&gt;&#10;            &lt;/Box&gt;&#10;            &lt;Box style={{ width: 560, height: 76, background: '#F4F7FA', borderRadius: 8, padding: '0 20px', justifyContent: 'center' }}&gt;&#10;                &lt;Text style={{ fontSize: 16, color: '#20344B' }}&gt;精确 Skill 文本只改一个词&lt;/Text&gt;&#10;            &lt;/Box&gt;&#10;            &lt;Box style={{ width: 560, height: 76, background: '#F4F7FA', borderRadius: 8, padding: '0 20px', justifyContent: 'center' }}&gt;&#10;                &lt;Text style={{ fontSize: 16, color: '#20344B' }}&gt;评分口径发生变化&lt;/Text&gt;&#10;            &lt;/Box&gt;&#10;            &lt;Box style={{ width: 560, height: 76, background: '#F4F7FA', borderRadius: 8, padding: '0 20px', justifyContent: 'center' }}&gt;&#10;                &lt;Text style={{ fontSize: 16, color: '#20344B' }}&gt;新独立实验、精确差异与消耗&lt;/Text&gt;&#10;            &lt;/Box&gt;&#10;            &lt;Box style={{ width: 560, height: 82, background: '#FFF4E6', borderRadius: 8, padding: '0 20px', justifyContent: 'center' }}&gt;&#10;                &lt;Text style={{ fontSize: 15, color: '#CB6B28', lineHeight: 1.5 }}&gt;不能悄悄替换文本后，继续用旧 Run 证明它有效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9 迭代与维护&lt;/Text&gt;&#10;        &lt;Text style={{ fontSize: 14, color: '#546779' }}&gt;10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82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不同变更需要不同的验证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829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文档可以只改字，行为输入必须留新证据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1743075"/>
            <a:ext cx="5334000" cy="609600"/>
          </a:xfrm>
          <a:prstGeom prst="roundRect">
            <a:avLst>
              <a:gd name="adj" fmla="val 1562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00100" y="1847850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只复查文档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00100" y="2095500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改动不进入模型输入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09600" y="2447925"/>
            <a:ext cx="53340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00100" y="271462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修正交付清单中的错别字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609600" y="3267075"/>
            <a:ext cx="53340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00100" y="353377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补齐缺失的证据链接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09600" y="4086225"/>
            <a:ext cx="53340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00100" y="435292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核对引用是否准确、含义未变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09600" y="4905375"/>
            <a:ext cx="53340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00100" y="5172075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书稿排版修改不一定需要模型运行，也不必新开实验。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248400" y="1743075"/>
            <a:ext cx="5334000" cy="609600"/>
          </a:xfrm>
          <a:prstGeom prst="roundRect">
            <a:avLst>
              <a:gd name="adj" fmla="val 1562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438900" y="1847850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必须有新的对应证据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438900" y="2095500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改动进入模型或评分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248400" y="2447925"/>
            <a:ext cx="53340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438900" y="271462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精确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文本只改一个词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248400" y="3267075"/>
            <a:ext cx="53340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438900" y="353377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评分口径发生变化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248400" y="4086225"/>
            <a:ext cx="53340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438900" y="435292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新独立实验、精确差异与消耗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248400" y="4905375"/>
            <a:ext cx="5334000" cy="781050"/>
          </a:xfrm>
          <a:prstGeom prst="roundRect">
            <a:avLst>
              <a:gd name="adj" fmla="val 975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438900" y="5172075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不能悄悄替换文本后，继续用旧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证明它有效。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27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6" name="" descr="&lt;Slide notes={`评分口径的变化和系统故障是两种完全不同的情况。&#10;&#10;先说评分口径。如果只是明确了&quot;确认下一步&quot;需要哪些实际内容，原来的结果仍然可以复核，不需要抹掉。新评分要作为有出处的分析材料保存，写清新规则的适用范围和重新评分依据。它不能写回历史 Run，冒充系统当时的评价。&#10;&#10;再说系统问题。如果发现对象回复重复、帧身份不一致或者页面选错了 Run，这些属于软件故障，要停止相应案例的验收并报告，修复必须得到针对这个问题的明确决定。&#10;&#10;这里有一条底线：不能靠改人物目标绕开故障，也不能拿一次新运行成功，就宣布原来的问题已经解决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9.2　不同变更需要不同的验证&lt;/Text&gt;&#10;            &lt;Text style={{ fontSize: 34, fontWeight: 'bold', color: '#20344B' }}&gt;评分口径与系统问题&lt;/Text&gt;&#10;        &lt;/Box&gt;&#10;    &lt;/Box&gt;&#10;&#10;    &lt;Box style={{ height: 540, flexDirection: 'column', justifyContent: 'center', gap: 14 }}&gt;&#10;&#10;        &lt;Box style={{ width: 1152, height: 258, background: '#F4F7FA', borderRadius: 12, padding: 18, flexDirection: 'column', gap: 8 }}&gt;&#10;            &lt;Box style={{ width: 1116, height: 30, flexDirection: 'row', alignItems: 'center' }}&gt;&#10;                &lt;Text style={{ fontSize: 18, fontWeight: 'bold', color: '#20344B' }}&gt;评分口径变化：保留原结果，新增独立说明&lt;/Text&gt;&#10;                &lt;Box style={{ flex: 1 }} /&gt;&#10;                &lt;Box style={{ width: 108, height: 26, background: '#EDF4FC', borderRadius: 6, justifyContent: 'center', alignItems: 'center' }}&gt;&#10;                    &lt;Text style={{ fontSize: 13, color: '#276FBF' }}&gt;不重跑&lt;/Text&gt;&#10;                &lt;/Box&gt;&#10;            &lt;/Box&gt;&#10;            &lt;Box style={{ width: 1116, height: 60, background: '#FFFFFF', borderRadius: 8, padding: '0 18px', flexDirection: 'row', alignItems: 'center', gap: 14 }}&gt;&#10;                &lt;Box style={{ width: 4, height: 32, background: '#276FBF' }} /&gt;&#10;                &lt;Text style={{ fontSize: 16, color: '#20344B' }}&gt;原结果仍可复核，新的评分作为有出处的分析材料保存&lt;/Text&gt;&#10;            &lt;/Box&gt;&#10;            &lt;Box style={{ width: 1116, height: 60, background: '#FFFFFF', borderRadius: 8, padding: '0 18px', flexDirection: 'row', alignItems: 'center', gap: 14 }}&gt;&#10;                &lt;Box style={{ width: 4, height: 32, background: '#276FBF' }} /&gt;&#10;                &lt;Text style={{ fontSize: 16, color: '#20344B' }}&gt;写明新规则的适用范围，以及重新评分的依据&lt;/Text&gt;&#10;            &lt;/Box&gt;&#10;            &lt;Box style={{ width: 1116, height: 60, background: '#FFF4E6', borderRadius: 8, padding: '0 18px', flexDirection: 'row', alignItems: 'center', gap: 14 }}&gt;&#10;                &lt;Box style={{ width: 4, height: 32, background: '#CB6B28' }} /&gt;&#10;                &lt;Text style={{ fontSize: 16, color: '#CB6B28' }}&gt;不能写回历史 Run，冒充系统当时的评价&lt;/Text&gt;&#10;            &lt;/Box&gt;&#10;        &lt;/Box&gt;&#10;&#10;        &lt;Box style={{ width: 1152, height: 232, background: '#FFF4E6', borderRadius: 12, padding: 18, flexDirection: 'column', gap: 8 }}&gt;&#10;            &lt;Box style={{ width: 1116, height: 30, flexDirection: 'row', alignItems: 'center' }}&gt;&#10;                &lt;Text style={{ fontSize: 18, fontWeight: 'bold', color: '#CB6B28' }}&gt;真实系统问题：先停验、留证、报告&lt;/Text&gt;&#10;                &lt;Box style={{ flex: 1 }} /&gt;&#10;                &lt;Box style={{ width: 168, height: 26, background: '#FFFFFF', borderRadius: 6, justifyContent: 'center', alignItems: 'center' }}&gt;&#10;                    &lt;Text style={{ fontSize: 13, color: '#CB6B28' }}&gt;须有明确决定&lt;/Text&gt;&#10;                &lt;/Box&gt;&#10;            &lt;/Box&gt;&#10;            &lt;Box style={{ width: 1116, height: 52, background: '#FFFFFF', borderRadius: 8, padding: '0 18px', flexDirection: 'row', alignItems: 'center', gap: 14 }}&gt;&#10;                &lt;Box style={{ width: 4, height: 28, background: '#CB6B28' }} /&gt;&#10;                &lt;Text style={{ fontSize: 16, color: '#20344B' }}&gt;回复重复、帧身份不一致、页面选错 Run，都要停止相应案例的验收&lt;/Text&gt;&#10;            &lt;/Box&gt;&#10;            &lt;Box style={{ width: 1116, height: 52, background: '#FFFFFF', borderRadius: 8, padding: '0 18px', flexDirection: 'row', alignItems: 'center', gap: 14 }}&gt;&#10;                &lt;Box style={{ width: 4, height: 28, background: '#CB6B28' }} /&gt;&#10;                &lt;Text style={{ fontSize: 16, color: '#20344B' }}&gt;不能以改人物目标绕过故障，也不能把一次新运行成功当作原问题已解决&lt;/Text&gt;&#10;            &lt;/Box&gt;&#10;            &lt;Box style={{ width: 1116, height: 44, background: '#FFFFFF', borderRadius: 8, padding: '0 18px', justifyContent: 'center' }}&gt;&#10;                &lt;Text style={{ fontSize: 15, color: '#546779' }}&gt;修复须得到针对该问题的明确决定，按项目操作约定处理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9 迭代与维护&lt;/Text&gt;&#10;        &lt;Text style={{ fontSize: 14, color: '#546779' }}&gt;11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不同变更需要不同的验证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评分口径与系统问题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09600" y="1314450"/>
            <a:ext cx="10972800" cy="2457450"/>
          </a:xfrm>
          <a:prstGeom prst="roundRect">
            <a:avLst>
              <a:gd name="adj" fmla="val 465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81050" y="1524000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评分口径变化：保留原结果，新增独立说明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10382250" y="1504950"/>
            <a:ext cx="1028700" cy="247650"/>
          </a:xfrm>
          <a:prstGeom prst="roundRect">
            <a:avLst>
              <a:gd name="adj" fmla="val 2307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0715625" y="15525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不重跑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781050" y="1847850"/>
            <a:ext cx="106299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952500" y="1981200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123950" y="2038350"/>
            <a:ext cx="3657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原结果仍可复核，新的评分作为有出处的分析材料保存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781050" y="2495550"/>
            <a:ext cx="106299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952500" y="2628900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23950" y="2686050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写明新规则的适用范围，以及重新评分的依据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781050" y="3143250"/>
            <a:ext cx="10629900" cy="571500"/>
          </a:xfrm>
          <a:prstGeom prst="roundRect">
            <a:avLst>
              <a:gd name="adj" fmla="val 13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952500" y="3276600"/>
            <a:ext cx="38100" cy="304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123950" y="3333750"/>
            <a:ext cx="2771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不能写回历史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，冒充系统当时的评价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09600" y="3905250"/>
            <a:ext cx="10972800" cy="2209800"/>
          </a:xfrm>
          <a:prstGeom prst="roundRect">
            <a:avLst>
              <a:gd name="adj" fmla="val 517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81050" y="4114800"/>
            <a:ext cx="274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真实系统问题：先停验、留证、报告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9810750" y="4095750"/>
            <a:ext cx="160020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0239375" y="414337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须有明确决定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781050" y="4438650"/>
            <a:ext cx="106299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952500" y="4552950"/>
            <a:ext cx="38100" cy="2667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123950" y="4591050"/>
            <a:ext cx="4600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回复重复、帧身份不一致、页面选错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，都要停止相应案例的验收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781050" y="5010150"/>
            <a:ext cx="106299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952500" y="5124450"/>
            <a:ext cx="38100" cy="2667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123950" y="5162550"/>
            <a:ext cx="487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不能以改人物目标绕过故障，也不能把一次新运行成功当作原问题已解决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781050" y="5581650"/>
            <a:ext cx="106299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952500" y="5705475"/>
            <a:ext cx="1028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修复须得到针对该问题的明确决定，按项目操作约定处理。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27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8" name="" descr="&lt;Slide notes={`5.4 的原文已经允许&quot;需要时&quot;检索记忆。如果证据显示，咨询台曾经保存过&quot;报告今天已有故障&quot;这条信息，后续却没有检索，又一次猜成预约使用，那么一项候选修改就是把可选检索改成判断前必做。&#10;&#10;精确差异可以写成这样一句：每次为真实请求者判断窗口前，先检索自己此前为该请求者保存的明确目的；不存在就保持未知，再按原决策段处理。&#10;&#10;写这么细是有原因的。改动的作用范围必须收窄到这一项检索条件，不能顺手换地图、放宽视野，或者把私人目的泄漏给引导员。两项改动同时做，新结果就说不清是哪一项起的作用。&#10;&#10;也要承认成本：多一次检索就多一次调用，值不值得还得比较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9.3　从证据推导一项有限修改&lt;/Text&gt;&#10;            &lt;Text style={{ fontSize: 34, fontWeight: 'bold', color: '#20344B' }}&gt;从证据推导一项有限修改&lt;/Text&gt;&#10;        &lt;/Box&gt;&#10;    &lt;/Box&gt;&#10;&#10;    &lt;Box style={{ height: 540, flexDirection: 'column', justifyContent: 'center', gap: 14 }}&gt;&#10;&#10;        &lt;Box style={{ width: 1152, height: 64, background: '#F4F7FA', borderRadius: 10, padding: '0 22px', flexDirection: 'row', alignItems: 'center', gap: 16 }}&gt;&#10;            &lt;Text style={{ fontSize: 15, color: '#546779' }}&gt;起点&lt;/Text&gt;&#10;            &lt;Text style={{ fontSize: 16, color: '#20344B' }}&gt;5.4 原文已允许&quot;需要时&quot;检索记忆；假设的 H3 问题显示，保存过的事实没有被取用。&lt;/Text&gt;&#10;        &lt;/Box&gt;&#10;&#10;        &lt;Box style={{ width: 1152, flexDirection: 'row', alignItems: 'center', justifyContent: 'center', gap: 8 }}&gt;&#10;&#10;            &lt;Box style={{ width: 340, height: 196, background: '#EDF4FC', borderRadius: 10, padding: '16px 18px', flexDirection: 'column', gap: 8 }}&gt;&#10;                &lt;Text style={{ fontSize: 14, color: '#546779' }}&gt;第一步&lt;/Text&gt;&#10;                &lt;Text style={{ fontSize: 21, fontWeight: 'bold', color: '#276FBF' }}&gt;证据&lt;/Text&gt;&#10;                &lt;Text style={{ fontSize: 14, color: '#546779', lineHeight: 1.55, width: 304 }}&gt;咨询台曾保存&quot;报告今天已有故障&quot;，后续判断前却没有检索，又一次猜成预约使用。&lt;/Text&gt;&#10;            &lt;/Box&gt;&#10;&#10;            &lt;Box style={{ width: 44, height: 196, justifyContent: 'center', alignItems: 'center' }}&gt;&#10;                &lt;Text style={{ fontSize: 26, color: '#276FBF' }}&gt;›&lt;/Text&gt;&#10;            &lt;/Box&gt;&#10;&#10;            &lt;Box style={{ width: 340, height: 196, background: '#ECF7F2', borderRadius: 10, padding: '16px 18px', flexDirection: 'column', gap: 8 }}&gt;&#10;                &lt;Text style={{ fontSize: 14, color: '#546779' }}&gt;第二步&lt;/Text&gt;&#10;                &lt;Text style={{ fontSize: 21, fontWeight: 'bold', color: '#26816B' }}&gt;精确差异&lt;/Text&gt;&#10;                &lt;Text style={{ fontSize: 13, color: '#546779', lineHeight: 1.55, width: 304 }}&gt;每次为真实请求者判断窗口前，先检索自己此前为该请求者保存的明确目的；不存在就保持未知，再按原决策段处理。&lt;/Text&gt;&#10;            &lt;/Box&gt;&#10;&#10;            &lt;Box style={{ width: 44, height: 196, justifyContent: 'center', alignItems: 'center' }}&gt;&#10;                &lt;Text style={{ fontSize: 26, color: '#CB6B28' }}&gt;›&lt;/Text&gt;&#10;            &lt;/Box&gt;&#10;&#10;            &lt;Box style={{ width: 340, height: 196, background: '#FFF4E6', borderRadius: 10, padding: '16px 18px', flexDirection: 'column', gap: 8 }}&gt;&#10;                &lt;Text style={{ fontSize: 14, color: '#546779' }}&gt;第三步&lt;/Text&gt;&#10;                &lt;Text style={{ fontSize: 21, fontWeight: 'bold', color: '#CB6B28' }}&gt;作用范围&lt;/Text&gt;&#10;                &lt;Text style={{ fontSize: 14, color: '#546779', lineHeight: 1.55, width: 304 }}&gt;只作用于这一项检索条件，不同时更换地图、放宽视野或向引导员泄漏私人目的。&lt;/Text&gt;&#10;            &lt;/Box&gt;&#10;&#10;        &lt;/Box&gt;&#10;&#10;        &lt;Box style={{ width: 1152, height: 80, background: '#F4F7FA', borderRadius: 10, padding: '0 22px', flexDirection: 'row', alignItems: 'center', gap: 16 }}&gt;&#10;            &lt;Box style={{ width: 4, height: 44, background: '#CB6B28' }} /&gt;&#10;            &lt;Box style={{ flexDirection: 'column', gap: 4 }}&gt;&#10;                &lt;Text style={{ fontSize: 17, fontWeight: 'bold', color: '#CB6B28' }}&gt;只改这一处&lt;/Text&gt;&#10;                &lt;Text style={{ fontSize: 15, color: '#546779' }}&gt;它会增加调用成本，仍须比较；两项改动同时做，新结果就说不清是哪一项起的作用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9 迭代与维护&lt;/Text&gt;&#10;        &lt;Text style={{ fontSize: 14, color: '#546779' }}&gt;1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从证据推导一项有限修改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从证据推导一项有限修改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09600" y="1962150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19150" y="21812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起点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257300" y="2171700"/>
            <a:ext cx="5724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原文已允许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需要时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检索记忆；假设的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H3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问题显示，保存过的事实没有被取用。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66750" y="2705100"/>
            <a:ext cx="3238500" cy="18669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38200" y="28575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第一步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38200" y="3095625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76FBF"/>
                </a:solidFill>
                <a:latin typeface="Microsoft YaHei"/>
                <a:ea typeface="Microsoft YaHei"/>
              </a:rPr>
              <a:t>证据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38200" y="3419475"/>
            <a:ext cx="28956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咨询台曾保存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报告今天已有故障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，后续判断前却没有检索，又一次猜成预约使用。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4152900" y="34861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4476750" y="2705100"/>
            <a:ext cx="3238500" cy="1866900"/>
          </a:xfrm>
          <a:prstGeom prst="roundRect">
            <a:avLst>
              <a:gd name="adj" fmla="val 510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648200" y="28575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第二步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648200" y="3095625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6816B"/>
                </a:solidFill>
                <a:latin typeface="Microsoft YaHei"/>
                <a:ea typeface="Microsoft YaHei"/>
              </a:rPr>
              <a:t>精确差异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648200" y="3419475"/>
            <a:ext cx="28956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每次为真实请求者判断窗口前，先检索自己此前为该请求者保存的明确目的；不存在就保持未知，再按原决策段处理。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962900" y="34861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8286750" y="2705100"/>
            <a:ext cx="3238500" cy="1866900"/>
          </a:xfrm>
          <a:prstGeom prst="roundRect">
            <a:avLst>
              <a:gd name="adj" fmla="val 510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458200" y="28575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第三步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458200" y="3095625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CB6B28"/>
                </a:solidFill>
                <a:latin typeface="Microsoft YaHei"/>
                <a:ea typeface="Microsoft YaHei"/>
              </a:rPr>
              <a:t>作用范围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458200" y="3419475"/>
            <a:ext cx="28956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只作用于这一项检索条件，不同时更换地图、放宽视野或向引导员泄漏私人目的。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09600" y="4705350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819150" y="48768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009650" y="4886325"/>
            <a:ext cx="542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只改这一处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009650" y="5124450"/>
            <a:ext cx="542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它会增加调用成本，仍须比较；两项改动同时做，新结果就说不清是哪一项起的作用。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27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26" name="" descr="&lt;Slide notes={`这两种情况必须分成两张问题单，不能让一个模糊的&quot;优化咨询&quot;把原因全都盖住。&#13;&#10;&#13;&#10;第一种，补充从未到达。这时候首先要确认来访者是否真的提交了、对象是否回复了、消息有没有进入下一轮。如果这三条都不成立，那么增加对象记忆检索可能完全无效。&#13;&#10;&#13;&#10;第二种，补充到达了但没有被使用。证据是咨询台保存过那条目的，而后续判断前没有检索。这时候候选修改才是把检索改成判断前必做，验收条件也很明确：下一次应该看到那条目的被真正引用。&#13;&#10;&#13;&#10;记录用变更影响表，写清原内容、拟改内容、支持证据、受影响材料、验证方法和仍不能解决的情况。它是资料管理用的记录，不是系统内新增的发布流程或资源 Revision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9.3　从证据推导一项有限修改&lt;/Text&gt;&#13;&#10;            &lt;Text style={{ fontSize: 34, fontWeight: 'bold', color: '#20344B' }}&gt;两种原因，两张问题单&lt;/Text&gt;&#13;&#10;        &lt;/Box&gt;&#13;&#10;    &lt;/Box&gt;&#13;&#10;&#13;&#10;    &lt;Box style={{ height: 540, flexDirection: 'column', justifyContent: 'center', gap: 16 }}&gt;&#13;&#10;&#13;&#10;        &lt;Box style={{ width: 1152, flexDirection: 'row', gap: 32 }}&gt;&#13;&#10;&#13;&#10;            &lt;Box style={{ width: 560, height: 296, background: '#EDF4FC', borderRadius: 12, padding: 18, flexDirection: 'column', gap: 8 }}&gt;&#13;&#10;                &lt;Box style={{ width: 524, height: 48, flexDirection: 'column', justifyContent: 'center', gap: 2 }}&gt;&#13;&#10;                    &lt;Text style={{ fontSize: 13, color: '#546779' }}&gt;问题单 A&lt;/Text&gt;&#13;&#10;                    &lt;Text style={{ fontSize: 20, fontWeight: 'bold', color: '#276FBF' }}&gt;补充从未到达&lt;/Text&gt;&#13;&#10;                &lt;/Box&gt;&#13;&#10;                &lt;Box style={{ width: 524, height: 46, background: '#FFFFFF', borderRadius: 8, padding: '0 16px', justifyContent: 'center' }}&gt;&#13;&#10;                    &lt;Text style={{ fontSize: 15, color: '#20344B' }}&gt;确认来访者是否真实提交&lt;/Text&gt;&#13;&#10;                &lt;/Box&gt;&#13;&#10;                &lt;Box style={{ width: 524, height: 46, background: '#FFFFFF', borderRadius: 8, padding: '0 16px', justifyContent: 'center' }}&gt;&#13;&#10;                    &lt;Text style={{ fontSize: 15, color: '#20344B' }}&gt;确认对象是否回复&lt;/Text&gt;&#13;&#10;                &lt;/Box&gt;&#13;&#10;                &lt;Box style={{ width: 524, height: 46, background: '#FFFFFF', borderRadius: 8, padding: '0 16px', justifyContent: 'center' }}&gt;&#13;&#10;                    &lt;Text style={{ fontSize: 15, color: '#20344B' }}&gt;确认消息是否进入下一轮&lt;/Text&gt;&#13;&#10;                &lt;/Box&gt;&#13;&#10;                &lt;Box style={{ width: 524, height: 46, background: '#FFF4E6', borderRadius: 8, padding: '0 16px', justifyContent: 'center' }}&gt;&#13;&#10;                    &lt;Text style={{ fontSize: 15, color: '#CB6B28' }}&gt;此时增加记忆检索可能无效&lt;/Text&gt;&#13;&#10;                &lt;/Box&gt;&#13;&#10;            &lt;/Box&gt;&#13;&#10;&#13;&#10;            &lt;Box style={{ width: 560, height: 296, background: '#ECF7F2', borderRadius: 12, padding: 18, flexDirection: 'column', gap: 8 }}&gt;&#13;&#10;                &lt;Box style={{ width: 524, height: 48, flexDirection: 'column', justifyContent: 'center', gap: 2 }}&gt;&#13;&#10;                    &lt;Text style={{ fontSize: 13, color: '#546779' }}&gt;问题单 B&lt;/Text&gt;&#13;&#10;                    &lt;Text style={{ fontSize: 20, fontWeight: 'bold', color: '#26816B' }}&gt;到达但未被使用&lt;/Text&gt;&#13;&#10;                &lt;/Box&gt;&#13;&#10;                &lt;Box style={{ width: 524, height: 46, background: '#FFFFFF', borderRadius: 8, padding: '0 16px', justifyContent: 'center' }}&gt;&#13;&#10;                    &lt;Text style={{ fontSize: 15, color: '#20344B' }}&gt;证据：咨询台保存过该目的&lt;/Text&gt;&#13;&#10;                &lt;/Box&gt;&#13;&#10;                &lt;Box style={{ width: 524, height: 46, background: '#FFFFFF', borderRadius: 8, padding: '0 16px', justifyContent: 'center' }}&gt;&#13;&#10;                    &lt;Text style={{ fontSize: 15, color: '#20344B' }}&gt;证据：后续判断前没有检索&lt;/Text&gt;&#13;&#10;                &lt;/Box&gt;&#13;&#10;                &lt;Box style={{ width: 524, height: 46, background: '#FFFFFF', borderRadius: 8, padding: '0 16px', justifyContent: 'center' }}&gt;&#13;&#10;                    &lt;Text style={{ fontSize: 15, color: '#20344B' }}&gt;候选修改：检索改为判断前必做&lt;/Text&gt;&#13;&#10;                &lt;/Box&gt;&#13;&#10;                &lt;Box style={{ width: 524, height: 46, background: '#FFFFFF', borderRadius: 8, padding: '0 16px', justifyContent: 'center' }}&gt;&#13;&#10;                    &lt;Text style={{ fontSize: 15, color: '#20344B' }}&gt;验收：下一次该目的被真正引用&lt;/Text&gt;&#13;&#10;                &lt;/Box&gt;&#13;&#10;            &lt;/Box&gt;&#13;&#10;&#13;&#10;        &lt;/Box&gt;&#13;&#10;&#13;&#10;        &lt;Text style={{ fontSize: 15, color: '#546779' }}&gt;变更影响表要记的六项——它是资料管理用的记录，不是系统内新增的发布流程或资源 Revision。&lt;/Text&gt;&#13;&#10;&#13;&#10;        &lt;Box style={{ width: 1152, flexDirection: 'row', gap: 12 }}&gt;&#13;&#10;            &lt;Box style={{ width: 182, height: 62, background: '#F4F7FA', borderRadius: 8, justifyContent: 'center', alignItems: 'center' }}&gt;&#13;&#10;                &lt;Text style={{ fontSize: 15, color: '#20344B' }}&gt;原内容&lt;/Text&gt;&#13;&#10;            &lt;/Box&gt;&#13;&#10;            &lt;Box style={{ width: 182, height: 62, background: '#F4F7FA', borderRadius: 8, justifyContent: 'center', alignItems: 'center' }}&gt;&#13;&#10;                &lt;Text style={{ fontSize: 15, color: '#20344B' }}&gt;拟改内容&lt;/Text&gt;&#13;&#10;            &lt;/Box&gt;&#13;&#10;            &lt;Box style={{ width: 182, height: 62, background: '#F4F7FA', borderRadius: 8, justifyContent: 'center', alignItems: 'center' }}&gt;&#13;&#10;                &lt;Text style={{ fontSize: 15, color: '#20344B' }}&gt;支持证据&lt;/Text&gt;&#13;&#10;            &lt;/Box&gt;&#13;&#10;            &lt;Box style={{ width: 182, height: 62, background: '#F4F7FA', borderRadius: 8, justifyContent: 'center', alignItems: 'center' }}&gt;&#13;&#10;                &lt;Text style={{ fontSize: 15, color: '#20344B' }}&gt;受影响材料&lt;/Text&gt;&#13;&#10;            &lt;/Box&gt;&#13;&#10;            &lt;Box style={{ width: 182, height: 62, background: '#F4F7FA', borderRadius: 8, justifyContent: 'center', alignItems: 'center' }}&gt;&#13;&#10;                &lt;Text style={{ fontSize: 15, color: '#20344B' }}&gt;验证方法&lt;/Text&gt;&#13;&#10;            &lt;/Box&gt;&#13;&#10;            &lt;Box style={{ width: 182, height: 62, background: '#FFF4E6', borderRadius: 8, justifyContent: 'center', alignItems: 'center' }}&gt;&#13;&#10;                &lt;Text style={{ fontSize: 14, color: '#CB6B28' }}&gt;仍不能解决的情况&lt;/Text&gt;&#13;&#10;            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5.9 迭代与维护&lt;/Text&gt;&#13;&#10;        &lt;Text style={{ fontSize: 14, color: '#546779' }}&gt;13 / 27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从证据推导一项有限修改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两种原因，两张问题单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09600" y="1771650"/>
            <a:ext cx="5334000" cy="2819400"/>
          </a:xfrm>
          <a:prstGeom prst="roundRect">
            <a:avLst>
              <a:gd name="adj" fmla="val 405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81050" y="1971675"/>
            <a:ext cx="499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问题单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A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81050" y="2143125"/>
            <a:ext cx="4991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补充从未到达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781050" y="2476500"/>
            <a:ext cx="49911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933450" y="2609850"/>
            <a:ext cx="468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确认来访者是否真实提交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781050" y="2990850"/>
            <a:ext cx="49911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33450" y="3124200"/>
            <a:ext cx="468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确认对象是否回复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781050" y="3505200"/>
            <a:ext cx="49911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933450" y="3638550"/>
            <a:ext cx="468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确认消息是否进入下一轮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781050" y="4019550"/>
            <a:ext cx="4991100" cy="438150"/>
          </a:xfrm>
          <a:prstGeom prst="roundRect">
            <a:avLst>
              <a:gd name="adj" fmla="val 173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33450" y="4152900"/>
            <a:ext cx="468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此时增加记忆检索可能无效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248400" y="1771650"/>
            <a:ext cx="5334000" cy="2819400"/>
          </a:xfrm>
          <a:prstGeom prst="roundRect">
            <a:avLst>
              <a:gd name="adj" fmla="val 405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419850" y="1971675"/>
            <a:ext cx="499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问题单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419850" y="2143125"/>
            <a:ext cx="4991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到达但未被使用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419850" y="2476500"/>
            <a:ext cx="49911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572250" y="2609850"/>
            <a:ext cx="468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证据：咨询台保存过该目的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419850" y="2990850"/>
            <a:ext cx="49911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572250" y="3124200"/>
            <a:ext cx="468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证据：后续判断前没有检索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419850" y="3505200"/>
            <a:ext cx="49911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572250" y="3638550"/>
            <a:ext cx="468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候选修改：检索改为判断前必做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419850" y="4019550"/>
            <a:ext cx="49911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572250" y="4152900"/>
            <a:ext cx="468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验收：下一次该目的被真正引用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09600" y="47434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变更影响表要记的六项——它是资料管理用的记录，不是系统内新增的发布流程或资源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Revision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09600" y="5067300"/>
            <a:ext cx="173355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266825" y="52768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原内容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2457450" y="5067300"/>
            <a:ext cx="173355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3038475" y="52768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拟改内容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4305300" y="5067300"/>
            <a:ext cx="173355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886325" y="52768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支持证据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153150" y="5067300"/>
            <a:ext cx="173355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667500" y="527685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受影响材料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8001000" y="5067300"/>
            <a:ext cx="173355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582025" y="52768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验证方法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9848850" y="5067300"/>
            <a:ext cx="1733550" cy="590550"/>
          </a:xfrm>
          <a:prstGeom prst="roundRect">
            <a:avLst>
              <a:gd name="adj" fmla="val 1290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0182225" y="52863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仍不能解决的情况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27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68" name="" descr="&lt;Slide notes={`要改对地方，先得看清一份内容被复制成了几份。&#10;&#10;公共作者资源在选入实验的时候，内容及其依赖被完整复制。也就是说，后来修改公共咨询台 Skill，不会自动更新已经存在的实验。&#10;&#10;实验封存以后，当前输入不可修改。Run 启动时又把当次实验完整嵌入，之后不再读取当前的公共资源或实验目录。&#10;&#10;这条复制隔离保证旧结果始终对应固定的输入，同时也要求维护者明确自己的编辑范围：我改的到底是公共资源、某个草稿，还是某一次运行的输入？&#10;&#10;这里没有 Revision，没有自动跟随，也没有运行期的外部活引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9　迭代与维护&lt;/Text&gt;&#10;            &lt;Text style={{ fontSize: 34, fontWeight: 'bold', color: '#20344B' }}&gt;知识块 ③&lt;/Text&gt;&#10;        &lt;/Box&gt;&#10;    &lt;/Box&gt;&#10;&#10;    &lt;Box style={{ height: 540, flexDirection: 'column', justifyContent: 'center', gap: 16 }}&gt;&#10;&#10;        &lt;Text style={{ fontSize: 96, fontWeight: 'bold', color: '#276FBF', lineHeight: 1.0 }}&gt;③&lt;/Text&gt;&#10;&#10;        &lt;Text style={{ fontSize: 56, fontWeight: 'bold', color: '#20344B', lineHeight: 1.15 }}&gt;选对副本，才能改对地方&lt;/Text&gt;&#10;&#10;        &lt;Box style={{ width: 72, height: 4, background: '#276FBF' }} /&gt;&#10;&#10;        &lt;Text style={{ fontSize: 18, color: '#546779', lineHeight: 1.7, width: 940 }}&gt;同一份内容会被复制成多份。沿复制边界看哪些副本仍保留原内容，才知道这一次编辑落在哪一件材料上。&lt;/Text&gt;&#10;&#10;        &lt;Box style={{ flexDirection: 'row', alignItems: 'center', marginTop: 10 }}&gt;&#10;            &lt;Box style={{ width: 254, height: 68, background: '#F7F3E8', borderRadius: 8, justifyContent: 'center', alignItems: 'center' }}&gt;&#10;                &lt;Text style={{ fontSize: 17, color: '#20344B' }}&gt;公共资源&lt;/Text&gt;&#10;            &lt;/Box&gt;&#10;            &lt;Box style={{ width: 44, height: 68, justifyContent: 'center', alignItems: 'center' }}&gt;&#10;                &lt;Text style={{ fontSize: 26, color: '#276FBF' }}&gt;›&lt;/Text&gt;&#10;            &lt;/Box&gt;&#10;            &lt;Box style={{ width: 254, height: 68, background: '#EDF4FC', borderRadius: 8, justifyContent: 'center', alignItems: 'center' }}&gt;&#10;                &lt;Text style={{ fontSize: 17, color: '#276FBF' }}&gt;独立实验草稿&lt;/Text&gt;&#10;            &lt;/Box&gt;&#10;            &lt;Box style={{ width: 44, height: 68, justifyContent: 'center', alignItems: 'center' }}&gt;&#10;                &lt;Text style={{ fontSize: 26, color: '#276FBF' }}&gt;›&lt;/Text&gt;&#10;            &lt;/Box&gt;&#10;            &lt;Box style={{ width: 254, height: 68, background: '#ECF7F2', borderRadius: 8, justifyContent: 'center', alignItems: 'center' }}&gt;&#10;                &lt;Text style={{ fontSize: 17, color: '#26816B' }}&gt;封存实验&lt;/Text&gt;&#10;            &lt;/Box&gt;&#10;            &lt;Box style={{ width: 44, height: 68, justifyContent: 'center', alignItems: 'center' }}&gt;&#10;                &lt;Text style={{ fontSize: 26, color: '#26816B' }}&gt;›&lt;/Text&gt;&#10;            &lt;/Box&gt;&#10;            &lt;Box style={{ width: 254, height: 68, background: '#F4F7FA', borderRadius: 8, justifyContent: 'center', alignItems: 'center' }}&gt;&#10;                &lt;Text style={{ fontSize: 17, color: '#20344B' }}&gt;Run 内嵌实验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9 迭代与维护&lt;/Text&gt;&#10;        &lt;Text style={{ fontSize: 14, color: '#546779' }}&gt;1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迭代与维护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③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09600" y="192405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选对副本，才能改对地方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09600" y="40767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09600" y="4267200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同一份内容会被复制成多份。沿复制边界看哪些副本仍保留原内容，才知道这一次编辑落在哪一件材料上。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09600" y="4867275"/>
            <a:ext cx="2419350" cy="647700"/>
          </a:xfrm>
          <a:prstGeom prst="roundRect">
            <a:avLst>
              <a:gd name="adj" fmla="val 1176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495425" y="50958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公共资源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3200400" y="50387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3448050" y="4867275"/>
            <a:ext cx="2419350" cy="647700"/>
          </a:xfrm>
          <a:prstGeom prst="roundRect">
            <a:avLst>
              <a:gd name="adj" fmla="val 1176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171950" y="509587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独立实验草稿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038850" y="50387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286500" y="4867275"/>
            <a:ext cx="2419350" cy="647700"/>
          </a:xfrm>
          <a:prstGeom prst="roundRect">
            <a:avLst>
              <a:gd name="adj" fmla="val 1176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172325" y="50958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封存实验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877300" y="50387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9124950" y="4867275"/>
            <a:ext cx="241935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9829800" y="5095875"/>
            <a:ext cx="1009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内嵌实验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27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90" name="" descr="&lt;Slide notes={`公共作者资源在选入实验的时候，内容及依赖会被物理复制一份。&#10;&#10;所以后来修改公共咨询台 Skill，不会自动更新既有实验。Run 启动时，又把当次实验完整嵌入，之后不再读取当前的公共资源或实验目录。&#10;&#10;这三层复制带来两个方向的结果。向下看，公共资源的修改不会自动流进旧实验，旧 Run 和原始导出保留原样，历史事实不会被后来的编辑悄悄改写。向上看，维护者必须明确自己改的是哪一份内容：改公共资源，影响的是未来新选入的项目；改实验草稿，影响的才是这一轮的执行输入。&#10;&#10;这里有三个&quot;没有&quot;：没有 Revision，没有自动跟随，也没有运行期的外部活引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9.4　选对副本，才能改对地方&lt;/Text&gt;&#10;            &lt;Text style={{ fontSize: 34, fontWeight: 'bold', color: '#20344B' }}&gt;公共资源、草稿、封存与 Run&lt;/Text&gt;&#10;        &lt;/Box&gt;&#10;    &lt;/Box&gt;&#10;&#10;    &lt;Box style={{ height: 540, flexDirection: 'row', alignItems: 'center', gap: 32 }}&gt;&#10;&#10;        &lt;Box style={{ width: 640, flexDirection: 'column' }}&gt;&#10;&#10;            &lt;Box style={{ width: 640, height: 80, background: '#F7F3E8', borderRadius: 10, padding: '0 20px', flexDirection: 'column', justifyContent: 'center', gap: 2 }}&gt;&#10;                &lt;Text style={{ fontSize: 19, fontWeight: 'bold', color: '#20344B' }}&gt;公共资源　直接编辑&lt;/Text&gt;&#10;                &lt;Text style={{ fontSize: 14, color: '#546779' }}&gt;影响未来新选入的项目&lt;/Text&gt;&#10;            &lt;/Box&gt;&#10;&#10;            &lt;Box style={{ width: 640, height: 40, flexDirection: 'row', alignItems: 'center', gap: 14 }}&gt;&#10;                &lt;Box style={{ width: 460, justifyContent: 'center', alignItems: 'center' }}&gt;&#10;                    &lt;Text style={{ fontSize: 20, color: '#276FBF' }}&gt;↓&lt;/Text&gt;&#10;                &lt;/Box&gt;&#10;                &lt;Text style={{ fontSize: 13, color: '#546779', width: 166 }}&gt;选入时完整复制&lt;/Text&gt;&#10;            &lt;/Box&gt;&#10;&#10;            &lt;Box style={{ width: 640, height: 80, background: '#EDF4FC', borderRadius: 10, padding: '0 20px', flexDirection: 'column', justifyContent: 'center', gap: 2 }}&gt;&#10;                &lt;Text style={{ fontSize: 19, fontWeight: 'bold', color: '#276FBF' }}&gt;独立实验草稿　DRAFT&lt;/Text&gt;&#10;                &lt;Text style={{ fontSize: 14, color: '#546779' }}&gt;包内副本可以编辑&lt;/Text&gt;&#10;            &lt;/Box&gt;&#10;&#10;            &lt;Box style={{ width: 640, height: 40, flexDirection: 'row', alignItems: 'center', gap: 14 }}&gt;&#10;                &lt;Box style={{ width: 460, justifyContent: 'center', alignItems: 'center' }}&gt;&#10;                    &lt;Text style={{ fontSize: 20, color: '#276FBF' }}&gt;↓&lt;/Text&gt;&#10;                &lt;/Box&gt;&#10;                &lt;Text style={{ fontSize: 13, color: '#546779', width: 166 }}&gt;封存&lt;/Text&gt;&#10;            &lt;/Box&gt;&#10;&#10;            &lt;Box style={{ width: 640, height: 80, background: '#ECF7F2', borderRadius: 10, padding: '0 20px', flexDirection: 'column', justifyContent: 'center', gap: 2 }}&gt;&#10;                &lt;Text style={{ fontSize: 19, fontWeight: 'bold', color: '#26816B' }}&gt;SEALED　当前输入不可修改&lt;/Text&gt;&#10;                &lt;Text style={{ fontSize: 14, color: '#546779' }}&gt;需要调整时复制成新的独立草稿&lt;/Text&gt;&#10;            &lt;/Box&gt;&#10;&#10;            &lt;Box style={{ width: 640, height: 40, flexDirection: 'row', alignItems: 'center', gap: 14 }}&gt;&#10;                &lt;Box style={{ width: 460, justifyContent: 'center', alignItems: 'center' }}&gt;&#10;                    &lt;Text style={{ fontSize: 20, color: '#26816B' }}&gt;↓&lt;/Text&gt;&#10;                &lt;/Box&gt;&#10;                &lt;Text style={{ fontSize: 13, color: '#546779', width: 166 }}&gt;启动时完整嵌入&lt;/Text&gt;&#10;            &lt;/Box&gt;&#10;&#10;            &lt;Box style={{ width: 640, height: 80, background: '#F4F7FA', borderRadius: 10, padding: '0 20px', flexDirection: 'column', justifyContent: 'center', gap: 2 }}&gt;&#10;                &lt;Text style={{ fontSize: 19, fontWeight: 'bold', color: '#20344B' }}&gt;Run 内嵌实验&lt;/Text&gt;&#10;                &lt;Text style={{ fontSize: 14, color: '#546779' }}&gt;固定本次执行输入&lt;/Text&gt;&#10;            &lt;/Box&gt;&#10;&#10;        &lt;/Box&gt;&#10;&#10;        &lt;Box style={{ width: 480, flexDirection: 'column', gap: 16 }}&gt;&#10;            &lt;Box style={{ width: 480, height: 152, background: '#FFF4E6', borderRadius: 10, padding: '18px 20px', flexDirection: 'column', gap: 8, justifyContent: 'center' }}&gt;&#10;                &lt;Text style={{ fontSize: 18, fontWeight: 'bold', color: '#CB6B28' }}&gt;公共修改不自动更新旧实验&lt;/Text&gt;&#10;                &lt;Text style={{ fontSize: 15, color: '#546779', lineHeight: 1.6 }}&gt;改了公共 Skill，既有实验里的那一份副本仍然是旧内容。&lt;/Text&gt;&#10;            &lt;/Box&gt;&#10;            &lt;Box style={{ width: 480, height: 152, background: '#ECF7F2', borderRadius: 10, padding: '18px 20px', flexDirection: 'column', gap: 8, justifyContent: 'center' }}&gt;&#10;                &lt;Text style={{ fontSize: 18, fontWeight: 'bold', color: '#26816B' }}&gt;旧 Run 与原始导出保留原样&lt;/Text&gt;&#10;                &lt;Text style={{ fontSize: 15, color: '#546779', lineHeight: 1.6 }}&gt;历史事实不会被后来的编辑悄悄改写。&lt;/Text&gt;&#10;            &lt;/Box&gt;&#10;            &lt;Box style={{ width: 480, height: 120, background: '#F4F7FA', borderRadius: 10, padding: '18px 20px', flexDirection: 'column', gap: 8, justifyContent: 'center' }}&gt;&#10;                &lt;Text style={{ fontSize: 18, fontWeight: 'bold', color: '#20344B' }}&gt;三个&quot;没有&quot;&lt;/Text&gt;&#10;                &lt;Text style={{ fontSize: 15, color: '#546779', lineHeight: 1.6 }}&gt;无 Revision、无自动跟随、无运行期外部活引用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9 迭代与维护&lt;/Text&gt;&#10;        &lt;Text style={{ fontSize: 14, color: '#546779' }}&gt;15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30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选对副本，才能改对地方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305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公共资源、草稿、封存与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609600" y="1619250"/>
            <a:ext cx="6096000" cy="762000"/>
          </a:xfrm>
          <a:prstGeom prst="roundRect">
            <a:avLst>
              <a:gd name="adj" fmla="val 125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00100" y="1800225"/>
            <a:ext cx="571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公共资源　直接编辑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00100" y="2038350"/>
            <a:ext cx="571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影响未来新选入的项目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2752725" y="24574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5124450" y="2495550"/>
            <a:ext cx="1581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选入时完整复制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09600" y="2762250"/>
            <a:ext cx="6096000" cy="7620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00100" y="2943225"/>
            <a:ext cx="571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独立实验草稿　</a:t>
            </a: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>DRAFT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00100" y="3181350"/>
            <a:ext cx="571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包内副本可以编辑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2752725" y="36004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124450" y="3638550"/>
            <a:ext cx="1581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封存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609600" y="3905250"/>
            <a:ext cx="6096000" cy="7620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00100" y="4086225"/>
            <a:ext cx="571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6816B"/>
                </a:solidFill>
                <a:latin typeface="Microsoft YaHei"/>
                <a:ea typeface="Microsoft YaHei"/>
              </a:rPr>
              <a:t>SEALED</a:t>
            </a: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　当前输入不可修改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00100" y="4324350"/>
            <a:ext cx="571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需要调整时复制成新的独立草稿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2752725" y="47434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124450" y="4781550"/>
            <a:ext cx="1581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启动时完整嵌入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09600" y="5048250"/>
            <a:ext cx="60960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00100" y="5229225"/>
            <a:ext cx="571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内嵌实验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00100" y="5467350"/>
            <a:ext cx="571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固定本次执行输入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7010400" y="1543050"/>
            <a:ext cx="4572000" cy="1447800"/>
          </a:xfrm>
          <a:prstGeom prst="roundRect">
            <a:avLst>
              <a:gd name="adj" fmla="val 657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200900" y="1990725"/>
            <a:ext cx="4191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公共修改不自动更新旧实验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200900" y="2276475"/>
            <a:ext cx="4191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改了公共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，既有实验里的那一份副本仍然是旧内容。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7010400" y="3143250"/>
            <a:ext cx="4572000" cy="1447800"/>
          </a:xfrm>
          <a:prstGeom prst="roundRect">
            <a:avLst>
              <a:gd name="adj" fmla="val 657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200900" y="3590925"/>
            <a:ext cx="4191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旧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与原始导出保留原样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200900" y="3876675"/>
            <a:ext cx="4191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历史事实不会被后来的编辑悄悄改写。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7010400" y="4743450"/>
            <a:ext cx="457200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200900" y="5038725"/>
            <a:ext cx="4191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三个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没有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7200900" y="5324475"/>
            <a:ext cx="4191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Revision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、无自动跟随、无运行期外部活引用。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27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24" name="" descr="&lt;Slide notes={`同样是改咨询台的目的检索，实验处在不同状态，做法完全不同。&#13;&#10;&#13;&#10;如果这个实验还是 DRAFT，你可以在它自己的包内副本上编辑，改完保存、重新打开核对一遍，再跑预检。改的还是同一个实验草稿。&#13;&#10;&#13;&#10;如果实验已经 SEALED，情况就变了。封存意味着当前输入不可修改，原件不会解锁。你要做的是把它复制成一个新的独立草稿，在新草稿里改内容，并记录新的实验身份和这次人工变更的说明。&#13;&#10;&#13;&#10;两种做法都不能建立&quot;自动跟随最新版&quot;的关系。旧实验继续对应它自己的旧输入，新草稿是另一件材料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9.4　选对副本，才能改对地方&lt;/Text&gt;&#13;&#10;            &lt;Text style={{ fontSize: 34, fontWeight: 'bold', color: '#20344B' }}&gt;草稿里改，还是另建草稿&lt;/Text&gt;&#13;&#10;        &lt;/Box&gt;&#13;&#10;    &lt;/Box&gt;&#13;&#10;&#13;&#10;    &lt;Box style={{ height: 540, flexDirection: 'column', justifyContent: 'center', gap: 18 }}&gt;&#13;&#10;&#13;&#10;        &lt;Box style={{ width: 1152, flexDirection: 'row', gap: 32 }}&gt;&#13;&#10;&#13;&#10;            &lt;Box style={{ width: 560, height: 352, background: '#EDF4FC', borderRadius: 12, padding: 20, flexDirection: 'column', gap: 10 }}&gt;&#13;&#10;                &lt;Box style={{ width: 520, height: 52, flexDirection: 'column', justifyContent: 'center', gap: 2 }}&gt;&#13;&#10;                    &lt;Text style={{ fontSize: 13, color: '#546779' }}&gt;实验仍是草稿&lt;/Text&gt;&#13;&#10;                    &lt;Text style={{ fontSize: 22, fontWeight: 'bold', color: '#276FBF' }}&gt;在包内副本上就地改&lt;/Text&gt;&#13;&#10;                &lt;/Box&gt;&#13;&#10;                &lt;Box style={{ width: 520, height: 56, background: '#FFFFFF', borderRadius: 8, padding: '0 18px', flexDirection: 'row', alignItems: 'center', gap: 14 }}&gt;&#13;&#10;                    &lt;Box style={{ width: 4, height: 32, background: '#276FBF' }} /&gt;&#13;&#10;                    &lt;Text style={{ fontSize: 15, color: '#20344B' }}&gt;在该草稿的包内副本中编辑内容&lt;/Text&gt;&#13;&#10;                &lt;/Box&gt;&#13;&#10;                &lt;Box style={{ width: 520, height: 56, background: '#FFFFFF', borderRadius: 8, padding: '0 18px', flexDirection: 'row', alignItems: 'center', gap: 14 }}&gt;&#13;&#10;                    &lt;Box style={{ width: 4, height: 32, background: '#276FBF' }} /&gt;&#13;&#10;                    &lt;Text style={{ fontSize: 15, color: '#20344B' }}&gt;保存后重新打开，核对内容确实生效&lt;/Text&gt;&#13;&#10;                &lt;/Box&gt;&#13;&#10;                &lt;Box style={{ width: 520, height: 56, background: '#FFFFFF', borderRadius: 8, padding: '0 18px', flexDirection: 'row', alignItems: 'center', gap: 14 }}&gt;&#13;&#10;                    &lt;Box style={{ width: 4, height: 32, background: '#276FBF' }} /&gt;&#13;&#10;                    &lt;Text style={{ fontSize: 15, color: '#20344B' }}&gt;再执行预检，确认资源闭包完整&lt;/Text&gt;&#13;&#10;                &lt;/Box&gt;&#13;&#10;                &lt;Box style={{ width: 520, height: 44, borderRadius: 8, padding: '0 18px', justifyContent: 'center' }}&gt;&#13;&#10;                    &lt;Text style={{ fontSize: 14, color: '#546779' }}&gt;改的仍是同一个实验草稿。&lt;/Text&gt;&#13;&#10;                &lt;/Box&gt;&#13;&#10;            &lt;/Box&gt;&#13;&#10;&#13;&#10;            &lt;Box style={{ width: 560, height: 352, background: '#FFF4E6', borderRadius: 12, padding: 20, flexDirection: 'column', gap: 10 }}&gt;&#13;&#10;                &lt;Box style={{ width: 520, height: 52, flexDirection: 'column', justifyContent: 'center', gap: 2 }}&gt;&#13;&#10;                    &lt;Text style={{ fontSize: 13, color: '#546779' }}&gt;实验已经封存&lt;/Text&gt;&#13;&#10;                    &lt;Text style={{ fontSize: 22, fontWeight: 'bold', color: '#CB6B28' }}&gt;复制成新的独立草稿&lt;/Text&gt;&#13;&#10;                &lt;/Box&gt;&#13;&#10;                &lt;Box style={{ width: 520, height: 56, background: '#FFFFFF', borderRadius: 8, padding: '0 18px', flexDirection: 'row', alignItems: 'center', gap: 14 }}&gt;&#13;&#10;                    &lt;Box style={{ width: 4, height: 32, background: '#CB6B28' }} /&gt;&#13;&#10;                    &lt;Text style={{ fontSize: 15, color: '#20344B' }}&gt;封存原件不解锁，也不被改写&lt;/Text&gt;&#13;&#10;                &lt;/Box&gt;&#13;&#10;                &lt;Box style={{ width: 520, height: 56, background: '#FFFFFF', borderRadius: 8, padding: '0 18px', flexDirection: 'row', alignItems: 'center', gap: 14 }}&gt;&#13;&#10;                    &lt;Box style={{ width: 4, height: 32, background: '#CB6B28' }} /&gt;&#13;&#10;                    &lt;Text style={{ fontSize: 15, color: '#20344B' }}&gt;在新草稿里修改需要变化的内容&lt;/Text&gt;&#13;&#10;                &lt;/Box&gt;&#13;&#10;                &lt;Box style={{ width: 520, height: 56, background: '#FFFFFF', borderRadius: 8, padding: '0 18px', flexDirection: 'row', alignItems: 'center', gap: 14 }}&gt;&#13;&#10;                    &lt;Box style={{ width: 4, height: 32, background: '#CB6B28' }} /&gt;&#13;&#10;                    &lt;Text style={{ fontSize: 15, color: '#20344B' }}&gt;记录新实验身份与人工变更说明&lt;/Text&gt;&#13;&#10;                &lt;/Box&gt;&#13;&#10;                &lt;Box style={{ width: 520, height: 44, borderRadius: 8, padding: '0 18px', justifyContent: 'center' }}&gt;&#13;&#10;                    &lt;Text style={{ fontSize: 14, color: '#546779' }}&gt;封存原件与旧 Run 继续对应旧输入。&lt;/Text&gt;&#13;&#10;                &lt;/Box&gt;&#13;&#10;            &lt;/Box&gt;&#13;&#10;&#13;&#10;        &lt;/Box&gt;&#13;&#10;&#13;&#10;        &lt;Box style={{ width: 1152, height: 76, background: '#F4F7FA', borderRadius: 10, padding: '0 22px', flexDirection: 'row', alignItems: 'center', gap: 16 }}&gt;&#13;&#10;            &lt;Box style={{ width: 4, height: 44, background: '#276FBF' }} /&gt;&#13;&#10;            &lt;Text style={{ fontSize: 16, color: '#20344B', lineHeight: 1.5 }}&gt;两种做法都不建立&quot;自动跟随最新版&quot;的关系：明确修改了哪份内容，旧结果仍然对应旧输入。&lt;/Text&gt;&#13;&#10;        &lt;/Box&gt;&#13;&#10;&#13;&#10;    &lt;/Box&gt;&#13;&#10;&#13;&#10;    &lt;Box style={{ height: 40, flexDirection: 'row', justifyContent: 'space-between', alignItems: 'center' }}&gt;&#13;&#10;        &lt;Text style={{ fontSize: 14, color: '#546779' }}&gt;5.9 迭代与维护&lt;/Text&gt;&#13;&#10;        &lt;Text style={{ fontSize: 14, color: '#546779' }}&gt;16 / 27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选对副本，才能改对地方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草稿里改，还是另建草稿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09600" y="1590675"/>
            <a:ext cx="5334000" cy="3352800"/>
          </a:xfrm>
          <a:prstGeom prst="roundRect">
            <a:avLst>
              <a:gd name="adj" fmla="val 340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00100" y="181927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实验仍是草稿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00100" y="1990725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在包内副本上就地改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800100" y="2371725"/>
            <a:ext cx="4953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971550" y="2486025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43000" y="255270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在该草稿的包内副本中编辑内容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800100" y="3000375"/>
            <a:ext cx="4953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971550" y="3114675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143000" y="318135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保存后重新打开，核对内容确实生效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800100" y="3629025"/>
            <a:ext cx="4953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971550" y="3743325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143000" y="381000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再执行预检，确认资源闭包完整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800100" y="4257675"/>
            <a:ext cx="4953000" cy="419100"/>
          </a:xfrm>
          <a:prstGeom prst="roundRect">
            <a:avLst>
              <a:gd name="adj" fmla="val 18182"/>
            </a:avLst>
          </a:prstGeom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971550" y="439102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改的仍是同一个实验草稿。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248400" y="1590675"/>
            <a:ext cx="5334000" cy="3352800"/>
          </a:xfrm>
          <a:prstGeom prst="roundRect">
            <a:avLst>
              <a:gd name="adj" fmla="val 340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438900" y="181927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实验已经封存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438900" y="1990725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复制成新的独立草稿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438900" y="2371725"/>
            <a:ext cx="4953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6610350" y="2486025"/>
            <a:ext cx="38100" cy="304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781800" y="255270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封存原件不解锁，也不被改写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438900" y="3000375"/>
            <a:ext cx="4953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0" name=""/>
          <p:cNvSpPr/>
          <p:nvPr/>
        </p:nvSpPr>
        <p:spPr>
          <a:xfrm rot="0" flipH="0" flipV="0">
            <a:off x="6610350" y="3114675"/>
            <a:ext cx="38100" cy="304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781800" y="318135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在新草稿里修改需要变化的内容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6438900" y="3629025"/>
            <a:ext cx="4953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6610350" y="3743325"/>
            <a:ext cx="38100" cy="304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781800" y="381000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记录新实验身份与人工变更说明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438900" y="4257675"/>
            <a:ext cx="4953000" cy="419100"/>
          </a:xfrm>
          <a:prstGeom prst="roundRect">
            <a:avLst>
              <a:gd name="adj" fmla="val 18182"/>
            </a:avLst>
          </a:prstGeom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610350" y="439102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封存原件与旧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继续对应旧输入。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09600" y="511492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819150" y="52673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009650" y="5343525"/>
            <a:ext cx="6229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两种做法都不建立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自动跟随最新版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的关系：明确修改了哪份内容，旧结果仍然对应旧输入。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27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62" name="" descr="&lt;Slide notes={`可以把下一轮工作写成一段具体的交接文字，让接手的人照着做。&#13;&#10;&#13;&#10;写法是这样的：复制原封存实验为独立草稿；只把咨询台目的检索从&quot;需要时&quot;改为&quot;每次判断前&quot;，保留其原有澄清决策；保留四名来访者的初始话语、窗口规则和全部运行参数；保存后复核差异，再执行。&#13;&#10;&#13;&#10;这段话里有两组信息。一组是改什么，只改检索条件；另一组是不动什么，澄清决策、初始话语、窗口规则、运行参数全部保留。只写第一组，接手的人很容易顺手多改。&#13;&#10;&#13;&#10;原实验和 Run 的真实 ID 在操作完成之后登记，书里不预先填写这些编号。还要提醒一句：这时候研究的是检索条件的变化，不能把新结果仍然归到最初那次建议与先澄清的对照上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9.4　选对副本，才能改对地方&lt;/Text&gt;&#13;&#10;            &lt;Text style={{ fontSize: 34, fontWeight: 'bold', color: '#20344B' }}&gt;把下一轮写成一段交接&lt;/Text&gt;&#13;&#10;        &lt;/Box&gt;&#13;&#10;    &lt;/Box&gt;&#13;&#10;&#13;&#10;    &lt;Box style={{ height: 540, flexDirection: 'row', alignItems: 'center', gap: 32 }}&gt;&#13;&#10;&#13;&#10;        &lt;Box style={{ width: 400, flexDirection: 'column', gap: 16 }}&gt;&#13;&#10;            &lt;Text style={{ fontSize: 22, fontWeight: 'bold', color: '#20344B', lineHeight: 1.4 }}&gt;交接文字要说清两件事&lt;/Text&gt;&#13;&#10;            &lt;Box style={{ width: 64, height: 4, background: '#276FBF' }} /&gt;&#13;&#10;            &lt;Text style={{ fontSize: 16, color: '#546779', lineHeight: 1.7 }}&gt;改什么，以及不动什么。只讲第一件，接手的人很容易顺手多改一处，下一轮的结果就说不清来源。&lt;/Text&gt;&#13;&#10;            &lt;Box style={{ width: 400, height: 152, background: '#F4F7FA', borderRadius: 10, padding: '18px 20px', flexDirection: 'column', gap: 8, justifyContent: 'center' }}&gt;&#13;&#10;                &lt;Text style={{ fontSize: 17, fontWeight: 'bold', color: '#20344B' }}&gt;真实编号留空&lt;/Text&gt;&#13;&#10;                &lt;Text style={{ fontSize: 14, color: '#546779', lineHeight: 1.55 }}&gt;原实验与 Run 的 ID 在操作后登记，不预先填写。&lt;/Text&gt;&#13;&#10;            &lt;/Box&gt;&#13;&#10;        &lt;/Box&gt;&#13;&#10;&#13;&#10;        &lt;Box style={{ width: 720, flexDirection: 'column', gap: 14 }}&gt;&#13;&#10;&#13;&#10;            &lt;Box style={{ width: 720, height: 210, background: '#F7F3E8', borderRadius: 12, padding: '20px 24px', flexDirection: 'column', gap: 8 }}&gt;&#13;&#10;                &lt;Text style={{ fontSize: 13, color: '#546779' }}&gt;下一轮工作的交接文字&lt;/Text&gt;&#13;&#10;                &lt;Text style={{ fontSize: 16, color: '#20344B', lineHeight: 1.75 }}&gt;复制原封存实验为独立草稿；只把咨询台目的检索从&quot;需要时&quot;改为&quot;每次判断前&quot;，保留其原有澄清决策；保留四名来访者的初始话语、窗口规则和全部运行参数；保存后复核差异，再执行。&lt;/Text&gt;&#13;&#10;            &lt;/Box&gt;&#13;&#10;&#13;&#10;            &lt;Box style={{ width: 720, flexDirection: 'row', gap: 14 }}&gt;&#13;&#10;                &lt;Box style={{ width: 230, height: 96, background: '#ECF7F2', borderRadius: 10, padding: '12px 16px', flexDirection: 'column', gap: 6, justifyContent: 'center' }}&gt;&#13;&#10;                    &lt;Text style={{ fontSize: 15, fontWeight: 'bold', color: '#26816B' }}&gt;不动&lt;/Text&gt;&#13;&#10;                    &lt;Text style={{ fontSize: 14, color: '#546779', lineHeight: 1.45 }}&gt;原有澄清决策&lt;/Text&gt;&#13;&#10;                &lt;/Box&gt;&#13;&#10;                &lt;Box style={{ width: 230, height: 96, background: '#ECF7F2', borderRadius: 10, padding: '12px 16px', flexDirection: 'column', gap: 6, justifyContent: 'center' }}&gt;&#13;&#10;                    &lt;Text style={{ fontSize: 15, fontWeight: 'bold', color: '#26816B' }}&gt;不动&lt;/Text&gt;&#13;&#10;                    &lt;Text style={{ fontSize: 14, color: '#546779', lineHeight: 1.45 }}&gt;初始话语与窗口规则&lt;/Text&gt;&#13;&#10;                &lt;/Box&gt;&#13;&#10;                &lt;Box style={{ width: 230, height: 96, background: '#ECF7F2', borderRadius: 10, padding: '12px 16px', flexDirection: 'column', gap: 6, justifyContent: 'center' }}&gt;&#13;&#10;                    &lt;Text style={{ fontSize: 15, fontWeight: 'bold', color: '#26816B' }}&gt;不动&lt;/Text&gt;&#13;&#10;                    &lt;Text style={{ fontSize: 14, color: '#546779', lineHeight: 1.45 }}&gt;全部运行参数&lt;/Text&gt;&#13;&#10;                &lt;/Box&gt;&#13;&#10;            &lt;/Box&gt;&#13;&#10;&#13;&#10;            &lt;Box style={{ width: 720, height: 52, background: '#FFFFFF', borderRadius: 8, padding: '0 4px', justifyContent: 'center' }}&gt;&#13;&#10;                &lt;Text style={{ fontSize: 14, color: '#546779', lineHeight: 1.5 }}&gt;此时研究的是检索条件的变化，新结果不再属于最初那次建议／先澄清对照。&lt;/Text&gt;&#13;&#10;            &lt;/Box&gt;&#13;&#10;&#13;&#10;        &lt;/Box&gt;&#13;&#10;&#13;&#10;    &lt;/Box&gt;&#13;&#10;&#13;&#10;    &lt;Box style={{ height: 40, flexDirection: 'row', justifyContent: 'space-between', alignItems: 'center' }}&gt;&#13;&#10;        &lt;Text style={{ fontSize: 14, color: '#546779' }}&gt;5.9 迭代与维护&lt;/Text&gt;&#13;&#10;        &lt;Text style={{ fontSize: 14, color: '#546779' }}&gt;17 / 27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选对副本，才能改对地方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把下一轮写成一段交接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09600" y="2257425"/>
            <a:ext cx="38100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交接文字要说清两件事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609600" y="2762250"/>
            <a:ext cx="6096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09600" y="2952750"/>
            <a:ext cx="3810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改什么，以及不动什么。只讲第一件，接手的人很容易顺手多改一处，下一轮的结果就说不清来源。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609600" y="3733800"/>
            <a:ext cx="3810000" cy="1447800"/>
          </a:xfrm>
          <a:prstGeom prst="roundRect">
            <a:avLst>
              <a:gd name="adj" fmla="val 657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00100" y="4191000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真实编号留空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00100" y="4467225"/>
            <a:ext cx="3429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原实验与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在操作后登记，不预先填写。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4724400" y="1876425"/>
            <a:ext cx="6858000" cy="2000250"/>
          </a:xfrm>
          <a:prstGeom prst="roundRect">
            <a:avLst>
              <a:gd name="adj" fmla="val 571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4953000" y="2066925"/>
            <a:ext cx="6400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下一轮工作的交接文字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953000" y="2295525"/>
            <a:ext cx="64008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复制原封存实验为独立草稿；只把咨询台目的检索从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需要时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改为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每次判断前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，保留其原有澄清决策；保留四名来访者的初始话语、窗口规则和全部运行参数；保存后复核差异，再执行。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4724400" y="4010025"/>
            <a:ext cx="219075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4876800" y="4238625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不动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4876800" y="4467225"/>
            <a:ext cx="18859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原有澄清决策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7048500" y="4010025"/>
            <a:ext cx="219075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200900" y="4238625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不动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7200900" y="4467225"/>
            <a:ext cx="18859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初始话语与窗口规则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9372600" y="4010025"/>
            <a:ext cx="219075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9525000" y="4238625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不动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9525000" y="4467225"/>
            <a:ext cx="18859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全部运行参数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4724400" y="5057775"/>
            <a:ext cx="6858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4762500" y="5181600"/>
            <a:ext cx="6781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此时研究的是检索条件的变化，新结果不再属于最初那次建议／先澄清对照。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27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89" name="" descr="&lt;Slide notes={`调整公共资源和修改实验内的副本，是两项不同的决定，目的也不同。&#10;&#10;改公共资源，目的是让未来新项目能选到新材料，它影响的是以后。&#10;改实验里的那一份副本，目的是让这一轮的执行用上新的输入，它影响的是当下。&#10;&#10;两处可以都改，但必须分别确认：哪一个草稿已经采用了新内容，哪些旧实验仍然保留旧内容。只确认一处，就会出现&quot;我以为都更新了&quot;的错位。&#10;&#10;还有一种情况要提前想好。Skill 出现同 key 不同内容时，导入会产生冲突。这时候应该明确处理内容选择，不按名字静默覆盖，也不手工改包绕过校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9.4　选对副本，才能改对地方&lt;/Text&gt;&#10;            &lt;Text style={{ fontSize: 34, fontWeight: 'bold', color: '#20344B' }}&gt;公共资源与实验：两处分别确认&lt;/Text&gt;&#10;        &lt;/Box&gt;&#10;    &lt;/Box&gt;&#10;&#10;    &lt;Box style={{ height: 540, flexDirection: 'column', justifyContent: 'center', gap: 18 }}&gt;&#10;&#10;        &lt;Box style={{ width: 1152, flexDirection: 'row', gap: 32 }}&gt;&#10;&#10;            &lt;Box style={{ width: 560, height: 292, background: '#EDF4FC', borderRadius: 12, padding: 20, flexDirection: 'column', gap: 10 }}&gt;&#10;                &lt;Box style={{ width: 520, height: 52, flexDirection: 'column', justifyContent: 'center', gap: 2 }}&gt;&#10;                    &lt;Text style={{ fontSize: 13, color: '#546779' }}&gt;决定一&lt;/Text&gt;&#10;                    &lt;Text style={{ fontSize: 21, fontWeight: 'bold', color: '#276FBF' }}&gt;调整公共资源&lt;/Text&gt;&#10;                &lt;/Box&gt;&#10;                &lt;Box style={{ width: 520, height: 54, background: '#FFFFFF', borderRadius: 8, padding: '0 18px', justifyContent: 'center' }}&gt;&#10;                    &lt;Text style={{ fontSize: 15, color: '#20344B' }}&gt;目的：让未来新项目能选到新材料&lt;/Text&gt;&#10;                &lt;/Box&gt;&#10;                &lt;Box style={{ width: 520, height: 54, background: '#FFFFFF', borderRadius: 8, padding: '0 18px', justifyContent: 'center' }}&gt;&#10;                    &lt;Text style={{ fontSize: 15, color: '#20344B' }}&gt;确认：哪些后续项目会采用它&lt;/Text&gt;&#10;                &lt;/Box&gt;&#10;                &lt;Box style={{ width: 520, height: 54, background: '#FFFFFF', borderRadius: 8, padding: '0 18px', justifyContent: 'center' }}&gt;&#10;                    &lt;Text style={{ fontSize: 15, color: '#20344B' }}&gt;既有实验的旧内容不随之改变&lt;/Text&gt;&#10;                &lt;/Box&gt;&#10;                &lt;Box style={{ flex: 1 }} /&gt;&#10;            &lt;/Box&gt;&#10;&#10;            &lt;Box style={{ width: 560, height: 292, background: '#FFF4E6', borderRadius: 12, padding: 20, flexDirection: 'column', gap: 10 }}&gt;&#10;                &lt;Box style={{ width: 520, height: 52, flexDirection: 'column', justifyContent: 'center', gap: 2 }}&gt;&#10;                    &lt;Text style={{ fontSize: 13, color: '#546779' }}&gt;决定二&lt;/Text&gt;&#10;                    &lt;Text style={{ fontSize: 21, fontWeight: 'bold', color: '#CB6B28' }}&gt;修改实验内的副本&lt;/Text&gt;&#10;                &lt;/Box&gt;&#10;                &lt;Box style={{ width: 520, height: 54, background: '#FFFFFF', borderRadius: 8, padding: '0 18px', justifyContent: 'center' }}&gt;&#10;                    &lt;Text style={{ fontSize: 15, color: '#20344B' }}&gt;目的：让这一轮执行用上新的输入&lt;/Text&gt;&#10;                &lt;/Box&gt;&#10;                &lt;Box style={{ width: 520, height: 54, background: '#FFFFFF', borderRadius: 8, padding: '0 18px', justifyContent: 'center' }}&gt;&#10;                    &lt;Text style={{ fontSize: 15, color: '#20344B' }}&gt;确认：哪一个草稿已采用新内容&lt;/Text&gt;&#10;                &lt;/Box&gt;&#10;                &lt;Box style={{ width: 520, height: 54, background: '#FFFFFF', borderRadius: 8, padding: '0 18px', justifyContent: 'center' }}&gt;&#10;                    &lt;Text style={{ fontSize: 15, color: '#20344B' }}&gt;确认：哪些旧实验仍保留旧内容&lt;/Text&gt;&#10;                &lt;/Box&gt;&#10;                &lt;Box style={{ flex: 1 }} /&gt;&#10;            &lt;/Box&gt;&#10;&#10;        &lt;/Box&gt;&#10;&#10;        &lt;Box style={{ width: 1152, height: 88, background: '#FFF4E6', borderRadius: 10, padding: '0 22px', flexDirection: 'row', alignItems: 'center', gap: 16 }}&gt;&#10;            &lt;Box style={{ width: 4, height: 44, background: '#CB6B28' }} /&gt;&#10;            &lt;Box style={{ flexDirection: 'column', gap: 4 }}&gt;&#10;                &lt;Text style={{ fontSize: 16, fontWeight: 'bold', color: '#CB6B28' }}&gt;同名不同内容要显式选择&lt;/Text&gt;&#10;                &lt;Text style={{ fontSize: 15, color: '#546779' }}&gt;Skill 同 key 异内容产生导入冲突时，不按名字静默覆盖，也不手工改包绕过校验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9 迭代与维护&lt;/Text&gt;&#10;        &lt;Text style={{ fontSize: 14, color: '#546779' }}&gt;18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选对副本，才能改对地方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公共资源与实验：两处分别确认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609600" y="1819275"/>
            <a:ext cx="5334000" cy="2781300"/>
          </a:xfrm>
          <a:prstGeom prst="roundRect">
            <a:avLst>
              <a:gd name="adj" fmla="val 411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00100" y="204787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决定一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00100" y="2219325"/>
            <a:ext cx="4953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76FBF"/>
                </a:solidFill>
                <a:latin typeface="Microsoft YaHei"/>
                <a:ea typeface="Microsoft YaHei"/>
              </a:rPr>
              <a:t>调整公共资源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800100" y="2600325"/>
            <a:ext cx="4953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971550" y="2771775"/>
            <a:ext cx="461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目的：让未来新项目能选到新材料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800100" y="3209925"/>
            <a:ext cx="4953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971550" y="3381375"/>
            <a:ext cx="461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确认：哪些后续项目会采用它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800100" y="3819525"/>
            <a:ext cx="4953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971550" y="3990975"/>
            <a:ext cx="461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既有实验的旧内容不随之改变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6248400" y="1819275"/>
            <a:ext cx="5334000" cy="2781300"/>
          </a:xfrm>
          <a:prstGeom prst="roundRect">
            <a:avLst>
              <a:gd name="adj" fmla="val 411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438900" y="204787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决定二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438900" y="2219325"/>
            <a:ext cx="4953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CB6B28"/>
                </a:solidFill>
                <a:latin typeface="Microsoft YaHei"/>
                <a:ea typeface="Microsoft YaHei"/>
              </a:rPr>
              <a:t>修改实验内的副本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6438900" y="2600325"/>
            <a:ext cx="4953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610350" y="2771775"/>
            <a:ext cx="461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目的：让这一轮执行用上新的输入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438900" y="3209925"/>
            <a:ext cx="4953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610350" y="3381375"/>
            <a:ext cx="461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确认：哪一个草稿已采用新内容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6438900" y="3819525"/>
            <a:ext cx="4953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610350" y="3990975"/>
            <a:ext cx="461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确认：哪些旧实验仍保留旧内容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609600" y="477202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819150" y="498157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009650" y="4991100"/>
            <a:ext cx="5210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同名不同内容要显式选择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009650" y="5219700"/>
            <a:ext cx="5210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key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异内容产生导入冲突时，不按名字静默覆盖，也不手工改包绕过校验。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27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18" name="" descr="&lt;Slide notes={`继续、再做和改后再做，说的是不同的动作，必须用正确的身份去描述。&#13;&#10;&#13;&#10;第一种，原运行暂停后继续：还是同一个 Run，增加一个新的 Attempt，从完整的已提交边界的下一个 Step 开始。&#13;&#10;第二种，从旧 Run 重跑：读取旧 Run 内嵌的实验，创建新的 Run；公共资源的新改动不会自动进入。&#13;&#10;第三种，修改咨询策略之后执行：这是一份新的独立实验输入，然后才产生新的 Run。&#13;&#10;&#13;&#10;还有一种不算执行的动作，重新评阅已有事实：引用同一个 Run，新增一份独立的评分说明，不制造新的执行事实。&#13;&#10;&#13;&#10;这张表要和交付索引保持一致。Attempt 的增加说明执行尝试变了，不是模型策略产生了一个业务版本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9.5　用正确身份描述下一项工作&lt;/Text&gt;&#13;&#10;            &lt;Text style={{ fontSize: 34, fontWeight: 'bold', color: '#20344B' }}&gt;四种下一项工作的身份&lt;/Text&gt;&#13;&#10;        &lt;/Box&gt;&#13;&#10;    &lt;/Box&gt;&#13;&#10;&#13;&#10;    &lt;Box style={{ height: 540, flexDirection: 'column', justifyContent: 'center', gap: 12 }}&gt;&#13;&#10;&#13;&#10;        &lt;Box style={{ width: 1152, height: 40, background: '#F4F7FA', borderRadius: 8, padding: '0 20px', flexDirection: 'row', alignItems: 'center', gap: 24 }}&gt;&#13;&#10;            &lt;Text style={{ fontSize: 14, color: '#546779', width: 320 }}&gt;下一项工作&lt;/Text&gt;&#13;&#10;            &lt;Text style={{ fontSize: 14, color: '#546779' }}&gt;输入与身份变化&lt;/Text&gt;&#13;&#10;        &lt;/Box&gt;&#13;&#10;&#13;&#10;        &lt;Box style={{ width: 1152, height: 100, background: '#EDF4FC', borderRadius: 10, padding: '0 20px', flexDirection: 'row', alignItems: 'center', gap: 24 }}&gt;&#13;&#10;            &lt;Box style={{ width: 320, flexDirection: 'row', alignItems: 'center', gap: 12 }}&gt;&#13;&#10;                &lt;Box style={{ width: 4, height: 44, background: '#276FBF' }} /&gt;&#13;&#10;                &lt;Text style={{ fontSize: 18, fontWeight: 'bold', color: '#20344B', width: 292 }}&gt;原运行暂停后继续&lt;/Text&gt;&#13;&#10;            &lt;/Box&gt;&#13;&#10;            &lt;Text style={{ fontSize: 16, color: '#546779', width: 768, lineHeight: 1.5 }}&gt;同一 Run，新 Attempt，从完整已提交边界的下一 Step 开始&lt;/Text&gt;&#13;&#10;        &lt;/Box&gt;&#13;&#10;&#13;&#10;        &lt;Box style={{ width: 1152, height: 100, background: '#EDF4FC', borderRadius: 10, padding: '0 20px', flexDirection: 'row', alignItems: 'center', gap: 24 }}&gt;&#13;&#10;            &lt;Box style={{ width: 320, flexDirection: 'row', alignItems: 'center', gap: 12 }}&gt;&#13;&#10;                &lt;Box style={{ width: 4, height: 44, background: '#276FBF' }} /&gt;&#13;&#10;                &lt;Text style={{ fontSize: 18, fontWeight: 'bold', color: '#20344B', width: 292 }}&gt;从旧 Run 重跑&lt;/Text&gt;&#13;&#10;            &lt;/Box&gt;&#13;&#10;            &lt;Text style={{ fontSize: 16, color: '#546779', width: 768, lineHeight: 1.5 }}&gt;读取旧 Run 内嵌实验，创建新 Run；公共资源的新改动不会自动进入&lt;/Text&gt;&#13;&#10;        &lt;/Box&gt;&#13;&#10;&#13;&#10;        &lt;Box style={{ width: 1152, height: 100, background: '#ECF7F2', borderRadius: 10, padding: '0 20px', flexDirection: 'row', alignItems: 'center', gap: 24 }}&gt;&#13;&#10;            &lt;Box style={{ width: 320, flexDirection: 'row', alignItems: 'center', gap: 12 }}&gt;&#13;&#10;                &lt;Box style={{ width: 4, height: 44, background: '#26816B' }} /&gt;&#13;&#10;                &lt;Text style={{ fontSize: 18, fontWeight: 'bold', color: '#20344B', width: 292 }}&gt;修改咨询策略后执行&lt;/Text&gt;&#13;&#10;            &lt;/Box&gt;&#13;&#10;            &lt;Text style={{ fontSize: 16, color: '#546779', width: 768, lineHeight: 1.5 }}&gt;新的独立实验输入，再产生新的 Run&lt;/Text&gt;&#13;&#10;        &lt;/Box&gt;&#13;&#10;&#13;&#10;        &lt;Box style={{ width: 1152, height: 100, background: '#F4F7FA', borderRadius: 10, padding: '0 20px', flexDirection: 'row', alignItems: 'center', gap: 24 }}&gt;&#13;&#10;            &lt;Box style={{ width: 320, flexDirection: 'row', alignItems: 'center', gap: 12 }}&gt;&#13;&#10;                &lt;Box style={{ width: 4, height: 44, background: '#546779' }} /&gt;&#13;&#10;                &lt;Text style={{ fontSize: 18, fontWeight: 'bold', color: '#20344B', width: 292 }}&gt;重新评阅已有事实&lt;/Text&gt;&#13;&#10;            &lt;/Box&gt;&#13;&#10;            &lt;Text style={{ fontSize: 16, color: '#546779', width: 768, lineHeight: 1.5 }}&gt;引用同一 Run，新增独立评分说明，不制造新的执行事实&lt;/Text&gt;&#13;&#10;        &lt;/Box&gt;&#13;&#10;&#13;&#10;    &lt;/Box&gt;&#13;&#10;&#13;&#10;    &lt;Box style={{ height: 40, flexDirection: 'row', justifyContent: 'space-between', alignItems: 'center' }}&gt;&#13;&#10;        &lt;Text style={{ fontSize: 14, color: '#546779' }}&gt;5.9 迭代与维护&lt;/Text&gt;&#13;&#10;        &lt;Text style={{ fontSize: 14, color: '#546779' }}&gt;19 / 27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用正确身份描述下一项工作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四种下一项工作的身份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09600" y="1390650"/>
            <a:ext cx="10972800" cy="381000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800100" y="150495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下一项工作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076700" y="150495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输入与身份变化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609600" y="188595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800100" y="21526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952500" y="2257425"/>
            <a:ext cx="278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原运行暂停后继续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076700" y="2228850"/>
            <a:ext cx="7315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同一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，新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，从完整已提交边界的下一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开始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609600" y="295275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1" name=""/>
          <p:cNvSpPr/>
          <p:nvPr/>
        </p:nvSpPr>
        <p:spPr>
          <a:xfrm rot="0" flipH="0" flipV="0">
            <a:off x="800100" y="32194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952500" y="3324225"/>
            <a:ext cx="278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从旧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重跑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076700" y="3295650"/>
            <a:ext cx="7315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读取旧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内嵌实验，创建新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；公共资源的新改动不会自动进入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09600" y="401955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35" name=""/>
          <p:cNvSpPr/>
          <p:nvPr/>
        </p:nvSpPr>
        <p:spPr>
          <a:xfrm rot="0" flipH="0" flipV="0">
            <a:off x="800100" y="428625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952500" y="4391025"/>
            <a:ext cx="278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修改咨询策略后执行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076700" y="4362450"/>
            <a:ext cx="7315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新的独立实验输入，再产生新的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09600" y="508635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800100" y="5353050"/>
            <a:ext cx="38100" cy="4191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952500" y="5457825"/>
            <a:ext cx="278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重新评阅已有事实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076700" y="5429250"/>
            <a:ext cx="7315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引用同一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，新增独立评分说明，不制造新的执行事实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27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80" name="" descr="&lt;Slide notes={`有三种说法听起来很顺，实际上会掩盖关键事实。&#13;&#10;&#13;&#10;第一句，&quot;续跑修好了问题&quot;。续跑只是从已提交边界继续往下执行，它不说明旧状态被真正恢复，也不说明问题被修好。&#13;&#10;&#13;&#10;第二句，&quot;原方案又试一次&quot;。如果输入已经改过，这就不是原来的方案，而是新的研究条件，结果不能归到旧的对照上。&#13;&#10;&#13;&#10;第三句，&quot;Attempt 增加了，所以策略出了新版本&quot;。Attempt 说明的是执行尝试变了，不是模型策略产生了一个业务版本。&#13;&#10;&#13;&#10;另外，新尝试也不会抹去旧尝试的成本和质量明细。旧 Run 如果没有闭环，它仍然留在原批次里；新增的 Run 单独登记来源和目的。不能把原来的停止条件改写成&quot;其实原本就准备一直跑到成功&quot;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9.5　用正确身份描述下一项工作&lt;/Text&gt;&#13;&#10;            &lt;Text style={{ fontSize: 34, fontWeight: 'bold', color: '#20344B' }}&gt;三种说法会掩盖什么&lt;/Text&gt;&#13;&#10;        &lt;/Box&gt;&#13;&#10;    &lt;/Box&gt;&#13;&#10;&#13;&#10;    &lt;Box style={{ height: 540, flexDirection: 'column', justifyContent: 'center', gap: 16 }}&gt;&#13;&#10;&#13;&#10;        &lt;Box style={{ width: 1152, flexDirection: 'row', alignItems: 'center', gap: 12 }}&gt;&#13;&#10;            &lt;Box style={{ width: 460, height: 118, background: '#FFF4E6', borderRadius: 10, padding: '16px 20px', flexDirection: 'column', gap: 6, justifyContent: 'center' }}&gt;&#13;&#10;                &lt;Text style={{ fontSize: 13, color: '#546779' }}&gt;容易说出口&lt;/Text&gt;&#13;&#10;                &lt;Text style={{ fontSize: 19, fontWeight: 'bold', color: '#CB6B28' }}&gt;&quot;续跑修好了问题&quot;&lt;/Text&gt;&#13;&#10;            &lt;/Box&gt;&#13;&#10;            &lt;Box style={{ width: 44, height: 118, justifyContent: 'center', alignItems: 'center' }}&gt;&#13;&#10;                &lt;Text style={{ fontSize: 26, color: '#276FBF' }}&gt;›&lt;/Text&gt;&#13;&#10;            &lt;/Box&gt;&#13;&#10;            &lt;Box style={{ width: 620, height: 118, background: '#EDF4FC', borderRadius: 10, padding: '16px 20px', flexDirection: 'column', gap: 6, justifyContent: 'center' }}&gt;&#13;&#10;                &lt;Text style={{ fontSize: 16, fontWeight: 'bold', color: '#276FBF' }}&gt;它没有说明是否真正恢复了旧状态&lt;/Text&gt;&#13;&#10;                &lt;Text style={{ fontSize: 14, color: '#546779', lineHeight: 1.5 }}&gt;续跑只表示从已提交边界继续执行，不等于问题被修复。&lt;/Text&gt;&#13;&#10;            &lt;/Box&gt;&#13;&#10;        &lt;/Box&gt;&#13;&#10;&#13;&#10;        &lt;Box style={{ width: 1152, flexDirection: 'row', alignItems: 'center', gap: 12 }}&gt;&#13;&#10;            &lt;Box style={{ width: 460, height: 118, background: '#FFF4E6', borderRadius: 10, padding: '16px 20px', flexDirection: 'column', gap: 6, justifyContent: 'center' }}&gt;&#13;&#10;                &lt;Text style={{ fontSize: 13, color: '#546779' }}&gt;容易说出口&lt;/Text&gt;&#13;&#10;                &lt;Text style={{ fontSize: 19, fontWeight: 'bold', color: '#CB6B28' }}&gt;&quot;原方案又试一次&quot;&lt;/Text&gt;&#13;&#10;            &lt;/Box&gt;&#13;&#10;            &lt;Box style={{ width: 44, height: 118, justifyContent: 'center', alignItems: 'center' }}&gt;&#13;&#10;                &lt;Text style={{ fontSize: 26, color: '#276FBF' }}&gt;›&lt;/Text&gt;&#13;&#10;            &lt;/Box&gt;&#13;&#10;            &lt;Box style={{ width: 620, height: 118, background: '#EDF4FC', borderRadius: 10, padding: '16px 20px', flexDirection: 'column', gap: 6, justifyContent: 'center' }}&gt;&#13;&#10;                &lt;Text style={{ fontSize: 16, fontWeight: 'bold', color: '#276FBF' }}&gt;输入已经改过，这是新的研究条件&lt;/Text&gt;&#13;&#10;                &lt;Text style={{ fontSize: 14, color: '#546779', lineHeight: 1.5 }}&gt;把新输入叫作原方案重试，会混淆两次对照的含义。&lt;/Text&gt;&#13;&#10;            &lt;/Box&gt;&#13;&#10;        &lt;/Box&gt;&#13;&#10;&#13;&#10;        &lt;Box style={{ width: 1152, flexDirection: 'row', alignItems: 'center', gap: 12 }}&gt;&#13;&#10;            &lt;Box style={{ width: 460, height: 118, background: '#FFF4E6', borderRadius: 10, padding: '16px 20px', flexDirection: 'column', gap: 6, justifyContent: 'center' }}&gt;&#13;&#10;                &lt;Text style={{ fontSize: 13, color: '#546779' }}&gt;容易说出口&lt;/Text&gt;&#13;&#10;                &lt;Text style={{ fontSize: 19, fontWeight: 'bold', color: '#CB6B28' }}&gt;&quot;Attempt 增加＝策略新版&quot;&lt;/Text&gt;&#13;&#10;            &lt;/Box&gt;&#13;&#10;            &lt;Box style={{ width: 44, height: 118, justifyContent: 'center', alignItems: 'center' }}&gt;&#13;&#10;                &lt;Text style={{ fontSize: 26, color: '#276FBF' }}&gt;›&lt;/Text&gt;&#13;&#10;            &lt;/Box&gt;&#13;&#10;            &lt;Box style={{ width: 620, height: 118, background: '#EDF4FC', borderRadius: 10, padding: '16px 20px', flexDirection: 'column', gap: 6, justifyContent: 'center' }}&gt;&#13;&#10;                &lt;Text style={{ fontSize: 16, fontWeight: 'bold', color: '#276FBF' }}&gt;执行尝试变化，不是业务版本&lt;/Text&gt;&#13;&#10;                &lt;Text style={{ fontSize: 14, color: '#546779', lineHeight: 1.5 }}&gt;Attempt 记录的是执行动作，不代表策略产生了新版本。&lt;/Text&gt;&#13;&#10;            &lt;/Box&gt;&#13;&#10;        &lt;/Box&gt;&#13;&#10;&#13;&#10;        &lt;Box style={{ width: 1152, height: 76, background: '#F4F7FA', borderRadius: 10, padding: '0 22px', flexDirection: 'row', alignItems: 'center', gap: 16 }}&gt;&#13;&#10;            &lt;Box style={{ width: 4, height: 44, background: '#276FBF' }} /&gt;&#13;&#10;            &lt;Text style={{ fontSize: 15, color: '#546779', lineHeight: 1.5 }}&gt;新尝试不抹去旧尝试的成本与质量明细；旧 Run 未闭环仍留在原批次，新增 Run 单独登记来源与目的。&lt;/Text&gt;&#13;&#10;        &lt;/Box&gt;&#13;&#10;&#13;&#10;    &lt;/Box&gt;&#13;&#10;&#13;&#10;    &lt;Box style={{ height: 40, flexDirection: 'row', justifyContent: 'space-between', alignItems: 'center' }}&gt;&#13;&#10;        &lt;Text style={{ fontSize: 14, color: '#546779' }}&gt;5.9 迭代与维护&lt;/Text&gt;&#13;&#10;        &lt;Text style={{ fontSize: 14, color: '#546779' }}&gt;20 / 27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用正确身份描述下一项工作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三种说法会掩盖什么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609600" y="1438275"/>
            <a:ext cx="438150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00100" y="1790700"/>
            <a:ext cx="4000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容易说出口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00100" y="2000250"/>
            <a:ext cx="400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续跑修好了问题</a:t>
            </a:r>
            <a:r>
              <a:rPr lang="en-US" sz="1425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5276850" y="18478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5638800" y="1438275"/>
            <a:ext cx="5905500" cy="1123950"/>
          </a:xfrm>
          <a:prstGeom prst="roundRect">
            <a:avLst>
              <a:gd name="adj" fmla="val 84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5829300" y="1752600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它没有说明是否真正恢复了旧状态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5829300" y="2000250"/>
            <a:ext cx="5524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续跑只表示从已提交边界继续执行，不等于问题被修复。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609600" y="2714625"/>
            <a:ext cx="438150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00100" y="3067050"/>
            <a:ext cx="4000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容易说出口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800100" y="3276600"/>
            <a:ext cx="400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原方案又试一次</a:t>
            </a:r>
            <a:r>
              <a:rPr lang="en-US" sz="1425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5276850" y="31242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5638800" y="2714625"/>
            <a:ext cx="5905500" cy="1123950"/>
          </a:xfrm>
          <a:prstGeom prst="roundRect">
            <a:avLst>
              <a:gd name="adj" fmla="val 84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5829300" y="3028950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输入已经改过，这是新的研究条件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829300" y="3276600"/>
            <a:ext cx="5524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把新输入叫作原方案重试，会混淆两次对照的含义。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609600" y="3990975"/>
            <a:ext cx="438150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800100" y="4343400"/>
            <a:ext cx="4000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容易说出口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00100" y="4552950"/>
            <a:ext cx="400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"Attempt </a:t>
            </a: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增加＝策略新版</a:t>
            </a:r>
            <a:r>
              <a:rPr lang="en-US" sz="1425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5276850" y="44005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5638800" y="3990975"/>
            <a:ext cx="5905500" cy="1123950"/>
          </a:xfrm>
          <a:prstGeom prst="roundRect">
            <a:avLst>
              <a:gd name="adj" fmla="val 84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5829300" y="4305300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执行尝试变化，不是业务版本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5829300" y="4552950"/>
            <a:ext cx="5524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Attempt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记录的是执行动作，不代表策略产生了新版本。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609600" y="526732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7" name=""/>
          <p:cNvSpPr/>
          <p:nvPr/>
        </p:nvSpPr>
        <p:spPr>
          <a:xfrm rot="0" flipH="0" flipV="0">
            <a:off x="819150" y="54197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009650" y="5505450"/>
            <a:ext cx="657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新尝试不抹去旧尝试的成本与质量明细；旧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未闭环仍留在原批次，新增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单独登记来源与目的。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27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411" name="" descr="&lt;Slide notes={`维护到最后，要保证项目入口始终能回答三个问题：当前建议使用哪一份设计，历史结论对应哪一批输入，还有哪些事项没有验证。&#10;&#10;这三句话听起来简单，做起来要求材料分层保存：当前项目说明一类，变更与验证记录一类，精确输入与原始导出又是一类，解释与出版材料是第四类。&#10;&#10;人工文档可以用变更日期和问题单号来组织，但要记住，这些只是资料管理的标签，不是系统新增的 Revision，也不是一个新的包身份。&#10;&#10;分层的意义在于，改一层不会牵动另一层。更新当前说明，不会让历史结论跟着变；补一段解释，也不会让原始输入发生变化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9　迭代与维护&lt;/Text&gt;&#10;            &lt;Text style={{ fontSize: 34, fontWeight: 'bold', color: '#20344B' }}&gt;知识块 ④&lt;/Text&gt;&#10;        &lt;/Box&gt;&#10;    &lt;/Box&gt;&#10;&#10;    &lt;Box style={{ height: 540, flexDirection: 'column', justifyContent: 'center', gap: 16 }}&gt;&#10;&#10;        &lt;Text style={{ fontSize: 96, fontWeight: 'bold', color: '#276FBF', lineHeight: 1.0 }}&gt;④&lt;/Text&gt;&#10;&#10;        &lt;Text style={{ fontSize: 56, fontWeight: 'bold', color: '#20344B', lineHeight: 1.15 }}&gt;维护说明与历史事实分别保存&lt;/Text&gt;&#10;&#10;        &lt;Box style={{ width: 72, height: 4, background: '#276FBF' }} /&gt;&#10;&#10;        &lt;Text style={{ fontSize: 18, color: '#546779', lineHeight: 1.7, width: 980 }}&gt;项目入口要始终能回答三件事：当前建议使用哪一份设计，历史结论对应哪批输入，还有哪些事项没有验证。&lt;/Text&gt;&#10;&#10;        &lt;Box style={{ flexDirection: 'row', gap: 20, marginTop: 10 }}&gt;&#10;            &lt;Box style={{ width: 340, height: 82, background: '#EDF4FC', borderRadius: 8, padding: '0 18px', justifyContent: 'center' }}&gt;&#10;                &lt;Text style={{ fontSize: 16, color: '#276FBF' }}&gt;当前建议用哪一份设计&lt;/Text&gt;&#10;            &lt;/Box&gt;&#10;            &lt;Box style={{ width: 340, height: 82, background: '#ECF7F2', borderRadius: 8, padding: '0 18px', justifyContent: 'center' }}&gt;&#10;                &lt;Text style={{ fontSize: 16, color: '#26816B' }}&gt;历史结论对应哪批输入&lt;/Text&gt;&#10;            &lt;/Box&gt;&#10;            &lt;Box style={{ width: 340, height: 82, background: '#FFF4E6', borderRadius: 8, padding: '0 18px', justifyContent: 'center' }}&gt;&#10;                &lt;Text style={{ fontSize: 16, color: '#CB6B28' }}&gt;还有哪些事项没有验证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9 迭代与维护&lt;/Text&gt;&#10;        &lt;Text style={{ fontSize: 14, color: '#546779' }}&gt;21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迭代与维护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④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09600" y="1857375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09600" y="31146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维护说明与历史事实分别保存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609600" y="40100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609600" y="4200525"/>
            <a:ext cx="9334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项目入口要始终能回答三件事：当前建议使用哪一份设计，历史结论对应哪批输入，还有哪些事项没有验证。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609600" y="4800600"/>
            <a:ext cx="3238500" cy="781050"/>
          </a:xfrm>
          <a:prstGeom prst="roundRect">
            <a:avLst>
              <a:gd name="adj" fmla="val 97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781050" y="509587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当前建议用哪一份设计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4038600" y="4800600"/>
            <a:ext cx="3238500" cy="781050"/>
          </a:xfrm>
          <a:prstGeom prst="roundRect">
            <a:avLst>
              <a:gd name="adj" fmla="val 975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4210050" y="509587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历史结论对应哪批输入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7467600" y="4800600"/>
            <a:ext cx="3238500" cy="781050"/>
          </a:xfrm>
          <a:prstGeom prst="roundRect">
            <a:avLst>
              <a:gd name="adj" fmla="val 975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7639050" y="509587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还有哪些事项没有验证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27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28" name="" descr="&lt;Slide notes={`四层资料各记各的，不要混在一份文档里。&#10;&#10;当前项目说明，记接手任务、负责人、状态和推荐材料的位置，它是给下一个人看的入口。&#10;变更与验证记录，追加理由、影响、检查方法和真实结论，未解决的事项也要保留在这一层。&#10;精确输入与原始导出，保持当时的内容和摘要，只引用它的原始位置，不搬动、不改写。&#10;解释与出版材料，可以修订文字或增补图表，但要注明依据和适用批次。&#10;&#10;这样分层以后，文档里可以用变更日期和问题单号来组织，但它们只是资料管理的标签，不是系统新增的 Revision，也不是新的包身份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9.6　维护说明与历史事实分别保存&lt;/Text&gt;&#10;            &lt;Text style={{ fontSize: 34, fontWeight: 'bold', color: '#20344B' }}&gt;四层资料各自保存什么&lt;/Text&gt;&#10;        &lt;/Box&gt;&#10;    &lt;/Box&gt;&#10;&#10;    &lt;Box style={{ height: 540, flexDirection: 'row', alignItems: 'center', gap: 32 }}&gt;&#10;&#10;        &lt;Box style={{ width: 700, flexDirection: 'column', gap: 12 }}&gt;&#10;&#10;            &lt;Box style={{ width: 700, height: 88, background: '#EDF4FC', borderRadius: 10, padding: '0 20px', flexDirection: 'column', justifyContent: 'center', gap: 3 }}&gt;&#10;                &lt;Text style={{ fontSize: 18, fontWeight: 'bold', color: '#276FBF' }}&gt;当前项目说明&lt;/Text&gt;&#10;                &lt;Text style={{ fontSize: 14, color: '#546779' }}&gt;更新接手任务、负责人、状态与推荐材料位置&lt;/Text&gt;&#10;            &lt;/Box&gt;&#10;&#10;            &lt;Box style={{ width: 660, height: 88, background: '#EDF4FC', borderRadius: 10, padding: '0 20px', flexDirection: 'column', justifyContent: 'center', gap: 3 }}&gt;&#10;                &lt;Text style={{ fontSize: 18, fontWeight: 'bold', color: '#276FBF' }}&gt;变更与验证记录&lt;/Text&gt;&#10;                &lt;Text style={{ fontSize: 14, color: '#546779' }}&gt;追加理由、影响、检查方法和真实结论，保留未解决项&lt;/Text&gt;&#10;            &lt;/Box&gt;&#10;&#10;            &lt;Box style={{ width: 620, height: 88, background: '#F7F3E8', borderRadius: 10, padding: '0 20px', flexDirection: 'column', justifyContent: 'center', gap: 3 }}&gt;&#10;                &lt;Text style={{ fontSize: 18, fontWeight: 'bold', color: '#20344B' }}&gt;精确输入与原始导出&lt;/Text&gt;&#10;                &lt;Text style={{ fontSize: 14, color: '#546779' }}&gt;保持当时内容及摘要，引用其原始位置&lt;/Text&gt;&#10;            &lt;/Box&gt;&#10;&#10;            &lt;Box style={{ width: 580, height: 88, background: '#ECF7F2', borderRadius: 10, padding: '0 20px', flexDirection: 'column', justifyContent: 'center', gap: 3 }}&gt;&#10;                &lt;Text style={{ fontSize: 18, fontWeight: 'bold', color: '#26816B' }}&gt;解释与出版材料&lt;/Text&gt;&#10;                &lt;Text style={{ fontSize: 14, color: '#546779' }}&gt;可修订文字或增补图表，注明依据与适用批次&lt;/Text&gt;&#10;            &lt;/Box&gt;&#10;&#10;        &lt;/Box&gt;&#10;&#10;        &lt;Box style={{ width: 420, flexDirection: 'column', gap: 16 }}&gt;&#10;            &lt;Box style={{ width: 420, height: 190, background: '#FFF4E6', borderRadius: 10, padding: '18px 20px', flexDirection: 'column', gap: 8, justifyContent: 'center' }}&gt;&#10;                &lt;Text style={{ fontSize: 18, fontWeight: 'bold', color: '#CB6B28' }}&gt;标签不是系统身份&lt;/Text&gt;&#10;                &lt;Text style={{ fontSize: 15, color: '#546779', lineHeight: 1.6 }}&gt;变更日期和问题单号只是人工文档的组织方式，不是系统新增的 Revision 或资源包身份。&lt;/Text&gt;&#10;            &lt;/Box&gt;&#10;            &lt;Box style={{ width: 420, height: 190, background: '#F4F7FA', borderRadius: 10, padding: '18px 20px', flexDirection: 'column', gap: 8, justifyContent: 'center' }}&gt;&#10;                &lt;Text style={{ fontSize: 18, fontWeight: 'bold', color: '#20344B' }}&gt;分层以后的好处&lt;/Text&gt;&#10;                &lt;Text style={{ fontSize: 15, color: '#546779', lineHeight: 1.6 }}&gt;改一层不牵动另一层。更新当前说明，不会让历史结论跟着变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9 迭代与维护&lt;/Text&gt;&#10;        &lt;Text style={{ fontSize: 14, color: '#546779' }}&gt;2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维护说明与历史事实分别保存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四层资料各自保存什么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609600" y="1866900"/>
            <a:ext cx="66675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800100" y="2085975"/>
            <a:ext cx="6286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当前项目说明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00100" y="2324100"/>
            <a:ext cx="628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更新接手任务、负责人、状态与推荐材料位置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609600" y="2819400"/>
            <a:ext cx="62865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800100" y="3038475"/>
            <a:ext cx="590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变更与验证记录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00100" y="3276600"/>
            <a:ext cx="590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追加理由、影响、检查方法和真实结论，保留未解决项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609600" y="3771900"/>
            <a:ext cx="5905500" cy="838200"/>
          </a:xfrm>
          <a:prstGeom prst="roundRect">
            <a:avLst>
              <a:gd name="adj" fmla="val 1136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800100" y="3990975"/>
            <a:ext cx="552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精确输入与原始导出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800100" y="4229100"/>
            <a:ext cx="552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保持当时内容及摘要，引用其原始位置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609600" y="4724400"/>
            <a:ext cx="55245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800100" y="4943475"/>
            <a:ext cx="514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解释与出版材料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800100" y="5181600"/>
            <a:ext cx="514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可修订文字或增补图表，注明依据与适用批次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7581900" y="1828800"/>
            <a:ext cx="4000500" cy="1809750"/>
          </a:xfrm>
          <a:prstGeom prst="roundRect">
            <a:avLst>
              <a:gd name="adj" fmla="val 526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7772400" y="2314575"/>
            <a:ext cx="3619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标签不是系统身份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7772400" y="2600325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变更日期和问题单号只是人工文档的组织方式，不是系统新增的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Revision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或资源包身份。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7581900" y="3790950"/>
            <a:ext cx="4000500" cy="1809750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7772400" y="4276725"/>
            <a:ext cx="3619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分层以后的好处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7772400" y="4562475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改一层不牵动另一层。更新当前说明，不会让历史结论跟着变。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27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53" name="" descr="&lt;Slide notes={`更正历史材料的时候，有几条边界要守住。&#10;&#10;第一，如果发现旧报告里有算术错误，可以发布更正说明并重新计算。原始输入和事实本身不必改变，改的只是解释那一层。&#10;&#10;第二，如果截图上的标签写错了，应该修正讲义里的说明文字。不能反过来改历史时间或者事件，让那张截图看起来是合理的。&#10;&#10;第三，如果一份文件的来源不明，就继续把它标成未知。不要根据目录的修改时间，猜一个 Run 身份填上去。&#10;&#10;这三条其实是同一条原则：材料层可以修订，事实层不迁就。分不清这两层，更正就会变成篡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9.6　维护说明与历史事实分别保存&lt;/Text&gt;&#10;            &lt;Text style={{ fontSize: 34, fontWeight: 'bold', color: '#20344B' }}&gt;更正说明、标签与来源未知&lt;/Text&gt;&#10;        &lt;/Box&gt;&#10;    &lt;/Box&gt;&#10;&#10;    &lt;Box style={{ height: 540, flexDirection: 'row', alignItems: 'center', gap: 32 }}&gt;&#10;&#10;        &lt;Box style={{ width: 340, flexDirection: 'column', gap: 16 }}&gt;&#10;            &lt;Text style={{ fontSize: 22, fontWeight: 'bold', color: '#20344B', lineHeight: 1.4 }}&gt;材料层可以修订{'\n'}事实层不迁就&lt;/Text&gt;&#10;            &lt;Box style={{ width: 64, height: 4, background: '#276FBF' }} /&gt;&#10;            &lt;Text style={{ fontSize: 16, color: '#546779', lineHeight: 1.7 }}&gt;三种常见的更正场景，处理方式各不相同，但边界是同一条。&lt;/Text&gt;&#10;            &lt;Box style={{ width: 340, height: 120, background: '#FFF4E6', borderRadius: 10, padding: '16px 18px', flexDirection: 'column', gap: 6, justifyContent: 'center' }}&gt;&#10;                &lt;Text style={{ fontSize: 16, fontWeight: 'bold', color: '#CB6B28' }}&gt;让截图合理&lt;/Text&gt;&#10;                &lt;Text style={{ fontSize: 14, color: '#546779', lineHeight: 1.5 }}&gt;通过改写历史时间和事件来做到，这不是更正。&lt;/Text&gt;&#10;            &lt;/Box&gt;&#10;        &lt;/Box&gt;&#10;&#10;        &lt;Box style={{ width: 780, flexDirection: 'column', gap: 14 }}&gt;&#10;&#10;            &lt;Box style={{ width: 780, height: 128, background: '#EDF4FC', borderRadius: 10, padding: '0 20px', flexDirection: 'row', alignItems: 'center', gap: 16 }}&gt;&#10;                &lt;Box style={{ width: 4, height: 72, background: '#276FBF' }} /&gt;&#10;                &lt;Box style={{ flexDirection: 'column', gap: 5, width: 716 }}&gt;&#10;                    &lt;Text style={{ fontSize: 18, fontWeight: 'bold', color: '#276FBF' }}&gt;旧报告的算术错误&lt;/Text&gt;&#10;                    &lt;Text style={{ fontSize: 15, color: '#546779', lineHeight: 1.5 }}&gt;发布更正说明并重新计算；原始输入和事实不必改变。&lt;/Text&gt;&#10;                    &lt;Text style={{ fontSize: 14, color: '#546779' }}&gt;改的是解释层，不是数据层。&lt;/Text&gt;&#10;                &lt;/Box&gt;&#10;            &lt;/Box&gt;&#10;&#10;            &lt;Box style={{ width: 780, height: 128, background: '#FFF4E6', borderRadius: 10, padding: '0 20px', flexDirection: 'row', alignItems: 'center', gap: 16 }}&gt;&#10;                &lt;Box style={{ width: 4, height: 72, background: '#CB6B28' }} /&gt;&#10;                &lt;Box style={{ flexDirection: 'column', gap: 5, width: 716 }}&gt;&#10;                    &lt;Text style={{ fontSize: 18, fontWeight: 'bold', color: '#CB6B28' }}&gt;截图标签写错了&lt;/Text&gt;&#10;                    &lt;Text style={{ fontSize: 15, color: '#546779', lineHeight: 1.5 }}&gt;修正讲义中的说明文字。&lt;/Text&gt;&#10;                    &lt;Text style={{ fontSize: 14, color: '#546779' }}&gt;不能通过改写历史时间或事件，让截图看起来合理。&lt;/Text&gt;&#10;                &lt;/Box&gt;&#10;            &lt;/Box&gt;&#10;&#10;            &lt;Box style={{ width: 780, height: 128, background: '#ECF7F2', borderRadius: 10, padding: '0 20px', flexDirection: 'row', alignItems: 'center', gap: 16 }}&gt;&#10;                &lt;Box style={{ width: 4, height: 72, background: '#26816B' }} /&gt;&#10;                &lt;Box style={{ flexDirection: 'column', gap: 5, width: 716 }}&gt;&#10;                    &lt;Text style={{ fontSize: 18, fontWeight: 'bold', color: '#26816B' }}&gt;来源未知的文件&lt;/Text&gt;&#10;                    &lt;Text style={{ fontSize: 15, color: '#546779', lineHeight: 1.5 }}&gt;继续把它标为未知，保持这个状态。&lt;/Text&gt;&#10;                    &lt;Text style={{ fontSize: 14, color: '#546779' }}&gt;不根据目录修改时间，猜一个 Run 身份填上去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9 迭代与维护&lt;/Text&gt;&#10;        &lt;Text style={{ fontSize: 14, color: '#546779' }}&gt;23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维护说明与历史事实分别保存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更正说明、标签与来源未知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3238500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材料层可以修订</a:t>
            </a:r>
            <a:endParaRPr/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事实层不迁就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609600" y="3086100"/>
            <a:ext cx="6096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09600" y="3276600"/>
            <a:ext cx="3238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三种常见的更正场景，处理方式各不相同，但边界是同一条。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609600" y="4057650"/>
            <a:ext cx="3238500" cy="11430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781050" y="4381500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让截图合理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781050" y="4629150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通过改写历史时间和事件来做到，这不是更正。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4152900" y="1752600"/>
            <a:ext cx="7429500" cy="1219200"/>
          </a:xfrm>
          <a:prstGeom prst="roundRect">
            <a:avLst>
              <a:gd name="adj" fmla="val 781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5" name=""/>
          <p:cNvSpPr/>
          <p:nvPr/>
        </p:nvSpPr>
        <p:spPr>
          <a:xfrm rot="0" flipH="0" flipV="0">
            <a:off x="4343400" y="2019300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4533900" y="2000250"/>
            <a:ext cx="681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旧报告的算术错误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4533900" y="2257425"/>
            <a:ext cx="6819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发布更正说明并重新计算；原始输入和事实不必改变。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4533900" y="2562225"/>
            <a:ext cx="681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改的是解释层，不是数据层。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4152900" y="3105150"/>
            <a:ext cx="7429500" cy="1219200"/>
          </a:xfrm>
          <a:prstGeom prst="roundRect">
            <a:avLst>
              <a:gd name="adj" fmla="val 781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0" name=""/>
          <p:cNvSpPr/>
          <p:nvPr/>
        </p:nvSpPr>
        <p:spPr>
          <a:xfrm rot="0" flipH="0" flipV="0">
            <a:off x="4343400" y="3371850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4533900" y="3352800"/>
            <a:ext cx="681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截图标签写错了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4533900" y="3609975"/>
            <a:ext cx="6819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修正讲义中的说明文字。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4533900" y="3914775"/>
            <a:ext cx="681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不能通过改写历史时间或事件，让截图看起来合理。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4152900" y="4457700"/>
            <a:ext cx="7429500" cy="1219200"/>
          </a:xfrm>
          <a:prstGeom prst="roundRect">
            <a:avLst>
              <a:gd name="adj" fmla="val 781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75" name=""/>
          <p:cNvSpPr/>
          <p:nvPr/>
        </p:nvSpPr>
        <p:spPr>
          <a:xfrm rot="0" flipH="0" flipV="0">
            <a:off x="4343400" y="4724400"/>
            <a:ext cx="38100" cy="6858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4533900" y="4705350"/>
            <a:ext cx="681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来源未知的文件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4533900" y="4962525"/>
            <a:ext cx="6819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继续把它标为未知，保持这个状态。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4533900" y="5267325"/>
            <a:ext cx="681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不根据目录修改时间，猜一个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身份填上去。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27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81" name="" descr="&lt;Slide notes={`程序升级、模型服务下线、文件位置变化，这些都可能发生在项目交付之后。&#10;&#10;维护说明应该记下哪个环境曾经完成过哪一级验证：是文件字节核对，是协议读取，是离线回放，还是续跑与重跑。级别不同，能支持的结论强弱也不同。&#10;&#10;只要包身份和内容没有改变，改文件名或者换存放位置，就不应该被描述成创建了新的实验。业务身份仍然来自清单，不来自它所在的文件夹。&#10;&#10;旧材料在新环境里读不出来时，先保留原件和错误，不要自动改写证据。然后区分是协议不受支持、文件损坏、素材缺失，还是执行依赖变化，再决定下一步。&#10;&#10;旧模型不可用时，换模型可以形成新条件，但不能承诺它复现原来的消息或行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9.7　环境变化以后怎样接手&lt;/Text&gt;&#10;            &lt;Text style={{ fontSize: 34, fontWeight: 'bold', color: '#20344B' }}&gt;环境变化以后怎样接手&lt;/Text&gt;&#10;        &lt;/Box&gt;&#10;    &lt;/Box&gt;&#10;&#10;    &lt;Box style={{ height: 540, flexDirection: 'column', justifyContent: 'center', gap: 16 }}&gt;&#10;&#10;        &lt;Box style={{ width: 1152, height: 108, background: '#EDF4FC', borderRadius: 10, padding: '0 22px', flexDirection: 'row', alignItems: 'center', gap: 18 }}&gt;&#10;            &lt;Box style={{ width: 4, height: 64, background: '#276FBF' }} /&gt;&#10;            &lt;Box style={{ flexDirection: 'column', gap: 5, width: 1088 }}&gt;&#10;                &lt;Text style={{ fontSize: 18, fontWeight: 'bold', color: '#276FBF' }}&gt;程序升级或服务下线&lt;/Text&gt;&#10;                &lt;Text style={{ fontSize: 15, color: '#546779', lineHeight: 1.5 }}&gt;维护说明应记录哪个环境曾完成哪一级验证：文件字节核对、协议读取、离线回放、续跑或重跑。级别不同，结论强弱不同。&lt;/Text&gt;&#10;            &lt;/Box&gt;&#10;        &lt;/Box&gt;&#10;&#10;        &lt;Box style={{ width: 1152, height: 108, background: '#F7F3E8', borderRadius: 10, padding: '0 22px', flexDirection: 'row', alignItems: 'center', gap: 18 }}&gt;&#10;            &lt;Box style={{ width: 4, height: 64, background: '#20344B' }} /&gt;&#10;            &lt;Box style={{ flexDirection: 'column', gap: 5, width: 1088 }}&gt;&#10;                &lt;Text style={{ fontSize: 18, fontWeight: 'bold', color: '#20344B' }}&gt;文件位置变化&lt;/Text&gt;&#10;                &lt;Text style={{ fontSize: 15, color: '#546779', lineHeight: 1.5 }}&gt;只要包身份与内容未改变，改文件名或存放位置不应被描述为创建了新的实验；业务身份仍来自清单。&lt;/Text&gt;&#10;            &lt;/Box&gt;&#10;        &lt;/Box&gt;&#10;&#10;        &lt;Box style={{ width: 1152, height: 108, background: '#ECF7F2', borderRadius: 10, padding: '0 22px', flexDirection: 'row', alignItems: 'center', gap: 18 }}&gt;&#10;            &lt;Box style={{ width: 4, height: 64, background: '#26816B' }} /&gt;&#10;            &lt;Box style={{ flexDirection: 'column', gap: 5, width: 1088 }}&gt;&#10;                &lt;Text style={{ fontSize: 18, fontWeight: 'bold', color: '#26816B' }}&gt;旧模型不可用&lt;/Text&gt;&#10;                &lt;Text style={{ fontSize: 15, color: '#546779', lineHeight: 1.5 }}&gt;换模型可以形成新的条件，但不能承诺它复现原来的消息或行为。&lt;/Text&gt;&#10;            &lt;/Box&gt;&#10;        &lt;/Box&gt;&#10;&#10;        &lt;Box style={{ width: 1152, height: 128, background: '#FFF4E6', borderRadius: 10, padding: '0 22px', flexDirection: 'row', alignItems: 'center', gap: 18 }}&gt;&#10;            &lt;Box style={{ width: 4, height: 80, background: '#CB6B28' }} /&gt;&#10;            &lt;Box style={{ flexDirection: 'column', gap: 5, width: 1088 }}&gt;&#10;                &lt;Text style={{ fontSize: 18, fontWeight: 'bold', color: '#CB6B28' }}&gt;旧材料在新环境中读不出来&lt;/Text&gt;&#10;                &lt;Text style={{ fontSize: 15, color: '#546779', lineHeight: 1.5 }}&gt;先保留原件和错误，不自动改写证据；再区分协议不受支持、文件损坏、素材缺失和执行依赖变化，之后才决定后续工作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9 迭代与维护&lt;/Text&gt;&#10;        &lt;Text style={{ fontSize: 14, color: '#546779' }}&gt;2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环境变化以后怎样接手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环境变化以后怎样接手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609600" y="1333500"/>
            <a:ext cx="10972800" cy="1028700"/>
          </a:xfrm>
          <a:prstGeom prst="roundRect">
            <a:avLst>
              <a:gd name="adj" fmla="val 925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7" name=""/>
          <p:cNvSpPr/>
          <p:nvPr/>
        </p:nvSpPr>
        <p:spPr>
          <a:xfrm rot="0" flipH="0" flipV="0">
            <a:off x="819150" y="154305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1028700" y="1590675"/>
            <a:ext cx="1036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程序升级或服务下线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1028700" y="184785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维护说明应记录哪个环境曾完成哪一级验证：文件字节核对、协议读取、离线回放、续跑或重跑。级别不同，结论强弱不同。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609600" y="2514600"/>
            <a:ext cx="10972800" cy="1028700"/>
          </a:xfrm>
          <a:prstGeom prst="roundRect">
            <a:avLst>
              <a:gd name="adj" fmla="val 9259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91" name=""/>
          <p:cNvSpPr/>
          <p:nvPr/>
        </p:nvSpPr>
        <p:spPr>
          <a:xfrm rot="0" flipH="0" flipV="0">
            <a:off x="819150" y="2724150"/>
            <a:ext cx="38100" cy="6096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028700" y="2771775"/>
            <a:ext cx="1036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文件位置变化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1028700" y="302895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只要包身份与内容未改变，改文件名或存放位置不应被描述为创建了新的实验；业务身份仍来自清单。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609600" y="3695700"/>
            <a:ext cx="10972800" cy="1028700"/>
          </a:xfrm>
          <a:prstGeom prst="roundRect">
            <a:avLst>
              <a:gd name="adj" fmla="val 925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5" name=""/>
          <p:cNvSpPr/>
          <p:nvPr/>
        </p:nvSpPr>
        <p:spPr>
          <a:xfrm rot="0" flipH="0" flipV="0">
            <a:off x="819150" y="3905250"/>
            <a:ext cx="38100" cy="6096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1028700" y="3952875"/>
            <a:ext cx="1036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旧模型不可用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028700" y="421005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换模型可以形成新的条件，但不能承诺它复现原来的消息或行为。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609600" y="4876800"/>
            <a:ext cx="10972800" cy="1219200"/>
          </a:xfrm>
          <a:prstGeom prst="roundRect">
            <a:avLst>
              <a:gd name="adj" fmla="val 781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9" name=""/>
          <p:cNvSpPr/>
          <p:nvPr/>
        </p:nvSpPr>
        <p:spPr>
          <a:xfrm rot="0" flipH="0" flipV="0">
            <a:off x="819150" y="5105400"/>
            <a:ext cx="38100" cy="762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1028700" y="5229225"/>
            <a:ext cx="1036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旧材料在新环境中读不出来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1028700" y="54864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先保留原件和错误，不自动改写证据；再区分协议不受支持、文件损坏、素材缺失和执行依赖变化，之后才决定后续工作。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27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504" name="" descr="&lt;Slide notes={`归档和删除都会被当成&quot;整理材料&quot;，但它们的后果完全不同。&#13;&#10;&#13;&#10;归档用于整理展示或者标记资料状态，它和实验封存不是一回事，也不会让 Run 自动完成。这里要提醒一句：当前各类资源页面的归档入口并不完全相同，所以我不能把它写成一个已经统一存在的按钮流程。&#13;&#10;&#13;&#10;删除要谨慎得多，它可能让材料无法再次读取。所以在删除之前，必须先明确保留需求，并确认已经有独立副本。&#13;&#10;&#13;&#10;还有一条很实际的建议：不要拿删除正式证据来演示资源隔离。演示的代价太大，一旦删掉，历史事实就真的没了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9.7　环境变化以后怎样接手&lt;/Text&gt;&#13;&#10;            &lt;Text style={{ fontSize: 34, fontWeight: 'bold', color: '#20344B' }}&gt;归档与删除不是同一件事&lt;/Text&gt;&#13;&#10;        &lt;/Box&gt;&#13;&#10;    &lt;/Box&gt;&#13;&#10;&#13;&#10;    &lt;Box style={{ height: 540, flexDirection: 'column', justifyContent: 'center', gap: 18 }}&gt;&#13;&#10;&#13;&#10;        &lt;Box style={{ width: 1152, flexDirection: 'row', gap: 32 }}&gt;&#13;&#10;&#13;&#10;            &lt;Box style={{ width: 560, height: 348, background: '#EDF4FC', borderRadius: 12, padding: 20, flexDirection: 'column', gap: 10 }}&gt;&#13;&#10;                &lt;Box style={{ width: 520, height: 52, flexDirection: 'column', justifyContent: 'center', gap: 2 }}&gt;&#13;&#10;                    &lt;Text style={{ fontSize: 13, color: '#546779' }}&gt;可逆的一侧&lt;/Text&gt;&#13;&#10;                    &lt;Text style={{ fontSize: 22, fontWeight: 'bold', color: '#276FBF' }}&gt;归档&lt;/Text&gt;&#13;&#10;                &lt;/Box&gt;&#13;&#10;                &lt;Box style={{ width: 520, height: 60, background: '#FFFFFF', borderRadius: 8, padding: '0 18px', flexDirection: 'row', alignItems: 'center', gap: 14 }}&gt;&#13;&#10;                    &lt;Box style={{ width: 4, height: 34, background: '#276FBF' }} /&gt;&#13;&#10;                    &lt;Text style={{ fontSize: 15, color: '#20344B' }}&gt;用于整理展示或资料状态&lt;/Text&gt;&#13;&#10;                &lt;/Box&gt;&#13;&#10;                &lt;Box style={{ width: 520, height: 60, background: '#FFFFFF', borderRadius: 8, padding: '0 18px', flexDirection: 'row', alignItems: 'center', gap: 14 }}&gt;&#13;&#10;                    &lt;Box style={{ width: 4, height: 34, background: '#276FBF' }} /&gt;&#13;&#10;                    &lt;Text style={{ fontSize: 15, color: '#20344B' }}&gt;与实验封存不是同一件事&lt;/Text&gt;&#13;&#10;                &lt;/Box&gt;&#13;&#10;                &lt;Box style={{ width: 520, height: 60, background: '#FFFFFF', borderRadius: 8, padding: '0 18px', flexDirection: 'row', alignItems: 'center', gap: 14 }}&gt;&#13;&#10;                    &lt;Box style={{ width: 4, height: 34, background: '#276FBF' }} /&gt;&#13;&#10;                    &lt;Text style={{ fontSize: 15, color: '#20344B' }}&gt;不会使 Run 自动完成&lt;/Text&gt;&#13;&#10;                &lt;/Box&gt;&#13;&#10;                &lt;Box style={{ flex: 1 }} /&gt;&#13;&#10;                &lt;Text style={{ fontSize: 13, color: '#546779', lineHeight: 1.45 }}&gt;各类资源页面的归档入口并不完全相同，不写成已统一存在的按钮流程。&lt;/Text&gt;&#13;&#10;            &lt;/Box&gt;&#13;&#10;&#13;&#10;            &lt;Box style={{ width: 560, height: 348, background: '#FFF4E6', borderRadius: 12, padding: 20, flexDirection: 'column', gap: 10 }}&gt;&#13;&#10;                &lt;Box style={{ width: 520, height: 52, flexDirection: 'column', justifyContent: 'center', gap: 2 }}&gt;&#13;&#10;                    &lt;Text style={{ fontSize: 13, color: '#546779' }}&gt;不可逆的一侧&lt;/Text&gt;&#13;&#10;                    &lt;Text style={{ fontSize: 22, fontWeight: 'bold', color: '#CB6B28' }}&gt;删除&lt;/Text&gt;&#13;&#10;                &lt;/Box&gt;&#13;&#10;                &lt;Box style={{ width: 520, height: 60, background: '#FFFFFF', borderRadius: 8, padding: '0 18px', flexDirection: 'row', alignItems: 'center', gap: 14 }}&gt;&#13;&#10;                    &lt;Box style={{ width: 4, height: 34, background: '#CB6B28' }} /&gt;&#13;&#10;                    &lt;Text style={{ fontSize: 15, color: '#20344B' }}&gt;可能使材料无法再次读取&lt;/Text&gt;&#13;&#10;                &lt;/Box&gt;&#13;&#10;                &lt;Box style={{ width: 520, height: 60, background: '#FFFFFF', borderRadius: 8, padding: '0 18px', flexDirection: 'row', alignItems: 'center', gap: 14 }}&gt;&#13;&#10;                    &lt;Box style={{ width: 4, height: 34, background: '#CB6B28' }} /&gt;&#13;&#10;                    &lt;Text style={{ fontSize: 15, color: '#20344B' }}&gt;先明确保留需求&lt;/Text&gt;&#13;&#10;                &lt;/Box&gt;&#13;&#10;                &lt;Box style={{ width: 520, height: 60, background: '#FFFFFF', borderRadius: 8, padding: '0 18px', flexDirection: 'row', alignItems: 'center', gap: 14 }}&gt;&#13;&#10;                    &lt;Box style={{ width: 4, height: 34, background: '#CB6B28' }} /&gt;&#13;&#10;                    &lt;Text style={{ fontSize: 15, color: '#20344B' }}&gt;确认已有独立副本&lt;/Text&gt;&#13;&#10;                &lt;/Box&gt;&#13;&#10;                &lt;Box style={{ flex: 1 }} /&gt;&#13;&#10;                &lt;Text style={{ fontSize: 13, color: '#CB6B28', lineHeight: 1.45 }}&gt;不拿删除正式证据来演示资源隔离。&lt;/Text&gt;&#13;&#10;            &lt;/Box&gt;&#13;&#10;&#13;&#10;        &lt;/Box&gt;&#13;&#10;&#13;&#10;        &lt;Box style={{ width: 1152, height: 76, background: '#F4F7FA', borderRadius: 10, padding: '0 22px', flexDirection: 'row', alignItems: 'center', gap: 16 }}&gt;&#13;&#10;            &lt;Box style={{ width: 4, height: 44, background: '#276FBF' }} /&gt;&#13;&#10;            &lt;Text style={{ fontSize: 16, color: '#20344B', lineHeight: 1.5 }}&gt;整理材料之前先问一句：删掉之后，这份历史事实还能不能被别人重新读到？&lt;/Text&gt;&#13;&#10;        &lt;/Box&gt;&#13;&#10;&#13;&#10;    &lt;/Box&gt;&#13;&#10;&#13;&#10;    &lt;Box style={{ height: 40, flexDirection: 'row', justifyContent: 'space-between', alignItems: 'center' }}&gt;&#13;&#10;        &lt;Text style={{ fontSize: 14, color: '#546779' }}&gt;5.9 迭代与维护&lt;/Text&gt;&#13;&#10;        &lt;Text style={{ fontSize: 14, color: '#546779' }}&gt;25 / 27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环境变化以后怎样接手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归档与删除不是同一件事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609600" y="1609725"/>
            <a:ext cx="5334000" cy="3314700"/>
          </a:xfrm>
          <a:prstGeom prst="roundRect">
            <a:avLst>
              <a:gd name="adj" fmla="val 34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800100" y="18383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可逆的一侧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800100" y="2009775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归档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800100" y="2390775"/>
            <a:ext cx="49530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3" name=""/>
          <p:cNvSpPr/>
          <p:nvPr/>
        </p:nvSpPr>
        <p:spPr>
          <a:xfrm rot="0" flipH="0" flipV="0">
            <a:off x="971550" y="2514600"/>
            <a:ext cx="38100" cy="3238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1143000" y="259080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用于整理展示或资料状态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800100" y="3057525"/>
            <a:ext cx="49530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6" name=""/>
          <p:cNvSpPr/>
          <p:nvPr/>
        </p:nvSpPr>
        <p:spPr>
          <a:xfrm rot="0" flipH="0" flipV="0">
            <a:off x="971550" y="3181350"/>
            <a:ext cx="38100" cy="3238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1143000" y="325755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与实验封存不是同一件事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800100" y="3724275"/>
            <a:ext cx="49530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9" name=""/>
          <p:cNvSpPr/>
          <p:nvPr/>
        </p:nvSpPr>
        <p:spPr>
          <a:xfrm rot="0" flipH="0" flipV="0">
            <a:off x="971550" y="3848100"/>
            <a:ext cx="38100" cy="3238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1143000" y="3924300"/>
            <a:ext cx="1362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不会使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自动完成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800100" y="4514850"/>
            <a:ext cx="49530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各类资源页面的归档入口并不完全相同，不写成已统一存在的按钮流程。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6248400" y="1609725"/>
            <a:ext cx="5334000" cy="3314700"/>
          </a:xfrm>
          <a:prstGeom prst="roundRect">
            <a:avLst>
              <a:gd name="adj" fmla="val 34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6438900" y="18383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不可逆的一侧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6438900" y="2009775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删除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6438900" y="2390775"/>
            <a:ext cx="49530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6" name=""/>
          <p:cNvSpPr/>
          <p:nvPr/>
        </p:nvSpPr>
        <p:spPr>
          <a:xfrm rot="0" flipH="0" flipV="0">
            <a:off x="6610350" y="2514600"/>
            <a:ext cx="38100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6781800" y="259080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可能使材料无法再次读取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6438900" y="3057525"/>
            <a:ext cx="49530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9" name=""/>
          <p:cNvSpPr/>
          <p:nvPr/>
        </p:nvSpPr>
        <p:spPr>
          <a:xfrm rot="0" flipH="0" flipV="0">
            <a:off x="6610350" y="3181350"/>
            <a:ext cx="38100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6781800" y="32575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先明确保留需求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6438900" y="3724275"/>
            <a:ext cx="49530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2" name=""/>
          <p:cNvSpPr/>
          <p:nvPr/>
        </p:nvSpPr>
        <p:spPr>
          <a:xfrm rot="0" flipH="0" flipV="0">
            <a:off x="6610350" y="3848100"/>
            <a:ext cx="38100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6781800" y="39243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确认已有独立副本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6438900" y="4514850"/>
            <a:ext cx="49530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不拿删除正式证据来演示资源隔离。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609600" y="509587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6" name=""/>
          <p:cNvSpPr/>
          <p:nvPr/>
        </p:nvSpPr>
        <p:spPr>
          <a:xfrm rot="0" flipH="0" flipV="0">
            <a:off x="819150" y="52482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1009650" y="5324475"/>
            <a:ext cx="5181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整理材料之前先问一句：删掉之后，这份历史事实还能不能被别人重新读到？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27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540" name="" descr="&lt;Slide notes={`最后留一个练习：写一条真正可接手的维护任务。&#10;&#10;它要求以一个有出处的现象开头，说明准备修改哪份独立材料，需要验证什么，以及原证据放在哪里。&#10;&#10;判断标准其实很简单：接手的人读完这条任务，应该能够完成它，或者明确地把它退回来说明理由，而不需要靠猜测去重建项目历史。如果一条维护任务必须让别人先考古一遍，那它就不是交接，只是把问题转手。&#10;&#10;写的时候可以自问四句：现象有没有出处？改的是哪一份材料？验证什么才算通过？原证据在哪？四个问题都有答案，这条任务才算立得住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9.7　环境变化以后怎样接手&lt;/Text&gt;&#10;            &lt;Text style={{ fontSize: 34, fontWeight: 'bold', color: '#20344B' }}&gt;写一条真正可接手的维护任务&lt;/Text&gt;&#10;        &lt;/Box&gt;&#10;    &lt;/Box&gt;&#10;&#10;    &lt;Box style={{ height: 540, flexDirection: 'row', alignItems: 'center', gap: 32 }}&gt;&#10;&#10;        &lt;Box style={{ width: 480, flexDirection: 'column', gap: 16 }}&gt;&#10;            &lt;Text style={{ fontSize: 22, fontWeight: 'bold', color: '#20344B', lineHeight: 1.4 }}&gt;练习：{'\n'}把反馈写成一条任务&lt;/Text&gt;&#10;            &lt;Box style={{ width: 64, height: 4, background: '#276FBF' }} /&gt;&#10;            &lt;Text style={{ fontSize: 16, color: '#546779', lineHeight: 1.7 }}&gt;接手者应能够完成这项任务，或者明确地把它退回来说明理由，而不需要靠猜测重建项目历史。&lt;/Text&gt;&#10;            &lt;Box style={{ width: 480, height: 130, background: '#FFF4E6', borderRadius: 10, padding: '18px 20px', flexDirection: 'column', gap: 6, justifyContent: 'center' }}&gt;&#10;                &lt;Text style={{ fontSize: 17, fontWeight: 'bold', color: '#CB6B28' }}&gt;退不回来说明理由，就不是交接&lt;/Text&gt;&#10;                &lt;Text style={{ fontSize: 14, color: '#546779', lineHeight: 1.5 }}&gt;必须让人先考古一遍的任务，只是把问题转手给了下一个人。&lt;/Text&gt;&#10;            &lt;/Box&gt;&#10;        &lt;/Box&gt;&#10;&#10;        &lt;Box style={{ width: 640, height: 428, background: '#F4F7FA', borderRadius: 12, padding: 18, flexDirection: 'column', gap: 10 }}&gt;&#10;&#10;            &lt;Box style={{ width: 604, height: 44, background: '#276FBF', borderRadius: 8, padding: '0 18px', flexDirection: 'row', alignItems: 'center' }}&gt;&#10;                &lt;Text style={{ fontSize: 16, fontWeight: 'bold', color: '#FFFFFF' }}&gt;维护任务单　四问&lt;/Text&gt;&#10;                &lt;Box style={{ flex: 1 }} /&gt;&#10;                &lt;Box style={{ width: 56, height: 26, background: '#FFFFFF', borderRadius: 6, justifyContent: 'center', alignItems: 'center' }}&gt;&#10;                    &lt;Text style={{ fontSize: 13, color: '#276FBF' }}&gt;练习&lt;/Text&gt;&#10;                &lt;/Box&gt;&#10;            &lt;/Box&gt;&#10;&#10;            &lt;Box style={{ width: 604, height: 76, background: '#FFFFFF', borderRadius: 8, padding: '0 18px', flexDirection: 'row', alignItems: 'center', gap: 14 }}&gt;&#10;                &lt;Box style={{ width: 32, height: 32, background: '#EDF4FC', borderRadius: 6, justifyContent: 'center', alignItems: 'center' }}&gt;&#10;                    &lt;Text style={{ fontSize: 15, fontWeight: 'bold', color: '#276FBF' }}&gt;1&lt;/Text&gt;&#10;                &lt;/Box&gt;&#10;                &lt;Box style={{ flexDirection: 'column', gap: 3 }}&gt;&#10;                    &lt;Text style={{ fontSize: 16, fontWeight: 'bold', color: '#20344B' }}&gt;现象发生在哪里&lt;/Text&gt;&#10;                    &lt;Text style={{ fontSize: 13, color: '#546779' }}&gt;要有出处：哪份记录、哪一次运行的哪一步&lt;/Text&gt;&#10;                &lt;/Box&gt;&#10;            &lt;/Box&gt;&#10;&#10;            &lt;Box style={{ width: 604, height: 76, background: '#FFFFFF', borderRadius: 8, padding: '0 18px', flexDirection: 'row', alignItems: 'center', gap: 14 }}&gt;&#10;                &lt;Box style={{ width: 32, height: 32, background: '#EDF4FC', borderRadius: 6, justifyContent: 'center', alignItems: 'center' }}&gt;&#10;                    &lt;Text style={{ fontSize: 15, fontWeight: 'bold', color: '#276FBF' }}&gt;2&lt;/Text&gt;&#10;                &lt;/Box&gt;&#10;                &lt;Box style={{ flexDirection: 'column', gap: 3 }}&gt;&#10;                    &lt;Text style={{ fontSize: 16, fontWeight: 'bold', color: '#20344B' }}&gt;准备修改哪份独立材料&lt;/Text&gt;&#10;                    &lt;Text style={{ fontSize: 13, color: '#546779' }}&gt;公共资源、草稿副本还是另建的新草稿&lt;/Text&gt;&#10;                &lt;/Box&gt;&#10;            &lt;/Box&gt;&#10;&#10;            &lt;Box style={{ width: 604, height: 76, background: '#FFFFFF', borderRadius: 8, padding: '0 18px', flexDirection: 'row', alignItems: 'center', gap: 14 }}&gt;&#10;                &lt;Box style={{ width: 32, height: 32, background: '#ECF7F2', borderRadius: 6, justifyContent: 'center', alignItems: 'center' }}&gt;&#10;                    &lt;Text style={{ fontSize: 15, fontWeight: 'bold', color: '#26816B' }}&gt;3&lt;/Text&gt;&#10;                &lt;/Box&gt;&#10;                &lt;Box style={{ flexDirection: 'column', gap: 3 }}&gt;&#10;                    &lt;Text style={{ fontSize: 16, fontWeight: 'bold', color: '#20344B' }}&gt;需要验证什么&lt;/Text&gt;&#10;                    &lt;Text style={{ fontSize: 13, color: '#546779' }}&gt;下一次应看见哪些事实，怎样判断仍未解决&lt;/Text&gt;&#10;                &lt;/Box&gt;&#10;            &lt;/Box&gt;&#10;&#10;            &lt;Box style={{ width: 604, height: 76, background: '#FFF4E6', borderRadius: 8, padding: '0 18px', flexDirection: 'row', alignItems: 'center', gap: 14 }}&gt;&#10;                &lt;Box style={{ width: 32, height: 32, background: '#FFFFFF', borderRadius: 6, justifyContent: 'center', alignItems: 'center' }}&gt;&#10;                    &lt;Text style={{ fontSize: 15, fontWeight: 'bold', color: '#CB6B28' }}&gt;4&lt;/Text&gt;&#10;                &lt;/Box&gt;&#10;                &lt;Box style={{ flexDirection: 'column', gap: 3 }}&gt;&#10;                    &lt;Text style={{ fontSize: 16, fontWeight: 'bold', color: '#CB6B28' }}&gt;原证据在哪里&lt;/Text&gt;&#10;                    &lt;Text style={{ fontSize: 13, color: '#546779' }}&gt;写出具体位置，不写&quot;参见相关材料&quot;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9 迭代与维护&lt;/Text&gt;&#10;        &lt;Text style={{ fontSize: 14, color: '#546779' }}&gt;2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环境变化以后怎样接手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写一条真正可接手的维护任务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609600" y="2181225"/>
            <a:ext cx="4572000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练习：</a:t>
            </a:r>
            <a:endParaRPr/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把反馈写成一条任务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609600" y="3038475"/>
            <a:ext cx="6096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09600" y="3228975"/>
            <a:ext cx="4572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接手者应能够完成这项任务，或者明确地把它退回来说明理由，而不需要靠猜测重建项目历史。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609600" y="4010025"/>
            <a:ext cx="45720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00100" y="4381500"/>
            <a:ext cx="419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退不回来说明理由，就不是交接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800100" y="4638675"/>
            <a:ext cx="4191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必须让人先考古一遍的任务，只是把问题转手给了下一个人。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5486400" y="1676400"/>
            <a:ext cx="6096000" cy="4076700"/>
          </a:xfrm>
          <a:prstGeom prst="roundRect">
            <a:avLst>
              <a:gd name="adj" fmla="val 280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2" name=""/>
          <p:cNvSpPr/>
          <p:nvPr/>
        </p:nvSpPr>
        <p:spPr>
          <a:xfrm rot="0" flipH="0" flipV="0">
            <a:off x="5657850" y="1847850"/>
            <a:ext cx="5753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5829300" y="19621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维护任务单　四问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10706100" y="1933575"/>
            <a:ext cx="53340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10848975" y="19812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练习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5657850" y="2362200"/>
            <a:ext cx="57531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7" name=""/>
          <p:cNvSpPr/>
          <p:nvPr/>
        </p:nvSpPr>
        <p:spPr>
          <a:xfrm rot="0" flipH="0" flipV="0">
            <a:off x="5829300" y="257175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5934075" y="26384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6267450" y="2543175"/>
            <a:ext cx="2352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现象发生在哪里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6267450" y="2762250"/>
            <a:ext cx="2352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要有出处：哪份记录、哪一次运行的哪一步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5657850" y="3181350"/>
            <a:ext cx="57531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2" name=""/>
          <p:cNvSpPr/>
          <p:nvPr/>
        </p:nvSpPr>
        <p:spPr>
          <a:xfrm rot="0" flipH="0" flipV="0">
            <a:off x="5829300" y="33909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5934075" y="34575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6267450" y="3362325"/>
            <a:ext cx="2105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准备修改哪份独立材料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6267450" y="3581400"/>
            <a:ext cx="2105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公共资源、草稿副本还是另建的新草稿</a:t>
            </a:r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5657850" y="4000500"/>
            <a:ext cx="57531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7" name=""/>
          <p:cNvSpPr/>
          <p:nvPr/>
        </p:nvSpPr>
        <p:spPr>
          <a:xfrm rot="0" flipH="0" flipV="0">
            <a:off x="5829300" y="421005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5934075" y="42767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6267450" y="4181475"/>
            <a:ext cx="2352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需要验证什么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6267450" y="4400550"/>
            <a:ext cx="2352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下一次应看见哪些事实，怎样判断仍未解决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5657850" y="4819650"/>
            <a:ext cx="575310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2" name=""/>
          <p:cNvSpPr/>
          <p:nvPr/>
        </p:nvSpPr>
        <p:spPr>
          <a:xfrm rot="0" flipH="0" flipV="0">
            <a:off x="5829300" y="50292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5934075" y="50958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6267450" y="5000625"/>
            <a:ext cx="1971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原证据在哪里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6267450" y="5219700"/>
            <a:ext cx="1971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写出具体位置，不写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参见相关材料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 / 27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578" name="" descr="&lt;Slide notes={`这一节要带走三句话。&#10;&#10;第一句，先写问题。收到一句反馈，先把它写成现象、位置、证据、解释、建议和验收条件齐全的问题单，再谈修改。仅凭一个失败结果就定方案，等于用一次观察换一条规则。&#10;&#10;第二句，只改一处。改动要收窄到一层：改说明就只复查文档，改行为输入就做新的独立实验。同时动两个因素，下一轮结果就说不清来源。&#10;&#10;第三句，分开保存。维护说明和历史事实各归其位，旧输入和原始结果原样留着，新的一轮用新的身份登记。&#10;&#10;不管以后遇到什么评阅意见，只要这三句话还在，你就不会把&quot;再优化一下&quot;变成一次没有依据的改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9　迭代与维护&lt;/Text&gt;&#10;            &lt;Text style={{ fontSize: 34, fontWeight: 'bold', color: '#20344B' }}&gt;本节小结&lt;/Text&gt;&#10;        &lt;/Box&gt;&#10;    &lt;/Box&gt;&#10;&#10;    &lt;Box style={{ height: 540, flexDirection: 'column', justifyContent: 'center', gap: 18 }}&gt;&#10;&#10;        &lt;Text style={{ fontSize: 44, fontWeight: 'bold', color: '#20344B', lineHeight: 1.25 }}&gt;记住三句话&lt;/Text&gt;&#10;&#10;        &lt;Box style={{ width: 1152, height: 104, background: '#EDF4FC', borderRadius: 10, padding: '0 24px', flexDirection: 'row', alignItems: 'center', gap: 20 }}&gt;&#10;            &lt;Text style={{ fontSize: 34, fontWeight: 'bold', color: '#276FBF', width: 56 }}&gt;一&lt;/Text&gt;&#10;            &lt;Box style={{ width: 940, flexDirection: 'column', gap: 4 }}&gt;&#10;                &lt;Text style={{ fontSize: 20, fontWeight: 'bold', color: '#276FBF' }}&gt;先写问题&lt;/Text&gt;&#10;                &lt;Text style={{ fontSize: 16, color: '#546779', lineHeight: 1.5 }}&gt;修改之前，先把现象写成别人能查的问题单：现象、位置、证据、解释、建议、验收条件。&lt;/Text&gt;&#10;            &lt;/Box&gt;&#10;        &lt;/Box&gt;&#10;&#10;        &lt;Box style={{ width: 1152, height: 104, background: '#ECF7F2', borderRadius: 10, padding: '0 24px', flexDirection: 'row', alignItems: 'center', gap: 20 }}&gt;&#10;            &lt;Text style={{ fontSize: 34, fontWeight: 'bold', color: '#26816B', width: 56 }}&gt;二&lt;/Text&gt;&#10;            &lt;Box style={{ width: 940, flexDirection: 'column', gap: 4 }}&gt;&#10;                &lt;Text style={{ fontSize: 20, fontWeight: 'bold', color: '#26816B' }}&gt;只改一处&lt;/Text&gt;&#10;                &lt;Text style={{ fontSize: 16, color: '#546779', lineHeight: 1.5 }}&gt;改动收窄到一层，下一轮才能解释得清；改行为输入就要有新的独立实验与对应证据。&lt;/Text&gt;&#10;            &lt;/Box&gt;&#10;        &lt;/Box&gt;&#10;&#10;        &lt;Box style={{ width: 1152, height: 104, background: '#FFF4E6', borderRadius: 10, padding: '0 24px', flexDirection: 'row', alignItems: 'center', gap: 20 }}&gt;&#10;            &lt;Text style={{ fontSize: 34, fontWeight: 'bold', color: '#CB6B28', width: 56 }}&gt;三&lt;/Text&gt;&#10;            &lt;Box style={{ width: 940, flexDirection: 'column', gap: 4 }}&gt;&#10;                &lt;Text style={{ fontSize: 20, fontWeight: 'bold', color: '#CB6B28' }}&gt;分开保存&lt;/Text&gt;&#10;                &lt;Text style={{ fontSize: 16, color: '#546779', lineHeight: 1.5 }}&gt;维护说明与历史事实各归其位，旧输入与原始结果原样留下，新的一轮用新身份登记。&lt;/Text&gt;&#10;            &lt;/Box&gt;&#10;        &lt;/Box&gt;&#10;&#10;        &lt;Text style={{ fontSize: 15, color: '#546779', marginTop: 6 }}&gt;第五章　5.9　迭代与维护　·　下一节：综合项目与后续方向&lt;/Text&gt;&#10;&#10;    &lt;/Box&gt;&#10;&#10;    &lt;Box style={{ height: 40, flexDirection: 'row', justifyContent: 'space-between', alignItems: 'center' }}&gt;&#10;        &lt;Text style={{ fontSize: 14, color: '#546779' }}&gt;5.9 迭代与维护&lt;/Text&gt;&#10;        &lt;Text style={{ fontSize: 14, color: '#546779' }}&gt;27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5.9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迭代与维护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本节小结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609600" y="1457325"/>
            <a:ext cx="10972800" cy="6286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记住三句话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609600" y="22574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838200" y="2562225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76FBF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1562100" y="2486025"/>
            <a:ext cx="895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先写问题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1562100" y="2752725"/>
            <a:ext cx="8953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修改之前，先把现象写成别人能查的问题单：现象、位置、证据、解释、建议、验收条件。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609600" y="341947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838200" y="3724275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6816B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1562100" y="3648075"/>
            <a:ext cx="895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只改一处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1562100" y="3914775"/>
            <a:ext cx="8953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改动收窄到一层，下一轮才能解释得清；改行为输入就要有新的独立实验与对应证据。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609600" y="45815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838200" y="4886325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CB6B28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1562100" y="4810125"/>
            <a:ext cx="895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分开保存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1562100" y="5076825"/>
            <a:ext cx="8953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维护说明与历史事实各归其位，旧输入与原始结果原样留下，新的一轮用新身份登记。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609600" y="58007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5.9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迭代与维护　·　下一节：综合项目与后续方向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迭代与维护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27 / 27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2026-09-29T10:58:59Z</dcterms:created>
  <dcterms:modified xsi:type="dcterms:W3CDTF">2026-09-29T10:58:59Z</dcterms:modified>
</cp:coreProperties>
</file>